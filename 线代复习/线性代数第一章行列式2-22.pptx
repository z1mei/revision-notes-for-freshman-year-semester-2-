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8"/>
  </p:notesMasterIdLst>
  <p:handoutMasterIdLst>
    <p:handoutMasterId r:id="rId119"/>
  </p:handoutMasterIdLst>
  <p:sldIdLst>
    <p:sldId id="303" r:id="rId3"/>
    <p:sldId id="305" r:id="rId4"/>
    <p:sldId id="985" r:id="rId5"/>
    <p:sldId id="273" r:id="rId6"/>
    <p:sldId id="276" r:id="rId7"/>
    <p:sldId id="277" r:id="rId8"/>
    <p:sldId id="278" r:id="rId9"/>
    <p:sldId id="279" r:id="rId10"/>
    <p:sldId id="280" r:id="rId11"/>
    <p:sldId id="281" r:id="rId12"/>
    <p:sldId id="282" r:id="rId13"/>
    <p:sldId id="283" r:id="rId14"/>
    <p:sldId id="284" r:id="rId15"/>
    <p:sldId id="986" r:id="rId16"/>
    <p:sldId id="286" r:id="rId17"/>
    <p:sldId id="287" r:id="rId18"/>
    <p:sldId id="288" r:id="rId19"/>
    <p:sldId id="289" r:id="rId20"/>
    <p:sldId id="290" r:id="rId21"/>
    <p:sldId id="291" r:id="rId22"/>
    <p:sldId id="292" r:id="rId23"/>
    <p:sldId id="293" r:id="rId24"/>
    <p:sldId id="294" r:id="rId25"/>
    <p:sldId id="295" r:id="rId26"/>
    <p:sldId id="298" r:id="rId27"/>
    <p:sldId id="266" r:id="rId28"/>
    <p:sldId id="267" r:id="rId29"/>
    <p:sldId id="268" r:id="rId30"/>
    <p:sldId id="302" r:id="rId31"/>
    <p:sldId id="270" r:id="rId32"/>
    <p:sldId id="271" r:id="rId33"/>
    <p:sldId id="272" r:id="rId34"/>
    <p:sldId id="306" r:id="rId35"/>
    <p:sldId id="307" r:id="rId36"/>
    <p:sldId id="308" r:id="rId37"/>
    <p:sldId id="309" r:id="rId38"/>
    <p:sldId id="988" r:id="rId39"/>
    <p:sldId id="873" r:id="rId40"/>
    <p:sldId id="874" r:id="rId41"/>
    <p:sldId id="875" r:id="rId42"/>
    <p:sldId id="311" r:id="rId43"/>
    <p:sldId id="989" r:id="rId44"/>
    <p:sldId id="312" r:id="rId45"/>
    <p:sldId id="313" r:id="rId46"/>
    <p:sldId id="871" r:id="rId47"/>
    <p:sldId id="872" r:id="rId48"/>
    <p:sldId id="315" r:id="rId49"/>
    <p:sldId id="320" r:id="rId50"/>
    <p:sldId id="336" r:id="rId51"/>
    <p:sldId id="337" r:id="rId52"/>
    <p:sldId id="338" r:id="rId53"/>
    <p:sldId id="339" r:id="rId54"/>
    <p:sldId id="340" r:id="rId55"/>
    <p:sldId id="341" r:id="rId56"/>
    <p:sldId id="343" r:id="rId57"/>
    <p:sldId id="345" r:id="rId58"/>
    <p:sldId id="991" r:id="rId59"/>
    <p:sldId id="344" r:id="rId60"/>
    <p:sldId id="347" r:id="rId61"/>
    <p:sldId id="348" r:id="rId62"/>
    <p:sldId id="349" r:id="rId63"/>
    <p:sldId id="970" r:id="rId64"/>
    <p:sldId id="971" r:id="rId65"/>
    <p:sldId id="972" r:id="rId66"/>
    <p:sldId id="973" r:id="rId67"/>
    <p:sldId id="974" r:id="rId68"/>
    <p:sldId id="366" r:id="rId69"/>
    <p:sldId id="367" r:id="rId70"/>
    <p:sldId id="368" r:id="rId71"/>
    <p:sldId id="369" r:id="rId72"/>
    <p:sldId id="370" r:id="rId73"/>
    <p:sldId id="371" r:id="rId74"/>
    <p:sldId id="372" r:id="rId75"/>
    <p:sldId id="374" r:id="rId76"/>
    <p:sldId id="375" r:id="rId77"/>
    <p:sldId id="376" r:id="rId78"/>
    <p:sldId id="377" r:id="rId79"/>
    <p:sldId id="378" r:id="rId80"/>
    <p:sldId id="379" r:id="rId81"/>
    <p:sldId id="380" r:id="rId82"/>
    <p:sldId id="381" r:id="rId83"/>
    <p:sldId id="382" r:id="rId84"/>
    <p:sldId id="383" r:id="rId85"/>
    <p:sldId id="384" r:id="rId86"/>
    <p:sldId id="385" r:id="rId87"/>
    <p:sldId id="386" r:id="rId88"/>
    <p:sldId id="388" r:id="rId89"/>
    <p:sldId id="975" r:id="rId90"/>
    <p:sldId id="976" r:id="rId91"/>
    <p:sldId id="977" r:id="rId92"/>
    <p:sldId id="981" r:id="rId93"/>
    <p:sldId id="982" r:id="rId94"/>
    <p:sldId id="979" r:id="rId95"/>
    <p:sldId id="980" r:id="rId96"/>
    <p:sldId id="390" r:id="rId97"/>
    <p:sldId id="391" r:id="rId98"/>
    <p:sldId id="392" r:id="rId99"/>
    <p:sldId id="393" r:id="rId100"/>
    <p:sldId id="394" r:id="rId101"/>
    <p:sldId id="395" r:id="rId102"/>
    <p:sldId id="409" r:id="rId103"/>
    <p:sldId id="410" r:id="rId104"/>
    <p:sldId id="411" r:id="rId105"/>
    <p:sldId id="412" r:id="rId106"/>
    <p:sldId id="413" r:id="rId107"/>
    <p:sldId id="414" r:id="rId108"/>
    <p:sldId id="415" r:id="rId109"/>
    <p:sldId id="416" r:id="rId110"/>
    <p:sldId id="417" r:id="rId111"/>
    <p:sldId id="418" r:id="rId112"/>
    <p:sldId id="421" r:id="rId113"/>
    <p:sldId id="983" r:id="rId114"/>
    <p:sldId id="984" r:id="rId115"/>
    <p:sldId id="425" r:id="rId116"/>
    <p:sldId id="426" r:id="rId117"/>
  </p:sldIdLst>
  <p:sldSz cx="9144000" cy="6858000" type="screen4x3"/>
  <p:notesSz cx="6858000" cy="9144000"/>
  <p:custDataLst>
    <p:tags r:id="rId123"/>
  </p:custDataLst>
  <p:defaultTextStyle>
    <a:defPPr>
      <a:defRPr lang="zh-CN"/>
    </a:defPPr>
    <a:lvl1pPr marL="0" lvl="0"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363" userDrawn="1">
          <p15:clr>
            <a:srgbClr val="A4A3A4"/>
          </p15:clr>
        </p15:guide>
        <p15:guide id="2" pos="27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FF3300"/>
    <a:srgbClr val="0D51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p:restoredLeft sz="15570"/>
    <p:restoredTop sz="94581"/>
  </p:normalViewPr>
  <p:slideViewPr>
    <p:cSldViewPr showGuides="1">
      <p:cViewPr varScale="1">
        <p:scale>
          <a:sx n="73" d="100"/>
          <a:sy n="73" d="100"/>
        </p:scale>
        <p:origin x="-1284" y="-102"/>
      </p:cViewPr>
      <p:guideLst>
        <p:guide orient="horz" pos="2363"/>
        <p:guide pos="273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3" Type="http://schemas.openxmlformats.org/officeDocument/2006/relationships/tags" Target="tags/tag42.xml"/><Relationship Id="rId122" Type="http://schemas.openxmlformats.org/officeDocument/2006/relationships/tableStyles" Target="tableStyles.xml"/><Relationship Id="rId121" Type="http://schemas.openxmlformats.org/officeDocument/2006/relationships/viewProps" Target="viewProps.xml"/><Relationship Id="rId120" Type="http://schemas.openxmlformats.org/officeDocument/2006/relationships/presProps" Target="presProps.xml"/><Relationship Id="rId12" Type="http://schemas.openxmlformats.org/officeDocument/2006/relationships/slide" Target="slides/slide10.xml"/><Relationship Id="rId119" Type="http://schemas.openxmlformats.org/officeDocument/2006/relationships/handoutMaster" Target="handoutMasters/handoutMaster1.xml"/><Relationship Id="rId118" Type="http://schemas.openxmlformats.org/officeDocument/2006/relationships/notesMaster" Target="notesMasters/notesMaster1.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7" Type="http://schemas.openxmlformats.org/officeDocument/2006/relationships/image" Target="../media/image17.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8.wmf"/><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37.wmf"/><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0.wmf"/><Relationship Id="rId1"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41.wmf"/><Relationship Id="rId3" Type="http://schemas.openxmlformats.org/officeDocument/2006/relationships/image" Target="../media/image30.wmf"/><Relationship Id="rId2" Type="http://schemas.openxmlformats.org/officeDocument/2006/relationships/image" Target="../media/image40.wmf"/><Relationship Id="rId1" Type="http://schemas.openxmlformats.org/officeDocument/2006/relationships/image" Target="../media/image38.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8.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3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42.wmf"/><Relationship Id="rId1" Type="http://schemas.openxmlformats.org/officeDocument/2006/relationships/image" Target="../media/image38.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44.wmf"/><Relationship Id="rId3" Type="http://schemas.openxmlformats.org/officeDocument/2006/relationships/image" Target="../media/image38.wmf"/><Relationship Id="rId2" Type="http://schemas.openxmlformats.org/officeDocument/2006/relationships/image" Target="../media/image42.wmf"/><Relationship Id="rId1" Type="http://schemas.openxmlformats.org/officeDocument/2006/relationships/image" Target="../media/image43.wmf"/></Relationships>
</file>

<file path=ppt/drawings/_rels/vmlDrawing19.vml.rels><?xml version="1.0" encoding="UTF-8" standalone="yes"?>
<Relationships xmlns="http://schemas.openxmlformats.org/package/2006/relationships"><Relationship Id="rId7" Type="http://schemas.openxmlformats.org/officeDocument/2006/relationships/image" Target="../media/image40.wmf"/><Relationship Id="rId6" Type="http://schemas.openxmlformats.org/officeDocument/2006/relationships/image" Target="../media/image30.wmf"/><Relationship Id="rId5" Type="http://schemas.openxmlformats.org/officeDocument/2006/relationships/image" Target="../media/image48.wmf"/><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2.wmf"/></Relationships>
</file>

<file path=ppt/drawings/_rels/vmlDrawing20.vml.rels><?xml version="1.0" encoding="UTF-8" standalone="yes"?>
<Relationships xmlns="http://schemas.openxmlformats.org/package/2006/relationships"><Relationship Id="rId5" Type="http://schemas.openxmlformats.org/officeDocument/2006/relationships/image" Target="../media/image53.wmf"/><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58.wmf"/><Relationship Id="rId4" Type="http://schemas.openxmlformats.org/officeDocument/2006/relationships/image" Target="../media/image57.wmf"/><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60.wmf"/><Relationship Id="rId1" Type="http://schemas.openxmlformats.org/officeDocument/2006/relationships/image" Target="../media/image59.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26.vml.rels><?xml version="1.0" encoding="UTF-8" standalone="yes"?>
<Relationships xmlns="http://schemas.openxmlformats.org/package/2006/relationships"><Relationship Id="rId7" Type="http://schemas.openxmlformats.org/officeDocument/2006/relationships/image" Target="../media/image72.wmf"/><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76.e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32.vml.rels><?xml version="1.0" encoding="UTF-8" standalone="yes"?>
<Relationships xmlns="http://schemas.openxmlformats.org/package/2006/relationships"><Relationship Id="rId4" Type="http://schemas.openxmlformats.org/officeDocument/2006/relationships/image" Target="../media/image84.wmf"/><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33.vml.rels><?xml version="1.0" encoding="UTF-8" standalone="yes"?>
<Relationships xmlns="http://schemas.openxmlformats.org/package/2006/relationships"><Relationship Id="rId5" Type="http://schemas.openxmlformats.org/officeDocument/2006/relationships/image" Target="../media/image89.wmf"/><Relationship Id="rId4" Type="http://schemas.openxmlformats.org/officeDocument/2006/relationships/image" Target="../media/image88.wmf"/><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34.vml.rels><?xml version="1.0" encoding="UTF-8" standalone="yes"?>
<Relationships xmlns="http://schemas.openxmlformats.org/package/2006/relationships"><Relationship Id="rId5" Type="http://schemas.openxmlformats.org/officeDocument/2006/relationships/image" Target="../media/image92.wmf"/><Relationship Id="rId4" Type="http://schemas.openxmlformats.org/officeDocument/2006/relationships/image" Target="../media/image91.wmf"/><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5.wmf"/></Relationships>
</file>

<file path=ppt/drawings/_rels/vmlDrawing35.vml.rels><?xml version="1.0" encoding="UTF-8" standalone="yes"?>
<Relationships xmlns="http://schemas.openxmlformats.org/package/2006/relationships"><Relationship Id="rId5" Type="http://schemas.openxmlformats.org/officeDocument/2006/relationships/image" Target="../media/image97.wmf"/><Relationship Id="rId4" Type="http://schemas.openxmlformats.org/officeDocument/2006/relationships/image" Target="../media/image96.wmf"/><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05.wmf"/><Relationship Id="rId1" Type="http://schemas.openxmlformats.org/officeDocument/2006/relationships/image" Target="../media/image104.wmf"/></Relationships>
</file>

<file path=ppt/drawings/_rels/vmlDrawing39.vml.rels><?xml version="1.0" encoding="UTF-8" standalone="yes"?>
<Relationships xmlns="http://schemas.openxmlformats.org/package/2006/relationships"><Relationship Id="rId5" Type="http://schemas.openxmlformats.org/officeDocument/2006/relationships/image" Target="../media/image110.wmf"/><Relationship Id="rId4" Type="http://schemas.openxmlformats.org/officeDocument/2006/relationships/image" Target="../media/image109.wmf"/><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16.wmf"/><Relationship Id="rId1" Type="http://schemas.openxmlformats.org/officeDocument/2006/relationships/image" Target="../media/image115.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8.wmf"/></Relationships>
</file>

<file path=ppt/drawings/_rels/vmlDrawing45.vml.rels><?xml version="1.0" encoding="UTF-8" standalone="yes"?>
<Relationships xmlns="http://schemas.openxmlformats.org/package/2006/relationships"><Relationship Id="rId5" Type="http://schemas.openxmlformats.org/officeDocument/2006/relationships/image" Target="../media/image124.wmf"/><Relationship Id="rId4" Type="http://schemas.openxmlformats.org/officeDocument/2006/relationships/image" Target="../media/image123.wmf"/><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46.vml.rels><?xml version="1.0" encoding="UTF-8" standalone="yes"?>
<Relationships xmlns="http://schemas.openxmlformats.org/package/2006/relationships"><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32.wmf"/><Relationship Id="rId1" Type="http://schemas.openxmlformats.org/officeDocument/2006/relationships/image" Target="../media/image131.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34.wmf"/><Relationship Id="rId1" Type="http://schemas.openxmlformats.org/officeDocument/2006/relationships/image" Target="../media/image133.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image" Target="../media/image139.wmf"/><Relationship Id="rId1" Type="http://schemas.openxmlformats.org/officeDocument/2006/relationships/image" Target="../media/image138.wmf"/></Relationships>
</file>

<file path=ppt/drawings/_rels/vmlDrawing51.vml.rels><?xml version="1.0" encoding="UTF-8" standalone="yes"?>
<Relationships xmlns="http://schemas.openxmlformats.org/package/2006/relationships"><Relationship Id="rId4" Type="http://schemas.openxmlformats.org/officeDocument/2006/relationships/image" Target="../media/image144.wmf"/><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41.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146.wmf"/><Relationship Id="rId1" Type="http://schemas.openxmlformats.org/officeDocument/2006/relationships/image" Target="../media/image145.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148.wmf"/><Relationship Id="rId1" Type="http://schemas.openxmlformats.org/officeDocument/2006/relationships/image" Target="../media/image147.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54.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55.w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157.wmf"/><Relationship Id="rId1" Type="http://schemas.openxmlformats.org/officeDocument/2006/relationships/image" Target="../media/image156.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s>
</file>

<file path=ppt/drawings/_rels/vmlDrawing60.vml.rels><?xml version="1.0" encoding="UTF-8" standalone="yes"?>
<Relationships xmlns="http://schemas.openxmlformats.org/package/2006/relationships"><Relationship Id="rId6" Type="http://schemas.openxmlformats.org/officeDocument/2006/relationships/image" Target="../media/image166.wmf"/><Relationship Id="rId5" Type="http://schemas.openxmlformats.org/officeDocument/2006/relationships/image" Target="../media/image165.wmf"/><Relationship Id="rId4" Type="http://schemas.openxmlformats.org/officeDocument/2006/relationships/image" Target="../media/image164.wmf"/><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61.w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167.w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168.wmf"/></Relationships>
</file>

<file path=ppt/drawings/_rels/vmlDrawing63.vml.rels><?xml version="1.0" encoding="UTF-8" standalone="yes"?>
<Relationships xmlns="http://schemas.openxmlformats.org/package/2006/relationships"><Relationship Id="rId9" Type="http://schemas.openxmlformats.org/officeDocument/2006/relationships/image" Target="../media/image177.wmf"/><Relationship Id="rId8" Type="http://schemas.openxmlformats.org/officeDocument/2006/relationships/image" Target="../media/image176.wmf"/><Relationship Id="rId7" Type="http://schemas.openxmlformats.org/officeDocument/2006/relationships/image" Target="../media/image175.wmf"/><Relationship Id="rId6" Type="http://schemas.openxmlformats.org/officeDocument/2006/relationships/image" Target="../media/image174.wmf"/><Relationship Id="rId5" Type="http://schemas.openxmlformats.org/officeDocument/2006/relationships/image" Target="../media/image173.wmf"/><Relationship Id="rId4" Type="http://schemas.openxmlformats.org/officeDocument/2006/relationships/image" Target="../media/image172.wmf"/><Relationship Id="rId3" Type="http://schemas.openxmlformats.org/officeDocument/2006/relationships/image" Target="../media/image171.wmf"/><Relationship Id="rId2" Type="http://schemas.openxmlformats.org/officeDocument/2006/relationships/image" Target="../media/image170.wmf"/><Relationship Id="rId10" Type="http://schemas.openxmlformats.org/officeDocument/2006/relationships/image" Target="../media/image178.wmf"/><Relationship Id="rId1" Type="http://schemas.openxmlformats.org/officeDocument/2006/relationships/image" Target="../media/image169.w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79.w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180.wmf"/></Relationships>
</file>

<file path=ppt/drawings/_rels/vmlDrawing66.vml.rels><?xml version="1.0" encoding="UTF-8" standalone="yes"?>
<Relationships xmlns="http://schemas.openxmlformats.org/package/2006/relationships"><Relationship Id="rId2" Type="http://schemas.openxmlformats.org/officeDocument/2006/relationships/image" Target="../media/image182.wmf"/><Relationship Id="rId1" Type="http://schemas.openxmlformats.org/officeDocument/2006/relationships/image" Target="../media/image181.wmf"/></Relationships>
</file>

<file path=ppt/drawings/_rels/vmlDrawing67.vml.rels><?xml version="1.0" encoding="UTF-8" standalone="yes"?>
<Relationships xmlns="http://schemas.openxmlformats.org/package/2006/relationships"><Relationship Id="rId2" Type="http://schemas.openxmlformats.org/officeDocument/2006/relationships/image" Target="../media/image184.wmf"/><Relationship Id="rId1" Type="http://schemas.openxmlformats.org/officeDocument/2006/relationships/image" Target="../media/image183.w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185.wmf"/></Relationships>
</file>

<file path=ppt/drawings/_rels/vmlDrawing69.vml.rels><?xml version="1.0" encoding="UTF-8" standalone="yes"?>
<Relationships xmlns="http://schemas.openxmlformats.org/package/2006/relationships"><Relationship Id="rId4" Type="http://schemas.openxmlformats.org/officeDocument/2006/relationships/image" Target="../media/image189.wmf"/><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190.w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191.w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192.wmf"/></Relationships>
</file>

<file path=ppt/drawings/_rels/vmlDrawing73.vml.rels><?xml version="1.0" encoding="UTF-8" standalone="yes"?>
<Relationships xmlns="http://schemas.openxmlformats.org/package/2006/relationships"><Relationship Id="rId3" Type="http://schemas.openxmlformats.org/officeDocument/2006/relationships/image" Target="../media/image195.wmf"/><Relationship Id="rId2" Type="http://schemas.openxmlformats.org/officeDocument/2006/relationships/image" Target="../media/image194.wmf"/><Relationship Id="rId1" Type="http://schemas.openxmlformats.org/officeDocument/2006/relationships/image" Target="../media/image193.wmf"/></Relationships>
</file>

<file path=ppt/drawings/_rels/vmlDrawing74.vml.rels><?xml version="1.0" encoding="UTF-8" standalone="yes"?>
<Relationships xmlns="http://schemas.openxmlformats.org/package/2006/relationships"><Relationship Id="rId2" Type="http://schemas.openxmlformats.org/officeDocument/2006/relationships/image" Target="../media/image197.wmf"/><Relationship Id="rId1" Type="http://schemas.openxmlformats.org/officeDocument/2006/relationships/image" Target="../media/image196.wmf"/></Relationships>
</file>

<file path=ppt/drawings/_rels/vmlDrawing75.vml.rels><?xml version="1.0" encoding="UTF-8" standalone="yes"?>
<Relationships xmlns="http://schemas.openxmlformats.org/package/2006/relationships"><Relationship Id="rId2" Type="http://schemas.openxmlformats.org/officeDocument/2006/relationships/image" Target="../media/image199.wmf"/><Relationship Id="rId1" Type="http://schemas.openxmlformats.org/officeDocument/2006/relationships/image" Target="../media/image198.wmf"/></Relationships>
</file>

<file path=ppt/drawings/_rels/vmlDrawing76.vml.rels><?xml version="1.0" encoding="UTF-8" standalone="yes"?>
<Relationships xmlns="http://schemas.openxmlformats.org/package/2006/relationships"><Relationship Id="rId2" Type="http://schemas.openxmlformats.org/officeDocument/2006/relationships/image" Target="../media/image201.wmf"/><Relationship Id="rId1" Type="http://schemas.openxmlformats.org/officeDocument/2006/relationships/image" Target="../media/image200.wmf"/></Relationships>
</file>

<file path=ppt/drawings/_rels/vmlDrawing77.vml.rels><?xml version="1.0" encoding="UTF-8" standalone="yes"?>
<Relationships xmlns="http://schemas.openxmlformats.org/package/2006/relationships"><Relationship Id="rId7" Type="http://schemas.openxmlformats.org/officeDocument/2006/relationships/image" Target="../media/image208.wmf"/><Relationship Id="rId6" Type="http://schemas.openxmlformats.org/officeDocument/2006/relationships/image" Target="../media/image207.wmf"/><Relationship Id="rId5" Type="http://schemas.openxmlformats.org/officeDocument/2006/relationships/image" Target="../media/image206.wmf"/><Relationship Id="rId4" Type="http://schemas.openxmlformats.org/officeDocument/2006/relationships/image" Target="../media/image205.wmf"/><Relationship Id="rId3" Type="http://schemas.openxmlformats.org/officeDocument/2006/relationships/image" Target="../media/image204.wmf"/><Relationship Id="rId2" Type="http://schemas.openxmlformats.org/officeDocument/2006/relationships/image" Target="../media/image203.wmf"/><Relationship Id="rId1" Type="http://schemas.openxmlformats.org/officeDocument/2006/relationships/image" Target="../media/image202.wmf"/></Relationships>
</file>

<file path=ppt/drawings/_rels/vmlDrawing78.vml.rels><?xml version="1.0" encoding="UTF-8" standalone="yes"?>
<Relationships xmlns="http://schemas.openxmlformats.org/package/2006/relationships"><Relationship Id="rId7" Type="http://schemas.openxmlformats.org/officeDocument/2006/relationships/image" Target="../media/image215.wmf"/><Relationship Id="rId6" Type="http://schemas.openxmlformats.org/officeDocument/2006/relationships/image" Target="../media/image214.wmf"/><Relationship Id="rId5" Type="http://schemas.openxmlformats.org/officeDocument/2006/relationships/image" Target="../media/image213.wmf"/><Relationship Id="rId4" Type="http://schemas.openxmlformats.org/officeDocument/2006/relationships/image" Target="../media/image212.wmf"/><Relationship Id="rId3" Type="http://schemas.openxmlformats.org/officeDocument/2006/relationships/image" Target="../media/image211.wmf"/><Relationship Id="rId2" Type="http://schemas.openxmlformats.org/officeDocument/2006/relationships/image" Target="../media/image210.wmf"/><Relationship Id="rId1" Type="http://schemas.openxmlformats.org/officeDocument/2006/relationships/image" Target="../media/image209.wmf"/></Relationships>
</file>

<file path=ppt/drawings/_rels/vmlDrawing79.vml.rels><?xml version="1.0" encoding="UTF-8" standalone="yes"?>
<Relationships xmlns="http://schemas.openxmlformats.org/package/2006/relationships"><Relationship Id="rId3" Type="http://schemas.openxmlformats.org/officeDocument/2006/relationships/image" Target="../media/image218.wmf"/><Relationship Id="rId2" Type="http://schemas.openxmlformats.org/officeDocument/2006/relationships/image" Target="../media/image217.wmf"/><Relationship Id="rId1" Type="http://schemas.openxmlformats.org/officeDocument/2006/relationships/image" Target="../media/image216.wmf"/></Relationships>
</file>

<file path=ppt/drawings/_rels/vmlDrawing80.vml.rels><?xml version="1.0" encoding="UTF-8" standalone="yes"?>
<Relationships xmlns="http://schemas.openxmlformats.org/package/2006/relationships"><Relationship Id="rId6" Type="http://schemas.openxmlformats.org/officeDocument/2006/relationships/image" Target="../media/image224.wmf"/><Relationship Id="rId5" Type="http://schemas.openxmlformats.org/officeDocument/2006/relationships/image" Target="../media/image223.wmf"/><Relationship Id="rId4" Type="http://schemas.openxmlformats.org/officeDocument/2006/relationships/image" Target="../media/image222.wmf"/><Relationship Id="rId3" Type="http://schemas.openxmlformats.org/officeDocument/2006/relationships/image" Target="../media/image221.wmf"/><Relationship Id="rId2" Type="http://schemas.openxmlformats.org/officeDocument/2006/relationships/image" Target="../media/image220.wmf"/><Relationship Id="rId1" Type="http://schemas.openxmlformats.org/officeDocument/2006/relationships/image" Target="../media/image219.wmf"/></Relationships>
</file>

<file path=ppt/drawings/_rels/vmlDrawing81.vml.rels><?xml version="1.0" encoding="UTF-8" standalone="yes"?>
<Relationships xmlns="http://schemas.openxmlformats.org/package/2006/relationships"><Relationship Id="rId9" Type="http://schemas.openxmlformats.org/officeDocument/2006/relationships/image" Target="../media/image230.wmf"/><Relationship Id="rId8" Type="http://schemas.openxmlformats.org/officeDocument/2006/relationships/image" Target="../media/image229.wmf"/><Relationship Id="rId7" Type="http://schemas.openxmlformats.org/officeDocument/2006/relationships/image" Target="../media/image228.wmf"/><Relationship Id="rId6" Type="http://schemas.openxmlformats.org/officeDocument/2006/relationships/image" Target="../media/image227.wmf"/><Relationship Id="rId5" Type="http://schemas.openxmlformats.org/officeDocument/2006/relationships/image" Target="../media/image226.wmf"/><Relationship Id="rId4" Type="http://schemas.openxmlformats.org/officeDocument/2006/relationships/image" Target="../media/image225.wmf"/><Relationship Id="rId3" Type="http://schemas.openxmlformats.org/officeDocument/2006/relationships/image" Target="../media/image223.wmf"/><Relationship Id="rId2" Type="http://schemas.openxmlformats.org/officeDocument/2006/relationships/image" Target="../media/image222.wmf"/><Relationship Id="rId11" Type="http://schemas.openxmlformats.org/officeDocument/2006/relationships/image" Target="../media/image232.wmf"/><Relationship Id="rId10" Type="http://schemas.openxmlformats.org/officeDocument/2006/relationships/image" Target="../media/image231.wmf"/><Relationship Id="rId1" Type="http://schemas.openxmlformats.org/officeDocument/2006/relationships/image" Target="../media/image221.wmf"/></Relationships>
</file>

<file path=ppt/drawings/_rels/vmlDrawing82.vml.rels><?xml version="1.0" encoding="UTF-8" standalone="yes"?>
<Relationships xmlns="http://schemas.openxmlformats.org/package/2006/relationships"><Relationship Id="rId2" Type="http://schemas.openxmlformats.org/officeDocument/2006/relationships/image" Target="../media/image234.wmf"/><Relationship Id="rId1" Type="http://schemas.openxmlformats.org/officeDocument/2006/relationships/image" Target="../media/image233.wmf"/></Relationships>
</file>

<file path=ppt/drawings/_rels/vmlDrawing83.vml.rels><?xml version="1.0" encoding="UTF-8" standalone="yes"?>
<Relationships xmlns="http://schemas.openxmlformats.org/package/2006/relationships"><Relationship Id="rId5" Type="http://schemas.openxmlformats.org/officeDocument/2006/relationships/image" Target="../media/image239.wmf"/><Relationship Id="rId4" Type="http://schemas.openxmlformats.org/officeDocument/2006/relationships/image" Target="../media/image238.wmf"/><Relationship Id="rId3" Type="http://schemas.openxmlformats.org/officeDocument/2006/relationships/image" Target="../media/image237.wmf"/><Relationship Id="rId2" Type="http://schemas.openxmlformats.org/officeDocument/2006/relationships/image" Target="../media/image236.wmf"/><Relationship Id="rId1" Type="http://schemas.openxmlformats.org/officeDocument/2006/relationships/image" Target="../media/image235.wmf"/></Relationships>
</file>

<file path=ppt/drawings/_rels/vmlDrawing84.vml.rels><?xml version="1.0" encoding="UTF-8" standalone="yes"?>
<Relationships xmlns="http://schemas.openxmlformats.org/package/2006/relationships"><Relationship Id="rId2" Type="http://schemas.openxmlformats.org/officeDocument/2006/relationships/image" Target="../media/image241.wmf"/><Relationship Id="rId1" Type="http://schemas.openxmlformats.org/officeDocument/2006/relationships/image" Target="../media/image240.wmf"/></Relationships>
</file>

<file path=ppt/drawings/_rels/vmlDrawing85.v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image" Target="../media/image243.wmf"/><Relationship Id="rId1" Type="http://schemas.openxmlformats.org/officeDocument/2006/relationships/image" Target="../media/image242.wmf"/></Relationships>
</file>

<file path=ppt/drawings/_rels/vmlDrawing86.vml.rels><?xml version="1.0" encoding="UTF-8" standalone="yes"?>
<Relationships xmlns="http://schemas.openxmlformats.org/package/2006/relationships"><Relationship Id="rId3" Type="http://schemas.openxmlformats.org/officeDocument/2006/relationships/image" Target="../media/image247.wmf"/><Relationship Id="rId2" Type="http://schemas.openxmlformats.org/officeDocument/2006/relationships/image" Target="../media/image246.wmf"/><Relationship Id="rId1" Type="http://schemas.openxmlformats.org/officeDocument/2006/relationships/image" Target="../media/image245.wmf"/></Relationships>
</file>

<file path=ppt/drawings/_rels/vmlDrawing87.vml.rels><?xml version="1.0" encoding="UTF-8" standalone="yes"?>
<Relationships xmlns="http://schemas.openxmlformats.org/package/2006/relationships"><Relationship Id="rId4" Type="http://schemas.openxmlformats.org/officeDocument/2006/relationships/image" Target="../media/image251.wmf"/><Relationship Id="rId3" Type="http://schemas.openxmlformats.org/officeDocument/2006/relationships/image" Target="../media/image250.wmf"/><Relationship Id="rId2" Type="http://schemas.openxmlformats.org/officeDocument/2006/relationships/image" Target="../media/image249.wmf"/><Relationship Id="rId1" Type="http://schemas.openxmlformats.org/officeDocument/2006/relationships/image" Target="../media/image248.wmf"/></Relationships>
</file>

<file path=ppt/drawings/_rels/vmlDrawing88.vml.rels><?xml version="1.0" encoding="UTF-8" standalone="yes"?>
<Relationships xmlns="http://schemas.openxmlformats.org/package/2006/relationships"><Relationship Id="rId2" Type="http://schemas.openxmlformats.org/officeDocument/2006/relationships/image" Target="../media/image253.wmf"/><Relationship Id="rId1" Type="http://schemas.openxmlformats.org/officeDocument/2006/relationships/image" Target="../media/image252.wmf"/></Relationships>
</file>

<file path=ppt/drawings/_rels/vmlDrawing89.vml.rels><?xml version="1.0" encoding="UTF-8" standalone="yes"?>
<Relationships xmlns="http://schemas.openxmlformats.org/package/2006/relationships"><Relationship Id="rId3" Type="http://schemas.openxmlformats.org/officeDocument/2006/relationships/image" Target="../media/image256.wmf"/><Relationship Id="rId2" Type="http://schemas.openxmlformats.org/officeDocument/2006/relationships/image" Target="../media/image255.wmf"/><Relationship Id="rId1" Type="http://schemas.openxmlformats.org/officeDocument/2006/relationships/image" Target="../media/image254.wmf"/></Relationships>
</file>

<file path=ppt/drawings/_rels/vmlDrawing90.vml.rels><?xml version="1.0" encoding="UTF-8" standalone="yes"?>
<Relationships xmlns="http://schemas.openxmlformats.org/package/2006/relationships"><Relationship Id="rId3" Type="http://schemas.openxmlformats.org/officeDocument/2006/relationships/image" Target="../media/image259.wmf"/><Relationship Id="rId2" Type="http://schemas.openxmlformats.org/officeDocument/2006/relationships/image" Target="../media/image258.wmf"/><Relationship Id="rId1" Type="http://schemas.openxmlformats.org/officeDocument/2006/relationships/image" Target="../media/image257.w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60.wmf"/></Relationships>
</file>

<file path=ppt/drawings/_rels/vmlDrawing92.vml.rels><?xml version="1.0" encoding="UTF-8" standalone="yes"?>
<Relationships xmlns="http://schemas.openxmlformats.org/package/2006/relationships"><Relationship Id="rId2" Type="http://schemas.openxmlformats.org/officeDocument/2006/relationships/image" Target="../media/image262.wmf"/><Relationship Id="rId1" Type="http://schemas.openxmlformats.org/officeDocument/2006/relationships/image" Target="../media/image261.wmf"/></Relationships>
</file>

<file path=ppt/drawings/_rels/vmlDrawing93.vml.rels><?xml version="1.0" encoding="UTF-8" standalone="yes"?>
<Relationships xmlns="http://schemas.openxmlformats.org/package/2006/relationships"><Relationship Id="rId2" Type="http://schemas.openxmlformats.org/officeDocument/2006/relationships/image" Target="../media/image264.wmf"/><Relationship Id="rId1" Type="http://schemas.openxmlformats.org/officeDocument/2006/relationships/image" Target="../media/image263.w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265.wmf"/></Relationships>
</file>

<file path=ppt/drawings/_rels/vmlDrawing95.vml.rels><?xml version="1.0" encoding="UTF-8" standalone="yes"?>
<Relationships xmlns="http://schemas.openxmlformats.org/package/2006/relationships"><Relationship Id="rId2" Type="http://schemas.openxmlformats.org/officeDocument/2006/relationships/image" Target="../media/image267.wmf"/><Relationship Id="rId1" Type="http://schemas.openxmlformats.org/officeDocument/2006/relationships/image" Target="../media/image266.w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264.w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268.wmf"/></Relationships>
</file>

<file path=ppt/drawings/_rels/vmlDrawing98.vml.rels><?xml version="1.0" encoding="UTF-8" standalone="yes"?>
<Relationships xmlns="http://schemas.openxmlformats.org/package/2006/relationships"><Relationship Id="rId2" Type="http://schemas.openxmlformats.org/officeDocument/2006/relationships/image" Target="../media/image270.wmf"/><Relationship Id="rId1" Type="http://schemas.openxmlformats.org/officeDocument/2006/relationships/image" Target="../media/image269.w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274.wmf"/></Relationships>
</file>

<file path=ppt/drawings/_rels/vmlDrawing100.vml.rels><?xml version="1.0" encoding="UTF-8" standalone="yes"?>
<Relationships xmlns="http://schemas.openxmlformats.org/package/2006/relationships"><Relationship Id="rId2" Type="http://schemas.openxmlformats.org/officeDocument/2006/relationships/image" Target="../media/image276.wmf"/><Relationship Id="rId1" Type="http://schemas.openxmlformats.org/officeDocument/2006/relationships/image" Target="../media/image275.wmf"/></Relationships>
</file>

<file path=ppt/drawings/_rels/vmlDrawing101.vml.rels><?xml version="1.0" encoding="UTF-8" standalone="yes"?>
<Relationships xmlns="http://schemas.openxmlformats.org/package/2006/relationships"><Relationship Id="rId9" Type="http://schemas.openxmlformats.org/officeDocument/2006/relationships/image" Target="../media/image285.wmf"/><Relationship Id="rId8" Type="http://schemas.openxmlformats.org/officeDocument/2006/relationships/image" Target="../media/image284.wmf"/><Relationship Id="rId7" Type="http://schemas.openxmlformats.org/officeDocument/2006/relationships/image" Target="../media/image283.wmf"/><Relationship Id="rId6" Type="http://schemas.openxmlformats.org/officeDocument/2006/relationships/image" Target="../media/image282.wmf"/><Relationship Id="rId5" Type="http://schemas.openxmlformats.org/officeDocument/2006/relationships/image" Target="../media/image281.wmf"/><Relationship Id="rId4" Type="http://schemas.openxmlformats.org/officeDocument/2006/relationships/image" Target="../media/image280.wmf"/><Relationship Id="rId3" Type="http://schemas.openxmlformats.org/officeDocument/2006/relationships/image" Target="../media/image279.wmf"/><Relationship Id="rId2" Type="http://schemas.openxmlformats.org/officeDocument/2006/relationships/image" Target="../media/image278.wmf"/><Relationship Id="rId10" Type="http://schemas.openxmlformats.org/officeDocument/2006/relationships/image" Target="../media/image286.wmf"/><Relationship Id="rId1" Type="http://schemas.openxmlformats.org/officeDocument/2006/relationships/image" Target="../media/image277.wmf"/></Relationships>
</file>

<file path=ppt/drawings/_rels/vmlDrawing102.vml.rels><?xml version="1.0" encoding="UTF-8" standalone="yes"?>
<Relationships xmlns="http://schemas.openxmlformats.org/package/2006/relationships"><Relationship Id="rId9" Type="http://schemas.openxmlformats.org/officeDocument/2006/relationships/image" Target="../media/image295.wmf"/><Relationship Id="rId8" Type="http://schemas.openxmlformats.org/officeDocument/2006/relationships/image" Target="../media/image294.wmf"/><Relationship Id="rId7" Type="http://schemas.openxmlformats.org/officeDocument/2006/relationships/image" Target="../media/image293.wmf"/><Relationship Id="rId6" Type="http://schemas.openxmlformats.org/officeDocument/2006/relationships/image" Target="../media/image292.wmf"/><Relationship Id="rId5" Type="http://schemas.openxmlformats.org/officeDocument/2006/relationships/image" Target="../media/image291.wmf"/><Relationship Id="rId4" Type="http://schemas.openxmlformats.org/officeDocument/2006/relationships/image" Target="../media/image290.wmf"/><Relationship Id="rId3" Type="http://schemas.openxmlformats.org/officeDocument/2006/relationships/image" Target="../media/image289.wmf"/><Relationship Id="rId2" Type="http://schemas.openxmlformats.org/officeDocument/2006/relationships/image" Target="../media/image288.wmf"/><Relationship Id="rId1" Type="http://schemas.openxmlformats.org/officeDocument/2006/relationships/image" Target="../media/image28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22" name="页眉占位符 30721"/>
          <p:cNvSpPr>
            <a:spLocks noGrp="1"/>
          </p:cNvSpPr>
          <p:nvPr>
            <p:ph type="hdr" sz="quarter"/>
          </p:nvPr>
        </p:nvSpPr>
        <p:spPr>
          <a:xfrm>
            <a:off x="0" y="0"/>
            <a:ext cx="2971800" cy="457200"/>
          </a:xfrm>
          <a:prstGeom prst="rect">
            <a:avLst/>
          </a:prstGeom>
          <a:noFill/>
          <a:ln w="9525">
            <a:noFill/>
          </a:ln>
        </p:spPr>
        <p:txBody>
          <a:bodyPr/>
          <a:p>
            <a:pPr lvl="0"/>
            <a:endParaRPr lang="zh-CN" altLang="en-US" sz="1200" b="1" dirty="0"/>
          </a:p>
        </p:txBody>
      </p:sp>
      <p:sp>
        <p:nvSpPr>
          <p:cNvPr id="30723" name="日期占位符 30722"/>
          <p:cNvSpPr>
            <a:spLocks noGrp="1"/>
          </p:cNvSpPr>
          <p:nvPr>
            <p:ph type="dt" sz="quarter" idx="1"/>
          </p:nvPr>
        </p:nvSpPr>
        <p:spPr>
          <a:xfrm>
            <a:off x="3886200" y="0"/>
            <a:ext cx="2971800" cy="457200"/>
          </a:xfrm>
          <a:prstGeom prst="rect">
            <a:avLst/>
          </a:prstGeom>
          <a:noFill/>
          <a:ln w="9525">
            <a:noFill/>
          </a:ln>
        </p:spPr>
        <p:txBody>
          <a:bodyPr/>
          <a:p>
            <a:pPr lvl="0" algn="r"/>
            <a:endParaRPr lang="zh-CN" altLang="en-US" sz="1200" b="1" dirty="0"/>
          </a:p>
        </p:txBody>
      </p:sp>
      <p:sp>
        <p:nvSpPr>
          <p:cNvPr id="30724" name="页脚占位符 30723"/>
          <p:cNvSpPr>
            <a:spLocks noGrp="1"/>
          </p:cNvSpPr>
          <p:nvPr>
            <p:ph type="ftr" sz="quarter" idx="2"/>
          </p:nvPr>
        </p:nvSpPr>
        <p:spPr>
          <a:xfrm>
            <a:off x="0" y="8686800"/>
            <a:ext cx="2971800" cy="457200"/>
          </a:xfrm>
          <a:prstGeom prst="rect">
            <a:avLst/>
          </a:prstGeom>
          <a:noFill/>
          <a:ln w="9525">
            <a:noFill/>
          </a:ln>
        </p:spPr>
        <p:txBody>
          <a:bodyPr anchor="b" anchorCtr="0"/>
          <a:p>
            <a:pPr lvl="0"/>
            <a:endParaRPr lang="zh-CN" altLang="en-US" sz="1200" b="1" dirty="0"/>
          </a:p>
        </p:txBody>
      </p:sp>
      <p:sp>
        <p:nvSpPr>
          <p:cNvPr id="30725" name="灯片编号占位符 30724"/>
          <p:cNvSpPr>
            <a:spLocks noGrp="1"/>
          </p:cNvSpPr>
          <p:nvPr>
            <p:ph type="sldNum" sz="quarter" idx="3"/>
          </p:nvPr>
        </p:nvSpPr>
        <p:spPr>
          <a:xfrm>
            <a:off x="3886200" y="8686800"/>
            <a:ext cx="2971800" cy="457200"/>
          </a:xfrm>
          <a:prstGeom prst="rect">
            <a:avLst/>
          </a:prstGeom>
          <a:noFill/>
          <a:ln w="9525">
            <a:noFill/>
          </a:ln>
        </p:spPr>
        <p:txBody>
          <a:bodyPr anchor="b" anchorCtr="0"/>
          <a:p>
            <a:pPr lvl="0" algn="r"/>
            <a:fld id="{9A0DB2DC-4C9A-4742-B13C-FB6460FD3503}" type="slidenum">
              <a:rPr lang="zh-CN" altLang="en-US" sz="1200" b="1" dirty="0"/>
            </a:fld>
            <a:endParaRPr lang="zh-CN" altLang="en-US" sz="1200" b="1"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9724"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716657"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1026" name="标题 1025"/>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1026"/>
          <p:cNvSpPr>
            <a:spLocks noGrp="1"/>
          </p:cNvSpPr>
          <p:nvPr>
            <p:ph type="body" idx="1"/>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a:defRPr sz="1400" b="0"/>
            </a:lvl1pPr>
          </a:lstStyle>
          <a:p>
            <a:pPr lvl="0"/>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a:defRPr sz="1400" b="0"/>
            </a:lvl1pPr>
          </a:lstStyle>
          <a:p>
            <a:pPr lvl="0"/>
            <a:endParaRPr lang="zh-CN" altLang="en-US" dirty="0">
              <a:latin typeface="Times New Roman" panose="02020603050405020304" pitchFamily="18" charset="0"/>
            </a:endParaRPr>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a:defRPr sz="1400" b="0"/>
            </a:lvl1pPr>
          </a:lstStyle>
          <a:p>
            <a:pPr lvl="0"/>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wmf"/><Relationship Id="rId12" Type="http://schemas.openxmlformats.org/officeDocument/2006/relationships/vmlDrawing" Target="../drawings/vmlDrawing1.vml"/><Relationship Id="rId11" Type="http://schemas.openxmlformats.org/officeDocument/2006/relationships/slideLayout" Target="../slideLayouts/slideLayout7.xml"/><Relationship Id="rId10" Type="http://schemas.openxmlformats.org/officeDocument/2006/relationships/tags" Target="../tags/tag8.xml"/><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6.wmf"/><Relationship Id="rId7" Type="http://schemas.openxmlformats.org/officeDocument/2006/relationships/oleObject" Target="../embeddings/oleObject5.bin"/><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4.wmf"/><Relationship Id="rId3" Type="http://schemas.openxmlformats.org/officeDocument/2006/relationships/oleObject" Target="../embeddings/oleObject3.bin"/><Relationship Id="rId2" Type="http://schemas.openxmlformats.org/officeDocument/2006/relationships/image" Target="../media/image3.wmf"/><Relationship Id="rId14" Type="http://schemas.openxmlformats.org/officeDocument/2006/relationships/vmlDrawing" Target="../drawings/vmlDrawing2.vml"/><Relationship Id="rId13" Type="http://schemas.openxmlformats.org/officeDocument/2006/relationships/slideLayout" Target="../slideLayouts/slideLayout6.xml"/><Relationship Id="rId12" Type="http://schemas.openxmlformats.org/officeDocument/2006/relationships/image" Target="../media/image8.wmf"/><Relationship Id="rId11" Type="http://schemas.openxmlformats.org/officeDocument/2006/relationships/oleObject" Target="../embeddings/oleObject7.bin"/><Relationship Id="rId10" Type="http://schemas.openxmlformats.org/officeDocument/2006/relationships/image" Target="../media/image7.w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7.xml"/><Relationship Id="rId6" Type="http://schemas.openxmlformats.org/officeDocument/2006/relationships/oleObject" Target="../embeddings/oleObject11.bin"/><Relationship Id="rId5" Type="http://schemas.openxmlformats.org/officeDocument/2006/relationships/oleObject" Target="../embeddings/oleObject10.bin"/><Relationship Id="rId4" Type="http://schemas.openxmlformats.org/officeDocument/2006/relationships/image" Target="../media/image10.wmf"/><Relationship Id="rId3" Type="http://schemas.openxmlformats.org/officeDocument/2006/relationships/oleObject" Target="../embeddings/oleObject9.bin"/><Relationship Id="rId2" Type="http://schemas.openxmlformats.org/officeDocument/2006/relationships/image" Target="../media/image9.wmf"/><Relationship Id="rId1" Type="http://schemas.openxmlformats.org/officeDocument/2006/relationships/oleObject" Target="../embeddings/oleObject8.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tags" Target="../tags/tag12.xml"/><Relationship Id="rId7" Type="http://schemas.openxmlformats.org/officeDocument/2006/relationships/image" Target="../media/image12.wmf"/><Relationship Id="rId6" Type="http://schemas.openxmlformats.org/officeDocument/2006/relationships/oleObject" Target="../embeddings/oleObject13.bin"/><Relationship Id="rId5" Type="http://schemas.openxmlformats.org/officeDocument/2006/relationships/tags" Target="../tags/tag11.xml"/><Relationship Id="rId4" Type="http://schemas.openxmlformats.org/officeDocument/2006/relationships/image" Target="../media/image11.wmf"/><Relationship Id="rId3" Type="http://schemas.openxmlformats.org/officeDocument/2006/relationships/oleObject" Target="../embeddings/oleObject12.bin"/><Relationship Id="rId26" Type="http://schemas.openxmlformats.org/officeDocument/2006/relationships/vmlDrawing" Target="../drawings/vmlDrawing4.vml"/><Relationship Id="rId25" Type="http://schemas.openxmlformats.org/officeDocument/2006/relationships/slideLayout" Target="../slideLayouts/slideLayout6.xml"/><Relationship Id="rId24" Type="http://schemas.openxmlformats.org/officeDocument/2006/relationships/image" Target="../media/image17.wmf"/><Relationship Id="rId23" Type="http://schemas.openxmlformats.org/officeDocument/2006/relationships/oleObject" Target="../embeddings/oleObject18.bin"/><Relationship Id="rId22" Type="http://schemas.openxmlformats.org/officeDocument/2006/relationships/image" Target="../media/image16.wmf"/><Relationship Id="rId21" Type="http://schemas.openxmlformats.org/officeDocument/2006/relationships/oleObject" Target="../embeddings/oleObject17.bin"/><Relationship Id="rId20" Type="http://schemas.openxmlformats.org/officeDocument/2006/relationships/image" Target="../media/image15.wmf"/><Relationship Id="rId2" Type="http://schemas.openxmlformats.org/officeDocument/2006/relationships/tags" Target="../tags/tag10.xml"/><Relationship Id="rId19" Type="http://schemas.openxmlformats.org/officeDocument/2006/relationships/oleObject" Target="../embeddings/oleObject16.bin"/><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image" Target="../media/image14.wmf"/><Relationship Id="rId12" Type="http://schemas.openxmlformats.org/officeDocument/2006/relationships/oleObject" Target="../embeddings/oleObject15.bin"/><Relationship Id="rId11" Type="http://schemas.openxmlformats.org/officeDocument/2006/relationships/tags" Target="../tags/tag13.xml"/><Relationship Id="rId10" Type="http://schemas.openxmlformats.org/officeDocument/2006/relationships/image" Target="../media/image13.wmf"/><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6.xml"/><Relationship Id="rId4" Type="http://schemas.openxmlformats.org/officeDocument/2006/relationships/image" Target="../media/image15.wmf"/><Relationship Id="rId3" Type="http://schemas.openxmlformats.org/officeDocument/2006/relationships/oleObject" Target="../embeddings/oleObject20.bin"/><Relationship Id="rId2" Type="http://schemas.openxmlformats.org/officeDocument/2006/relationships/image" Target="../media/image16.wmf"/><Relationship Id="rId1" Type="http://schemas.openxmlformats.org/officeDocument/2006/relationships/oleObject" Target="../embeddings/oleObject19.bin"/></Relationships>
</file>

<file path=ppt/slides/_rels/slide9.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6.xml"/><Relationship Id="rId7" Type="http://schemas.openxmlformats.org/officeDocument/2006/relationships/image" Target="../media/image15.wmf"/><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image" Target="../media/image18.wmf"/><Relationship Id="rId3" Type="http://schemas.openxmlformats.org/officeDocument/2006/relationships/oleObject" Target="../embeddings/oleObject22.bin"/><Relationship Id="rId2" Type="http://schemas.openxmlformats.org/officeDocument/2006/relationships/image" Target="../media/image16.wmf"/><Relationship Id="rId1" Type="http://schemas.openxmlformats.org/officeDocument/2006/relationships/oleObject" Target="../embeddings/oleObject21.bin"/></Relationships>
</file>

<file path=ppt/slides/_rels/slide10.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6.xml"/><Relationship Id="rId7" Type="http://schemas.openxmlformats.org/officeDocument/2006/relationships/image" Target="../media/image19.wmf"/><Relationship Id="rId6" Type="http://schemas.openxmlformats.org/officeDocument/2006/relationships/oleObject" Target="../embeddings/oleObject28.bin"/><Relationship Id="rId5" Type="http://schemas.openxmlformats.org/officeDocument/2006/relationships/oleObject" Target="../embeddings/oleObject27.bin"/><Relationship Id="rId4" Type="http://schemas.openxmlformats.org/officeDocument/2006/relationships/image" Target="../media/image18.wmf"/><Relationship Id="rId3" Type="http://schemas.openxmlformats.org/officeDocument/2006/relationships/oleObject" Target="../embeddings/oleObject26.bin"/><Relationship Id="rId2" Type="http://schemas.openxmlformats.org/officeDocument/2006/relationships/image" Target="../media/image16.wmf"/><Relationship Id="rId1" Type="http://schemas.openxmlformats.org/officeDocument/2006/relationships/oleObject" Target="../embeddings/oleObject25.bin"/></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7.xml"/><Relationship Id="rId4" Type="http://schemas.openxmlformats.org/officeDocument/2006/relationships/image" Target="../media/image21.wmf"/><Relationship Id="rId3" Type="http://schemas.openxmlformats.org/officeDocument/2006/relationships/oleObject" Target="../embeddings/oleObject30.bin"/><Relationship Id="rId2" Type="http://schemas.openxmlformats.org/officeDocument/2006/relationships/image" Target="../media/image20.wmf"/><Relationship Id="rId1" Type="http://schemas.openxmlformats.org/officeDocument/2006/relationships/oleObject" Target="../embeddings/oleObject29.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35.bin"/><Relationship Id="rId8" Type="http://schemas.openxmlformats.org/officeDocument/2006/relationships/image" Target="../media/image25.wmf"/><Relationship Id="rId7" Type="http://schemas.openxmlformats.org/officeDocument/2006/relationships/oleObject" Target="../embeddings/oleObject34.bin"/><Relationship Id="rId6" Type="http://schemas.openxmlformats.org/officeDocument/2006/relationships/image" Target="../media/image24.wmf"/><Relationship Id="rId5" Type="http://schemas.openxmlformats.org/officeDocument/2006/relationships/oleObject" Target="../embeddings/oleObject33.bin"/><Relationship Id="rId4" Type="http://schemas.openxmlformats.org/officeDocument/2006/relationships/image" Target="../media/image23.wmf"/><Relationship Id="rId3" Type="http://schemas.openxmlformats.org/officeDocument/2006/relationships/oleObject" Target="../embeddings/oleObject32.bin"/><Relationship Id="rId2" Type="http://schemas.openxmlformats.org/officeDocument/2006/relationships/image" Target="../media/image22.wmf"/><Relationship Id="rId14" Type="http://schemas.openxmlformats.org/officeDocument/2006/relationships/vmlDrawing" Target="../drawings/vmlDrawing9.vml"/><Relationship Id="rId13" Type="http://schemas.openxmlformats.org/officeDocument/2006/relationships/slideLayout" Target="../slideLayouts/slideLayout7.xml"/><Relationship Id="rId12" Type="http://schemas.openxmlformats.org/officeDocument/2006/relationships/image" Target="../media/image27.wmf"/><Relationship Id="rId11" Type="http://schemas.openxmlformats.org/officeDocument/2006/relationships/oleObject" Target="../embeddings/oleObject36.bin"/><Relationship Id="rId10" Type="http://schemas.openxmlformats.org/officeDocument/2006/relationships/image" Target="../media/image26.wmf"/><Relationship Id="rId1" Type="http://schemas.openxmlformats.org/officeDocument/2006/relationships/oleObject" Target="../embeddings/oleObject31.bin"/></Relationships>
</file>

<file path=ppt/slides/_rels/slide13.xml.rels><?xml version="1.0" encoding="UTF-8" standalone="yes"?>
<Relationships xmlns="http://schemas.openxmlformats.org/package/2006/relationships"><Relationship Id="rId7" Type="http://schemas.openxmlformats.org/officeDocument/2006/relationships/vmlDrawing" Target="../drawings/vmlDrawing10.vml"/><Relationship Id="rId6" Type="http://schemas.openxmlformats.org/officeDocument/2006/relationships/slideLayout" Target="../slideLayouts/slideLayout6.xml"/><Relationship Id="rId5" Type="http://schemas.openxmlformats.org/officeDocument/2006/relationships/oleObject" Target="../embeddings/oleObject39.bin"/><Relationship Id="rId4" Type="http://schemas.openxmlformats.org/officeDocument/2006/relationships/image" Target="../media/image29.wmf"/><Relationship Id="rId3" Type="http://schemas.openxmlformats.org/officeDocument/2006/relationships/oleObject" Target="../embeddings/oleObject38.bin"/><Relationship Id="rId2" Type="http://schemas.openxmlformats.org/officeDocument/2006/relationships/image" Target="../media/image28.wmf"/><Relationship Id="rId1" Type="http://schemas.openxmlformats.org/officeDocument/2006/relationships/oleObject" Target="../embeddings/oleObject37.bin"/></Relationships>
</file>

<file path=ppt/slides/_rels/slide14.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6.xml"/><Relationship Id="rId6" Type="http://schemas.openxmlformats.org/officeDocument/2006/relationships/image" Target="../media/image32.wmf"/><Relationship Id="rId5" Type="http://schemas.openxmlformats.org/officeDocument/2006/relationships/oleObject" Target="../embeddings/oleObject42.bin"/><Relationship Id="rId4" Type="http://schemas.openxmlformats.org/officeDocument/2006/relationships/image" Target="../media/image31.wmf"/><Relationship Id="rId3" Type="http://schemas.openxmlformats.org/officeDocument/2006/relationships/oleObject" Target="../embeddings/oleObject41.bin"/><Relationship Id="rId2" Type="http://schemas.openxmlformats.org/officeDocument/2006/relationships/image" Target="../media/image30.wmf"/><Relationship Id="rId1" Type="http://schemas.openxmlformats.org/officeDocument/2006/relationships/oleObject" Target="../embeddings/oleObject40.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image" Target="../media/image35.wmf"/><Relationship Id="rId7" Type="http://schemas.openxmlformats.org/officeDocument/2006/relationships/oleObject" Target="../embeddings/oleObject47.bin"/><Relationship Id="rId6" Type="http://schemas.openxmlformats.org/officeDocument/2006/relationships/oleObject" Target="../embeddings/oleObject46.bin"/><Relationship Id="rId5" Type="http://schemas.openxmlformats.org/officeDocument/2006/relationships/oleObject" Target="../embeddings/oleObject45.bin"/><Relationship Id="rId4" Type="http://schemas.openxmlformats.org/officeDocument/2006/relationships/image" Target="../media/image34.wmf"/><Relationship Id="rId3" Type="http://schemas.openxmlformats.org/officeDocument/2006/relationships/oleObject" Target="../embeddings/oleObject44.bin"/><Relationship Id="rId2" Type="http://schemas.openxmlformats.org/officeDocument/2006/relationships/image" Target="../media/image33.wmf"/><Relationship Id="rId16" Type="http://schemas.openxmlformats.org/officeDocument/2006/relationships/vmlDrawing" Target="../drawings/vmlDrawing12.vml"/><Relationship Id="rId15" Type="http://schemas.openxmlformats.org/officeDocument/2006/relationships/slideLayout" Target="../slideLayouts/slideLayout6.xml"/><Relationship Id="rId14" Type="http://schemas.openxmlformats.org/officeDocument/2006/relationships/image" Target="../media/image37.wmf"/><Relationship Id="rId13" Type="http://schemas.openxmlformats.org/officeDocument/2006/relationships/oleObject" Target="../embeddings/oleObject51.bin"/><Relationship Id="rId12" Type="http://schemas.openxmlformats.org/officeDocument/2006/relationships/image" Target="../media/image36.wmf"/><Relationship Id="rId11" Type="http://schemas.openxmlformats.org/officeDocument/2006/relationships/oleObject" Target="../embeddings/oleObject50.bin"/><Relationship Id="rId10" Type="http://schemas.openxmlformats.org/officeDocument/2006/relationships/oleObject" Target="../embeddings/oleObject49.bin"/><Relationship Id="rId1" Type="http://schemas.openxmlformats.org/officeDocument/2006/relationships/oleObject" Target="../embeddings/oleObject43.bin"/></Relationships>
</file>

<file path=ppt/slides/_rels/slide16.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7.xml"/><Relationship Id="rId6" Type="http://schemas.openxmlformats.org/officeDocument/2006/relationships/image" Target="../media/image39.wmf"/><Relationship Id="rId5" Type="http://schemas.openxmlformats.org/officeDocument/2006/relationships/oleObject" Target="../embeddings/oleObject54.bin"/><Relationship Id="rId4" Type="http://schemas.openxmlformats.org/officeDocument/2006/relationships/image" Target="../media/image30.wmf"/><Relationship Id="rId3" Type="http://schemas.openxmlformats.org/officeDocument/2006/relationships/oleObject" Target="../embeddings/oleObject53.bin"/><Relationship Id="rId2" Type="http://schemas.openxmlformats.org/officeDocument/2006/relationships/image" Target="../media/image38.wmf"/><Relationship Id="rId1" Type="http://schemas.openxmlformats.org/officeDocument/2006/relationships/oleObject" Target="../embeddings/oleObject52.bin"/></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1.wmf"/><Relationship Id="rId7" Type="http://schemas.openxmlformats.org/officeDocument/2006/relationships/oleObject" Target="../embeddings/oleObject58.bin"/><Relationship Id="rId6" Type="http://schemas.openxmlformats.org/officeDocument/2006/relationships/image" Target="../media/image30.wmf"/><Relationship Id="rId5" Type="http://schemas.openxmlformats.org/officeDocument/2006/relationships/oleObject" Target="../embeddings/oleObject57.bin"/><Relationship Id="rId4" Type="http://schemas.openxmlformats.org/officeDocument/2006/relationships/image" Target="../media/image40.wmf"/><Relationship Id="rId3" Type="http://schemas.openxmlformats.org/officeDocument/2006/relationships/oleObject" Target="../embeddings/oleObject56.bin"/><Relationship Id="rId2" Type="http://schemas.openxmlformats.org/officeDocument/2006/relationships/image" Target="../media/image38.wmf"/><Relationship Id="rId10" Type="http://schemas.openxmlformats.org/officeDocument/2006/relationships/vmlDrawing" Target="../drawings/vmlDrawing14.vml"/><Relationship Id="rId1" Type="http://schemas.openxmlformats.org/officeDocument/2006/relationships/oleObject" Target="../embeddings/oleObject55.bin"/></Relationships>
</file>

<file path=ppt/slides/_rels/slide18.xml.rels><?xml version="1.0" encoding="UTF-8" standalone="yes"?>
<Relationships xmlns="http://schemas.openxmlformats.org/package/2006/relationships"><Relationship Id="rId7" Type="http://schemas.openxmlformats.org/officeDocument/2006/relationships/vmlDrawing" Target="../drawings/vmlDrawing15.vml"/><Relationship Id="rId6" Type="http://schemas.openxmlformats.org/officeDocument/2006/relationships/slideLayout" Target="../slideLayouts/slideLayout7.xml"/><Relationship Id="rId5" Type="http://schemas.openxmlformats.org/officeDocument/2006/relationships/oleObject" Target="../embeddings/oleObject61.bin"/><Relationship Id="rId4" Type="http://schemas.openxmlformats.org/officeDocument/2006/relationships/image" Target="../media/image40.wmf"/><Relationship Id="rId3" Type="http://schemas.openxmlformats.org/officeDocument/2006/relationships/oleObject" Target="../embeddings/oleObject60.bin"/><Relationship Id="rId2" Type="http://schemas.openxmlformats.org/officeDocument/2006/relationships/image" Target="../media/image38.wmf"/><Relationship Id="rId1" Type="http://schemas.openxmlformats.org/officeDocument/2006/relationships/oleObject" Target="../embeddings/oleObject59.bin"/></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6.xml"/><Relationship Id="rId4" Type="http://schemas.openxmlformats.org/officeDocument/2006/relationships/image" Target="../media/image30.wmf"/><Relationship Id="rId3" Type="http://schemas.openxmlformats.org/officeDocument/2006/relationships/oleObject" Target="../embeddings/oleObject63.bin"/><Relationship Id="rId2" Type="http://schemas.openxmlformats.org/officeDocument/2006/relationships/image" Target="../media/image38.wmf"/><Relationship Id="rId1" Type="http://schemas.openxmlformats.org/officeDocument/2006/relationships/oleObject" Target="../embeddings/oleObject62.bin"/></Relationships>
</file>

<file path=ppt/slides/_rels/slide20.xml.rels><?xml version="1.0" encoding="UTF-8" standalone="yes"?>
<Relationships xmlns="http://schemas.openxmlformats.org/package/2006/relationships"><Relationship Id="rId9" Type="http://schemas.openxmlformats.org/officeDocument/2006/relationships/vmlDrawing" Target="../drawings/vmlDrawing17.vml"/><Relationship Id="rId8" Type="http://schemas.openxmlformats.org/officeDocument/2006/relationships/slideLayout" Target="../slideLayouts/slideLayout6.xml"/><Relationship Id="rId7" Type="http://schemas.openxmlformats.org/officeDocument/2006/relationships/image" Target="../media/image30.wmf"/><Relationship Id="rId6" Type="http://schemas.openxmlformats.org/officeDocument/2006/relationships/oleObject" Target="../embeddings/oleObject67.bin"/><Relationship Id="rId5" Type="http://schemas.openxmlformats.org/officeDocument/2006/relationships/oleObject" Target="../embeddings/oleObject66.bin"/><Relationship Id="rId4" Type="http://schemas.openxmlformats.org/officeDocument/2006/relationships/image" Target="../media/image42.wmf"/><Relationship Id="rId3" Type="http://schemas.openxmlformats.org/officeDocument/2006/relationships/oleObject" Target="../embeddings/oleObject65.bin"/><Relationship Id="rId2" Type="http://schemas.openxmlformats.org/officeDocument/2006/relationships/image" Target="../media/image38.wmf"/><Relationship Id="rId1" Type="http://schemas.openxmlformats.org/officeDocument/2006/relationships/oleObject" Target="../embeddings/oleObject64.bin"/></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44.wmf"/><Relationship Id="rId7" Type="http://schemas.openxmlformats.org/officeDocument/2006/relationships/oleObject" Target="../embeddings/oleObject71.bin"/><Relationship Id="rId6" Type="http://schemas.openxmlformats.org/officeDocument/2006/relationships/image" Target="../media/image38.wmf"/><Relationship Id="rId5" Type="http://schemas.openxmlformats.org/officeDocument/2006/relationships/oleObject" Target="../embeddings/oleObject70.bin"/><Relationship Id="rId4" Type="http://schemas.openxmlformats.org/officeDocument/2006/relationships/image" Target="../media/image42.wmf"/><Relationship Id="rId3" Type="http://schemas.openxmlformats.org/officeDocument/2006/relationships/oleObject" Target="../embeddings/oleObject69.bin"/><Relationship Id="rId2" Type="http://schemas.openxmlformats.org/officeDocument/2006/relationships/image" Target="../media/image43.wmf"/><Relationship Id="rId10" Type="http://schemas.openxmlformats.org/officeDocument/2006/relationships/vmlDrawing" Target="../drawings/vmlDrawing18.vml"/><Relationship Id="rId1" Type="http://schemas.openxmlformats.org/officeDocument/2006/relationships/oleObject" Target="../embeddings/oleObject68.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47.wmf"/><Relationship Id="rId7" Type="http://schemas.openxmlformats.org/officeDocument/2006/relationships/oleObject" Target="../embeddings/oleObject75.bin"/><Relationship Id="rId6" Type="http://schemas.openxmlformats.org/officeDocument/2006/relationships/image" Target="../media/image46.wmf"/><Relationship Id="rId5" Type="http://schemas.openxmlformats.org/officeDocument/2006/relationships/oleObject" Target="../embeddings/oleObject74.bin"/><Relationship Id="rId4" Type="http://schemas.openxmlformats.org/officeDocument/2006/relationships/image" Target="../media/image45.wmf"/><Relationship Id="rId3" Type="http://schemas.openxmlformats.org/officeDocument/2006/relationships/oleObject" Target="../embeddings/oleObject73.bin"/><Relationship Id="rId2" Type="http://schemas.openxmlformats.org/officeDocument/2006/relationships/image" Target="../media/image42.wmf"/><Relationship Id="rId16" Type="http://schemas.openxmlformats.org/officeDocument/2006/relationships/vmlDrawing" Target="../drawings/vmlDrawing19.vml"/><Relationship Id="rId15" Type="http://schemas.openxmlformats.org/officeDocument/2006/relationships/slideLayout" Target="../slideLayouts/slideLayout6.xml"/><Relationship Id="rId14" Type="http://schemas.openxmlformats.org/officeDocument/2006/relationships/image" Target="../media/image40.wmf"/><Relationship Id="rId13" Type="http://schemas.openxmlformats.org/officeDocument/2006/relationships/oleObject" Target="../embeddings/oleObject78.bin"/><Relationship Id="rId12" Type="http://schemas.openxmlformats.org/officeDocument/2006/relationships/image" Target="../media/image30.wmf"/><Relationship Id="rId11" Type="http://schemas.openxmlformats.org/officeDocument/2006/relationships/oleObject" Target="../embeddings/oleObject77.bin"/><Relationship Id="rId10" Type="http://schemas.openxmlformats.org/officeDocument/2006/relationships/image" Target="../media/image48.wmf"/><Relationship Id="rId1" Type="http://schemas.openxmlformats.org/officeDocument/2006/relationships/oleObject" Target="../embeddings/oleObject72.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83.bin"/><Relationship Id="rId8" Type="http://schemas.openxmlformats.org/officeDocument/2006/relationships/image" Target="../media/image52.wmf"/><Relationship Id="rId7" Type="http://schemas.openxmlformats.org/officeDocument/2006/relationships/oleObject" Target="../embeddings/oleObject82.bin"/><Relationship Id="rId6" Type="http://schemas.openxmlformats.org/officeDocument/2006/relationships/image" Target="../media/image51.wmf"/><Relationship Id="rId5" Type="http://schemas.openxmlformats.org/officeDocument/2006/relationships/oleObject" Target="../embeddings/oleObject81.bin"/><Relationship Id="rId4" Type="http://schemas.openxmlformats.org/officeDocument/2006/relationships/image" Target="../media/image50.wmf"/><Relationship Id="rId3" Type="http://schemas.openxmlformats.org/officeDocument/2006/relationships/oleObject" Target="../embeddings/oleObject80.bin"/><Relationship Id="rId2" Type="http://schemas.openxmlformats.org/officeDocument/2006/relationships/image" Target="../media/image49.wmf"/><Relationship Id="rId12" Type="http://schemas.openxmlformats.org/officeDocument/2006/relationships/vmlDrawing" Target="../drawings/vmlDrawing20.vml"/><Relationship Id="rId11" Type="http://schemas.openxmlformats.org/officeDocument/2006/relationships/slideLayout" Target="../slideLayouts/slideLayout7.xml"/><Relationship Id="rId10" Type="http://schemas.openxmlformats.org/officeDocument/2006/relationships/image" Target="../media/image53.wmf"/><Relationship Id="rId1" Type="http://schemas.openxmlformats.org/officeDocument/2006/relationships/oleObject" Target="../embeddings/oleObject79.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88.bin"/><Relationship Id="rId8" Type="http://schemas.openxmlformats.org/officeDocument/2006/relationships/image" Target="../media/image57.wmf"/><Relationship Id="rId7" Type="http://schemas.openxmlformats.org/officeDocument/2006/relationships/oleObject" Target="../embeddings/oleObject87.bin"/><Relationship Id="rId6" Type="http://schemas.openxmlformats.org/officeDocument/2006/relationships/image" Target="../media/image56.wmf"/><Relationship Id="rId5" Type="http://schemas.openxmlformats.org/officeDocument/2006/relationships/oleObject" Target="../embeddings/oleObject86.bin"/><Relationship Id="rId4" Type="http://schemas.openxmlformats.org/officeDocument/2006/relationships/image" Target="../media/image55.wmf"/><Relationship Id="rId3" Type="http://schemas.openxmlformats.org/officeDocument/2006/relationships/oleObject" Target="../embeddings/oleObject85.bin"/><Relationship Id="rId2" Type="http://schemas.openxmlformats.org/officeDocument/2006/relationships/image" Target="../media/image54.wmf"/><Relationship Id="rId12" Type="http://schemas.openxmlformats.org/officeDocument/2006/relationships/vmlDrawing" Target="../drawings/vmlDrawing21.vml"/><Relationship Id="rId11" Type="http://schemas.openxmlformats.org/officeDocument/2006/relationships/slideLayout" Target="../slideLayouts/slideLayout7.xml"/><Relationship Id="rId10" Type="http://schemas.openxmlformats.org/officeDocument/2006/relationships/image" Target="../media/image58.wmf"/><Relationship Id="rId1" Type="http://schemas.openxmlformats.org/officeDocument/2006/relationships/oleObject" Target="../embeddings/oleObject84.bin"/></Relationships>
</file>

<file path=ppt/slides/_rels/slide25.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6.xml"/><Relationship Id="rId6" Type="http://schemas.openxmlformats.org/officeDocument/2006/relationships/image" Target="../media/image29.wmf"/><Relationship Id="rId5" Type="http://schemas.openxmlformats.org/officeDocument/2006/relationships/oleObject" Target="../embeddings/oleObject91.bin"/><Relationship Id="rId4" Type="http://schemas.openxmlformats.org/officeDocument/2006/relationships/image" Target="../media/image60.wmf"/><Relationship Id="rId3" Type="http://schemas.openxmlformats.org/officeDocument/2006/relationships/oleObject" Target="../embeddings/oleObject90.bin"/><Relationship Id="rId2" Type="http://schemas.openxmlformats.org/officeDocument/2006/relationships/image" Target="../media/image59.wmf"/><Relationship Id="rId1" Type="http://schemas.openxmlformats.org/officeDocument/2006/relationships/oleObject" Target="../embeddings/oleObject89.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7.xml"/><Relationship Id="rId2" Type="http://schemas.openxmlformats.org/officeDocument/2006/relationships/image" Target="../media/image61.wmf"/><Relationship Id="rId1" Type="http://schemas.openxmlformats.org/officeDocument/2006/relationships/oleObject" Target="../embeddings/oleObject92.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7.xml"/><Relationship Id="rId2" Type="http://schemas.openxmlformats.org/officeDocument/2006/relationships/image" Target="../media/image62.wmf"/><Relationship Id="rId1" Type="http://schemas.openxmlformats.org/officeDocument/2006/relationships/oleObject" Target="../embeddings/oleObject93.bin"/></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25.vml"/><Relationship Id="rId7" Type="http://schemas.openxmlformats.org/officeDocument/2006/relationships/slideLayout" Target="../slideLayouts/slideLayout7.xml"/><Relationship Id="rId6" Type="http://schemas.openxmlformats.org/officeDocument/2006/relationships/image" Target="../media/image65.wmf"/><Relationship Id="rId5" Type="http://schemas.openxmlformats.org/officeDocument/2006/relationships/oleObject" Target="../embeddings/oleObject96.bin"/><Relationship Id="rId4" Type="http://schemas.openxmlformats.org/officeDocument/2006/relationships/image" Target="../media/image64.wmf"/><Relationship Id="rId3" Type="http://schemas.openxmlformats.org/officeDocument/2006/relationships/oleObject" Target="../embeddings/oleObject95.bin"/><Relationship Id="rId2" Type="http://schemas.openxmlformats.org/officeDocument/2006/relationships/image" Target="../media/image63.wmf"/><Relationship Id="rId1" Type="http://schemas.openxmlformats.org/officeDocument/2006/relationships/oleObject" Target="../embeddings/oleObject94.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101.bin"/><Relationship Id="rId8" Type="http://schemas.openxmlformats.org/officeDocument/2006/relationships/image" Target="../media/image69.wmf"/><Relationship Id="rId7" Type="http://schemas.openxmlformats.org/officeDocument/2006/relationships/oleObject" Target="../embeddings/oleObject100.bin"/><Relationship Id="rId6" Type="http://schemas.openxmlformats.org/officeDocument/2006/relationships/image" Target="../media/image68.wmf"/><Relationship Id="rId5" Type="http://schemas.openxmlformats.org/officeDocument/2006/relationships/oleObject" Target="../embeddings/oleObject99.bin"/><Relationship Id="rId4" Type="http://schemas.openxmlformats.org/officeDocument/2006/relationships/image" Target="../media/image67.wmf"/><Relationship Id="rId3" Type="http://schemas.openxmlformats.org/officeDocument/2006/relationships/oleObject" Target="../embeddings/oleObject98.bin"/><Relationship Id="rId2" Type="http://schemas.openxmlformats.org/officeDocument/2006/relationships/image" Target="../media/image66.wmf"/><Relationship Id="rId16" Type="http://schemas.openxmlformats.org/officeDocument/2006/relationships/vmlDrawing" Target="../drawings/vmlDrawing26.vml"/><Relationship Id="rId15" Type="http://schemas.openxmlformats.org/officeDocument/2006/relationships/slideLayout" Target="../slideLayouts/slideLayout7.xml"/><Relationship Id="rId14" Type="http://schemas.openxmlformats.org/officeDocument/2006/relationships/image" Target="../media/image72.wmf"/><Relationship Id="rId13" Type="http://schemas.openxmlformats.org/officeDocument/2006/relationships/oleObject" Target="../embeddings/oleObject103.bin"/><Relationship Id="rId12" Type="http://schemas.openxmlformats.org/officeDocument/2006/relationships/image" Target="../media/image71.wmf"/><Relationship Id="rId11" Type="http://schemas.openxmlformats.org/officeDocument/2006/relationships/oleObject" Target="../embeddings/oleObject102.bin"/><Relationship Id="rId10" Type="http://schemas.openxmlformats.org/officeDocument/2006/relationships/image" Target="../media/image70.wmf"/><Relationship Id="rId1" Type="http://schemas.openxmlformats.org/officeDocument/2006/relationships/oleObject" Target="../embeddings/oleObject97.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7.xml"/><Relationship Id="rId2" Type="http://schemas.openxmlformats.org/officeDocument/2006/relationships/image" Target="../media/image73.wmf"/><Relationship Id="rId1" Type="http://schemas.openxmlformats.org/officeDocument/2006/relationships/oleObject" Target="../embeddings/oleObject104.bin"/></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7.xml"/><Relationship Id="rId2" Type="http://schemas.openxmlformats.org/officeDocument/2006/relationships/image" Target="../media/image74.wmf"/><Relationship Id="rId1" Type="http://schemas.openxmlformats.org/officeDocument/2006/relationships/oleObject" Target="../embeddings/oleObject105.bin"/></Relationships>
</file>

<file path=ppt/slides/_rels/slide32.xml.rels><?xml version="1.0" encoding="UTF-8" standalone="yes"?>
<Relationships xmlns="http://schemas.openxmlformats.org/package/2006/relationships"><Relationship Id="rId5" Type="http://schemas.openxmlformats.org/officeDocument/2006/relationships/vmlDrawing" Target="../drawings/vmlDrawing29.vml"/><Relationship Id="rId4" Type="http://schemas.openxmlformats.org/officeDocument/2006/relationships/slideLayout" Target="../slideLayouts/slideLayout7.xml"/><Relationship Id="rId3" Type="http://schemas.openxmlformats.org/officeDocument/2006/relationships/image" Target="../media/image76.emf"/><Relationship Id="rId2" Type="http://schemas.openxmlformats.org/officeDocument/2006/relationships/oleObject" Target="../embeddings/oleObject106.bin"/><Relationship Id="rId1" Type="http://schemas.openxmlformats.org/officeDocument/2006/relationships/image" Target="../media/image75.png"/></Relationships>
</file>

<file path=ppt/slides/_rels/slide33.xml.rels><?xml version="1.0" encoding="UTF-8" standalone="yes"?>
<Relationships xmlns="http://schemas.openxmlformats.org/package/2006/relationships"><Relationship Id="rId8" Type="http://schemas.openxmlformats.org/officeDocument/2006/relationships/vmlDrawing" Target="../drawings/vmlDrawing30.vml"/><Relationship Id="rId7" Type="http://schemas.openxmlformats.org/officeDocument/2006/relationships/slideLayout" Target="../slideLayouts/slideLayout7.xml"/><Relationship Id="rId6" Type="http://schemas.openxmlformats.org/officeDocument/2006/relationships/image" Target="../media/image79.wmf"/><Relationship Id="rId5" Type="http://schemas.openxmlformats.org/officeDocument/2006/relationships/oleObject" Target="../embeddings/oleObject109.bin"/><Relationship Id="rId4" Type="http://schemas.openxmlformats.org/officeDocument/2006/relationships/image" Target="../media/image78.wmf"/><Relationship Id="rId3" Type="http://schemas.openxmlformats.org/officeDocument/2006/relationships/oleObject" Target="../embeddings/oleObject108.bin"/><Relationship Id="rId2" Type="http://schemas.openxmlformats.org/officeDocument/2006/relationships/image" Target="../media/image77.wmf"/><Relationship Id="rId1" Type="http://schemas.openxmlformats.org/officeDocument/2006/relationships/oleObject" Target="../embeddings/oleObject107.bin"/></Relationships>
</file>

<file path=ppt/slides/_rels/slide34.xml.rels><?xml version="1.0" encoding="UTF-8" standalone="yes"?>
<Relationships xmlns="http://schemas.openxmlformats.org/package/2006/relationships"><Relationship Id="rId8" Type="http://schemas.openxmlformats.org/officeDocument/2006/relationships/vmlDrawing" Target="../drawings/vmlDrawing31.vml"/><Relationship Id="rId7" Type="http://schemas.openxmlformats.org/officeDocument/2006/relationships/slideLayout" Target="../slideLayouts/slideLayout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image" Target="../media/image80.wmf"/><Relationship Id="rId2" Type="http://schemas.openxmlformats.org/officeDocument/2006/relationships/oleObject" Target="../embeddings/oleObject110.bin"/><Relationship Id="rId1" Type="http://schemas.openxmlformats.org/officeDocument/2006/relationships/tags" Target="../tags/tag19.xml"/></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4.wmf"/><Relationship Id="rId7" Type="http://schemas.openxmlformats.org/officeDocument/2006/relationships/oleObject" Target="../embeddings/oleObject114.bin"/><Relationship Id="rId6" Type="http://schemas.openxmlformats.org/officeDocument/2006/relationships/image" Target="../media/image83.wmf"/><Relationship Id="rId5" Type="http://schemas.openxmlformats.org/officeDocument/2006/relationships/oleObject" Target="../embeddings/oleObject113.bin"/><Relationship Id="rId4" Type="http://schemas.openxmlformats.org/officeDocument/2006/relationships/image" Target="../media/image82.wmf"/><Relationship Id="rId3" Type="http://schemas.openxmlformats.org/officeDocument/2006/relationships/oleObject" Target="../embeddings/oleObject112.bin"/><Relationship Id="rId2" Type="http://schemas.openxmlformats.org/officeDocument/2006/relationships/image" Target="../media/image81.wmf"/><Relationship Id="rId10" Type="http://schemas.openxmlformats.org/officeDocument/2006/relationships/vmlDrawing" Target="../drawings/vmlDrawing32.vml"/><Relationship Id="rId1" Type="http://schemas.openxmlformats.org/officeDocument/2006/relationships/oleObject" Target="../embeddings/oleObject111.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9" Type="http://schemas.openxmlformats.org/officeDocument/2006/relationships/oleObject" Target="../embeddings/oleObject119.bin"/><Relationship Id="rId8" Type="http://schemas.openxmlformats.org/officeDocument/2006/relationships/image" Target="../media/image88.wmf"/><Relationship Id="rId7" Type="http://schemas.openxmlformats.org/officeDocument/2006/relationships/oleObject" Target="../embeddings/oleObject118.bin"/><Relationship Id="rId6" Type="http://schemas.openxmlformats.org/officeDocument/2006/relationships/image" Target="../media/image87.wmf"/><Relationship Id="rId5" Type="http://schemas.openxmlformats.org/officeDocument/2006/relationships/oleObject" Target="../embeddings/oleObject117.bin"/><Relationship Id="rId4" Type="http://schemas.openxmlformats.org/officeDocument/2006/relationships/image" Target="../media/image86.wmf"/><Relationship Id="rId3" Type="http://schemas.openxmlformats.org/officeDocument/2006/relationships/oleObject" Target="../embeddings/oleObject116.bin"/><Relationship Id="rId2" Type="http://schemas.openxmlformats.org/officeDocument/2006/relationships/image" Target="../media/image85.wmf"/><Relationship Id="rId12" Type="http://schemas.openxmlformats.org/officeDocument/2006/relationships/vmlDrawing" Target="../drawings/vmlDrawing33.vml"/><Relationship Id="rId11" Type="http://schemas.openxmlformats.org/officeDocument/2006/relationships/slideLayout" Target="../slideLayouts/slideLayout7.xml"/><Relationship Id="rId10" Type="http://schemas.openxmlformats.org/officeDocument/2006/relationships/image" Target="../media/image89.wmf"/><Relationship Id="rId1" Type="http://schemas.openxmlformats.org/officeDocument/2006/relationships/oleObject" Target="../embeddings/oleObject115.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24.bin"/><Relationship Id="rId8" Type="http://schemas.openxmlformats.org/officeDocument/2006/relationships/image" Target="../media/image91.wmf"/><Relationship Id="rId7" Type="http://schemas.openxmlformats.org/officeDocument/2006/relationships/oleObject" Target="../embeddings/oleObject123.bin"/><Relationship Id="rId6" Type="http://schemas.openxmlformats.org/officeDocument/2006/relationships/image" Target="../media/image90.wmf"/><Relationship Id="rId5" Type="http://schemas.openxmlformats.org/officeDocument/2006/relationships/oleObject" Target="../embeddings/oleObject122.bin"/><Relationship Id="rId4" Type="http://schemas.openxmlformats.org/officeDocument/2006/relationships/image" Target="../media/image89.wmf"/><Relationship Id="rId3" Type="http://schemas.openxmlformats.org/officeDocument/2006/relationships/oleObject" Target="../embeddings/oleObject121.bin"/><Relationship Id="rId2" Type="http://schemas.openxmlformats.org/officeDocument/2006/relationships/image" Target="../media/image85.wmf"/><Relationship Id="rId12" Type="http://schemas.openxmlformats.org/officeDocument/2006/relationships/vmlDrawing" Target="../drawings/vmlDrawing34.vml"/><Relationship Id="rId11" Type="http://schemas.openxmlformats.org/officeDocument/2006/relationships/slideLayout" Target="../slideLayouts/slideLayout7.xml"/><Relationship Id="rId10" Type="http://schemas.openxmlformats.org/officeDocument/2006/relationships/image" Target="../media/image92.wmf"/><Relationship Id="rId1" Type="http://schemas.openxmlformats.org/officeDocument/2006/relationships/oleObject" Target="../embeddings/oleObject120.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129.bin"/><Relationship Id="rId8" Type="http://schemas.openxmlformats.org/officeDocument/2006/relationships/image" Target="../media/image96.wmf"/><Relationship Id="rId7" Type="http://schemas.openxmlformats.org/officeDocument/2006/relationships/oleObject" Target="../embeddings/oleObject128.bin"/><Relationship Id="rId6" Type="http://schemas.openxmlformats.org/officeDocument/2006/relationships/image" Target="../media/image95.wmf"/><Relationship Id="rId5" Type="http://schemas.openxmlformats.org/officeDocument/2006/relationships/oleObject" Target="../embeddings/oleObject127.bin"/><Relationship Id="rId4" Type="http://schemas.openxmlformats.org/officeDocument/2006/relationships/image" Target="../media/image94.wmf"/><Relationship Id="rId3" Type="http://schemas.openxmlformats.org/officeDocument/2006/relationships/oleObject" Target="../embeddings/oleObject126.bin"/><Relationship Id="rId2" Type="http://schemas.openxmlformats.org/officeDocument/2006/relationships/image" Target="../media/image93.wmf"/><Relationship Id="rId12" Type="http://schemas.openxmlformats.org/officeDocument/2006/relationships/vmlDrawing" Target="../drawings/vmlDrawing35.vml"/><Relationship Id="rId11" Type="http://schemas.openxmlformats.org/officeDocument/2006/relationships/slideLayout" Target="../slideLayouts/slideLayout7.xml"/><Relationship Id="rId10" Type="http://schemas.openxmlformats.org/officeDocument/2006/relationships/image" Target="../media/image97.wmf"/><Relationship Id="rId1" Type="http://schemas.openxmlformats.org/officeDocument/2006/relationships/oleObject" Target="../embeddings/oleObject125.bin"/></Relationships>
</file>

<file path=ppt/slides/_rels/slide44.xml.rels><?xml version="1.0" encoding="UTF-8" standalone="yes"?>
<Relationships xmlns="http://schemas.openxmlformats.org/package/2006/relationships"><Relationship Id="rId8" Type="http://schemas.openxmlformats.org/officeDocument/2006/relationships/vmlDrawing" Target="../drawings/vmlDrawing36.vml"/><Relationship Id="rId7" Type="http://schemas.openxmlformats.org/officeDocument/2006/relationships/slideLayout" Target="../slideLayouts/slideLayout7.xml"/><Relationship Id="rId6" Type="http://schemas.openxmlformats.org/officeDocument/2006/relationships/image" Target="../media/image100.wmf"/><Relationship Id="rId5" Type="http://schemas.openxmlformats.org/officeDocument/2006/relationships/oleObject" Target="../embeddings/oleObject132.bin"/><Relationship Id="rId4" Type="http://schemas.openxmlformats.org/officeDocument/2006/relationships/image" Target="../media/image99.wmf"/><Relationship Id="rId3" Type="http://schemas.openxmlformats.org/officeDocument/2006/relationships/oleObject" Target="../embeddings/oleObject131.bin"/><Relationship Id="rId2" Type="http://schemas.openxmlformats.org/officeDocument/2006/relationships/image" Target="../media/image98.wmf"/><Relationship Id="rId1" Type="http://schemas.openxmlformats.org/officeDocument/2006/relationships/oleObject" Target="../embeddings/oleObject130.bin"/></Relationships>
</file>

<file path=ppt/slides/_rels/slide45.xml.rels><?xml version="1.0" encoding="UTF-8" standalone="yes"?>
<Relationships xmlns="http://schemas.openxmlformats.org/package/2006/relationships"><Relationship Id="rId8" Type="http://schemas.openxmlformats.org/officeDocument/2006/relationships/vmlDrawing" Target="../drawings/vmlDrawing37.vml"/><Relationship Id="rId7" Type="http://schemas.openxmlformats.org/officeDocument/2006/relationships/slideLayout" Target="../slideLayouts/slideLayout7.xml"/><Relationship Id="rId6" Type="http://schemas.openxmlformats.org/officeDocument/2006/relationships/image" Target="../media/image103.wmf"/><Relationship Id="rId5" Type="http://schemas.openxmlformats.org/officeDocument/2006/relationships/oleObject" Target="../embeddings/oleObject135.bin"/><Relationship Id="rId4" Type="http://schemas.openxmlformats.org/officeDocument/2006/relationships/image" Target="../media/image102.wmf"/><Relationship Id="rId3" Type="http://schemas.openxmlformats.org/officeDocument/2006/relationships/oleObject" Target="../embeddings/oleObject134.bin"/><Relationship Id="rId2" Type="http://schemas.openxmlformats.org/officeDocument/2006/relationships/image" Target="../media/image101.wmf"/><Relationship Id="rId1" Type="http://schemas.openxmlformats.org/officeDocument/2006/relationships/oleObject" Target="../embeddings/oleObject133.bin"/></Relationships>
</file>

<file path=ppt/slides/_rels/slide46.xml.rels><?xml version="1.0" encoding="UTF-8" standalone="yes"?>
<Relationships xmlns="http://schemas.openxmlformats.org/package/2006/relationships"><Relationship Id="rId6" Type="http://schemas.openxmlformats.org/officeDocument/2006/relationships/vmlDrawing" Target="../drawings/vmlDrawing38.vml"/><Relationship Id="rId5" Type="http://schemas.openxmlformats.org/officeDocument/2006/relationships/slideLayout" Target="../slideLayouts/slideLayout7.xml"/><Relationship Id="rId4" Type="http://schemas.openxmlformats.org/officeDocument/2006/relationships/image" Target="../media/image105.wmf"/><Relationship Id="rId3" Type="http://schemas.openxmlformats.org/officeDocument/2006/relationships/oleObject" Target="../embeddings/oleObject137.bin"/><Relationship Id="rId2" Type="http://schemas.openxmlformats.org/officeDocument/2006/relationships/image" Target="../media/image104.wmf"/><Relationship Id="rId1" Type="http://schemas.openxmlformats.org/officeDocument/2006/relationships/oleObject" Target="../embeddings/oleObject136.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142.bin"/><Relationship Id="rId8" Type="http://schemas.openxmlformats.org/officeDocument/2006/relationships/image" Target="../media/image109.wmf"/><Relationship Id="rId7" Type="http://schemas.openxmlformats.org/officeDocument/2006/relationships/oleObject" Target="../embeddings/oleObject141.bin"/><Relationship Id="rId6" Type="http://schemas.openxmlformats.org/officeDocument/2006/relationships/image" Target="../media/image108.wmf"/><Relationship Id="rId5" Type="http://schemas.openxmlformats.org/officeDocument/2006/relationships/oleObject" Target="../embeddings/oleObject140.bin"/><Relationship Id="rId4" Type="http://schemas.openxmlformats.org/officeDocument/2006/relationships/image" Target="../media/image107.wmf"/><Relationship Id="rId3" Type="http://schemas.openxmlformats.org/officeDocument/2006/relationships/oleObject" Target="../embeddings/oleObject139.bin"/><Relationship Id="rId2" Type="http://schemas.openxmlformats.org/officeDocument/2006/relationships/image" Target="../media/image106.wmf"/><Relationship Id="rId12" Type="http://schemas.openxmlformats.org/officeDocument/2006/relationships/vmlDrawing" Target="../drawings/vmlDrawing39.vml"/><Relationship Id="rId11" Type="http://schemas.openxmlformats.org/officeDocument/2006/relationships/slideLayout" Target="../slideLayouts/slideLayout7.xml"/><Relationship Id="rId10" Type="http://schemas.openxmlformats.org/officeDocument/2006/relationships/image" Target="../media/image110.wmf"/><Relationship Id="rId1" Type="http://schemas.openxmlformats.org/officeDocument/2006/relationships/oleObject" Target="../embeddings/oleObject138.bin"/></Relationships>
</file>

<file path=ppt/slides/_rels/slide48.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oleObject" Target="../embeddings/oleObject144.bin"/><Relationship Id="rId3" Type="http://schemas.openxmlformats.org/officeDocument/2006/relationships/image" Target="../media/image111.wmf"/><Relationship Id="rId2" Type="http://schemas.openxmlformats.org/officeDocument/2006/relationships/oleObject" Target="../embeddings/oleObject143.bin"/><Relationship Id="rId16" Type="http://schemas.openxmlformats.org/officeDocument/2006/relationships/vmlDrawing" Target="../drawings/vmlDrawing40.vml"/><Relationship Id="rId15" Type="http://schemas.openxmlformats.org/officeDocument/2006/relationships/slideLayout" Target="../slideLayouts/slideLayout7.xml"/><Relationship Id="rId14" Type="http://schemas.openxmlformats.org/officeDocument/2006/relationships/tags" Target="../tags/tag33.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3.xml"/></Relationships>
</file>

<file path=ppt/slides/_rels/slide49.xml.rels><?xml version="1.0" encoding="UTF-8" standalone="yes"?>
<Relationships xmlns="http://schemas.openxmlformats.org/package/2006/relationships"><Relationship Id="rId8" Type="http://schemas.openxmlformats.org/officeDocument/2006/relationships/vmlDrawing" Target="../drawings/vmlDrawing41.vml"/><Relationship Id="rId7" Type="http://schemas.openxmlformats.org/officeDocument/2006/relationships/slideLayout" Target="../slideLayouts/slideLayout7.xml"/><Relationship Id="rId6" Type="http://schemas.openxmlformats.org/officeDocument/2006/relationships/image" Target="../media/image114.wmf"/><Relationship Id="rId5" Type="http://schemas.openxmlformats.org/officeDocument/2006/relationships/oleObject" Target="../embeddings/oleObject147.bin"/><Relationship Id="rId4" Type="http://schemas.openxmlformats.org/officeDocument/2006/relationships/image" Target="../media/image113.wmf"/><Relationship Id="rId3" Type="http://schemas.openxmlformats.org/officeDocument/2006/relationships/oleObject" Target="../embeddings/oleObject146.bin"/><Relationship Id="rId2" Type="http://schemas.openxmlformats.org/officeDocument/2006/relationships/image" Target="../media/image112.wmf"/><Relationship Id="rId1" Type="http://schemas.openxmlformats.org/officeDocument/2006/relationships/oleObject" Target="../embeddings/oleObject145.bin"/></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42.vml"/><Relationship Id="rId5" Type="http://schemas.openxmlformats.org/officeDocument/2006/relationships/slideLayout" Target="../slideLayouts/slideLayout7.xml"/><Relationship Id="rId4" Type="http://schemas.openxmlformats.org/officeDocument/2006/relationships/image" Target="../media/image116.wmf"/><Relationship Id="rId3" Type="http://schemas.openxmlformats.org/officeDocument/2006/relationships/oleObject" Target="../embeddings/oleObject149.bin"/><Relationship Id="rId2" Type="http://schemas.openxmlformats.org/officeDocument/2006/relationships/image" Target="../media/image115.wmf"/><Relationship Id="rId1" Type="http://schemas.openxmlformats.org/officeDocument/2006/relationships/oleObject" Target="../embeddings/oleObject148.bin"/></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43.vml"/><Relationship Id="rId3" Type="http://schemas.openxmlformats.org/officeDocument/2006/relationships/slideLayout" Target="../slideLayouts/slideLayout7.xml"/><Relationship Id="rId2" Type="http://schemas.openxmlformats.org/officeDocument/2006/relationships/image" Target="../media/image117.wmf"/><Relationship Id="rId1" Type="http://schemas.openxmlformats.org/officeDocument/2006/relationships/oleObject" Target="../embeddings/oleObject150.bin"/></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44.vml"/><Relationship Id="rId5" Type="http://schemas.openxmlformats.org/officeDocument/2006/relationships/slideLayout" Target="../slideLayouts/slideLayout7.xml"/><Relationship Id="rId4" Type="http://schemas.openxmlformats.org/officeDocument/2006/relationships/image" Target="../media/image119.wmf"/><Relationship Id="rId3" Type="http://schemas.openxmlformats.org/officeDocument/2006/relationships/oleObject" Target="../embeddings/oleObject152.bin"/><Relationship Id="rId2" Type="http://schemas.openxmlformats.org/officeDocument/2006/relationships/image" Target="../media/image118.wmf"/><Relationship Id="rId1" Type="http://schemas.openxmlformats.org/officeDocument/2006/relationships/oleObject" Target="../embeddings/oleObject151.bin"/></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157.bin"/><Relationship Id="rId8" Type="http://schemas.openxmlformats.org/officeDocument/2006/relationships/image" Target="../media/image123.wmf"/><Relationship Id="rId7" Type="http://schemas.openxmlformats.org/officeDocument/2006/relationships/oleObject" Target="../embeddings/oleObject156.bin"/><Relationship Id="rId6" Type="http://schemas.openxmlformats.org/officeDocument/2006/relationships/image" Target="../media/image122.wmf"/><Relationship Id="rId5" Type="http://schemas.openxmlformats.org/officeDocument/2006/relationships/oleObject" Target="../embeddings/oleObject155.bin"/><Relationship Id="rId4" Type="http://schemas.openxmlformats.org/officeDocument/2006/relationships/image" Target="../media/image121.wmf"/><Relationship Id="rId3" Type="http://schemas.openxmlformats.org/officeDocument/2006/relationships/oleObject" Target="../embeddings/oleObject154.bin"/><Relationship Id="rId2" Type="http://schemas.openxmlformats.org/officeDocument/2006/relationships/image" Target="../media/image120.wmf"/><Relationship Id="rId12" Type="http://schemas.openxmlformats.org/officeDocument/2006/relationships/vmlDrawing" Target="../drawings/vmlDrawing45.vml"/><Relationship Id="rId11" Type="http://schemas.openxmlformats.org/officeDocument/2006/relationships/slideLayout" Target="../slideLayouts/slideLayout7.xml"/><Relationship Id="rId10" Type="http://schemas.openxmlformats.org/officeDocument/2006/relationships/image" Target="../media/image124.wmf"/><Relationship Id="rId1" Type="http://schemas.openxmlformats.org/officeDocument/2006/relationships/oleObject" Target="../embeddings/oleObject153.bin"/></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162.bin"/><Relationship Id="rId8" Type="http://schemas.openxmlformats.org/officeDocument/2006/relationships/image" Target="../media/image128.wmf"/><Relationship Id="rId7" Type="http://schemas.openxmlformats.org/officeDocument/2006/relationships/oleObject" Target="../embeddings/oleObject161.bin"/><Relationship Id="rId6" Type="http://schemas.openxmlformats.org/officeDocument/2006/relationships/image" Target="../media/image127.wmf"/><Relationship Id="rId5" Type="http://schemas.openxmlformats.org/officeDocument/2006/relationships/oleObject" Target="../embeddings/oleObject160.bin"/><Relationship Id="rId4" Type="http://schemas.openxmlformats.org/officeDocument/2006/relationships/image" Target="../media/image126.wmf"/><Relationship Id="rId3" Type="http://schemas.openxmlformats.org/officeDocument/2006/relationships/oleObject" Target="../embeddings/oleObject159.bin"/><Relationship Id="rId2" Type="http://schemas.openxmlformats.org/officeDocument/2006/relationships/image" Target="../media/image125.wmf"/><Relationship Id="rId14" Type="http://schemas.openxmlformats.org/officeDocument/2006/relationships/vmlDrawing" Target="../drawings/vmlDrawing46.vml"/><Relationship Id="rId13" Type="http://schemas.openxmlformats.org/officeDocument/2006/relationships/slideLayout" Target="../slideLayouts/slideLayout7.xml"/><Relationship Id="rId12" Type="http://schemas.openxmlformats.org/officeDocument/2006/relationships/image" Target="../media/image130.wmf"/><Relationship Id="rId11" Type="http://schemas.openxmlformats.org/officeDocument/2006/relationships/oleObject" Target="../embeddings/oleObject163.bin"/><Relationship Id="rId10" Type="http://schemas.openxmlformats.org/officeDocument/2006/relationships/image" Target="../media/image129.wmf"/><Relationship Id="rId1" Type="http://schemas.openxmlformats.org/officeDocument/2006/relationships/oleObject" Target="../embeddings/oleObject158.bin"/></Relationships>
</file>

<file path=ppt/slides/_rels/slide55.xml.rels><?xml version="1.0" encoding="UTF-8" standalone="yes"?>
<Relationships xmlns="http://schemas.openxmlformats.org/package/2006/relationships"><Relationship Id="rId6" Type="http://schemas.openxmlformats.org/officeDocument/2006/relationships/vmlDrawing" Target="../drawings/vmlDrawing47.vml"/><Relationship Id="rId5" Type="http://schemas.openxmlformats.org/officeDocument/2006/relationships/slideLayout" Target="../slideLayouts/slideLayout7.xml"/><Relationship Id="rId4" Type="http://schemas.openxmlformats.org/officeDocument/2006/relationships/image" Target="../media/image132.wmf"/><Relationship Id="rId3" Type="http://schemas.openxmlformats.org/officeDocument/2006/relationships/oleObject" Target="../embeddings/oleObject165.bin"/><Relationship Id="rId2" Type="http://schemas.openxmlformats.org/officeDocument/2006/relationships/image" Target="../media/image131.wmf"/><Relationship Id="rId1" Type="http://schemas.openxmlformats.org/officeDocument/2006/relationships/oleObject" Target="../embeddings/oleObject164.bin"/></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48.vml"/><Relationship Id="rId5" Type="http://schemas.openxmlformats.org/officeDocument/2006/relationships/slideLayout" Target="../slideLayouts/slideLayout7.xml"/><Relationship Id="rId4" Type="http://schemas.openxmlformats.org/officeDocument/2006/relationships/image" Target="../media/image134.wmf"/><Relationship Id="rId3" Type="http://schemas.openxmlformats.org/officeDocument/2006/relationships/oleObject" Target="../embeddings/oleObject167.bin"/><Relationship Id="rId2" Type="http://schemas.openxmlformats.org/officeDocument/2006/relationships/image" Target="../media/image133.wmf"/><Relationship Id="rId1" Type="http://schemas.openxmlformats.org/officeDocument/2006/relationships/oleObject" Target="../embeddings/oleObject166.bin"/></Relationships>
</file>

<file path=ppt/slides/_rels/slide57.xml.rels><?xml version="1.0" encoding="UTF-8" standalone="yes"?>
<Relationships xmlns="http://schemas.openxmlformats.org/package/2006/relationships"><Relationship Id="rId8" Type="http://schemas.openxmlformats.org/officeDocument/2006/relationships/vmlDrawing" Target="../drawings/vmlDrawing49.vml"/><Relationship Id="rId7" Type="http://schemas.openxmlformats.org/officeDocument/2006/relationships/slideLayout" Target="../slideLayouts/slideLayout7.xml"/><Relationship Id="rId6" Type="http://schemas.openxmlformats.org/officeDocument/2006/relationships/image" Target="../media/image137.wmf"/><Relationship Id="rId5" Type="http://schemas.openxmlformats.org/officeDocument/2006/relationships/oleObject" Target="../embeddings/oleObject170.bin"/><Relationship Id="rId4" Type="http://schemas.openxmlformats.org/officeDocument/2006/relationships/image" Target="../media/image136.wmf"/><Relationship Id="rId3" Type="http://schemas.openxmlformats.org/officeDocument/2006/relationships/oleObject" Target="../embeddings/oleObject169.bin"/><Relationship Id="rId2" Type="http://schemas.openxmlformats.org/officeDocument/2006/relationships/image" Target="../media/image135.wmf"/><Relationship Id="rId1" Type="http://schemas.openxmlformats.org/officeDocument/2006/relationships/oleObject" Target="../embeddings/oleObject168.bin"/></Relationships>
</file>

<file path=ppt/slides/_rels/slide58.xml.rels><?xml version="1.0" encoding="UTF-8" standalone="yes"?>
<Relationships xmlns="http://schemas.openxmlformats.org/package/2006/relationships"><Relationship Id="rId8" Type="http://schemas.openxmlformats.org/officeDocument/2006/relationships/vmlDrawing" Target="../drawings/vmlDrawing50.vml"/><Relationship Id="rId7" Type="http://schemas.openxmlformats.org/officeDocument/2006/relationships/slideLayout" Target="../slideLayouts/slideLayout7.xml"/><Relationship Id="rId6" Type="http://schemas.openxmlformats.org/officeDocument/2006/relationships/image" Target="../media/image140.wmf"/><Relationship Id="rId5" Type="http://schemas.openxmlformats.org/officeDocument/2006/relationships/oleObject" Target="../embeddings/oleObject173.bin"/><Relationship Id="rId4" Type="http://schemas.openxmlformats.org/officeDocument/2006/relationships/image" Target="../media/image139.wmf"/><Relationship Id="rId3" Type="http://schemas.openxmlformats.org/officeDocument/2006/relationships/oleObject" Target="../embeddings/oleObject172.bin"/><Relationship Id="rId2" Type="http://schemas.openxmlformats.org/officeDocument/2006/relationships/image" Target="../media/image138.wmf"/><Relationship Id="rId1" Type="http://schemas.openxmlformats.org/officeDocument/2006/relationships/oleObject" Target="../embeddings/oleObject171.bin"/></Relationships>
</file>

<file path=ppt/slides/_rels/slide5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44.wmf"/><Relationship Id="rId7" Type="http://schemas.openxmlformats.org/officeDocument/2006/relationships/oleObject" Target="../embeddings/oleObject177.bin"/><Relationship Id="rId6" Type="http://schemas.openxmlformats.org/officeDocument/2006/relationships/image" Target="../media/image143.wmf"/><Relationship Id="rId5" Type="http://schemas.openxmlformats.org/officeDocument/2006/relationships/oleObject" Target="../embeddings/oleObject176.bin"/><Relationship Id="rId4" Type="http://schemas.openxmlformats.org/officeDocument/2006/relationships/image" Target="../media/image142.wmf"/><Relationship Id="rId3" Type="http://schemas.openxmlformats.org/officeDocument/2006/relationships/oleObject" Target="../embeddings/oleObject175.bin"/><Relationship Id="rId2" Type="http://schemas.openxmlformats.org/officeDocument/2006/relationships/image" Target="../media/image141.wmf"/><Relationship Id="rId10" Type="http://schemas.openxmlformats.org/officeDocument/2006/relationships/vmlDrawing" Target="../drawings/vmlDrawing51.vml"/><Relationship Id="rId1" Type="http://schemas.openxmlformats.org/officeDocument/2006/relationships/oleObject" Target="../embeddings/oleObject174.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6" Type="http://schemas.openxmlformats.org/officeDocument/2006/relationships/vmlDrawing" Target="../drawings/vmlDrawing52.vml"/><Relationship Id="rId5" Type="http://schemas.openxmlformats.org/officeDocument/2006/relationships/slideLayout" Target="../slideLayouts/slideLayout7.xml"/><Relationship Id="rId4" Type="http://schemas.openxmlformats.org/officeDocument/2006/relationships/image" Target="../media/image146.wmf"/><Relationship Id="rId3" Type="http://schemas.openxmlformats.org/officeDocument/2006/relationships/oleObject" Target="../embeddings/oleObject179.bin"/><Relationship Id="rId2" Type="http://schemas.openxmlformats.org/officeDocument/2006/relationships/image" Target="../media/image145.wmf"/><Relationship Id="rId1" Type="http://schemas.openxmlformats.org/officeDocument/2006/relationships/oleObject" Target="../embeddings/oleObject178.bin"/></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53.vml"/><Relationship Id="rId5" Type="http://schemas.openxmlformats.org/officeDocument/2006/relationships/slideLayout" Target="../slideLayouts/slideLayout7.xml"/><Relationship Id="rId4" Type="http://schemas.openxmlformats.org/officeDocument/2006/relationships/image" Target="../media/image148.wmf"/><Relationship Id="rId3" Type="http://schemas.openxmlformats.org/officeDocument/2006/relationships/oleObject" Target="../embeddings/oleObject181.bin"/><Relationship Id="rId2" Type="http://schemas.openxmlformats.org/officeDocument/2006/relationships/image" Target="../media/image147.wmf"/><Relationship Id="rId1" Type="http://schemas.openxmlformats.org/officeDocument/2006/relationships/oleObject" Target="../embeddings/oleObject180.bin"/></Relationships>
</file>

<file path=ppt/slides/_rels/slide64.xml.rels><?xml version="1.0" encoding="UTF-8" standalone="yes"?>
<Relationships xmlns="http://schemas.openxmlformats.org/package/2006/relationships"><Relationship Id="rId6" Type="http://schemas.openxmlformats.org/officeDocument/2006/relationships/vmlDrawing" Target="../drawings/vmlDrawing54.vml"/><Relationship Id="rId5" Type="http://schemas.openxmlformats.org/officeDocument/2006/relationships/slideLayout" Target="../slideLayouts/slideLayout7.xml"/><Relationship Id="rId4" Type="http://schemas.openxmlformats.org/officeDocument/2006/relationships/image" Target="../media/image150.wmf"/><Relationship Id="rId3" Type="http://schemas.openxmlformats.org/officeDocument/2006/relationships/oleObject" Target="../embeddings/oleObject183.bin"/><Relationship Id="rId2" Type="http://schemas.openxmlformats.org/officeDocument/2006/relationships/image" Target="../media/image149.wmf"/><Relationship Id="rId1" Type="http://schemas.openxmlformats.org/officeDocument/2006/relationships/oleObject" Target="../embeddings/oleObject182.bin"/></Relationships>
</file>

<file path=ppt/slides/_rels/slide65.xml.rels><?xml version="1.0" encoding="UTF-8" standalone="yes"?>
<Relationships xmlns="http://schemas.openxmlformats.org/package/2006/relationships"><Relationship Id="rId8" Type="http://schemas.openxmlformats.org/officeDocument/2006/relationships/vmlDrawing" Target="../drawings/vmlDrawing55.vml"/><Relationship Id="rId7" Type="http://schemas.openxmlformats.org/officeDocument/2006/relationships/slideLayout" Target="../slideLayouts/slideLayout7.xml"/><Relationship Id="rId6" Type="http://schemas.openxmlformats.org/officeDocument/2006/relationships/image" Target="../media/image153.wmf"/><Relationship Id="rId5" Type="http://schemas.openxmlformats.org/officeDocument/2006/relationships/oleObject" Target="../embeddings/oleObject186.bin"/><Relationship Id="rId4" Type="http://schemas.openxmlformats.org/officeDocument/2006/relationships/image" Target="../media/image152.wmf"/><Relationship Id="rId3" Type="http://schemas.openxmlformats.org/officeDocument/2006/relationships/oleObject" Target="../embeddings/oleObject185.bin"/><Relationship Id="rId2" Type="http://schemas.openxmlformats.org/officeDocument/2006/relationships/image" Target="../media/image151.wmf"/><Relationship Id="rId1" Type="http://schemas.openxmlformats.org/officeDocument/2006/relationships/oleObject" Target="../embeddings/oleObject184.bin"/></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56.vml"/><Relationship Id="rId3" Type="http://schemas.openxmlformats.org/officeDocument/2006/relationships/slideLayout" Target="../slideLayouts/slideLayout7.xml"/><Relationship Id="rId2" Type="http://schemas.openxmlformats.org/officeDocument/2006/relationships/image" Target="../media/image154.wmf"/><Relationship Id="rId1" Type="http://schemas.openxmlformats.org/officeDocument/2006/relationships/oleObject" Target="../embeddings/oleObject187.bin"/></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57.vml"/><Relationship Id="rId3" Type="http://schemas.openxmlformats.org/officeDocument/2006/relationships/slideLayout" Target="../slideLayouts/slideLayout7.xml"/><Relationship Id="rId2" Type="http://schemas.openxmlformats.org/officeDocument/2006/relationships/image" Target="../media/image155.wmf"/><Relationship Id="rId1" Type="http://schemas.openxmlformats.org/officeDocument/2006/relationships/oleObject" Target="../embeddings/oleObject188.bin"/></Relationships>
</file>

<file path=ppt/slides/_rels/slide68.xml.rels><?xml version="1.0" encoding="UTF-8" standalone="yes"?>
<Relationships xmlns="http://schemas.openxmlformats.org/package/2006/relationships"><Relationship Id="rId6" Type="http://schemas.openxmlformats.org/officeDocument/2006/relationships/vmlDrawing" Target="../drawings/vmlDrawing58.vml"/><Relationship Id="rId5" Type="http://schemas.openxmlformats.org/officeDocument/2006/relationships/slideLayout" Target="../slideLayouts/slideLayout7.xml"/><Relationship Id="rId4" Type="http://schemas.openxmlformats.org/officeDocument/2006/relationships/image" Target="../media/image157.wmf"/><Relationship Id="rId3" Type="http://schemas.openxmlformats.org/officeDocument/2006/relationships/oleObject" Target="../embeddings/oleObject190.bin"/><Relationship Id="rId2" Type="http://schemas.openxmlformats.org/officeDocument/2006/relationships/image" Target="../media/image156.wmf"/><Relationship Id="rId1" Type="http://schemas.openxmlformats.org/officeDocument/2006/relationships/oleObject" Target="../embeddings/oleObject189.bin"/></Relationships>
</file>

<file path=ppt/slides/_rels/slide69.xml.rels><?xml version="1.0" encoding="UTF-8" standalone="yes"?>
<Relationships xmlns="http://schemas.openxmlformats.org/package/2006/relationships"><Relationship Id="rId8" Type="http://schemas.openxmlformats.org/officeDocument/2006/relationships/vmlDrawing" Target="../drawings/vmlDrawing59.vml"/><Relationship Id="rId7" Type="http://schemas.openxmlformats.org/officeDocument/2006/relationships/slideLayout" Target="../slideLayouts/slideLayout7.xml"/><Relationship Id="rId6" Type="http://schemas.openxmlformats.org/officeDocument/2006/relationships/image" Target="../media/image160.wmf"/><Relationship Id="rId5" Type="http://schemas.openxmlformats.org/officeDocument/2006/relationships/oleObject" Target="../embeddings/oleObject193.bin"/><Relationship Id="rId4" Type="http://schemas.openxmlformats.org/officeDocument/2006/relationships/image" Target="../media/image159.wmf"/><Relationship Id="rId3" Type="http://schemas.openxmlformats.org/officeDocument/2006/relationships/oleObject" Target="../embeddings/oleObject192.bin"/><Relationship Id="rId2" Type="http://schemas.openxmlformats.org/officeDocument/2006/relationships/image" Target="../media/image158.wmf"/><Relationship Id="rId1" Type="http://schemas.openxmlformats.org/officeDocument/2006/relationships/oleObject" Target="../embeddings/oleObject191.bin"/></Relationships>
</file>

<file path=ppt/slides/_rels/slide70.xml.rels><?xml version="1.0" encoding="UTF-8" standalone="yes"?>
<Relationships xmlns="http://schemas.openxmlformats.org/package/2006/relationships"><Relationship Id="rId9" Type="http://schemas.openxmlformats.org/officeDocument/2006/relationships/oleObject" Target="../embeddings/oleObject198.bin"/><Relationship Id="rId8" Type="http://schemas.openxmlformats.org/officeDocument/2006/relationships/image" Target="../media/image164.wmf"/><Relationship Id="rId7" Type="http://schemas.openxmlformats.org/officeDocument/2006/relationships/oleObject" Target="../embeddings/oleObject197.bin"/><Relationship Id="rId6" Type="http://schemas.openxmlformats.org/officeDocument/2006/relationships/image" Target="../media/image163.wmf"/><Relationship Id="rId5" Type="http://schemas.openxmlformats.org/officeDocument/2006/relationships/oleObject" Target="../embeddings/oleObject196.bin"/><Relationship Id="rId4" Type="http://schemas.openxmlformats.org/officeDocument/2006/relationships/image" Target="../media/image162.wmf"/><Relationship Id="rId3" Type="http://schemas.openxmlformats.org/officeDocument/2006/relationships/oleObject" Target="../embeddings/oleObject195.bin"/><Relationship Id="rId2" Type="http://schemas.openxmlformats.org/officeDocument/2006/relationships/image" Target="../media/image161.wmf"/><Relationship Id="rId14" Type="http://schemas.openxmlformats.org/officeDocument/2006/relationships/vmlDrawing" Target="../drawings/vmlDrawing60.vml"/><Relationship Id="rId13" Type="http://schemas.openxmlformats.org/officeDocument/2006/relationships/slideLayout" Target="../slideLayouts/slideLayout7.xml"/><Relationship Id="rId12" Type="http://schemas.openxmlformats.org/officeDocument/2006/relationships/image" Target="../media/image166.wmf"/><Relationship Id="rId11" Type="http://schemas.openxmlformats.org/officeDocument/2006/relationships/oleObject" Target="../embeddings/oleObject199.bin"/><Relationship Id="rId10" Type="http://schemas.openxmlformats.org/officeDocument/2006/relationships/image" Target="../media/image165.wmf"/><Relationship Id="rId1" Type="http://schemas.openxmlformats.org/officeDocument/2006/relationships/oleObject" Target="../embeddings/oleObject194.bin"/></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61.vml"/><Relationship Id="rId3" Type="http://schemas.openxmlformats.org/officeDocument/2006/relationships/slideLayout" Target="../slideLayouts/slideLayout7.xml"/><Relationship Id="rId2" Type="http://schemas.openxmlformats.org/officeDocument/2006/relationships/image" Target="../media/image167.wmf"/><Relationship Id="rId1" Type="http://schemas.openxmlformats.org/officeDocument/2006/relationships/oleObject" Target="../embeddings/oleObject200.bin"/></Relationships>
</file>

<file path=ppt/slides/_rels/slide72.xml.rels><?xml version="1.0" encoding="UTF-8" standalone="yes"?>
<Relationships xmlns="http://schemas.openxmlformats.org/package/2006/relationships"><Relationship Id="rId4" Type="http://schemas.openxmlformats.org/officeDocument/2006/relationships/vmlDrawing" Target="../drawings/vmlDrawing62.vml"/><Relationship Id="rId3" Type="http://schemas.openxmlformats.org/officeDocument/2006/relationships/slideLayout" Target="../slideLayouts/slideLayout7.xml"/><Relationship Id="rId2" Type="http://schemas.openxmlformats.org/officeDocument/2006/relationships/image" Target="../media/image168.wmf"/><Relationship Id="rId1" Type="http://schemas.openxmlformats.org/officeDocument/2006/relationships/oleObject" Target="../embeddings/oleObject201.bin"/></Relationships>
</file>

<file path=ppt/slides/_rels/slide73.xml.rels><?xml version="1.0" encoding="UTF-8" standalone="yes"?>
<Relationships xmlns="http://schemas.openxmlformats.org/package/2006/relationships"><Relationship Id="rId9" Type="http://schemas.openxmlformats.org/officeDocument/2006/relationships/oleObject" Target="../embeddings/oleObject206.bin"/><Relationship Id="rId8" Type="http://schemas.openxmlformats.org/officeDocument/2006/relationships/image" Target="../media/image172.wmf"/><Relationship Id="rId7" Type="http://schemas.openxmlformats.org/officeDocument/2006/relationships/oleObject" Target="../embeddings/oleObject205.bin"/><Relationship Id="rId6" Type="http://schemas.openxmlformats.org/officeDocument/2006/relationships/image" Target="../media/image171.wmf"/><Relationship Id="rId5" Type="http://schemas.openxmlformats.org/officeDocument/2006/relationships/oleObject" Target="../embeddings/oleObject204.bin"/><Relationship Id="rId4" Type="http://schemas.openxmlformats.org/officeDocument/2006/relationships/image" Target="../media/image170.wmf"/><Relationship Id="rId3" Type="http://schemas.openxmlformats.org/officeDocument/2006/relationships/oleObject" Target="../embeddings/oleObject203.bin"/><Relationship Id="rId22" Type="http://schemas.openxmlformats.org/officeDocument/2006/relationships/vmlDrawing" Target="../drawings/vmlDrawing63.vml"/><Relationship Id="rId21" Type="http://schemas.openxmlformats.org/officeDocument/2006/relationships/slideLayout" Target="../slideLayouts/slideLayout7.xml"/><Relationship Id="rId20" Type="http://schemas.openxmlformats.org/officeDocument/2006/relationships/image" Target="../media/image178.wmf"/><Relationship Id="rId2" Type="http://schemas.openxmlformats.org/officeDocument/2006/relationships/image" Target="../media/image169.wmf"/><Relationship Id="rId19" Type="http://schemas.openxmlformats.org/officeDocument/2006/relationships/oleObject" Target="../embeddings/oleObject211.bin"/><Relationship Id="rId18" Type="http://schemas.openxmlformats.org/officeDocument/2006/relationships/image" Target="../media/image177.wmf"/><Relationship Id="rId17" Type="http://schemas.openxmlformats.org/officeDocument/2006/relationships/oleObject" Target="../embeddings/oleObject210.bin"/><Relationship Id="rId16" Type="http://schemas.openxmlformats.org/officeDocument/2006/relationships/image" Target="../media/image176.wmf"/><Relationship Id="rId15" Type="http://schemas.openxmlformats.org/officeDocument/2006/relationships/oleObject" Target="../embeddings/oleObject209.bin"/><Relationship Id="rId14" Type="http://schemas.openxmlformats.org/officeDocument/2006/relationships/image" Target="../media/image175.wmf"/><Relationship Id="rId13" Type="http://schemas.openxmlformats.org/officeDocument/2006/relationships/oleObject" Target="../embeddings/oleObject208.bin"/><Relationship Id="rId12" Type="http://schemas.openxmlformats.org/officeDocument/2006/relationships/image" Target="../media/image174.wmf"/><Relationship Id="rId11" Type="http://schemas.openxmlformats.org/officeDocument/2006/relationships/oleObject" Target="../embeddings/oleObject207.bin"/><Relationship Id="rId10" Type="http://schemas.openxmlformats.org/officeDocument/2006/relationships/image" Target="../media/image173.wmf"/><Relationship Id="rId1" Type="http://schemas.openxmlformats.org/officeDocument/2006/relationships/oleObject" Target="../embeddings/oleObject202.bin"/></Relationships>
</file>

<file path=ppt/slides/_rels/slide74.xml.rels><?xml version="1.0" encoding="UTF-8" standalone="yes"?>
<Relationships xmlns="http://schemas.openxmlformats.org/package/2006/relationships"><Relationship Id="rId4" Type="http://schemas.openxmlformats.org/officeDocument/2006/relationships/vmlDrawing" Target="../drawings/vmlDrawing64.vml"/><Relationship Id="rId3" Type="http://schemas.openxmlformats.org/officeDocument/2006/relationships/slideLayout" Target="../slideLayouts/slideLayout7.xml"/><Relationship Id="rId2" Type="http://schemas.openxmlformats.org/officeDocument/2006/relationships/image" Target="../media/image179.wmf"/><Relationship Id="rId1" Type="http://schemas.openxmlformats.org/officeDocument/2006/relationships/oleObject" Target="../embeddings/oleObject212.bin"/></Relationships>
</file>

<file path=ppt/slides/_rels/slide75.xml.rels><?xml version="1.0" encoding="UTF-8" standalone="yes"?>
<Relationships xmlns="http://schemas.openxmlformats.org/package/2006/relationships"><Relationship Id="rId4" Type="http://schemas.openxmlformats.org/officeDocument/2006/relationships/vmlDrawing" Target="../drawings/vmlDrawing65.vml"/><Relationship Id="rId3" Type="http://schemas.openxmlformats.org/officeDocument/2006/relationships/slideLayout" Target="../slideLayouts/slideLayout7.xml"/><Relationship Id="rId2" Type="http://schemas.openxmlformats.org/officeDocument/2006/relationships/image" Target="../media/image180.wmf"/><Relationship Id="rId1" Type="http://schemas.openxmlformats.org/officeDocument/2006/relationships/oleObject" Target="../embeddings/oleObject213.bin"/></Relationships>
</file>

<file path=ppt/slides/_rels/slide76.xml.rels><?xml version="1.0" encoding="UTF-8" standalone="yes"?>
<Relationships xmlns="http://schemas.openxmlformats.org/package/2006/relationships"><Relationship Id="rId6" Type="http://schemas.openxmlformats.org/officeDocument/2006/relationships/vmlDrawing" Target="../drawings/vmlDrawing66.vml"/><Relationship Id="rId5" Type="http://schemas.openxmlformats.org/officeDocument/2006/relationships/slideLayout" Target="../slideLayouts/slideLayout7.xml"/><Relationship Id="rId4" Type="http://schemas.openxmlformats.org/officeDocument/2006/relationships/image" Target="../media/image182.wmf"/><Relationship Id="rId3" Type="http://schemas.openxmlformats.org/officeDocument/2006/relationships/oleObject" Target="../embeddings/oleObject215.bin"/><Relationship Id="rId2" Type="http://schemas.openxmlformats.org/officeDocument/2006/relationships/image" Target="../media/image181.wmf"/><Relationship Id="rId1" Type="http://schemas.openxmlformats.org/officeDocument/2006/relationships/oleObject" Target="../embeddings/oleObject214.bin"/></Relationships>
</file>

<file path=ppt/slides/_rels/slide77.xml.rels><?xml version="1.0" encoding="UTF-8" standalone="yes"?>
<Relationships xmlns="http://schemas.openxmlformats.org/package/2006/relationships"><Relationship Id="rId6" Type="http://schemas.openxmlformats.org/officeDocument/2006/relationships/vmlDrawing" Target="../drawings/vmlDrawing67.vml"/><Relationship Id="rId5" Type="http://schemas.openxmlformats.org/officeDocument/2006/relationships/slideLayout" Target="../slideLayouts/slideLayout7.xml"/><Relationship Id="rId4" Type="http://schemas.openxmlformats.org/officeDocument/2006/relationships/image" Target="../media/image184.wmf"/><Relationship Id="rId3" Type="http://schemas.openxmlformats.org/officeDocument/2006/relationships/oleObject" Target="../embeddings/oleObject217.bin"/><Relationship Id="rId2" Type="http://schemas.openxmlformats.org/officeDocument/2006/relationships/image" Target="../media/image183.wmf"/><Relationship Id="rId1" Type="http://schemas.openxmlformats.org/officeDocument/2006/relationships/oleObject" Target="../embeddings/oleObject216.bin"/></Relationships>
</file>

<file path=ppt/slides/_rels/slide78.xml.rels><?xml version="1.0" encoding="UTF-8" standalone="yes"?>
<Relationships xmlns="http://schemas.openxmlformats.org/package/2006/relationships"><Relationship Id="rId4" Type="http://schemas.openxmlformats.org/officeDocument/2006/relationships/vmlDrawing" Target="../drawings/vmlDrawing68.vml"/><Relationship Id="rId3" Type="http://schemas.openxmlformats.org/officeDocument/2006/relationships/slideLayout" Target="../slideLayouts/slideLayout7.xml"/><Relationship Id="rId2" Type="http://schemas.openxmlformats.org/officeDocument/2006/relationships/image" Target="../media/image185.wmf"/><Relationship Id="rId1" Type="http://schemas.openxmlformats.org/officeDocument/2006/relationships/oleObject" Target="../embeddings/oleObject218.bin"/></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89.wmf"/><Relationship Id="rId7" Type="http://schemas.openxmlformats.org/officeDocument/2006/relationships/oleObject" Target="../embeddings/oleObject222.bin"/><Relationship Id="rId6" Type="http://schemas.openxmlformats.org/officeDocument/2006/relationships/image" Target="../media/image188.wmf"/><Relationship Id="rId5" Type="http://schemas.openxmlformats.org/officeDocument/2006/relationships/oleObject" Target="../embeddings/oleObject221.bin"/><Relationship Id="rId4" Type="http://schemas.openxmlformats.org/officeDocument/2006/relationships/image" Target="../media/image187.wmf"/><Relationship Id="rId3" Type="http://schemas.openxmlformats.org/officeDocument/2006/relationships/oleObject" Target="../embeddings/oleObject220.bin"/><Relationship Id="rId2" Type="http://schemas.openxmlformats.org/officeDocument/2006/relationships/image" Target="../media/image186.wmf"/><Relationship Id="rId10" Type="http://schemas.openxmlformats.org/officeDocument/2006/relationships/vmlDrawing" Target="../drawings/vmlDrawing69.vml"/><Relationship Id="rId1" Type="http://schemas.openxmlformats.org/officeDocument/2006/relationships/oleObject" Target="../embeddings/oleObject219.bin"/></Relationships>
</file>

<file path=ppt/slides/_rels/slide81.xml.rels><?xml version="1.0" encoding="UTF-8" standalone="yes"?>
<Relationships xmlns="http://schemas.openxmlformats.org/package/2006/relationships"><Relationship Id="rId4" Type="http://schemas.openxmlformats.org/officeDocument/2006/relationships/vmlDrawing" Target="../drawings/vmlDrawing70.vml"/><Relationship Id="rId3" Type="http://schemas.openxmlformats.org/officeDocument/2006/relationships/slideLayout" Target="../slideLayouts/slideLayout7.xml"/><Relationship Id="rId2" Type="http://schemas.openxmlformats.org/officeDocument/2006/relationships/image" Target="../media/image190.wmf"/><Relationship Id="rId1" Type="http://schemas.openxmlformats.org/officeDocument/2006/relationships/oleObject" Target="../embeddings/oleObject223.bin"/></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71.vml"/><Relationship Id="rId3" Type="http://schemas.openxmlformats.org/officeDocument/2006/relationships/slideLayout" Target="../slideLayouts/slideLayout7.xml"/><Relationship Id="rId2" Type="http://schemas.openxmlformats.org/officeDocument/2006/relationships/image" Target="../media/image191.wmf"/><Relationship Id="rId1" Type="http://schemas.openxmlformats.org/officeDocument/2006/relationships/oleObject" Target="../embeddings/oleObject224.bin"/></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72.vml"/><Relationship Id="rId3" Type="http://schemas.openxmlformats.org/officeDocument/2006/relationships/slideLayout" Target="../slideLayouts/slideLayout7.xml"/><Relationship Id="rId2" Type="http://schemas.openxmlformats.org/officeDocument/2006/relationships/image" Target="../media/image192.wmf"/><Relationship Id="rId1" Type="http://schemas.openxmlformats.org/officeDocument/2006/relationships/oleObject" Target="../embeddings/oleObject225.bin"/></Relationships>
</file>

<file path=ppt/slides/_rels/slide84.xml.rels><?xml version="1.0" encoding="UTF-8" standalone="yes"?>
<Relationships xmlns="http://schemas.openxmlformats.org/package/2006/relationships"><Relationship Id="rId8" Type="http://schemas.openxmlformats.org/officeDocument/2006/relationships/vmlDrawing" Target="../drawings/vmlDrawing73.vml"/><Relationship Id="rId7" Type="http://schemas.openxmlformats.org/officeDocument/2006/relationships/slideLayout" Target="../slideLayouts/slideLayout7.xml"/><Relationship Id="rId6" Type="http://schemas.openxmlformats.org/officeDocument/2006/relationships/image" Target="../media/image195.wmf"/><Relationship Id="rId5" Type="http://schemas.openxmlformats.org/officeDocument/2006/relationships/oleObject" Target="../embeddings/oleObject228.bin"/><Relationship Id="rId4" Type="http://schemas.openxmlformats.org/officeDocument/2006/relationships/image" Target="../media/image194.wmf"/><Relationship Id="rId3" Type="http://schemas.openxmlformats.org/officeDocument/2006/relationships/oleObject" Target="../embeddings/oleObject227.bin"/><Relationship Id="rId2" Type="http://schemas.openxmlformats.org/officeDocument/2006/relationships/image" Target="../media/image193.wmf"/><Relationship Id="rId1" Type="http://schemas.openxmlformats.org/officeDocument/2006/relationships/oleObject" Target="../embeddings/oleObject226.bin"/></Relationships>
</file>

<file path=ppt/slides/_rels/slide85.xml.rels><?xml version="1.0" encoding="UTF-8" standalone="yes"?>
<Relationships xmlns="http://schemas.openxmlformats.org/package/2006/relationships"><Relationship Id="rId6" Type="http://schemas.openxmlformats.org/officeDocument/2006/relationships/vmlDrawing" Target="../drawings/vmlDrawing74.vml"/><Relationship Id="rId5" Type="http://schemas.openxmlformats.org/officeDocument/2006/relationships/slideLayout" Target="../slideLayouts/slideLayout7.xml"/><Relationship Id="rId4" Type="http://schemas.openxmlformats.org/officeDocument/2006/relationships/image" Target="../media/image197.wmf"/><Relationship Id="rId3" Type="http://schemas.openxmlformats.org/officeDocument/2006/relationships/oleObject" Target="../embeddings/oleObject230.bin"/><Relationship Id="rId2" Type="http://schemas.openxmlformats.org/officeDocument/2006/relationships/image" Target="../media/image196.wmf"/><Relationship Id="rId1" Type="http://schemas.openxmlformats.org/officeDocument/2006/relationships/oleObject" Target="../embeddings/oleObject229.bin"/></Relationships>
</file>

<file path=ppt/slides/_rels/slide86.xml.rels><?xml version="1.0" encoding="UTF-8" standalone="yes"?>
<Relationships xmlns="http://schemas.openxmlformats.org/package/2006/relationships"><Relationship Id="rId6" Type="http://schemas.openxmlformats.org/officeDocument/2006/relationships/vmlDrawing" Target="../drawings/vmlDrawing75.vml"/><Relationship Id="rId5" Type="http://schemas.openxmlformats.org/officeDocument/2006/relationships/slideLayout" Target="../slideLayouts/slideLayout7.xml"/><Relationship Id="rId4" Type="http://schemas.openxmlformats.org/officeDocument/2006/relationships/image" Target="../media/image199.wmf"/><Relationship Id="rId3" Type="http://schemas.openxmlformats.org/officeDocument/2006/relationships/oleObject" Target="../embeddings/oleObject232.bin"/><Relationship Id="rId2" Type="http://schemas.openxmlformats.org/officeDocument/2006/relationships/image" Target="../media/image198.wmf"/><Relationship Id="rId1" Type="http://schemas.openxmlformats.org/officeDocument/2006/relationships/oleObject" Target="../embeddings/oleObject231.bin"/></Relationships>
</file>

<file path=ppt/slides/_rels/slide87.xml.rels><?xml version="1.0" encoding="UTF-8" standalone="yes"?>
<Relationships xmlns="http://schemas.openxmlformats.org/package/2006/relationships"><Relationship Id="rId6" Type="http://schemas.openxmlformats.org/officeDocument/2006/relationships/vmlDrawing" Target="../drawings/vmlDrawing76.vml"/><Relationship Id="rId5" Type="http://schemas.openxmlformats.org/officeDocument/2006/relationships/slideLayout" Target="../slideLayouts/slideLayout7.xml"/><Relationship Id="rId4" Type="http://schemas.openxmlformats.org/officeDocument/2006/relationships/image" Target="../media/image201.wmf"/><Relationship Id="rId3" Type="http://schemas.openxmlformats.org/officeDocument/2006/relationships/oleObject" Target="../embeddings/oleObject234.bin"/><Relationship Id="rId2" Type="http://schemas.openxmlformats.org/officeDocument/2006/relationships/image" Target="../media/image200.wmf"/><Relationship Id="rId1" Type="http://schemas.openxmlformats.org/officeDocument/2006/relationships/oleObject" Target="../embeddings/oleObject233.bin"/></Relationships>
</file>

<file path=ppt/slides/_rels/slide88.xml.rels><?xml version="1.0" encoding="UTF-8" standalone="yes"?>
<Relationships xmlns="http://schemas.openxmlformats.org/package/2006/relationships"><Relationship Id="rId9" Type="http://schemas.openxmlformats.org/officeDocument/2006/relationships/oleObject" Target="../embeddings/oleObject239.bin"/><Relationship Id="rId8" Type="http://schemas.openxmlformats.org/officeDocument/2006/relationships/image" Target="../media/image205.wmf"/><Relationship Id="rId7" Type="http://schemas.openxmlformats.org/officeDocument/2006/relationships/oleObject" Target="../embeddings/oleObject238.bin"/><Relationship Id="rId6" Type="http://schemas.openxmlformats.org/officeDocument/2006/relationships/image" Target="../media/image204.wmf"/><Relationship Id="rId5" Type="http://schemas.openxmlformats.org/officeDocument/2006/relationships/oleObject" Target="../embeddings/oleObject237.bin"/><Relationship Id="rId4" Type="http://schemas.openxmlformats.org/officeDocument/2006/relationships/image" Target="../media/image203.wmf"/><Relationship Id="rId3" Type="http://schemas.openxmlformats.org/officeDocument/2006/relationships/oleObject" Target="../embeddings/oleObject236.bin"/><Relationship Id="rId2" Type="http://schemas.openxmlformats.org/officeDocument/2006/relationships/image" Target="../media/image202.wmf"/><Relationship Id="rId16" Type="http://schemas.openxmlformats.org/officeDocument/2006/relationships/vmlDrawing" Target="../drawings/vmlDrawing77.vml"/><Relationship Id="rId15" Type="http://schemas.openxmlformats.org/officeDocument/2006/relationships/slideLayout" Target="../slideLayouts/slideLayout7.xml"/><Relationship Id="rId14" Type="http://schemas.openxmlformats.org/officeDocument/2006/relationships/image" Target="../media/image208.wmf"/><Relationship Id="rId13" Type="http://schemas.openxmlformats.org/officeDocument/2006/relationships/oleObject" Target="../embeddings/oleObject241.bin"/><Relationship Id="rId12" Type="http://schemas.openxmlformats.org/officeDocument/2006/relationships/image" Target="../media/image207.wmf"/><Relationship Id="rId11" Type="http://schemas.openxmlformats.org/officeDocument/2006/relationships/oleObject" Target="../embeddings/oleObject240.bin"/><Relationship Id="rId10" Type="http://schemas.openxmlformats.org/officeDocument/2006/relationships/image" Target="../media/image206.wmf"/><Relationship Id="rId1" Type="http://schemas.openxmlformats.org/officeDocument/2006/relationships/oleObject" Target="../embeddings/oleObject235.bin"/></Relationships>
</file>

<file path=ppt/slides/_rels/slide89.xml.rels><?xml version="1.0" encoding="UTF-8" standalone="yes"?>
<Relationships xmlns="http://schemas.openxmlformats.org/package/2006/relationships"><Relationship Id="rId9" Type="http://schemas.openxmlformats.org/officeDocument/2006/relationships/oleObject" Target="../embeddings/oleObject246.bin"/><Relationship Id="rId8" Type="http://schemas.openxmlformats.org/officeDocument/2006/relationships/image" Target="../media/image212.wmf"/><Relationship Id="rId7" Type="http://schemas.openxmlformats.org/officeDocument/2006/relationships/oleObject" Target="../embeddings/oleObject245.bin"/><Relationship Id="rId6" Type="http://schemas.openxmlformats.org/officeDocument/2006/relationships/image" Target="../media/image211.wmf"/><Relationship Id="rId5" Type="http://schemas.openxmlformats.org/officeDocument/2006/relationships/oleObject" Target="../embeddings/oleObject244.bin"/><Relationship Id="rId4" Type="http://schemas.openxmlformats.org/officeDocument/2006/relationships/image" Target="../media/image210.wmf"/><Relationship Id="rId3" Type="http://schemas.openxmlformats.org/officeDocument/2006/relationships/oleObject" Target="../embeddings/oleObject243.bin"/><Relationship Id="rId2" Type="http://schemas.openxmlformats.org/officeDocument/2006/relationships/image" Target="../media/image209.wmf"/><Relationship Id="rId16" Type="http://schemas.openxmlformats.org/officeDocument/2006/relationships/vmlDrawing" Target="../drawings/vmlDrawing78.vml"/><Relationship Id="rId15" Type="http://schemas.openxmlformats.org/officeDocument/2006/relationships/slideLayout" Target="../slideLayouts/slideLayout7.xml"/><Relationship Id="rId14" Type="http://schemas.openxmlformats.org/officeDocument/2006/relationships/image" Target="../media/image215.wmf"/><Relationship Id="rId13" Type="http://schemas.openxmlformats.org/officeDocument/2006/relationships/oleObject" Target="../embeddings/oleObject248.bin"/><Relationship Id="rId12" Type="http://schemas.openxmlformats.org/officeDocument/2006/relationships/image" Target="../media/image214.wmf"/><Relationship Id="rId11" Type="http://schemas.openxmlformats.org/officeDocument/2006/relationships/oleObject" Target="../embeddings/oleObject247.bin"/><Relationship Id="rId10" Type="http://schemas.openxmlformats.org/officeDocument/2006/relationships/image" Target="../media/image213.wmf"/><Relationship Id="rId1" Type="http://schemas.openxmlformats.org/officeDocument/2006/relationships/oleObject" Target="../embeddings/oleObject242.bin"/></Relationships>
</file>

<file path=ppt/slides/_rels/slide90.xml.rels><?xml version="1.0" encoding="UTF-8" standalone="yes"?>
<Relationships xmlns="http://schemas.openxmlformats.org/package/2006/relationships"><Relationship Id="rId8" Type="http://schemas.openxmlformats.org/officeDocument/2006/relationships/vmlDrawing" Target="../drawings/vmlDrawing79.vml"/><Relationship Id="rId7" Type="http://schemas.openxmlformats.org/officeDocument/2006/relationships/slideLayout" Target="../slideLayouts/slideLayout7.xml"/><Relationship Id="rId6" Type="http://schemas.openxmlformats.org/officeDocument/2006/relationships/image" Target="../media/image218.wmf"/><Relationship Id="rId5" Type="http://schemas.openxmlformats.org/officeDocument/2006/relationships/oleObject" Target="../embeddings/oleObject251.bin"/><Relationship Id="rId4" Type="http://schemas.openxmlformats.org/officeDocument/2006/relationships/image" Target="../media/image217.wmf"/><Relationship Id="rId3" Type="http://schemas.openxmlformats.org/officeDocument/2006/relationships/oleObject" Target="../embeddings/oleObject250.bin"/><Relationship Id="rId2" Type="http://schemas.openxmlformats.org/officeDocument/2006/relationships/image" Target="../media/image216.wmf"/><Relationship Id="rId1" Type="http://schemas.openxmlformats.org/officeDocument/2006/relationships/oleObject" Target="../embeddings/oleObject249.bin"/></Relationships>
</file>

<file path=ppt/slides/_rels/slide91.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image" Target="../media/image221.wmf"/><Relationship Id="rId7" Type="http://schemas.openxmlformats.org/officeDocument/2006/relationships/oleObject" Target="../embeddings/oleObject254.bin"/><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image" Target="../media/image220.wmf"/><Relationship Id="rId3" Type="http://schemas.openxmlformats.org/officeDocument/2006/relationships/oleObject" Target="../embeddings/oleObject253.bin"/><Relationship Id="rId22" Type="http://schemas.openxmlformats.org/officeDocument/2006/relationships/vmlDrawing" Target="../drawings/vmlDrawing80.vml"/><Relationship Id="rId21" Type="http://schemas.openxmlformats.org/officeDocument/2006/relationships/slideLayout" Target="../slideLayouts/slideLayout7.xml"/><Relationship Id="rId20" Type="http://schemas.openxmlformats.org/officeDocument/2006/relationships/image" Target="../media/image224.wmf"/><Relationship Id="rId2" Type="http://schemas.openxmlformats.org/officeDocument/2006/relationships/image" Target="../media/image219.wmf"/><Relationship Id="rId19" Type="http://schemas.openxmlformats.org/officeDocument/2006/relationships/oleObject" Target="../embeddings/oleObject257.bin"/><Relationship Id="rId18" Type="http://schemas.openxmlformats.org/officeDocument/2006/relationships/tags" Target="../tags/tag41.xml"/><Relationship Id="rId17" Type="http://schemas.openxmlformats.org/officeDocument/2006/relationships/image" Target="../media/image223.wmf"/><Relationship Id="rId16" Type="http://schemas.openxmlformats.org/officeDocument/2006/relationships/oleObject" Target="../embeddings/oleObject256.bin"/><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image" Target="../media/image222.wmf"/><Relationship Id="rId11" Type="http://schemas.openxmlformats.org/officeDocument/2006/relationships/oleObject" Target="../embeddings/oleObject255.bin"/><Relationship Id="rId10" Type="http://schemas.openxmlformats.org/officeDocument/2006/relationships/tags" Target="../tags/tag37.xml"/><Relationship Id="rId1" Type="http://schemas.openxmlformats.org/officeDocument/2006/relationships/oleObject" Target="../embeddings/oleObject252.bin"/></Relationships>
</file>

<file path=ppt/slides/_rels/slide92.xml.rels><?xml version="1.0" encoding="UTF-8" standalone="yes"?>
<Relationships xmlns="http://schemas.openxmlformats.org/package/2006/relationships"><Relationship Id="rId9" Type="http://schemas.openxmlformats.org/officeDocument/2006/relationships/oleObject" Target="../embeddings/oleObject262.bin"/><Relationship Id="rId8" Type="http://schemas.openxmlformats.org/officeDocument/2006/relationships/image" Target="../media/image225.wmf"/><Relationship Id="rId7" Type="http://schemas.openxmlformats.org/officeDocument/2006/relationships/oleObject" Target="../embeddings/oleObject261.bin"/><Relationship Id="rId6" Type="http://schemas.openxmlformats.org/officeDocument/2006/relationships/image" Target="../media/image223.wmf"/><Relationship Id="rId5" Type="http://schemas.openxmlformats.org/officeDocument/2006/relationships/oleObject" Target="../embeddings/oleObject260.bin"/><Relationship Id="rId4" Type="http://schemas.openxmlformats.org/officeDocument/2006/relationships/image" Target="../media/image222.wmf"/><Relationship Id="rId3" Type="http://schemas.openxmlformats.org/officeDocument/2006/relationships/oleObject" Target="../embeddings/oleObject259.bin"/><Relationship Id="rId24" Type="http://schemas.openxmlformats.org/officeDocument/2006/relationships/vmlDrawing" Target="../drawings/vmlDrawing81.vml"/><Relationship Id="rId23" Type="http://schemas.openxmlformats.org/officeDocument/2006/relationships/slideLayout" Target="../slideLayouts/slideLayout7.xml"/><Relationship Id="rId22" Type="http://schemas.openxmlformats.org/officeDocument/2006/relationships/image" Target="../media/image232.wmf"/><Relationship Id="rId21" Type="http://schemas.openxmlformats.org/officeDocument/2006/relationships/oleObject" Target="../embeddings/oleObject268.bin"/><Relationship Id="rId20" Type="http://schemas.openxmlformats.org/officeDocument/2006/relationships/image" Target="../media/image231.wmf"/><Relationship Id="rId2" Type="http://schemas.openxmlformats.org/officeDocument/2006/relationships/image" Target="../media/image221.wmf"/><Relationship Id="rId19" Type="http://schemas.openxmlformats.org/officeDocument/2006/relationships/oleObject" Target="../embeddings/oleObject267.bin"/><Relationship Id="rId18" Type="http://schemas.openxmlformats.org/officeDocument/2006/relationships/image" Target="../media/image230.wmf"/><Relationship Id="rId17" Type="http://schemas.openxmlformats.org/officeDocument/2006/relationships/oleObject" Target="../embeddings/oleObject266.bin"/><Relationship Id="rId16" Type="http://schemas.openxmlformats.org/officeDocument/2006/relationships/image" Target="../media/image229.wmf"/><Relationship Id="rId15" Type="http://schemas.openxmlformats.org/officeDocument/2006/relationships/oleObject" Target="../embeddings/oleObject265.bin"/><Relationship Id="rId14" Type="http://schemas.openxmlformats.org/officeDocument/2006/relationships/image" Target="../media/image228.wmf"/><Relationship Id="rId13" Type="http://schemas.openxmlformats.org/officeDocument/2006/relationships/oleObject" Target="../embeddings/oleObject264.bin"/><Relationship Id="rId12" Type="http://schemas.openxmlformats.org/officeDocument/2006/relationships/image" Target="../media/image227.wmf"/><Relationship Id="rId11" Type="http://schemas.openxmlformats.org/officeDocument/2006/relationships/oleObject" Target="../embeddings/oleObject263.bin"/><Relationship Id="rId10" Type="http://schemas.openxmlformats.org/officeDocument/2006/relationships/image" Target="../media/image226.wmf"/><Relationship Id="rId1" Type="http://schemas.openxmlformats.org/officeDocument/2006/relationships/oleObject" Target="../embeddings/oleObject258.bin"/></Relationships>
</file>

<file path=ppt/slides/_rels/slide93.xml.rels><?xml version="1.0" encoding="UTF-8" standalone="yes"?>
<Relationships xmlns="http://schemas.openxmlformats.org/package/2006/relationships"><Relationship Id="rId6" Type="http://schemas.openxmlformats.org/officeDocument/2006/relationships/vmlDrawing" Target="../drawings/vmlDrawing82.vml"/><Relationship Id="rId5" Type="http://schemas.openxmlformats.org/officeDocument/2006/relationships/slideLayout" Target="../slideLayouts/slideLayout7.xml"/><Relationship Id="rId4" Type="http://schemas.openxmlformats.org/officeDocument/2006/relationships/image" Target="../media/image234.wmf"/><Relationship Id="rId3" Type="http://schemas.openxmlformats.org/officeDocument/2006/relationships/oleObject" Target="../embeddings/oleObject270.bin"/><Relationship Id="rId2" Type="http://schemas.openxmlformats.org/officeDocument/2006/relationships/image" Target="../media/image233.wmf"/><Relationship Id="rId1" Type="http://schemas.openxmlformats.org/officeDocument/2006/relationships/oleObject" Target="../embeddings/oleObject269.bin"/></Relationships>
</file>

<file path=ppt/slides/_rels/slide94.xml.rels><?xml version="1.0" encoding="UTF-8" standalone="yes"?>
<Relationships xmlns="http://schemas.openxmlformats.org/package/2006/relationships"><Relationship Id="rId9" Type="http://schemas.openxmlformats.org/officeDocument/2006/relationships/oleObject" Target="../embeddings/oleObject275.bin"/><Relationship Id="rId8" Type="http://schemas.openxmlformats.org/officeDocument/2006/relationships/image" Target="../media/image238.wmf"/><Relationship Id="rId7" Type="http://schemas.openxmlformats.org/officeDocument/2006/relationships/oleObject" Target="../embeddings/oleObject274.bin"/><Relationship Id="rId6" Type="http://schemas.openxmlformats.org/officeDocument/2006/relationships/image" Target="../media/image237.wmf"/><Relationship Id="rId5" Type="http://schemas.openxmlformats.org/officeDocument/2006/relationships/oleObject" Target="../embeddings/oleObject273.bin"/><Relationship Id="rId4" Type="http://schemas.openxmlformats.org/officeDocument/2006/relationships/image" Target="../media/image236.wmf"/><Relationship Id="rId3" Type="http://schemas.openxmlformats.org/officeDocument/2006/relationships/oleObject" Target="../embeddings/oleObject272.bin"/><Relationship Id="rId2" Type="http://schemas.openxmlformats.org/officeDocument/2006/relationships/image" Target="../media/image235.wmf"/><Relationship Id="rId12" Type="http://schemas.openxmlformats.org/officeDocument/2006/relationships/vmlDrawing" Target="../drawings/vmlDrawing83.vml"/><Relationship Id="rId11" Type="http://schemas.openxmlformats.org/officeDocument/2006/relationships/slideLayout" Target="../slideLayouts/slideLayout7.xml"/><Relationship Id="rId10" Type="http://schemas.openxmlformats.org/officeDocument/2006/relationships/image" Target="../media/image239.wmf"/><Relationship Id="rId1" Type="http://schemas.openxmlformats.org/officeDocument/2006/relationships/oleObject" Target="../embeddings/oleObject271.bin"/></Relationships>
</file>

<file path=ppt/slides/_rels/slide95.xml.rels><?xml version="1.0" encoding="UTF-8" standalone="yes"?>
<Relationships xmlns="http://schemas.openxmlformats.org/package/2006/relationships"><Relationship Id="rId6" Type="http://schemas.openxmlformats.org/officeDocument/2006/relationships/vmlDrawing" Target="../drawings/vmlDrawing84.vml"/><Relationship Id="rId5" Type="http://schemas.openxmlformats.org/officeDocument/2006/relationships/slideLayout" Target="../slideLayouts/slideLayout7.xml"/><Relationship Id="rId4" Type="http://schemas.openxmlformats.org/officeDocument/2006/relationships/image" Target="../media/image241.wmf"/><Relationship Id="rId3" Type="http://schemas.openxmlformats.org/officeDocument/2006/relationships/oleObject" Target="../embeddings/oleObject277.bin"/><Relationship Id="rId2" Type="http://schemas.openxmlformats.org/officeDocument/2006/relationships/image" Target="../media/image240.wmf"/><Relationship Id="rId1" Type="http://schemas.openxmlformats.org/officeDocument/2006/relationships/oleObject" Target="../embeddings/oleObject276.bin"/></Relationships>
</file>

<file path=ppt/slides/_rels/slide96.xml.rels><?xml version="1.0" encoding="UTF-8" standalone="yes"?>
<Relationships xmlns="http://schemas.openxmlformats.org/package/2006/relationships"><Relationship Id="rId8" Type="http://schemas.openxmlformats.org/officeDocument/2006/relationships/vmlDrawing" Target="../drawings/vmlDrawing85.vml"/><Relationship Id="rId7" Type="http://schemas.openxmlformats.org/officeDocument/2006/relationships/slideLayout" Target="../slideLayouts/slideLayout7.xml"/><Relationship Id="rId6" Type="http://schemas.openxmlformats.org/officeDocument/2006/relationships/image" Target="../media/image244.wmf"/><Relationship Id="rId5" Type="http://schemas.openxmlformats.org/officeDocument/2006/relationships/oleObject" Target="../embeddings/oleObject280.bin"/><Relationship Id="rId4" Type="http://schemas.openxmlformats.org/officeDocument/2006/relationships/image" Target="../media/image243.wmf"/><Relationship Id="rId3" Type="http://schemas.openxmlformats.org/officeDocument/2006/relationships/oleObject" Target="../embeddings/oleObject279.bin"/><Relationship Id="rId2" Type="http://schemas.openxmlformats.org/officeDocument/2006/relationships/image" Target="../media/image242.wmf"/><Relationship Id="rId1" Type="http://schemas.openxmlformats.org/officeDocument/2006/relationships/oleObject" Target="../embeddings/oleObject278.bin"/></Relationships>
</file>

<file path=ppt/slides/_rels/slide97.xml.rels><?xml version="1.0" encoding="UTF-8" standalone="yes"?>
<Relationships xmlns="http://schemas.openxmlformats.org/package/2006/relationships"><Relationship Id="rId8" Type="http://schemas.openxmlformats.org/officeDocument/2006/relationships/vmlDrawing" Target="../drawings/vmlDrawing86.vml"/><Relationship Id="rId7" Type="http://schemas.openxmlformats.org/officeDocument/2006/relationships/slideLayout" Target="../slideLayouts/slideLayout7.xml"/><Relationship Id="rId6" Type="http://schemas.openxmlformats.org/officeDocument/2006/relationships/image" Target="../media/image247.wmf"/><Relationship Id="rId5" Type="http://schemas.openxmlformats.org/officeDocument/2006/relationships/oleObject" Target="../embeddings/oleObject283.bin"/><Relationship Id="rId4" Type="http://schemas.openxmlformats.org/officeDocument/2006/relationships/image" Target="../media/image246.wmf"/><Relationship Id="rId3" Type="http://schemas.openxmlformats.org/officeDocument/2006/relationships/oleObject" Target="../embeddings/oleObject282.bin"/><Relationship Id="rId2" Type="http://schemas.openxmlformats.org/officeDocument/2006/relationships/image" Target="../media/image245.wmf"/><Relationship Id="rId1" Type="http://schemas.openxmlformats.org/officeDocument/2006/relationships/oleObject" Target="../embeddings/oleObject281.bin"/></Relationships>
</file>

<file path=ppt/slides/_rels/slide9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51.wmf"/><Relationship Id="rId7" Type="http://schemas.openxmlformats.org/officeDocument/2006/relationships/oleObject" Target="../embeddings/oleObject287.bin"/><Relationship Id="rId6" Type="http://schemas.openxmlformats.org/officeDocument/2006/relationships/image" Target="../media/image250.wmf"/><Relationship Id="rId5" Type="http://schemas.openxmlformats.org/officeDocument/2006/relationships/oleObject" Target="../embeddings/oleObject286.bin"/><Relationship Id="rId4" Type="http://schemas.openxmlformats.org/officeDocument/2006/relationships/image" Target="../media/image249.wmf"/><Relationship Id="rId3" Type="http://schemas.openxmlformats.org/officeDocument/2006/relationships/oleObject" Target="../embeddings/oleObject285.bin"/><Relationship Id="rId2" Type="http://schemas.openxmlformats.org/officeDocument/2006/relationships/image" Target="../media/image248.wmf"/><Relationship Id="rId10" Type="http://schemas.openxmlformats.org/officeDocument/2006/relationships/vmlDrawing" Target="../drawings/vmlDrawing87.vml"/><Relationship Id="rId1" Type="http://schemas.openxmlformats.org/officeDocument/2006/relationships/oleObject" Target="../embeddings/oleObject284.bin"/></Relationships>
</file>

<file path=ppt/slides/_rels/slide99.xml.rels><?xml version="1.0" encoding="UTF-8" standalone="yes"?>
<Relationships xmlns="http://schemas.openxmlformats.org/package/2006/relationships"><Relationship Id="rId6" Type="http://schemas.openxmlformats.org/officeDocument/2006/relationships/vmlDrawing" Target="../drawings/vmlDrawing88.vml"/><Relationship Id="rId5" Type="http://schemas.openxmlformats.org/officeDocument/2006/relationships/slideLayout" Target="../slideLayouts/slideLayout7.xml"/><Relationship Id="rId4" Type="http://schemas.openxmlformats.org/officeDocument/2006/relationships/image" Target="../media/image253.wmf"/><Relationship Id="rId3" Type="http://schemas.openxmlformats.org/officeDocument/2006/relationships/oleObject" Target="../embeddings/oleObject289.bin"/><Relationship Id="rId2" Type="http://schemas.openxmlformats.org/officeDocument/2006/relationships/image" Target="../media/image252.wmf"/><Relationship Id="rId1" Type="http://schemas.openxmlformats.org/officeDocument/2006/relationships/oleObject" Target="../embeddings/oleObject288.bin"/></Relationships>
</file>

<file path=ppt/slides/_rels/slide100.xml.rels><?xml version="1.0" encoding="UTF-8" standalone="yes"?>
<Relationships xmlns="http://schemas.openxmlformats.org/package/2006/relationships"><Relationship Id="rId8" Type="http://schemas.openxmlformats.org/officeDocument/2006/relationships/vmlDrawing" Target="../drawings/vmlDrawing89.vml"/><Relationship Id="rId7" Type="http://schemas.openxmlformats.org/officeDocument/2006/relationships/slideLayout" Target="../slideLayouts/slideLayout7.xml"/><Relationship Id="rId6" Type="http://schemas.openxmlformats.org/officeDocument/2006/relationships/image" Target="../media/image256.wmf"/><Relationship Id="rId5" Type="http://schemas.openxmlformats.org/officeDocument/2006/relationships/oleObject" Target="../embeddings/oleObject292.bin"/><Relationship Id="rId4" Type="http://schemas.openxmlformats.org/officeDocument/2006/relationships/image" Target="../media/image255.wmf"/><Relationship Id="rId3" Type="http://schemas.openxmlformats.org/officeDocument/2006/relationships/oleObject" Target="../embeddings/oleObject291.bin"/><Relationship Id="rId2" Type="http://schemas.openxmlformats.org/officeDocument/2006/relationships/image" Target="../media/image254.wmf"/><Relationship Id="rId1" Type="http://schemas.openxmlformats.org/officeDocument/2006/relationships/oleObject" Target="../embeddings/oleObject290.bin"/></Relationships>
</file>

<file path=ppt/slides/_rels/slide101.xml.rels><?xml version="1.0" encoding="UTF-8" standalone="yes"?>
<Relationships xmlns="http://schemas.openxmlformats.org/package/2006/relationships"><Relationship Id="rId8" Type="http://schemas.openxmlformats.org/officeDocument/2006/relationships/vmlDrawing" Target="../drawings/vmlDrawing90.vml"/><Relationship Id="rId7" Type="http://schemas.openxmlformats.org/officeDocument/2006/relationships/slideLayout" Target="../slideLayouts/slideLayout7.xml"/><Relationship Id="rId6" Type="http://schemas.openxmlformats.org/officeDocument/2006/relationships/image" Target="../media/image259.wmf"/><Relationship Id="rId5" Type="http://schemas.openxmlformats.org/officeDocument/2006/relationships/oleObject" Target="../embeddings/oleObject295.bin"/><Relationship Id="rId4" Type="http://schemas.openxmlformats.org/officeDocument/2006/relationships/image" Target="../media/image258.wmf"/><Relationship Id="rId3" Type="http://schemas.openxmlformats.org/officeDocument/2006/relationships/oleObject" Target="../embeddings/oleObject294.bin"/><Relationship Id="rId2" Type="http://schemas.openxmlformats.org/officeDocument/2006/relationships/image" Target="../media/image257.wmf"/><Relationship Id="rId1" Type="http://schemas.openxmlformats.org/officeDocument/2006/relationships/oleObject" Target="../embeddings/oleObject293.bin"/></Relationships>
</file>

<file path=ppt/slides/_rels/slide102.xml.rels><?xml version="1.0" encoding="UTF-8" standalone="yes"?>
<Relationships xmlns="http://schemas.openxmlformats.org/package/2006/relationships"><Relationship Id="rId4" Type="http://schemas.openxmlformats.org/officeDocument/2006/relationships/vmlDrawing" Target="../drawings/vmlDrawing91.vml"/><Relationship Id="rId3" Type="http://schemas.openxmlformats.org/officeDocument/2006/relationships/slideLayout" Target="../slideLayouts/slideLayout7.xml"/><Relationship Id="rId2" Type="http://schemas.openxmlformats.org/officeDocument/2006/relationships/image" Target="../media/image260.wmf"/><Relationship Id="rId1" Type="http://schemas.openxmlformats.org/officeDocument/2006/relationships/oleObject" Target="../embeddings/oleObject296.bin"/></Relationships>
</file>

<file path=ppt/slides/_rels/slide103.xml.rels><?xml version="1.0" encoding="UTF-8" standalone="yes"?>
<Relationships xmlns="http://schemas.openxmlformats.org/package/2006/relationships"><Relationship Id="rId6" Type="http://schemas.openxmlformats.org/officeDocument/2006/relationships/vmlDrawing" Target="../drawings/vmlDrawing92.vml"/><Relationship Id="rId5" Type="http://schemas.openxmlformats.org/officeDocument/2006/relationships/slideLayout" Target="../slideLayouts/slideLayout7.xml"/><Relationship Id="rId4" Type="http://schemas.openxmlformats.org/officeDocument/2006/relationships/image" Target="../media/image262.wmf"/><Relationship Id="rId3" Type="http://schemas.openxmlformats.org/officeDocument/2006/relationships/oleObject" Target="../embeddings/oleObject298.bin"/><Relationship Id="rId2" Type="http://schemas.openxmlformats.org/officeDocument/2006/relationships/image" Target="../media/image261.wmf"/><Relationship Id="rId1" Type="http://schemas.openxmlformats.org/officeDocument/2006/relationships/oleObject" Target="../embeddings/oleObject297.bin"/></Relationships>
</file>

<file path=ppt/slides/_rels/slide104.xml.rels><?xml version="1.0" encoding="UTF-8" standalone="yes"?>
<Relationships xmlns="http://schemas.openxmlformats.org/package/2006/relationships"><Relationship Id="rId6" Type="http://schemas.openxmlformats.org/officeDocument/2006/relationships/vmlDrawing" Target="../drawings/vmlDrawing93.vml"/><Relationship Id="rId5" Type="http://schemas.openxmlformats.org/officeDocument/2006/relationships/slideLayout" Target="../slideLayouts/slideLayout7.xml"/><Relationship Id="rId4" Type="http://schemas.openxmlformats.org/officeDocument/2006/relationships/image" Target="../media/image264.wmf"/><Relationship Id="rId3" Type="http://schemas.openxmlformats.org/officeDocument/2006/relationships/oleObject" Target="../embeddings/oleObject300.bin"/><Relationship Id="rId2" Type="http://schemas.openxmlformats.org/officeDocument/2006/relationships/image" Target="../media/image263.wmf"/><Relationship Id="rId1" Type="http://schemas.openxmlformats.org/officeDocument/2006/relationships/oleObject" Target="../embeddings/oleObject299.bin"/></Relationships>
</file>

<file path=ppt/slides/_rels/slide105.xml.rels><?xml version="1.0" encoding="UTF-8" standalone="yes"?>
<Relationships xmlns="http://schemas.openxmlformats.org/package/2006/relationships"><Relationship Id="rId4" Type="http://schemas.openxmlformats.org/officeDocument/2006/relationships/vmlDrawing" Target="../drawings/vmlDrawing94.vml"/><Relationship Id="rId3" Type="http://schemas.openxmlformats.org/officeDocument/2006/relationships/slideLayout" Target="../slideLayouts/slideLayout7.xml"/><Relationship Id="rId2" Type="http://schemas.openxmlformats.org/officeDocument/2006/relationships/image" Target="../media/image265.wmf"/><Relationship Id="rId1" Type="http://schemas.openxmlformats.org/officeDocument/2006/relationships/oleObject" Target="../embeddings/oleObject301.bin"/></Relationships>
</file>

<file path=ppt/slides/_rels/slide106.xml.rels><?xml version="1.0" encoding="UTF-8" standalone="yes"?>
<Relationships xmlns="http://schemas.openxmlformats.org/package/2006/relationships"><Relationship Id="rId6" Type="http://schemas.openxmlformats.org/officeDocument/2006/relationships/vmlDrawing" Target="../drawings/vmlDrawing95.vml"/><Relationship Id="rId5" Type="http://schemas.openxmlformats.org/officeDocument/2006/relationships/slideLayout" Target="../slideLayouts/slideLayout7.xml"/><Relationship Id="rId4" Type="http://schemas.openxmlformats.org/officeDocument/2006/relationships/image" Target="../media/image267.wmf"/><Relationship Id="rId3" Type="http://schemas.openxmlformats.org/officeDocument/2006/relationships/oleObject" Target="../embeddings/oleObject303.bin"/><Relationship Id="rId2" Type="http://schemas.openxmlformats.org/officeDocument/2006/relationships/image" Target="../media/image266.wmf"/><Relationship Id="rId1" Type="http://schemas.openxmlformats.org/officeDocument/2006/relationships/oleObject" Target="../embeddings/oleObject302.bin"/></Relationships>
</file>

<file path=ppt/slides/_rels/slide107.xml.rels><?xml version="1.0" encoding="UTF-8" standalone="yes"?>
<Relationships xmlns="http://schemas.openxmlformats.org/package/2006/relationships"><Relationship Id="rId5" Type="http://schemas.openxmlformats.org/officeDocument/2006/relationships/vmlDrawing" Target="../drawings/vmlDrawing96.vml"/><Relationship Id="rId4" Type="http://schemas.openxmlformats.org/officeDocument/2006/relationships/slideLayout" Target="../slideLayouts/slideLayout7.xml"/><Relationship Id="rId3" Type="http://schemas.openxmlformats.org/officeDocument/2006/relationships/oleObject" Target="../embeddings/oleObject305.bin"/><Relationship Id="rId2" Type="http://schemas.openxmlformats.org/officeDocument/2006/relationships/image" Target="../media/image264.wmf"/><Relationship Id="rId1" Type="http://schemas.openxmlformats.org/officeDocument/2006/relationships/oleObject" Target="../embeddings/oleObject304.bin"/></Relationships>
</file>

<file path=ppt/slides/_rels/slide108.xml.rels><?xml version="1.0" encoding="UTF-8" standalone="yes"?>
<Relationships xmlns="http://schemas.openxmlformats.org/package/2006/relationships"><Relationship Id="rId4" Type="http://schemas.openxmlformats.org/officeDocument/2006/relationships/vmlDrawing" Target="../drawings/vmlDrawing97.vml"/><Relationship Id="rId3" Type="http://schemas.openxmlformats.org/officeDocument/2006/relationships/slideLayout" Target="../slideLayouts/slideLayout7.xml"/><Relationship Id="rId2" Type="http://schemas.openxmlformats.org/officeDocument/2006/relationships/image" Target="../media/image268.wmf"/><Relationship Id="rId1" Type="http://schemas.openxmlformats.org/officeDocument/2006/relationships/oleObject" Target="../embeddings/oleObject306.bin"/></Relationships>
</file>

<file path=ppt/slides/_rels/slide109.xml.rels><?xml version="1.0" encoding="UTF-8" standalone="yes"?>
<Relationships xmlns="http://schemas.openxmlformats.org/package/2006/relationships"><Relationship Id="rId6" Type="http://schemas.openxmlformats.org/officeDocument/2006/relationships/vmlDrawing" Target="../drawings/vmlDrawing98.vml"/><Relationship Id="rId5" Type="http://schemas.openxmlformats.org/officeDocument/2006/relationships/slideLayout" Target="../slideLayouts/slideLayout7.xml"/><Relationship Id="rId4" Type="http://schemas.openxmlformats.org/officeDocument/2006/relationships/image" Target="../media/image270.wmf"/><Relationship Id="rId3" Type="http://schemas.openxmlformats.org/officeDocument/2006/relationships/oleObject" Target="../embeddings/oleObject308.bin"/><Relationship Id="rId2" Type="http://schemas.openxmlformats.org/officeDocument/2006/relationships/image" Target="../media/image269.wmf"/><Relationship Id="rId1" Type="http://schemas.openxmlformats.org/officeDocument/2006/relationships/oleObject" Target="../embeddings/oleObject307.bin"/></Relationships>
</file>

<file path=ppt/slides/_rels/slide110.xml.rels><?xml version="1.0" encoding="UTF-8" standalone="yes"?>
<Relationships xmlns="http://schemas.openxmlformats.org/package/2006/relationships"><Relationship Id="rId7" Type="http://schemas.openxmlformats.org/officeDocument/2006/relationships/vmlDrawing" Target="../drawings/vmlDrawing99.vml"/><Relationship Id="rId6" Type="http://schemas.openxmlformats.org/officeDocument/2006/relationships/slideLayout" Target="../slideLayouts/slideLayout7.xml"/><Relationship Id="rId5" Type="http://schemas.openxmlformats.org/officeDocument/2006/relationships/image" Target="../media/image274.wmf"/><Relationship Id="rId4" Type="http://schemas.openxmlformats.org/officeDocument/2006/relationships/oleObject" Target="../embeddings/oleObject309.bin"/><Relationship Id="rId3" Type="http://schemas.openxmlformats.org/officeDocument/2006/relationships/image" Target="../media/image273.png"/><Relationship Id="rId2" Type="http://schemas.openxmlformats.org/officeDocument/2006/relationships/image" Target="../media/image272.png"/><Relationship Id="rId1" Type="http://schemas.openxmlformats.org/officeDocument/2006/relationships/image" Target="../media/image271.png"/></Relationships>
</file>

<file path=ppt/slides/_rels/slide111.xml.rels><?xml version="1.0" encoding="UTF-8" standalone="yes"?>
<Relationships xmlns="http://schemas.openxmlformats.org/package/2006/relationships"><Relationship Id="rId6" Type="http://schemas.openxmlformats.org/officeDocument/2006/relationships/vmlDrawing" Target="../drawings/vmlDrawing100.vml"/><Relationship Id="rId5" Type="http://schemas.openxmlformats.org/officeDocument/2006/relationships/slideLayout" Target="../slideLayouts/slideLayout7.xml"/><Relationship Id="rId4" Type="http://schemas.openxmlformats.org/officeDocument/2006/relationships/image" Target="../media/image276.wmf"/><Relationship Id="rId3" Type="http://schemas.openxmlformats.org/officeDocument/2006/relationships/oleObject" Target="../embeddings/oleObject311.bin"/><Relationship Id="rId2" Type="http://schemas.openxmlformats.org/officeDocument/2006/relationships/image" Target="../media/image275.wmf"/><Relationship Id="rId1" Type="http://schemas.openxmlformats.org/officeDocument/2006/relationships/oleObject" Target="../embeddings/oleObject310.bin"/></Relationships>
</file>

<file path=ppt/slides/_rels/slide112.xml.rels><?xml version="1.0" encoding="UTF-8" standalone="yes"?>
<Relationships xmlns="http://schemas.openxmlformats.org/package/2006/relationships"><Relationship Id="rId9" Type="http://schemas.openxmlformats.org/officeDocument/2006/relationships/oleObject" Target="../embeddings/oleObject316.bin"/><Relationship Id="rId8" Type="http://schemas.openxmlformats.org/officeDocument/2006/relationships/image" Target="../media/image280.wmf"/><Relationship Id="rId7" Type="http://schemas.openxmlformats.org/officeDocument/2006/relationships/oleObject" Target="../embeddings/oleObject315.bin"/><Relationship Id="rId6" Type="http://schemas.openxmlformats.org/officeDocument/2006/relationships/image" Target="../media/image279.wmf"/><Relationship Id="rId5" Type="http://schemas.openxmlformats.org/officeDocument/2006/relationships/oleObject" Target="../embeddings/oleObject314.bin"/><Relationship Id="rId4" Type="http://schemas.openxmlformats.org/officeDocument/2006/relationships/image" Target="../media/image278.wmf"/><Relationship Id="rId3" Type="http://schemas.openxmlformats.org/officeDocument/2006/relationships/oleObject" Target="../embeddings/oleObject313.bin"/><Relationship Id="rId22" Type="http://schemas.openxmlformats.org/officeDocument/2006/relationships/vmlDrawing" Target="../drawings/vmlDrawing101.vml"/><Relationship Id="rId21" Type="http://schemas.openxmlformats.org/officeDocument/2006/relationships/slideLayout" Target="../slideLayouts/slideLayout7.xml"/><Relationship Id="rId20" Type="http://schemas.openxmlformats.org/officeDocument/2006/relationships/image" Target="../media/image286.wmf"/><Relationship Id="rId2" Type="http://schemas.openxmlformats.org/officeDocument/2006/relationships/image" Target="../media/image277.wmf"/><Relationship Id="rId19" Type="http://schemas.openxmlformats.org/officeDocument/2006/relationships/oleObject" Target="../embeddings/oleObject321.bin"/><Relationship Id="rId18" Type="http://schemas.openxmlformats.org/officeDocument/2006/relationships/image" Target="../media/image285.wmf"/><Relationship Id="rId17" Type="http://schemas.openxmlformats.org/officeDocument/2006/relationships/oleObject" Target="../embeddings/oleObject320.bin"/><Relationship Id="rId16" Type="http://schemas.openxmlformats.org/officeDocument/2006/relationships/image" Target="../media/image284.wmf"/><Relationship Id="rId15" Type="http://schemas.openxmlformats.org/officeDocument/2006/relationships/oleObject" Target="../embeddings/oleObject319.bin"/><Relationship Id="rId14" Type="http://schemas.openxmlformats.org/officeDocument/2006/relationships/image" Target="../media/image283.wmf"/><Relationship Id="rId13" Type="http://schemas.openxmlformats.org/officeDocument/2006/relationships/oleObject" Target="../embeddings/oleObject318.bin"/><Relationship Id="rId12" Type="http://schemas.openxmlformats.org/officeDocument/2006/relationships/image" Target="../media/image282.wmf"/><Relationship Id="rId11" Type="http://schemas.openxmlformats.org/officeDocument/2006/relationships/oleObject" Target="../embeddings/oleObject317.bin"/><Relationship Id="rId10" Type="http://schemas.openxmlformats.org/officeDocument/2006/relationships/image" Target="../media/image281.wmf"/><Relationship Id="rId1" Type="http://schemas.openxmlformats.org/officeDocument/2006/relationships/oleObject" Target="../embeddings/oleObject312.bin"/></Relationships>
</file>

<file path=ppt/slides/_rels/slide113.xml.rels><?xml version="1.0" encoding="UTF-8" standalone="yes"?>
<Relationships xmlns="http://schemas.openxmlformats.org/package/2006/relationships"><Relationship Id="rId9" Type="http://schemas.openxmlformats.org/officeDocument/2006/relationships/oleObject" Target="../embeddings/oleObject326.bin"/><Relationship Id="rId8" Type="http://schemas.openxmlformats.org/officeDocument/2006/relationships/image" Target="../media/image290.wmf"/><Relationship Id="rId7" Type="http://schemas.openxmlformats.org/officeDocument/2006/relationships/oleObject" Target="../embeddings/oleObject325.bin"/><Relationship Id="rId6" Type="http://schemas.openxmlformats.org/officeDocument/2006/relationships/image" Target="../media/image289.wmf"/><Relationship Id="rId5" Type="http://schemas.openxmlformats.org/officeDocument/2006/relationships/oleObject" Target="../embeddings/oleObject324.bin"/><Relationship Id="rId4" Type="http://schemas.openxmlformats.org/officeDocument/2006/relationships/image" Target="../media/image288.wmf"/><Relationship Id="rId3" Type="http://schemas.openxmlformats.org/officeDocument/2006/relationships/oleObject" Target="../embeddings/oleObject323.bin"/><Relationship Id="rId20" Type="http://schemas.openxmlformats.org/officeDocument/2006/relationships/vmlDrawing" Target="../drawings/vmlDrawing102.vml"/><Relationship Id="rId2" Type="http://schemas.openxmlformats.org/officeDocument/2006/relationships/image" Target="../media/image287.wmf"/><Relationship Id="rId19" Type="http://schemas.openxmlformats.org/officeDocument/2006/relationships/slideLayout" Target="../slideLayouts/slideLayout7.xml"/><Relationship Id="rId18" Type="http://schemas.openxmlformats.org/officeDocument/2006/relationships/image" Target="../media/image295.wmf"/><Relationship Id="rId17" Type="http://schemas.openxmlformats.org/officeDocument/2006/relationships/oleObject" Target="../embeddings/oleObject330.bin"/><Relationship Id="rId16" Type="http://schemas.openxmlformats.org/officeDocument/2006/relationships/image" Target="../media/image294.wmf"/><Relationship Id="rId15" Type="http://schemas.openxmlformats.org/officeDocument/2006/relationships/oleObject" Target="../embeddings/oleObject329.bin"/><Relationship Id="rId14" Type="http://schemas.openxmlformats.org/officeDocument/2006/relationships/image" Target="../media/image293.wmf"/><Relationship Id="rId13" Type="http://schemas.openxmlformats.org/officeDocument/2006/relationships/oleObject" Target="../embeddings/oleObject328.bin"/><Relationship Id="rId12" Type="http://schemas.openxmlformats.org/officeDocument/2006/relationships/image" Target="../media/image292.wmf"/><Relationship Id="rId11" Type="http://schemas.openxmlformats.org/officeDocument/2006/relationships/oleObject" Target="../embeddings/oleObject327.bin"/><Relationship Id="rId10" Type="http://schemas.openxmlformats.org/officeDocument/2006/relationships/image" Target="../media/image291.wmf"/><Relationship Id="rId1" Type="http://schemas.openxmlformats.org/officeDocument/2006/relationships/oleObject" Target="../embeddings/oleObject322.bin"/></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2" name="文本框 68611"/>
          <p:cNvSpPr txBox="1"/>
          <p:nvPr/>
        </p:nvSpPr>
        <p:spPr>
          <a:xfrm>
            <a:off x="3203575" y="423863"/>
            <a:ext cx="3449320" cy="583565"/>
          </a:xfrm>
          <a:prstGeom prst="rect">
            <a:avLst/>
          </a:prstGeom>
          <a:noFill/>
          <a:ln w="9525">
            <a:noFill/>
          </a:ln>
        </p:spPr>
        <p:txBody>
          <a:bodyPr wrap="none" anchor="t" anchorCtr="0">
            <a:spAutoFit/>
          </a:bodyPr>
          <a:p>
            <a:r>
              <a:rPr lang="zh-CN" altLang="en-US" sz="3200" dirty="0">
                <a:solidFill>
                  <a:srgbClr val="FF3300"/>
                </a:solidFill>
                <a:latin typeface="Times New Roman" panose="02020603050405020304" pitchFamily="18" charset="0"/>
                <a:ea typeface="楷体_GB2312" pitchFamily="49" charset="-122"/>
              </a:rPr>
              <a:t>线性代数课程简介</a:t>
            </a:r>
            <a:endParaRPr lang="zh-CN" altLang="en-US" sz="3200" dirty="0">
              <a:solidFill>
                <a:srgbClr val="FF3300"/>
              </a:solidFill>
              <a:latin typeface="Times New Roman" panose="02020603050405020304" pitchFamily="18" charset="0"/>
              <a:ea typeface="楷体_GB2312" pitchFamily="49" charset="-122"/>
            </a:endParaRPr>
          </a:p>
        </p:txBody>
      </p:sp>
      <p:sp>
        <p:nvSpPr>
          <p:cNvPr id="68613" name="文本框 68612"/>
          <p:cNvSpPr txBox="1"/>
          <p:nvPr/>
        </p:nvSpPr>
        <p:spPr>
          <a:xfrm>
            <a:off x="879475" y="1431925"/>
            <a:ext cx="8042275" cy="519113"/>
          </a:xfrm>
          <a:prstGeom prst="rect">
            <a:avLst/>
          </a:prstGeom>
          <a:noFill/>
          <a:ln w="9525">
            <a:noFill/>
          </a:ln>
        </p:spPr>
        <p:txBody>
          <a:bodyPr wrap="none" anchor="t" anchorCtr="0">
            <a:spAutoFit/>
          </a:bodyPr>
          <a:p>
            <a:r>
              <a:rPr lang="zh-CN" altLang="en-US" dirty="0">
                <a:latin typeface="Times New Roman" panose="02020603050405020304" pitchFamily="18" charset="0"/>
                <a:ea typeface="楷体_GB2312" pitchFamily="49" charset="-122"/>
              </a:rPr>
              <a:t>线性代数是代数学的一个分支，主要处理线性关系</a:t>
            </a:r>
            <a:endParaRPr lang="zh-CN" altLang="en-US" dirty="0">
              <a:latin typeface="Times New Roman" panose="02020603050405020304" pitchFamily="18" charset="0"/>
              <a:ea typeface="楷体_GB2312" pitchFamily="49" charset="-122"/>
            </a:endParaRPr>
          </a:p>
        </p:txBody>
      </p:sp>
      <p:sp>
        <p:nvSpPr>
          <p:cNvPr id="68614" name="文本框 68613"/>
          <p:cNvSpPr txBox="1"/>
          <p:nvPr/>
        </p:nvSpPr>
        <p:spPr>
          <a:xfrm>
            <a:off x="250825" y="2133600"/>
            <a:ext cx="8666163" cy="519113"/>
          </a:xfrm>
          <a:prstGeom prst="rect">
            <a:avLst/>
          </a:prstGeom>
          <a:noFill/>
          <a:ln w="9525">
            <a:noFill/>
          </a:ln>
        </p:spPr>
        <p:txBody>
          <a:bodyPr wrap="none" anchor="t" anchorCtr="0">
            <a:spAutoFit/>
          </a:bodyPr>
          <a:p>
            <a:r>
              <a:rPr lang="zh-CN" altLang="en-US" dirty="0">
                <a:latin typeface="Times New Roman" panose="02020603050405020304" pitchFamily="18" charset="0"/>
                <a:ea typeface="楷体_GB2312" pitchFamily="49" charset="-122"/>
              </a:rPr>
              <a:t>问题</a:t>
            </a:r>
            <a:r>
              <a:rPr lang="en-US" altLang="zh-CN">
                <a:latin typeface="Times New Roman" panose="02020603050405020304" pitchFamily="18" charset="0"/>
                <a:ea typeface="楷体_GB2312" pitchFamily="49" charset="-122"/>
              </a:rPr>
              <a:t>.  </a:t>
            </a:r>
            <a:r>
              <a:rPr lang="zh-CN" altLang="en-US" dirty="0">
                <a:latin typeface="Times New Roman" panose="02020603050405020304" pitchFamily="18" charset="0"/>
                <a:ea typeface="楷体_GB2312" pitchFamily="49" charset="-122"/>
              </a:rPr>
              <a:t>线性关系是指数学对象之间的关系是以一次形式</a:t>
            </a:r>
            <a:endParaRPr lang="zh-CN" altLang="en-US" dirty="0">
              <a:latin typeface="Times New Roman" panose="02020603050405020304" pitchFamily="18" charset="0"/>
              <a:ea typeface="楷体_GB2312" pitchFamily="49" charset="-122"/>
            </a:endParaRPr>
          </a:p>
        </p:txBody>
      </p:sp>
      <p:sp>
        <p:nvSpPr>
          <p:cNvPr id="68615" name="文本框 68614"/>
          <p:cNvSpPr txBox="1"/>
          <p:nvPr/>
        </p:nvSpPr>
        <p:spPr>
          <a:xfrm>
            <a:off x="250825" y="2781300"/>
            <a:ext cx="7772400" cy="519113"/>
          </a:xfrm>
          <a:prstGeom prst="rect">
            <a:avLst/>
          </a:prstGeom>
          <a:noFill/>
          <a:ln w="9525">
            <a:noFill/>
          </a:ln>
        </p:spPr>
        <p:txBody>
          <a:bodyPr wrap="none" anchor="t" anchorCtr="0">
            <a:spAutoFit/>
          </a:bodyPr>
          <a:p>
            <a:r>
              <a:rPr lang="zh-CN" altLang="en-US" dirty="0">
                <a:latin typeface="Times New Roman" panose="02020603050405020304" pitchFamily="18" charset="0"/>
                <a:ea typeface="楷体_GB2312" pitchFamily="49" charset="-122"/>
              </a:rPr>
              <a:t>来表达的</a:t>
            </a:r>
            <a:r>
              <a:rPr lang="en-US" altLang="zh-CN">
                <a:latin typeface="Times New Roman" panose="02020603050405020304" pitchFamily="18" charset="0"/>
                <a:ea typeface="楷体_GB2312" pitchFamily="49" charset="-122"/>
              </a:rPr>
              <a:t>.   </a:t>
            </a:r>
            <a:r>
              <a:rPr lang="zh-CN" altLang="en-US" dirty="0">
                <a:latin typeface="Times New Roman" panose="02020603050405020304" pitchFamily="18" charset="0"/>
                <a:ea typeface="楷体_GB2312" pitchFamily="49" charset="-122"/>
              </a:rPr>
              <a:t>最简单的线性问题就是解线性方程组</a:t>
            </a:r>
            <a:r>
              <a:rPr lang="en-US" altLang="zh-CN">
                <a:latin typeface="Times New Roman" panose="02020603050405020304" pitchFamily="18" charset="0"/>
                <a:ea typeface="楷体_GB2312" pitchFamily="49" charset="-122"/>
              </a:rPr>
              <a:t>.</a:t>
            </a:r>
            <a:endParaRPr lang="en-US" altLang="zh-CN">
              <a:latin typeface="Times New Roman" panose="02020603050405020304" pitchFamily="18" charset="0"/>
              <a:ea typeface="楷体_GB2312" pitchFamily="49" charset="-122"/>
            </a:endParaRPr>
          </a:p>
        </p:txBody>
      </p:sp>
      <p:sp>
        <p:nvSpPr>
          <p:cNvPr id="68616" name="文本框 68615"/>
          <p:cNvSpPr txBox="1"/>
          <p:nvPr/>
        </p:nvSpPr>
        <p:spPr>
          <a:xfrm>
            <a:off x="950913" y="3448050"/>
            <a:ext cx="8042275" cy="519113"/>
          </a:xfrm>
          <a:prstGeom prst="rect">
            <a:avLst/>
          </a:prstGeom>
          <a:noFill/>
          <a:ln w="9525">
            <a:noFill/>
          </a:ln>
        </p:spPr>
        <p:txBody>
          <a:bodyPr wrap="none" anchor="t" anchorCtr="0">
            <a:spAutoFit/>
          </a:bodyPr>
          <a:p>
            <a:r>
              <a:rPr lang="zh-CN" altLang="en-US" dirty="0">
                <a:latin typeface="Times New Roman" panose="02020603050405020304" pitchFamily="18" charset="0"/>
                <a:ea typeface="楷体_GB2312" pitchFamily="49" charset="-122"/>
              </a:rPr>
              <a:t>行列式和矩阵为处理线性问题提供了有力的工具，</a:t>
            </a:r>
            <a:endParaRPr lang="zh-CN" altLang="en-US" dirty="0">
              <a:latin typeface="Times New Roman" panose="02020603050405020304" pitchFamily="18" charset="0"/>
              <a:ea typeface="楷体_GB2312" pitchFamily="49" charset="-122"/>
            </a:endParaRPr>
          </a:p>
        </p:txBody>
      </p:sp>
      <p:sp>
        <p:nvSpPr>
          <p:cNvPr id="68617" name="文本框 68616"/>
          <p:cNvSpPr txBox="1"/>
          <p:nvPr/>
        </p:nvSpPr>
        <p:spPr>
          <a:xfrm>
            <a:off x="179388" y="4076700"/>
            <a:ext cx="8755062" cy="519113"/>
          </a:xfrm>
          <a:prstGeom prst="rect">
            <a:avLst/>
          </a:prstGeom>
          <a:noFill/>
          <a:ln w="9525">
            <a:noFill/>
          </a:ln>
        </p:spPr>
        <p:txBody>
          <a:bodyPr wrap="none" anchor="t" anchorCtr="0">
            <a:spAutoFit/>
          </a:bodyPr>
          <a:p>
            <a:r>
              <a:rPr lang="zh-CN" altLang="en-US" dirty="0">
                <a:latin typeface="Times New Roman" panose="02020603050405020304" pitchFamily="18" charset="0"/>
                <a:ea typeface="楷体_GB2312" pitchFamily="49" charset="-122"/>
              </a:rPr>
              <a:t>也推动了线性代数的发展</a:t>
            </a:r>
            <a:r>
              <a:rPr lang="en-US" altLang="zh-CN">
                <a:latin typeface="Times New Roman" panose="02020603050405020304" pitchFamily="18" charset="0"/>
                <a:ea typeface="楷体_GB2312" pitchFamily="49" charset="-122"/>
              </a:rPr>
              <a:t>.   </a:t>
            </a:r>
            <a:r>
              <a:rPr lang="zh-CN" altLang="en-US" dirty="0">
                <a:latin typeface="Times New Roman" panose="02020603050405020304" pitchFamily="18" charset="0"/>
                <a:ea typeface="楷体_GB2312" pitchFamily="49" charset="-122"/>
              </a:rPr>
              <a:t>向量概念的引入，形成了向</a:t>
            </a:r>
            <a:endParaRPr lang="zh-CN" altLang="en-US" dirty="0">
              <a:latin typeface="Times New Roman" panose="02020603050405020304" pitchFamily="18" charset="0"/>
              <a:ea typeface="楷体_GB2312" pitchFamily="49" charset="-122"/>
            </a:endParaRPr>
          </a:p>
        </p:txBody>
      </p:sp>
      <p:sp>
        <p:nvSpPr>
          <p:cNvPr id="68618" name="矩形 68617"/>
          <p:cNvSpPr/>
          <p:nvPr/>
        </p:nvSpPr>
        <p:spPr>
          <a:xfrm>
            <a:off x="179388" y="4724400"/>
            <a:ext cx="8756650" cy="519113"/>
          </a:xfrm>
          <a:prstGeom prst="rect">
            <a:avLst/>
          </a:prstGeom>
          <a:noFill/>
          <a:ln w="9525">
            <a:noFill/>
          </a:ln>
        </p:spPr>
        <p:txBody>
          <a:bodyPr wrap="none" anchor="t" anchorCtr="0">
            <a:spAutoFit/>
          </a:bodyPr>
          <a:p>
            <a:r>
              <a:rPr lang="zh-CN" altLang="en-US" dirty="0">
                <a:latin typeface="Times New Roman" panose="02020603050405020304" pitchFamily="18" charset="0"/>
                <a:ea typeface="楷体_GB2312" pitchFamily="49" charset="-122"/>
              </a:rPr>
              <a:t>量空间的概念，而线性问题都可以用向量空间的观点加</a:t>
            </a:r>
            <a:endParaRPr lang="zh-CN" altLang="en-US" dirty="0">
              <a:latin typeface="Times New Roman" panose="02020603050405020304" pitchFamily="18" charset="0"/>
              <a:ea typeface="楷体_GB2312" pitchFamily="49" charset="-122"/>
            </a:endParaRPr>
          </a:p>
        </p:txBody>
      </p:sp>
      <p:sp>
        <p:nvSpPr>
          <p:cNvPr id="68619" name="矩形 68618"/>
          <p:cNvSpPr/>
          <p:nvPr/>
        </p:nvSpPr>
        <p:spPr>
          <a:xfrm>
            <a:off x="179388" y="5467350"/>
            <a:ext cx="8755062" cy="519113"/>
          </a:xfrm>
          <a:prstGeom prst="rect">
            <a:avLst/>
          </a:prstGeom>
          <a:noFill/>
          <a:ln w="9525">
            <a:noFill/>
          </a:ln>
        </p:spPr>
        <p:txBody>
          <a:bodyPr wrap="none" anchor="t" anchorCtr="0">
            <a:spAutoFit/>
          </a:bodyPr>
          <a:p>
            <a:r>
              <a:rPr lang="zh-CN" altLang="en-US" dirty="0">
                <a:latin typeface="Times New Roman" panose="02020603050405020304" pitchFamily="18" charset="0"/>
                <a:ea typeface="楷体_GB2312" pitchFamily="49" charset="-122"/>
              </a:rPr>
              <a:t>以讨论</a:t>
            </a:r>
            <a:r>
              <a:rPr lang="en-US" altLang="zh-CN">
                <a:latin typeface="Times New Roman" panose="02020603050405020304" pitchFamily="18" charset="0"/>
                <a:ea typeface="楷体_GB2312" pitchFamily="49" charset="-122"/>
              </a:rPr>
              <a:t>.   </a:t>
            </a:r>
            <a:r>
              <a:rPr lang="zh-CN" altLang="en-US" dirty="0">
                <a:latin typeface="Times New Roman" panose="02020603050405020304" pitchFamily="18" charset="0"/>
                <a:ea typeface="楷体_GB2312" pitchFamily="49" charset="-122"/>
              </a:rPr>
              <a:t>因此向量空间及其线性变换，以及与此相联系</a:t>
            </a:r>
            <a:endParaRPr lang="zh-CN" altLang="en-US" dirty="0">
              <a:latin typeface="Times New Roman" panose="02020603050405020304" pitchFamily="18" charset="0"/>
              <a:ea typeface="楷体_GB2312" pitchFamily="49" charset="-122"/>
            </a:endParaRPr>
          </a:p>
        </p:txBody>
      </p:sp>
      <p:sp>
        <p:nvSpPr>
          <p:cNvPr id="68620" name="文本框 68619"/>
          <p:cNvSpPr txBox="1"/>
          <p:nvPr/>
        </p:nvSpPr>
        <p:spPr>
          <a:xfrm>
            <a:off x="179388" y="6165850"/>
            <a:ext cx="6702425" cy="519113"/>
          </a:xfrm>
          <a:prstGeom prst="rect">
            <a:avLst/>
          </a:prstGeom>
          <a:noFill/>
          <a:ln w="9525">
            <a:noFill/>
          </a:ln>
        </p:spPr>
        <p:txBody>
          <a:bodyPr wrap="none" anchor="t" anchorCtr="0">
            <a:spAutoFit/>
          </a:bodyPr>
          <a:p>
            <a:r>
              <a:rPr lang="zh-CN" altLang="en-US" dirty="0">
                <a:latin typeface="Times New Roman" panose="02020603050405020304" pitchFamily="18" charset="0"/>
                <a:ea typeface="楷体_GB2312" pitchFamily="49" charset="-122"/>
              </a:rPr>
              <a:t>的矩阵理论，构成了线性代数的中心内容</a:t>
            </a:r>
            <a:r>
              <a:rPr lang="en-US" altLang="zh-CN">
                <a:latin typeface="Times New Roman" panose="02020603050405020304" pitchFamily="18" charset="0"/>
                <a:ea typeface="楷体_GB2312" pitchFamily="49" charset="-122"/>
              </a:rPr>
              <a:t>.</a:t>
            </a:r>
            <a:endParaRPr lang="en-US" altLang="zh-CN">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613"/>
                                        </p:tgtEl>
                                        <p:attrNameLst>
                                          <p:attrName>style.visibility</p:attrName>
                                        </p:attrNameLst>
                                      </p:cBhvr>
                                      <p:to>
                                        <p:strVal val="visible"/>
                                      </p:to>
                                    </p:set>
                                    <p:animEffect transition="in" filter="wipe(left)">
                                      <p:cBhvr>
                                        <p:cTn id="7" dur="500"/>
                                        <p:tgtEl>
                                          <p:spTgt spid="686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8614"/>
                                        </p:tgtEl>
                                        <p:attrNameLst>
                                          <p:attrName>style.visibility</p:attrName>
                                        </p:attrNameLst>
                                      </p:cBhvr>
                                      <p:to>
                                        <p:strVal val="visible"/>
                                      </p:to>
                                    </p:set>
                                    <p:animEffect transition="in" filter="wipe(left)">
                                      <p:cBhvr>
                                        <p:cTn id="11" dur="500"/>
                                        <p:tgtEl>
                                          <p:spTgt spid="6861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8615"/>
                                        </p:tgtEl>
                                        <p:attrNameLst>
                                          <p:attrName>style.visibility</p:attrName>
                                        </p:attrNameLst>
                                      </p:cBhvr>
                                      <p:to>
                                        <p:strVal val="visible"/>
                                      </p:to>
                                    </p:set>
                                    <p:animEffect transition="in" filter="wipe(left)">
                                      <p:cBhvr>
                                        <p:cTn id="15" dur="500"/>
                                        <p:tgtEl>
                                          <p:spTgt spid="6861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8616"/>
                                        </p:tgtEl>
                                        <p:attrNameLst>
                                          <p:attrName>style.visibility</p:attrName>
                                        </p:attrNameLst>
                                      </p:cBhvr>
                                      <p:to>
                                        <p:strVal val="visible"/>
                                      </p:to>
                                    </p:set>
                                    <p:animEffect transition="in" filter="wipe(left)">
                                      <p:cBhvr>
                                        <p:cTn id="20" dur="500"/>
                                        <p:tgtEl>
                                          <p:spTgt spid="6861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8617"/>
                                        </p:tgtEl>
                                        <p:attrNameLst>
                                          <p:attrName>style.visibility</p:attrName>
                                        </p:attrNameLst>
                                      </p:cBhvr>
                                      <p:to>
                                        <p:strVal val="visible"/>
                                      </p:to>
                                    </p:set>
                                    <p:animEffect transition="in" filter="wipe(left)">
                                      <p:cBhvr>
                                        <p:cTn id="25" dur="500"/>
                                        <p:tgtEl>
                                          <p:spTgt spid="68617"/>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68618"/>
                                        </p:tgtEl>
                                        <p:attrNameLst>
                                          <p:attrName>style.visibility</p:attrName>
                                        </p:attrNameLst>
                                      </p:cBhvr>
                                      <p:to>
                                        <p:strVal val="visible"/>
                                      </p:to>
                                    </p:set>
                                    <p:animEffect transition="in" filter="wipe(left)">
                                      <p:cBhvr>
                                        <p:cTn id="29" dur="500"/>
                                        <p:tgtEl>
                                          <p:spTgt spid="68618"/>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68619"/>
                                        </p:tgtEl>
                                        <p:attrNameLst>
                                          <p:attrName>style.visibility</p:attrName>
                                        </p:attrNameLst>
                                      </p:cBhvr>
                                      <p:to>
                                        <p:strVal val="visible"/>
                                      </p:to>
                                    </p:set>
                                    <p:animEffect transition="in" filter="wipe(left)">
                                      <p:cBhvr>
                                        <p:cTn id="33" dur="500"/>
                                        <p:tgtEl>
                                          <p:spTgt spid="68619"/>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68620"/>
                                        </p:tgtEl>
                                        <p:attrNameLst>
                                          <p:attrName>style.visibility</p:attrName>
                                        </p:attrNameLst>
                                      </p:cBhvr>
                                      <p:to>
                                        <p:strVal val="visible"/>
                                      </p:to>
                                    </p:set>
                                    <p:animEffect transition="in" filter="wipe(left)">
                                      <p:cBhvr>
                                        <p:cTn id="37" dur="500"/>
                                        <p:tgtEl>
                                          <p:spTgt spid="68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3" grpId="0"/>
      <p:bldP spid="68614" grpId="0"/>
      <p:bldP spid="68615" grpId="0"/>
      <p:bldP spid="68616" grpId="0"/>
      <p:bldP spid="68617" grpId="0"/>
      <p:bldP spid="68618" grpId="0"/>
      <p:bldP spid="68619" grpId="0"/>
      <p:bldP spid="6862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60" name="文本框 70659"/>
          <p:cNvSpPr txBox="1"/>
          <p:nvPr/>
        </p:nvSpPr>
        <p:spPr>
          <a:xfrm>
            <a:off x="467678" y="908685"/>
            <a:ext cx="2584450" cy="519113"/>
          </a:xfrm>
          <a:prstGeom prst="rect">
            <a:avLst/>
          </a:prstGeom>
          <a:noFill/>
          <a:ln w="9525">
            <a:noFill/>
          </a:ln>
        </p:spPr>
        <p:txBody>
          <a:bodyPr wrap="none" anchor="t" anchorCtr="0">
            <a:spAutoFit/>
          </a:bodyPr>
          <a:p>
            <a:r>
              <a:rPr lang="zh-CN" altLang="en-US" dirty="0">
                <a:latin typeface="Times New Roman" panose="02020603050405020304" pitchFamily="18" charset="0"/>
                <a:ea typeface="楷体_GB2312" pitchFamily="49" charset="-122"/>
              </a:rPr>
              <a:t>第一章   行列式</a:t>
            </a:r>
            <a:endParaRPr lang="zh-CN" altLang="en-US" dirty="0">
              <a:latin typeface="Times New Roman" panose="02020603050405020304" pitchFamily="18" charset="0"/>
              <a:ea typeface="楷体_GB2312" pitchFamily="49" charset="-122"/>
            </a:endParaRPr>
          </a:p>
        </p:txBody>
      </p:sp>
      <p:sp>
        <p:nvSpPr>
          <p:cNvPr id="70661" name="文本框 70660"/>
          <p:cNvSpPr txBox="1"/>
          <p:nvPr/>
        </p:nvSpPr>
        <p:spPr>
          <a:xfrm>
            <a:off x="488315" y="1676400"/>
            <a:ext cx="3651250" cy="527050"/>
          </a:xfrm>
          <a:prstGeom prst="rect">
            <a:avLst/>
          </a:prstGeom>
          <a:noFill/>
          <a:ln w="9525">
            <a:noFill/>
          </a:ln>
        </p:spPr>
        <p:txBody>
          <a:bodyPr wrap="none" anchor="t" anchorCtr="0">
            <a:noAutofit/>
          </a:bodyPr>
          <a:p>
            <a:r>
              <a:rPr lang="zh-CN" altLang="en-US" dirty="0">
                <a:latin typeface="Times New Roman" panose="02020603050405020304" pitchFamily="18" charset="0"/>
                <a:ea typeface="楷体_GB2312" pitchFamily="49" charset="-122"/>
              </a:rPr>
              <a:t>第二章   矩阵及其运算</a:t>
            </a:r>
            <a:endParaRPr lang="zh-CN" altLang="en-US">
              <a:latin typeface="Times New Roman" panose="02020603050405020304" pitchFamily="18" charset="0"/>
              <a:ea typeface="楷体_GB2312" pitchFamily="49" charset="-122"/>
            </a:endParaRPr>
          </a:p>
        </p:txBody>
      </p:sp>
      <p:sp>
        <p:nvSpPr>
          <p:cNvPr id="70662" name="右大括号 70661"/>
          <p:cNvSpPr/>
          <p:nvPr/>
        </p:nvSpPr>
        <p:spPr>
          <a:xfrm>
            <a:off x="4141153" y="981075"/>
            <a:ext cx="152400" cy="1081088"/>
          </a:xfrm>
          <a:prstGeom prst="rightBrace">
            <a:avLst>
              <a:gd name="adj1" fmla="val 59114"/>
              <a:gd name="adj2" fmla="val 50000"/>
            </a:avLst>
          </a:prstGeom>
          <a:noFill/>
          <a:ln w="9525" cap="flat" cmpd="sng">
            <a:solidFill>
              <a:schemeClr val="tx1"/>
            </a:solidFill>
            <a:prstDash val="solid"/>
            <a:headEnd type="none" w="med" len="med"/>
            <a:tailEnd type="none" w="med" len="med"/>
          </a:ln>
        </p:spPr>
        <p:txBody>
          <a:bodyPr/>
          <a:p>
            <a:endParaRPr lang="zh-CN" altLang="en-US"/>
          </a:p>
        </p:txBody>
      </p:sp>
      <p:sp>
        <p:nvSpPr>
          <p:cNvPr id="70663" name="文本框 70662"/>
          <p:cNvSpPr txBox="1"/>
          <p:nvPr/>
        </p:nvSpPr>
        <p:spPr>
          <a:xfrm>
            <a:off x="488315" y="2452370"/>
            <a:ext cx="3309620" cy="906780"/>
          </a:xfrm>
          <a:prstGeom prst="rect">
            <a:avLst/>
          </a:prstGeom>
          <a:noFill/>
          <a:ln w="9525">
            <a:noFill/>
          </a:ln>
        </p:spPr>
        <p:txBody>
          <a:bodyPr wrap="none" anchor="t" anchorCtr="0">
            <a:noAutofit/>
          </a:bodyPr>
          <a:p>
            <a:r>
              <a:rPr lang="zh-CN" altLang="en-US" dirty="0">
                <a:latin typeface="Times New Roman" panose="02020603050405020304" pitchFamily="18" charset="0"/>
                <a:ea typeface="楷体_GB2312" pitchFamily="49" charset="-122"/>
              </a:rPr>
              <a:t>第三章   线性方程组</a:t>
            </a:r>
            <a:endParaRPr lang="zh-CN" altLang="en-US" dirty="0">
              <a:latin typeface="Times New Roman" panose="02020603050405020304" pitchFamily="18" charset="0"/>
              <a:ea typeface="楷体_GB2312" pitchFamily="49" charset="-122"/>
            </a:endParaRPr>
          </a:p>
          <a:p>
            <a:r>
              <a:rPr lang="zh-CN" altLang="en-US" dirty="0">
                <a:latin typeface="Times New Roman" panose="02020603050405020304" pitchFamily="18" charset="0"/>
                <a:ea typeface="楷体_GB2312" pitchFamily="49" charset="-122"/>
              </a:rPr>
              <a:t> </a:t>
            </a:r>
            <a:r>
              <a:rPr lang="en-US" altLang="zh-CN" dirty="0">
                <a:latin typeface="Times New Roman" panose="02020603050405020304" pitchFamily="18" charset="0"/>
                <a:ea typeface="楷体_GB2312" pitchFamily="49" charset="-122"/>
              </a:rPr>
              <a:t>              </a:t>
            </a:r>
            <a:r>
              <a:rPr lang="zh-CN" altLang="en-US" dirty="0">
                <a:latin typeface="Times New Roman" panose="02020603050405020304" pitchFamily="18" charset="0"/>
                <a:ea typeface="楷体_GB2312" pitchFamily="49" charset="-122"/>
              </a:rPr>
              <a:t>与向量空间</a:t>
            </a:r>
            <a:endParaRPr lang="zh-CN" altLang="en-US" dirty="0">
              <a:latin typeface="Times New Roman" panose="02020603050405020304" pitchFamily="18" charset="0"/>
              <a:ea typeface="楷体_GB2312" pitchFamily="49" charset="-122"/>
            </a:endParaRPr>
          </a:p>
        </p:txBody>
      </p:sp>
      <p:sp>
        <p:nvSpPr>
          <p:cNvPr id="70664" name="文本框 70663"/>
          <p:cNvSpPr txBox="1"/>
          <p:nvPr/>
        </p:nvSpPr>
        <p:spPr>
          <a:xfrm>
            <a:off x="488315" y="3597910"/>
            <a:ext cx="3578225" cy="915670"/>
          </a:xfrm>
          <a:prstGeom prst="rect">
            <a:avLst/>
          </a:prstGeom>
          <a:noFill/>
          <a:ln w="9525">
            <a:noFill/>
          </a:ln>
        </p:spPr>
        <p:txBody>
          <a:bodyPr wrap="none" anchor="t" anchorCtr="0">
            <a:noAutofit/>
          </a:bodyPr>
          <a:p>
            <a:r>
              <a:rPr lang="zh-CN" altLang="en-US" dirty="0">
                <a:latin typeface="Times New Roman" panose="02020603050405020304" pitchFamily="18" charset="0"/>
                <a:ea typeface="楷体_GB2312" pitchFamily="49" charset="-122"/>
              </a:rPr>
              <a:t>第四章  矩阵的特征值</a:t>
            </a:r>
            <a:endParaRPr lang="zh-CN" altLang="en-US" dirty="0">
              <a:latin typeface="Times New Roman" panose="02020603050405020304" pitchFamily="18" charset="0"/>
              <a:ea typeface="楷体_GB2312" pitchFamily="49" charset="-122"/>
            </a:endParaRPr>
          </a:p>
          <a:p>
            <a:r>
              <a:rPr lang="en-US" altLang="zh-CN" dirty="0">
                <a:latin typeface="Times New Roman" panose="02020603050405020304" pitchFamily="18" charset="0"/>
                <a:ea typeface="楷体_GB2312" pitchFamily="49" charset="-122"/>
              </a:rPr>
              <a:t>                  </a:t>
            </a:r>
            <a:r>
              <a:rPr lang="zh-CN" altLang="en-US" dirty="0">
                <a:latin typeface="Times New Roman" panose="02020603050405020304" pitchFamily="18" charset="0"/>
                <a:ea typeface="楷体_GB2312" pitchFamily="49" charset="-122"/>
              </a:rPr>
              <a:t>与特征向量</a:t>
            </a:r>
            <a:endParaRPr lang="zh-CN" altLang="en-US" dirty="0">
              <a:latin typeface="Times New Roman" panose="02020603050405020304" pitchFamily="18" charset="0"/>
              <a:ea typeface="楷体_GB2312" pitchFamily="49" charset="-122"/>
            </a:endParaRPr>
          </a:p>
        </p:txBody>
      </p:sp>
      <p:sp>
        <p:nvSpPr>
          <p:cNvPr id="70665" name="矩形标注 70664"/>
          <p:cNvSpPr/>
          <p:nvPr/>
        </p:nvSpPr>
        <p:spPr>
          <a:xfrm>
            <a:off x="5292090" y="944880"/>
            <a:ext cx="1727200" cy="560070"/>
          </a:xfrm>
          <a:prstGeom prst="wedgeRectCallout">
            <a:avLst>
              <a:gd name="adj1" fmla="val -97796"/>
              <a:gd name="adj2" fmla="val 52481"/>
            </a:avLst>
          </a:prstGeom>
          <a:solidFill>
            <a:schemeClr val="bg1"/>
          </a:solidFill>
          <a:ln w="9525" cap="flat" cmpd="sng">
            <a:solidFill>
              <a:schemeClr val="tx1"/>
            </a:solidFill>
            <a:prstDash val="solid"/>
            <a:miter/>
            <a:headEnd type="none" w="med" len="med"/>
            <a:tailEnd type="none" w="med" len="med"/>
          </a:ln>
        </p:spPr>
        <p:txBody>
          <a:bodyPr/>
          <a:p>
            <a:pPr algn="ctr"/>
            <a:r>
              <a:rPr lang="zh-CN" altLang="en-US" dirty="0">
                <a:solidFill>
                  <a:srgbClr val="FF3300"/>
                </a:solidFill>
                <a:latin typeface="Times New Roman" panose="02020603050405020304" pitchFamily="18" charset="0"/>
                <a:ea typeface="楷体_GB2312" pitchFamily="49" charset="-122"/>
              </a:rPr>
              <a:t>基础</a:t>
            </a:r>
            <a:endParaRPr lang="zh-CN" altLang="en-US" dirty="0">
              <a:solidFill>
                <a:srgbClr val="FF3300"/>
              </a:solidFill>
              <a:latin typeface="Times New Roman" panose="02020603050405020304" pitchFamily="18" charset="0"/>
              <a:ea typeface="楷体_GB2312" pitchFamily="49" charset="-122"/>
            </a:endParaRPr>
          </a:p>
        </p:txBody>
      </p:sp>
      <p:sp>
        <p:nvSpPr>
          <p:cNvPr id="70666" name="矩形标注 70665"/>
          <p:cNvSpPr/>
          <p:nvPr/>
        </p:nvSpPr>
        <p:spPr>
          <a:xfrm>
            <a:off x="5920740" y="2037080"/>
            <a:ext cx="1910715" cy="600710"/>
          </a:xfrm>
          <a:prstGeom prst="wedgeRectCallout">
            <a:avLst>
              <a:gd name="adj1" fmla="val -145486"/>
              <a:gd name="adj2" fmla="val 79640"/>
            </a:avLst>
          </a:prstGeom>
          <a:solidFill>
            <a:schemeClr val="bg1"/>
          </a:solidFill>
          <a:ln w="9525" cap="flat" cmpd="sng">
            <a:solidFill>
              <a:schemeClr val="tx1"/>
            </a:solidFill>
            <a:prstDash val="solid"/>
            <a:miter/>
            <a:headEnd type="none" w="med" len="med"/>
            <a:tailEnd type="none" w="med" len="med"/>
          </a:ln>
        </p:spPr>
        <p:txBody>
          <a:bodyPr/>
          <a:p>
            <a:pPr algn="ctr"/>
            <a:r>
              <a:rPr lang="zh-CN" altLang="en-US" dirty="0">
                <a:solidFill>
                  <a:srgbClr val="FF3300"/>
                </a:solidFill>
                <a:latin typeface="Times New Roman" panose="02020603050405020304" pitchFamily="18" charset="0"/>
                <a:ea typeface="楷体_GB2312" pitchFamily="49" charset="-122"/>
              </a:rPr>
              <a:t>基本内容</a:t>
            </a:r>
            <a:endParaRPr lang="zh-CN" altLang="en-US" dirty="0">
              <a:solidFill>
                <a:srgbClr val="FF3300"/>
              </a:solidFill>
              <a:latin typeface="Times New Roman" panose="02020603050405020304" pitchFamily="18" charset="0"/>
              <a:ea typeface="楷体_GB2312" pitchFamily="49" charset="-122"/>
            </a:endParaRPr>
          </a:p>
        </p:txBody>
      </p:sp>
      <p:sp>
        <p:nvSpPr>
          <p:cNvPr id="70667" name="矩形标注 70666"/>
          <p:cNvSpPr/>
          <p:nvPr/>
        </p:nvSpPr>
        <p:spPr>
          <a:xfrm>
            <a:off x="5723890" y="2839085"/>
            <a:ext cx="2882900" cy="1343660"/>
          </a:xfrm>
          <a:prstGeom prst="wedgeRectCallout">
            <a:avLst>
              <a:gd name="adj1" fmla="val -101872"/>
              <a:gd name="adj2" fmla="val 28875"/>
            </a:avLst>
          </a:prstGeom>
          <a:solidFill>
            <a:schemeClr val="bg1"/>
          </a:solidFill>
          <a:ln w="9525" cap="flat" cmpd="sng">
            <a:solidFill>
              <a:schemeClr val="tx1"/>
            </a:solidFill>
            <a:prstDash val="solid"/>
            <a:miter/>
            <a:headEnd type="none" w="med" len="med"/>
            <a:tailEnd type="none" w="med" len="med"/>
          </a:ln>
        </p:spPr>
        <p:txBody>
          <a:bodyPr/>
          <a:p>
            <a:pPr algn="ctr"/>
            <a:r>
              <a:rPr lang="zh-CN" altLang="en-US" dirty="0">
                <a:solidFill>
                  <a:srgbClr val="FF3300"/>
                </a:solidFill>
                <a:latin typeface="Times New Roman" panose="02020603050405020304" pitchFamily="18" charset="0"/>
                <a:ea typeface="楷体_GB2312" pitchFamily="49" charset="-122"/>
              </a:rPr>
              <a:t>通过特征值与特征向量揭示线性变换的本质规律</a:t>
            </a:r>
            <a:endParaRPr lang="zh-CN" altLang="en-US" dirty="0">
              <a:solidFill>
                <a:srgbClr val="FF3300"/>
              </a:solidFill>
              <a:latin typeface="Times New Roman" panose="02020603050405020304" pitchFamily="18" charset="0"/>
              <a:ea typeface="楷体_GB2312" pitchFamily="49" charset="-122"/>
            </a:endParaRPr>
          </a:p>
        </p:txBody>
      </p:sp>
      <p:sp>
        <p:nvSpPr>
          <p:cNvPr id="70668" name="文本框 70667"/>
          <p:cNvSpPr txBox="1"/>
          <p:nvPr/>
        </p:nvSpPr>
        <p:spPr>
          <a:xfrm>
            <a:off x="539115" y="4809490"/>
            <a:ext cx="3369310" cy="702310"/>
          </a:xfrm>
          <a:prstGeom prst="rect">
            <a:avLst/>
          </a:prstGeom>
          <a:noFill/>
          <a:ln w="9525">
            <a:noFill/>
          </a:ln>
        </p:spPr>
        <p:txBody>
          <a:bodyPr>
            <a:noAutofit/>
          </a:bodyPr>
          <a:p>
            <a:r>
              <a:rPr lang="zh-CN" altLang="en-US" dirty="0">
                <a:latin typeface="Times New Roman" panose="02020603050405020304" pitchFamily="18" charset="0"/>
                <a:ea typeface="楷体_GB2312" pitchFamily="49" charset="-122"/>
              </a:rPr>
              <a:t>第五章  二次型</a:t>
            </a:r>
            <a:endParaRPr lang="zh-CN" altLang="en-US" dirty="0">
              <a:latin typeface="Times New Roman" panose="02020603050405020304" pitchFamily="18" charset="0"/>
              <a:ea typeface="楷体_GB2312" pitchFamily="49" charset="-122"/>
            </a:endParaRPr>
          </a:p>
        </p:txBody>
      </p:sp>
      <p:sp>
        <p:nvSpPr>
          <p:cNvPr id="70671" name="矩形标注 70670"/>
          <p:cNvSpPr/>
          <p:nvPr/>
        </p:nvSpPr>
        <p:spPr>
          <a:xfrm>
            <a:off x="5777230" y="4428490"/>
            <a:ext cx="2541270" cy="945515"/>
          </a:xfrm>
          <a:prstGeom prst="wedgeRectCallout">
            <a:avLst>
              <a:gd name="adj1" fmla="val -150749"/>
              <a:gd name="adj2" fmla="val 21860"/>
            </a:avLst>
          </a:prstGeom>
          <a:solidFill>
            <a:schemeClr val="bg1"/>
          </a:solidFill>
          <a:ln w="9525" cap="flat" cmpd="sng">
            <a:solidFill>
              <a:schemeClr val="tx1"/>
            </a:solidFill>
            <a:prstDash val="solid"/>
            <a:miter/>
            <a:headEnd type="none" w="med" len="med"/>
            <a:tailEnd type="none" w="med" len="med"/>
          </a:ln>
        </p:spPr>
        <p:txBody>
          <a:bodyPr/>
          <a:p>
            <a:pPr algn="ctr"/>
            <a:r>
              <a:rPr lang="zh-CN" altLang="en-US" dirty="0">
                <a:solidFill>
                  <a:srgbClr val="FF3300"/>
                </a:solidFill>
                <a:latin typeface="Times New Roman" panose="02020603050405020304" pitchFamily="18" charset="0"/>
                <a:ea typeface="楷体_GB2312" pitchFamily="49" charset="-122"/>
              </a:rPr>
              <a:t>曲面分类，</a:t>
            </a:r>
            <a:endParaRPr lang="zh-CN" altLang="en-US" dirty="0">
              <a:solidFill>
                <a:srgbClr val="FF3300"/>
              </a:solidFill>
              <a:latin typeface="Times New Roman" panose="02020603050405020304" pitchFamily="18" charset="0"/>
              <a:ea typeface="楷体_GB2312" pitchFamily="49" charset="-122"/>
            </a:endParaRPr>
          </a:p>
          <a:p>
            <a:pPr algn="ctr"/>
            <a:r>
              <a:rPr lang="zh-CN" altLang="en-US" dirty="0">
                <a:solidFill>
                  <a:srgbClr val="FF3300"/>
                </a:solidFill>
                <a:latin typeface="Times New Roman" panose="02020603050405020304" pitchFamily="18" charset="0"/>
                <a:ea typeface="楷体_GB2312" pitchFamily="49" charset="-122"/>
              </a:rPr>
              <a:t>系统分析</a:t>
            </a:r>
            <a:endParaRPr lang="zh-CN" altLang="en-US" dirty="0">
              <a:solidFill>
                <a:srgbClr val="FF3300"/>
              </a:solidFill>
              <a:latin typeface="Times New Roman" panose="02020603050405020304" pitchFamily="18" charset="0"/>
              <a:ea typeface="楷体_GB2312" pitchFamily="49" charset="-122"/>
            </a:endParaRPr>
          </a:p>
        </p:txBody>
      </p:sp>
      <p:sp>
        <p:nvSpPr>
          <p:cNvPr id="2" name="文本框 1"/>
          <p:cNvSpPr txBox="1"/>
          <p:nvPr/>
        </p:nvSpPr>
        <p:spPr>
          <a:xfrm>
            <a:off x="3304540" y="151765"/>
            <a:ext cx="1786890" cy="583565"/>
          </a:xfrm>
          <a:prstGeom prst="rect">
            <a:avLst/>
          </a:prstGeom>
          <a:noFill/>
        </p:spPr>
        <p:txBody>
          <a:bodyPr wrap="square" rtlCol="0">
            <a:spAutoFit/>
          </a:bodyPr>
          <a:p>
            <a:r>
              <a:rPr lang="zh-CN" altLang="en-US" sz="3200"/>
              <a:t>目</a:t>
            </a:r>
            <a:r>
              <a:rPr lang="en-US" altLang="zh-CN" sz="3200"/>
              <a:t>      </a:t>
            </a:r>
            <a:r>
              <a:rPr lang="zh-CN" altLang="en-US" sz="3200"/>
              <a:t>录</a:t>
            </a:r>
            <a:endParaRPr lang="zh-CN" altLang="en-US" sz="3200"/>
          </a:p>
        </p:txBody>
      </p:sp>
      <p:sp>
        <p:nvSpPr>
          <p:cNvPr id="3" name="文本框 2"/>
          <p:cNvSpPr txBox="1"/>
          <p:nvPr/>
        </p:nvSpPr>
        <p:spPr>
          <a:xfrm>
            <a:off x="488950" y="5762625"/>
            <a:ext cx="4803775" cy="698500"/>
          </a:xfrm>
          <a:prstGeom prst="rect">
            <a:avLst/>
          </a:prstGeom>
          <a:noFill/>
        </p:spPr>
        <p:txBody>
          <a:bodyPr wrap="square" rtlCol="0">
            <a:noAutofit/>
          </a:bodyPr>
          <a:p>
            <a:r>
              <a:rPr lang="zh-CN" altLang="en-US"/>
              <a:t>第六章</a:t>
            </a:r>
            <a:r>
              <a:rPr lang="en-US" altLang="zh-CN"/>
              <a:t> </a:t>
            </a:r>
            <a:r>
              <a:rPr lang="zh-CN" altLang="en-US"/>
              <a:t>线性空间与线性变换</a:t>
            </a:r>
            <a:endParaRPr lang="zh-CN" altLang="en-US"/>
          </a:p>
        </p:txBody>
      </p:sp>
      <p:sp>
        <p:nvSpPr>
          <p:cNvPr id="5" name="矩形标注 4"/>
          <p:cNvSpPr/>
          <p:nvPr/>
        </p:nvSpPr>
        <p:spPr>
          <a:xfrm>
            <a:off x="6175375" y="5625465"/>
            <a:ext cx="2379980" cy="967740"/>
          </a:xfrm>
          <a:prstGeom prst="wedgeRectCallout">
            <a:avLst>
              <a:gd name="adj1" fmla="val -96478"/>
              <a:gd name="adj2" fmla="val -3937"/>
            </a:avLst>
          </a:prstGeom>
          <a:solidFill>
            <a:schemeClr val="bg1"/>
          </a:solidFill>
          <a:ln w="9525" cap="flat" cmpd="sng">
            <a:solidFill>
              <a:schemeClr val="tx1"/>
            </a:solidFill>
            <a:prstDash val="solid"/>
            <a:miter/>
            <a:headEnd type="none" w="med" len="med"/>
            <a:tailEnd type="none" w="med" len="med"/>
          </a:ln>
        </p:spPr>
        <p:txBody>
          <a:bodyPr/>
          <a:p>
            <a:pPr algn="ctr"/>
            <a:r>
              <a:rPr lang="zh-CN" altLang="en-US" dirty="0">
                <a:solidFill>
                  <a:srgbClr val="FF3300"/>
                </a:solidFill>
                <a:ea typeface="楷体_GB2312" pitchFamily="49" charset="-122"/>
                <a:sym typeface="+mn-ea"/>
              </a:rPr>
              <a:t>具体到抽象，拓理论基石</a:t>
            </a:r>
            <a:endParaRPr lang="zh-CN" altLang="en-US" dirty="0">
              <a:solidFill>
                <a:srgbClr val="FF33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60"/>
                                        </p:tgtEl>
                                        <p:attrNameLst>
                                          <p:attrName>style.visibility</p:attrName>
                                        </p:attrNameLst>
                                      </p:cBhvr>
                                      <p:to>
                                        <p:strVal val="visible"/>
                                      </p:to>
                                    </p:set>
                                    <p:animEffect transition="in" filter="wipe(left)">
                                      <p:cBhvr>
                                        <p:cTn id="7" dur="500"/>
                                        <p:tgtEl>
                                          <p:spTgt spid="706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661"/>
                                        </p:tgtEl>
                                        <p:attrNameLst>
                                          <p:attrName>style.visibility</p:attrName>
                                        </p:attrNameLst>
                                      </p:cBhvr>
                                      <p:to>
                                        <p:strVal val="visible"/>
                                      </p:to>
                                    </p:set>
                                    <p:animEffect transition="in" filter="wipe(left)">
                                      <p:cBhvr>
                                        <p:cTn id="12" dur="500"/>
                                        <p:tgtEl>
                                          <p:spTgt spid="706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0662"/>
                                        </p:tgtEl>
                                        <p:attrNameLst>
                                          <p:attrName>style.visibility</p:attrName>
                                        </p:attrNameLst>
                                      </p:cBhvr>
                                      <p:to>
                                        <p:strVal val="visible"/>
                                      </p:to>
                                    </p:set>
                                    <p:animEffect transition="in" filter="wipe(up)">
                                      <p:cBhvr>
                                        <p:cTn id="17" dur="500"/>
                                        <p:tgtEl>
                                          <p:spTgt spid="7066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70665"/>
                                        </p:tgtEl>
                                        <p:attrNameLst>
                                          <p:attrName>style.visibility</p:attrName>
                                        </p:attrNameLst>
                                      </p:cBhvr>
                                      <p:to>
                                        <p:strVal val="visible"/>
                                      </p:to>
                                    </p:set>
                                    <p:anim calcmode="lin" valueType="num">
                                      <p:cBhvr additive="base">
                                        <p:cTn id="22" dur="500" fill="hold"/>
                                        <p:tgtEl>
                                          <p:spTgt spid="70665"/>
                                        </p:tgtEl>
                                        <p:attrNameLst>
                                          <p:attrName>ppt_x</p:attrName>
                                        </p:attrNameLst>
                                      </p:cBhvr>
                                      <p:tavLst>
                                        <p:tav tm="0">
                                          <p:val>
                                            <p:strVal val="1+#ppt_w/2"/>
                                          </p:val>
                                        </p:tav>
                                        <p:tav tm="100000">
                                          <p:val>
                                            <p:strVal val="#ppt_x"/>
                                          </p:val>
                                        </p:tav>
                                      </p:tavLst>
                                    </p:anim>
                                    <p:anim calcmode="lin" valueType="num">
                                      <p:cBhvr additive="base">
                                        <p:cTn id="23" dur="500" fill="hold"/>
                                        <p:tgtEl>
                                          <p:spTgt spid="70665"/>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0663"/>
                                        </p:tgtEl>
                                        <p:attrNameLst>
                                          <p:attrName>style.visibility</p:attrName>
                                        </p:attrNameLst>
                                      </p:cBhvr>
                                      <p:to>
                                        <p:strVal val="visible"/>
                                      </p:to>
                                    </p:set>
                                    <p:animEffect transition="in" filter="wipe(left)">
                                      <p:cBhvr>
                                        <p:cTn id="28" dur="500"/>
                                        <p:tgtEl>
                                          <p:spTgt spid="7066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70666"/>
                                        </p:tgtEl>
                                        <p:attrNameLst>
                                          <p:attrName>style.visibility</p:attrName>
                                        </p:attrNameLst>
                                      </p:cBhvr>
                                      <p:to>
                                        <p:strVal val="visible"/>
                                      </p:to>
                                    </p:set>
                                    <p:anim calcmode="lin" valueType="num">
                                      <p:cBhvr additive="base">
                                        <p:cTn id="33" dur="500" fill="hold"/>
                                        <p:tgtEl>
                                          <p:spTgt spid="70666"/>
                                        </p:tgtEl>
                                        <p:attrNameLst>
                                          <p:attrName>ppt_x</p:attrName>
                                        </p:attrNameLst>
                                      </p:cBhvr>
                                      <p:tavLst>
                                        <p:tav tm="0">
                                          <p:val>
                                            <p:strVal val="1+#ppt_w/2"/>
                                          </p:val>
                                        </p:tav>
                                        <p:tav tm="100000">
                                          <p:val>
                                            <p:strVal val="#ppt_x"/>
                                          </p:val>
                                        </p:tav>
                                      </p:tavLst>
                                    </p:anim>
                                    <p:anim calcmode="lin" valueType="num">
                                      <p:cBhvr additive="base">
                                        <p:cTn id="34" dur="500" fill="hold"/>
                                        <p:tgtEl>
                                          <p:spTgt spid="70666"/>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0664"/>
                                        </p:tgtEl>
                                        <p:attrNameLst>
                                          <p:attrName>style.visibility</p:attrName>
                                        </p:attrNameLst>
                                      </p:cBhvr>
                                      <p:to>
                                        <p:strVal val="visible"/>
                                      </p:to>
                                    </p:set>
                                    <p:animEffect transition="in" filter="wipe(left)">
                                      <p:cBhvr>
                                        <p:cTn id="39" dur="500"/>
                                        <p:tgtEl>
                                          <p:spTgt spid="70664"/>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1" fill="hold" grpId="0" nodeType="clickEffect">
                                  <p:stCondLst>
                                    <p:cond delay="0"/>
                                  </p:stCondLst>
                                  <p:childTnLst>
                                    <p:set>
                                      <p:cBhvr>
                                        <p:cTn id="43" dur="1" fill="hold">
                                          <p:stCondLst>
                                            <p:cond delay="0"/>
                                          </p:stCondLst>
                                        </p:cTn>
                                        <p:tgtEl>
                                          <p:spTgt spid="70667"/>
                                        </p:tgtEl>
                                        <p:attrNameLst>
                                          <p:attrName>style.visibility</p:attrName>
                                        </p:attrNameLst>
                                      </p:cBhvr>
                                      <p:to>
                                        <p:strVal val="visible"/>
                                      </p:to>
                                    </p:set>
                                    <p:anim calcmode="lin" valueType="num">
                                      <p:cBhvr additive="base">
                                        <p:cTn id="44" dur="500" fill="hold"/>
                                        <p:tgtEl>
                                          <p:spTgt spid="70667"/>
                                        </p:tgtEl>
                                        <p:attrNameLst>
                                          <p:attrName>ppt_x</p:attrName>
                                        </p:attrNameLst>
                                      </p:cBhvr>
                                      <p:tavLst>
                                        <p:tav tm="0">
                                          <p:val>
                                            <p:strVal val="#ppt_x"/>
                                          </p:val>
                                        </p:tav>
                                        <p:tav tm="100000">
                                          <p:val>
                                            <p:strVal val="#ppt_x"/>
                                          </p:val>
                                        </p:tav>
                                      </p:tavLst>
                                    </p:anim>
                                    <p:anim calcmode="lin" valueType="num">
                                      <p:cBhvr additive="base">
                                        <p:cTn id="45" dur="500" fill="hold"/>
                                        <p:tgtEl>
                                          <p:spTgt spid="70667"/>
                                        </p:tgtEl>
                                        <p:attrNameLst>
                                          <p:attrName>ppt_y</p:attrName>
                                        </p:attrNameLst>
                                      </p:cBhvr>
                                      <p:tavLst>
                                        <p:tav tm="0">
                                          <p:val>
                                            <p:strVal val="0-#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0668"/>
                                        </p:tgtEl>
                                        <p:attrNameLst>
                                          <p:attrName>style.visibility</p:attrName>
                                        </p:attrNameLst>
                                      </p:cBhvr>
                                      <p:to>
                                        <p:strVal val="visible"/>
                                      </p:to>
                                    </p:set>
                                    <p:animEffect transition="in" filter="wipe(left)">
                                      <p:cBhvr>
                                        <p:cTn id="50" dur="500"/>
                                        <p:tgtEl>
                                          <p:spTgt spid="70668"/>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70671"/>
                                        </p:tgtEl>
                                        <p:attrNameLst>
                                          <p:attrName>style.visibility</p:attrName>
                                        </p:attrNameLst>
                                      </p:cBhvr>
                                      <p:to>
                                        <p:strVal val="visible"/>
                                      </p:to>
                                    </p:set>
                                    <p:anim calcmode="lin" valueType="num">
                                      <p:cBhvr additive="base">
                                        <p:cTn id="55" dur="500" fill="hold"/>
                                        <p:tgtEl>
                                          <p:spTgt spid="70671"/>
                                        </p:tgtEl>
                                        <p:attrNameLst>
                                          <p:attrName>ppt_x</p:attrName>
                                        </p:attrNameLst>
                                      </p:cBhvr>
                                      <p:tavLst>
                                        <p:tav tm="0">
                                          <p:val>
                                            <p:strVal val="#ppt_x"/>
                                          </p:val>
                                        </p:tav>
                                        <p:tav tm="100000">
                                          <p:val>
                                            <p:strVal val="#ppt_x"/>
                                          </p:val>
                                        </p:tav>
                                      </p:tavLst>
                                    </p:anim>
                                    <p:anim calcmode="lin" valueType="num">
                                      <p:cBhvr additive="base">
                                        <p:cTn id="56" dur="500" fill="hold"/>
                                        <p:tgtEl>
                                          <p:spTgt spid="70671"/>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wipe(down)">
                                      <p:cBhvr>
                                        <p:cTn id="61" dur="500"/>
                                        <p:tgtEl>
                                          <p:spTgt spid="3"/>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2" fill="hold" grpId="0" nodeType="clickEffect">
                                  <p:stCondLst>
                                    <p:cond delay="0"/>
                                  </p:stCondLst>
                                  <p:childTnLst>
                                    <p:set>
                                      <p:cBhvr>
                                        <p:cTn id="65" dur="1" fill="hold">
                                          <p:stCondLst>
                                            <p:cond delay="0"/>
                                          </p:stCondLst>
                                        </p:cTn>
                                        <p:tgtEl>
                                          <p:spTgt spid="5"/>
                                        </p:tgtEl>
                                        <p:attrNameLst>
                                          <p:attrName>style.visibility</p:attrName>
                                        </p:attrNameLst>
                                      </p:cBhvr>
                                      <p:to>
                                        <p:strVal val="visible"/>
                                      </p:to>
                                    </p:set>
                                    <p:anim calcmode="lin" valueType="num">
                                      <p:cBhvr additive="base">
                                        <p:cTn id="66" dur="500" fill="hold"/>
                                        <p:tgtEl>
                                          <p:spTgt spid="5"/>
                                        </p:tgtEl>
                                        <p:attrNameLst>
                                          <p:attrName>ppt_x</p:attrName>
                                        </p:attrNameLst>
                                      </p:cBhvr>
                                      <p:tavLst>
                                        <p:tav tm="0">
                                          <p:val>
                                            <p:strVal val="1+#ppt_w/2"/>
                                          </p:val>
                                        </p:tav>
                                        <p:tav tm="100000">
                                          <p:val>
                                            <p:strVal val="#ppt_x"/>
                                          </p:val>
                                        </p:tav>
                                      </p:tavLst>
                                    </p:anim>
                                    <p:anim calcmode="lin" valueType="num">
                                      <p:cBhvr additive="base">
                                        <p:cTn id="67"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p:bldP spid="70661" grpId="0"/>
      <p:bldP spid="70663" grpId="0"/>
      <p:bldP spid="70664" grpId="0"/>
      <p:bldP spid="70665" grpId="0" bldLvl="0" animBg="1"/>
      <p:bldP spid="70666" grpId="0" bldLvl="0" animBg="1"/>
      <p:bldP spid="70667" grpId="0" bldLvl="0" animBg="1"/>
      <p:bldP spid="70668" grpId="0"/>
      <p:bldP spid="70671" grpId="0" bldLvl="0" animBg="1"/>
      <p:bldP spid="5" grpId="0" bldLvl="0" animBg="1"/>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091690" y="571500"/>
            <a:ext cx="4864735" cy="826135"/>
          </a:xfrm>
          <a:prstGeom prst="rect">
            <a:avLst/>
          </a:prstGeom>
          <a:noFill/>
        </p:spPr>
        <p:txBody>
          <a:bodyPr wrap="square" rtlCol="0">
            <a:noAutofit/>
          </a:bodyPr>
          <a:p>
            <a:pPr algn="ctr"/>
            <a:r>
              <a:rPr lang="zh-CN" altLang="en-US" sz="3600"/>
              <a:t>第一章</a:t>
            </a:r>
            <a:r>
              <a:rPr lang="en-US" altLang="zh-CN" sz="3600"/>
              <a:t> </a:t>
            </a:r>
            <a:r>
              <a:rPr lang="zh-CN" altLang="en-US" sz="3600"/>
              <a:t>行列式</a:t>
            </a:r>
            <a:endParaRPr lang="zh-CN" altLang="en-US" sz="3600"/>
          </a:p>
        </p:txBody>
      </p:sp>
      <p:sp>
        <p:nvSpPr>
          <p:cNvPr id="3" name="文本框 2"/>
          <p:cNvSpPr txBox="1"/>
          <p:nvPr/>
        </p:nvSpPr>
        <p:spPr>
          <a:xfrm>
            <a:off x="1996440" y="1547495"/>
            <a:ext cx="5843905" cy="2040255"/>
          </a:xfrm>
          <a:prstGeom prst="rect">
            <a:avLst/>
          </a:prstGeom>
          <a:noFill/>
        </p:spPr>
        <p:txBody>
          <a:bodyPr wrap="square" rtlCol="0">
            <a:noAutofit/>
          </a:bodyPr>
          <a:p>
            <a:r>
              <a:rPr lang="en-US" altLang="zh-CN"/>
              <a:t>· </a:t>
            </a:r>
            <a:r>
              <a:rPr lang="zh-CN" altLang="en-US"/>
              <a:t>§</a:t>
            </a:r>
            <a:r>
              <a:rPr lang="en-US" altLang="zh-CN"/>
              <a:t>1.1 </a:t>
            </a:r>
            <a:r>
              <a:rPr lang="zh-CN" altLang="en-US"/>
              <a:t>行列式的概念</a:t>
            </a:r>
            <a:endParaRPr lang="zh-CN" altLang="en-US"/>
          </a:p>
          <a:p>
            <a:r>
              <a:rPr lang="en-US" altLang="zh-CN"/>
              <a:t>· </a:t>
            </a:r>
            <a:r>
              <a:rPr lang="zh-CN" altLang="en-US"/>
              <a:t>§</a:t>
            </a:r>
            <a:r>
              <a:rPr lang="en-US" altLang="zh-CN"/>
              <a:t>1.2 </a:t>
            </a:r>
            <a:r>
              <a:rPr lang="zh-CN" altLang="en-US"/>
              <a:t>行列式的性质</a:t>
            </a:r>
            <a:endParaRPr lang="zh-CN" altLang="en-US"/>
          </a:p>
          <a:p>
            <a:r>
              <a:rPr lang="en-US" altLang="zh-CN"/>
              <a:t>· </a:t>
            </a:r>
            <a:r>
              <a:rPr lang="zh-CN" altLang="en-US"/>
              <a:t>§</a:t>
            </a:r>
            <a:r>
              <a:rPr lang="en-US" altLang="zh-CN"/>
              <a:t>1.3 </a:t>
            </a:r>
            <a:r>
              <a:rPr lang="zh-CN" altLang="en-US"/>
              <a:t>行列式按行（列）展开</a:t>
            </a:r>
            <a:endParaRPr lang="zh-CN" altLang="en-US"/>
          </a:p>
          <a:p>
            <a:r>
              <a:rPr lang="en-US" altLang="zh-CN"/>
              <a:t>· </a:t>
            </a:r>
            <a:r>
              <a:rPr lang="zh-CN" altLang="en-US"/>
              <a:t>§</a:t>
            </a:r>
            <a:r>
              <a:rPr lang="en-US" altLang="zh-CN"/>
              <a:t>1.4 </a:t>
            </a:r>
            <a:r>
              <a:rPr lang="zh-CN" altLang="en-US"/>
              <a:t>克拉默法则</a:t>
            </a:r>
            <a:endParaRPr lang="zh-CN" altLang="en-US"/>
          </a:p>
          <a:p>
            <a:endParaRPr lang="zh-CN" altLang="en-US"/>
          </a:p>
        </p:txBody>
      </p:sp>
      <p:sp>
        <p:nvSpPr>
          <p:cNvPr id="4" name="文本框 3"/>
          <p:cNvSpPr txBox="1"/>
          <p:nvPr/>
        </p:nvSpPr>
        <p:spPr>
          <a:xfrm>
            <a:off x="579755" y="3621405"/>
            <a:ext cx="8061960" cy="2752725"/>
          </a:xfrm>
          <a:prstGeom prst="rect">
            <a:avLst/>
          </a:prstGeom>
          <a:noFill/>
        </p:spPr>
        <p:txBody>
          <a:bodyPr wrap="square" rtlCol="0">
            <a:noAutofit/>
          </a:bodyPr>
          <a:p>
            <a:r>
              <a:rPr lang="en-US" altLang="zh-CN"/>
              <a:t>    </a:t>
            </a:r>
            <a:r>
              <a:rPr lang="zh-CN" altLang="en-US"/>
              <a:t>行列式是线性代数中的一个核心概念，它起源于</a:t>
            </a:r>
            <a:r>
              <a:rPr lang="en-US" altLang="zh-CN"/>
              <a:t>17</a:t>
            </a:r>
            <a:r>
              <a:rPr lang="zh-CN" altLang="en-US"/>
              <a:t>世纪的数学研究，对数学的发展起到重要作用</a:t>
            </a:r>
            <a:r>
              <a:rPr lang="en-US" altLang="zh-CN"/>
              <a:t>. </a:t>
            </a:r>
            <a:r>
              <a:rPr lang="zh-CN" altLang="en-US"/>
              <a:t>本章通过线性方程组的求解引入二阶行列式和三阶行列式定义，并推广到一般阶行列式定义，然后介绍行列式的基本性质、计算方法及其应用等．</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8" name="矩形 36867"/>
          <p:cNvSpPr/>
          <p:nvPr/>
        </p:nvSpPr>
        <p:spPr>
          <a:xfrm>
            <a:off x="1079500" y="1652588"/>
            <a:ext cx="6280150" cy="579437"/>
          </a:xfrm>
          <a:prstGeom prst="rect">
            <a:avLst/>
          </a:prstGeom>
          <a:noFill/>
          <a:ln w="9525">
            <a:noFill/>
          </a:ln>
        </p:spPr>
        <p:txBody>
          <a:bodyPr wrap="none" anchor="t" anchorCtr="0">
            <a:spAutoFit/>
          </a:bodyPr>
          <a:p>
            <a:r>
              <a:rPr lang="zh-CN" altLang="en-US" sz="3200" dirty="0">
                <a:solidFill>
                  <a:schemeClr val="tx1"/>
                </a:solidFill>
                <a:latin typeface="Times New Roman" panose="02020603050405020304" pitchFamily="18" charset="0"/>
              </a:rPr>
              <a:t>一、</a:t>
            </a:r>
            <a:r>
              <a:rPr lang="zh-CN" altLang="en-US" sz="3200" dirty="0">
                <a:solidFill>
                  <a:srgbClr val="0000FF"/>
                </a:solidFill>
                <a:latin typeface="Times New Roman" panose="02020603050405020304" pitchFamily="18" charset="0"/>
              </a:rPr>
              <a:t>二元线性方程组与二阶行列式</a:t>
            </a:r>
            <a:endParaRPr lang="zh-CN" altLang="en-US" sz="3200" dirty="0">
              <a:solidFill>
                <a:srgbClr val="0000FF"/>
              </a:solidFill>
              <a:latin typeface="Times New Roman" panose="02020603050405020304" pitchFamily="18" charset="0"/>
            </a:endParaRPr>
          </a:p>
        </p:txBody>
      </p:sp>
      <p:sp>
        <p:nvSpPr>
          <p:cNvPr id="36869" name="矩形 36868"/>
          <p:cNvSpPr/>
          <p:nvPr/>
        </p:nvSpPr>
        <p:spPr>
          <a:xfrm>
            <a:off x="1079500" y="2263775"/>
            <a:ext cx="5722938" cy="519113"/>
          </a:xfrm>
          <a:prstGeom prst="rect">
            <a:avLst/>
          </a:prstGeom>
          <a:noFill/>
          <a:ln w="9525">
            <a:noFill/>
          </a:ln>
        </p:spPr>
        <p:txBody>
          <a:bodyPr wrap="none" anchor="t" anchorCtr="0">
            <a:spAutoFit/>
          </a:bodyPr>
          <a:p>
            <a:r>
              <a:rPr lang="zh-CN" altLang="en-US" dirty="0">
                <a:latin typeface="宋体" panose="02010600030101010101" pitchFamily="2" charset="-122"/>
              </a:rPr>
              <a:t>用消元法解二元</a:t>
            </a:r>
            <a:r>
              <a:rPr lang="en-US" altLang="zh-CN">
                <a:latin typeface="宋体" panose="02010600030101010101" pitchFamily="2" charset="-122"/>
              </a:rPr>
              <a:t>(</a:t>
            </a:r>
            <a:r>
              <a:rPr lang="zh-CN" altLang="en-US" dirty="0">
                <a:latin typeface="宋体" panose="02010600030101010101" pitchFamily="2" charset="-122"/>
              </a:rPr>
              <a:t>一次</a:t>
            </a:r>
            <a:r>
              <a:rPr lang="en-US" altLang="zh-CN">
                <a:latin typeface="宋体" panose="02010600030101010101" pitchFamily="2" charset="-122"/>
              </a:rPr>
              <a:t>)</a:t>
            </a:r>
            <a:r>
              <a:rPr lang="zh-CN" altLang="en-US" dirty="0">
                <a:latin typeface="宋体" panose="02010600030101010101" pitchFamily="2" charset="-122"/>
              </a:rPr>
              <a:t>线性方程组</a:t>
            </a:r>
            <a:r>
              <a:rPr lang="en-US" altLang="zh-CN">
                <a:latin typeface="楷体_GB2312" pitchFamily="49" charset="-122"/>
                <a:ea typeface="楷体_GB2312" pitchFamily="49" charset="-122"/>
              </a:rPr>
              <a:t>:</a:t>
            </a:r>
            <a:endParaRPr lang="en-US" altLang="zh-CN">
              <a:latin typeface="楷体_GB2312" pitchFamily="49" charset="-122"/>
              <a:ea typeface="楷体_GB2312" pitchFamily="49" charset="-122"/>
            </a:endParaRPr>
          </a:p>
        </p:txBody>
      </p:sp>
      <p:sp>
        <p:nvSpPr>
          <p:cNvPr id="36870" name="文本框 36869"/>
          <p:cNvSpPr txBox="1"/>
          <p:nvPr/>
        </p:nvSpPr>
        <p:spPr>
          <a:xfrm>
            <a:off x="1692275" y="0"/>
            <a:ext cx="6119813" cy="701675"/>
          </a:xfrm>
          <a:prstGeom prst="rect">
            <a:avLst/>
          </a:prstGeom>
          <a:noFill/>
          <a:ln w="9525">
            <a:noFill/>
          </a:ln>
        </p:spPr>
        <p:txBody>
          <a:bodyPr>
            <a:spAutoFit/>
          </a:bodyPr>
          <a:p>
            <a:r>
              <a:rPr lang="zh-CN" altLang="en-US" sz="4000" dirty="0">
                <a:solidFill>
                  <a:srgbClr val="FF3300"/>
                </a:solidFill>
                <a:latin typeface="Times New Roman" panose="02020603050405020304" pitchFamily="18" charset="0"/>
                <a:ea typeface="黑体" panose="02010609060101010101" pitchFamily="2" charset="-122"/>
              </a:rPr>
              <a:t>第一章          行列式</a:t>
            </a:r>
            <a:endParaRPr lang="zh-CN" altLang="en-US" sz="4000">
              <a:solidFill>
                <a:srgbClr val="FF3300"/>
              </a:solidFill>
              <a:latin typeface="Times New Roman" panose="02020603050405020304" pitchFamily="18" charset="0"/>
              <a:ea typeface="黑体" panose="02010609060101010101" pitchFamily="2" charset="-122"/>
            </a:endParaRPr>
          </a:p>
        </p:txBody>
      </p:sp>
      <p:graphicFrame>
        <p:nvGraphicFramePr>
          <p:cNvPr id="36871" name="对象 36870"/>
          <p:cNvGraphicFramePr/>
          <p:nvPr/>
        </p:nvGraphicFramePr>
        <p:xfrm>
          <a:off x="2438400" y="2811463"/>
          <a:ext cx="2692400" cy="990600"/>
        </p:xfrm>
        <a:graphic>
          <a:graphicData uri="http://schemas.openxmlformats.org/presentationml/2006/ole">
            <mc:AlternateContent xmlns:mc="http://schemas.openxmlformats.org/markup-compatibility/2006">
              <mc:Choice xmlns:v="urn:schemas-microsoft-com:vml" Requires="v">
                <p:oleObj spid="_x0000_s3079" name="" r:id="rId1" imgW="2691130" imgH="989965" progId="Equation.3">
                  <p:embed/>
                </p:oleObj>
              </mc:Choice>
              <mc:Fallback>
                <p:oleObj name="" r:id="rId1" imgW="2691130" imgH="989965" progId="Equation.3">
                  <p:embed/>
                  <p:pic>
                    <p:nvPicPr>
                      <p:cNvPr id="0" name="图片 3078"/>
                      <p:cNvPicPr/>
                      <p:nvPr/>
                    </p:nvPicPr>
                    <p:blipFill>
                      <a:blip r:embed="rId2"/>
                      <a:stretch>
                        <a:fillRect/>
                      </a:stretch>
                    </p:blipFill>
                    <p:spPr>
                      <a:xfrm>
                        <a:off x="2438400" y="2811463"/>
                        <a:ext cx="2692400" cy="990600"/>
                      </a:xfrm>
                      <a:prstGeom prst="rect">
                        <a:avLst/>
                      </a:prstGeom>
                      <a:noFill/>
                      <a:ln w="38100">
                        <a:noFill/>
                        <a:miter/>
                      </a:ln>
                    </p:spPr>
                  </p:pic>
                </p:oleObj>
              </mc:Fallback>
            </mc:AlternateContent>
          </a:graphicData>
        </a:graphic>
      </p:graphicFrame>
      <p:sp>
        <p:nvSpPr>
          <p:cNvPr id="36872" name="文本框 36871"/>
          <p:cNvSpPr txBox="1"/>
          <p:nvPr/>
        </p:nvSpPr>
        <p:spPr>
          <a:xfrm>
            <a:off x="7916863" y="2743200"/>
            <a:ext cx="600075" cy="1117600"/>
          </a:xfrm>
          <a:prstGeom prst="rect">
            <a:avLst/>
          </a:prstGeom>
          <a:noFill/>
          <a:ln w="9525">
            <a:noFill/>
          </a:ln>
        </p:spPr>
        <p:txBody>
          <a:bodyPr wrap="none" anchor="t" anchorCtr="0">
            <a:spAutoFit/>
          </a:bodyPr>
          <a:p>
            <a:pPr>
              <a:lnSpc>
                <a:spcPct val="120000"/>
              </a:lnSpc>
            </a:pPr>
            <a:r>
              <a:rPr lang="en-US" altLang="zh-CN">
                <a:latin typeface="Times New Roman" panose="02020603050405020304" pitchFamily="18" charset="0"/>
              </a:rPr>
              <a:t>(1)</a:t>
            </a:r>
            <a:endParaRPr lang="en-US" altLang="zh-CN">
              <a:latin typeface="Times New Roman" panose="02020603050405020304" pitchFamily="18" charset="0"/>
            </a:endParaRPr>
          </a:p>
          <a:p>
            <a:pPr>
              <a:lnSpc>
                <a:spcPct val="120000"/>
              </a:lnSpc>
            </a:pPr>
            <a:r>
              <a:rPr lang="en-US" altLang="zh-CN">
                <a:latin typeface="Times New Roman" panose="02020603050405020304" pitchFamily="18" charset="0"/>
              </a:rPr>
              <a:t>(2)</a:t>
            </a:r>
            <a:endParaRPr lang="en-US" altLang="zh-CN">
              <a:latin typeface="Times New Roman" panose="02020603050405020304" pitchFamily="18" charset="0"/>
            </a:endParaRPr>
          </a:p>
        </p:txBody>
      </p:sp>
      <p:sp>
        <p:nvSpPr>
          <p:cNvPr id="36873" name="矩形 36872"/>
          <p:cNvSpPr/>
          <p:nvPr>
            <p:custDataLst>
              <p:tags r:id="rId3"/>
            </p:custDataLst>
          </p:nvPr>
        </p:nvSpPr>
        <p:spPr>
          <a:xfrm>
            <a:off x="4097338" y="3902075"/>
            <a:ext cx="1295400" cy="533400"/>
          </a:xfrm>
          <a:prstGeom prst="rect">
            <a:avLst/>
          </a:prstGeom>
          <a:noFill/>
          <a:ln w="19050" cap="flat" cmpd="sng">
            <a:solidFill>
              <a:srgbClr val="FF0000"/>
            </a:solidFill>
            <a:prstDash val="solid"/>
            <a:miter/>
            <a:headEnd type="none" w="med" len="med"/>
            <a:tailEnd type="none" w="med" len="med"/>
          </a:ln>
        </p:spPr>
        <p:txBody>
          <a:bodyPr/>
          <a:p>
            <a:endParaRPr lang="zh-CN" altLang="en-US"/>
          </a:p>
        </p:txBody>
      </p:sp>
      <p:sp>
        <p:nvSpPr>
          <p:cNvPr id="36874" name="文本框 36873"/>
          <p:cNvSpPr txBox="1"/>
          <p:nvPr>
            <p:custDataLst>
              <p:tags r:id="rId4"/>
            </p:custDataLst>
          </p:nvPr>
        </p:nvSpPr>
        <p:spPr>
          <a:xfrm>
            <a:off x="611188" y="3933825"/>
            <a:ext cx="1333500" cy="519113"/>
          </a:xfrm>
          <a:prstGeom prst="rect">
            <a:avLst/>
          </a:prstGeom>
          <a:noFill/>
          <a:ln w="9525">
            <a:noFill/>
          </a:ln>
        </p:spPr>
        <p:txBody>
          <a:bodyPr wrap="none" anchor="t" anchorCtr="0">
            <a:spAutoFit/>
          </a:bodyPr>
          <a:p>
            <a:r>
              <a:rPr lang="en-US" altLang="zh-CN">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a</a:t>
            </a:r>
            <a:r>
              <a:rPr lang="en-US" altLang="zh-CN" baseline="-25000">
                <a:latin typeface="Times New Roman" panose="02020603050405020304" pitchFamily="18" charset="0"/>
              </a:rPr>
              <a:t>22</a:t>
            </a:r>
            <a:r>
              <a:rPr lang="en-US" altLang="zh-CN">
                <a:latin typeface="Times New Roman" panose="02020603050405020304" pitchFamily="18" charset="0"/>
              </a:rPr>
              <a:t>:</a:t>
            </a:r>
            <a:endParaRPr lang="en-US" altLang="zh-CN" baseline="-25000">
              <a:latin typeface="Times New Roman" panose="02020603050405020304" pitchFamily="18" charset="0"/>
            </a:endParaRPr>
          </a:p>
        </p:txBody>
      </p:sp>
      <p:sp>
        <p:nvSpPr>
          <p:cNvPr id="36875" name="矩形 36874"/>
          <p:cNvSpPr/>
          <p:nvPr>
            <p:custDataLst>
              <p:tags r:id="rId5"/>
            </p:custDataLst>
          </p:nvPr>
        </p:nvSpPr>
        <p:spPr>
          <a:xfrm>
            <a:off x="2627313" y="3933825"/>
            <a:ext cx="3968750" cy="519113"/>
          </a:xfrm>
          <a:prstGeom prst="rect">
            <a:avLst/>
          </a:prstGeom>
          <a:noFill/>
          <a:ln w="9525">
            <a:noFill/>
          </a:ln>
        </p:spPr>
        <p:txBody>
          <a:bodyPr wrap="none" anchor="t" anchorCtr="0">
            <a:spAutoFit/>
          </a:bodyPr>
          <a:p>
            <a:r>
              <a:rPr lang="en-US" altLang="zh-CN" i="1">
                <a:latin typeface="Times New Roman" panose="02020603050405020304" pitchFamily="18" charset="0"/>
              </a:rPr>
              <a:t>a</a:t>
            </a:r>
            <a:r>
              <a:rPr lang="en-US" altLang="zh-CN" baseline="-25000">
                <a:latin typeface="Times New Roman" panose="02020603050405020304" pitchFamily="18" charset="0"/>
              </a:rPr>
              <a:t>11</a:t>
            </a:r>
            <a:r>
              <a:rPr lang="en-US" altLang="zh-CN" i="1">
                <a:latin typeface="Times New Roman" panose="02020603050405020304" pitchFamily="18" charset="0"/>
              </a:rPr>
              <a:t>a</a:t>
            </a:r>
            <a:r>
              <a:rPr lang="en-US" altLang="zh-CN" baseline="-25000">
                <a:latin typeface="Times New Roman" panose="02020603050405020304" pitchFamily="18" charset="0"/>
              </a:rPr>
              <a:t>22</a:t>
            </a:r>
            <a:r>
              <a:rPr lang="en-US" altLang="zh-CN" i="1">
                <a:latin typeface="Times New Roman" panose="02020603050405020304" pitchFamily="18" charset="0"/>
              </a:rPr>
              <a:t>x</a:t>
            </a:r>
            <a:r>
              <a:rPr lang="en-US" altLang="zh-CN" baseline="-25000">
                <a:latin typeface="Times New Roman" panose="02020603050405020304" pitchFamily="18" charset="0"/>
              </a:rPr>
              <a:t>1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baseline="-25000">
                <a:latin typeface="Times New Roman" panose="02020603050405020304" pitchFamily="18" charset="0"/>
              </a:rPr>
              <a:t>12</a:t>
            </a:r>
            <a:r>
              <a:rPr lang="en-US" altLang="zh-CN" i="1">
                <a:latin typeface="Times New Roman" panose="02020603050405020304" pitchFamily="18" charset="0"/>
              </a:rPr>
              <a:t>a</a:t>
            </a:r>
            <a:r>
              <a:rPr lang="en-US" altLang="zh-CN" baseline="-25000">
                <a:latin typeface="Times New Roman" panose="02020603050405020304" pitchFamily="18" charset="0"/>
              </a:rPr>
              <a:t>22</a:t>
            </a:r>
            <a:r>
              <a:rPr lang="en-US" altLang="zh-CN" i="1">
                <a:latin typeface="Times New Roman" panose="02020603050405020304" pitchFamily="18" charset="0"/>
              </a:rPr>
              <a:t>x</a:t>
            </a:r>
            <a:r>
              <a:rPr lang="en-US" altLang="zh-CN" baseline="-25000">
                <a:latin typeface="Times New Roman" panose="02020603050405020304" pitchFamily="18" charset="0"/>
              </a:rPr>
              <a:t>2 </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baseline="-25000">
                <a:latin typeface="Times New Roman" panose="02020603050405020304" pitchFamily="18" charset="0"/>
              </a:rPr>
              <a:t>1</a:t>
            </a:r>
            <a:r>
              <a:rPr lang="en-US" altLang="zh-CN" i="1">
                <a:latin typeface="Times New Roman" panose="02020603050405020304" pitchFamily="18" charset="0"/>
              </a:rPr>
              <a:t>a</a:t>
            </a:r>
            <a:r>
              <a:rPr lang="en-US" altLang="zh-CN" baseline="-25000">
                <a:latin typeface="Times New Roman" panose="02020603050405020304" pitchFamily="18" charset="0"/>
              </a:rPr>
              <a:t>22</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36876" name="文本框 36875"/>
          <p:cNvSpPr txBox="1"/>
          <p:nvPr>
            <p:custDataLst>
              <p:tags r:id="rId6"/>
            </p:custDataLst>
          </p:nvPr>
        </p:nvSpPr>
        <p:spPr>
          <a:xfrm>
            <a:off x="611188" y="4652963"/>
            <a:ext cx="1333500" cy="519112"/>
          </a:xfrm>
          <a:prstGeom prst="rect">
            <a:avLst/>
          </a:prstGeom>
          <a:noFill/>
          <a:ln w="9525">
            <a:noFill/>
          </a:ln>
        </p:spPr>
        <p:txBody>
          <a:bodyPr wrap="none" anchor="t" anchorCtr="0">
            <a:spAutoFit/>
          </a:bodyPr>
          <a:p>
            <a:r>
              <a:rPr lang="en-US" altLang="zh-CN">
                <a:latin typeface="Times New Roman" panose="02020603050405020304" pitchFamily="18" charset="0"/>
              </a:rPr>
              <a:t>(2)</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a</a:t>
            </a:r>
            <a:r>
              <a:rPr lang="en-US" altLang="zh-CN" baseline="-25000">
                <a:latin typeface="Times New Roman" panose="02020603050405020304" pitchFamily="18" charset="0"/>
              </a:rPr>
              <a:t>12</a:t>
            </a:r>
            <a:r>
              <a:rPr lang="en-US" altLang="zh-CN">
                <a:latin typeface="Times New Roman" panose="02020603050405020304" pitchFamily="18" charset="0"/>
              </a:rPr>
              <a:t>:</a:t>
            </a:r>
            <a:endParaRPr lang="en-US" altLang="zh-CN" baseline="-25000">
              <a:latin typeface="Times New Roman" panose="02020603050405020304" pitchFamily="18" charset="0"/>
            </a:endParaRPr>
          </a:p>
        </p:txBody>
      </p:sp>
      <p:sp>
        <p:nvSpPr>
          <p:cNvPr id="36877" name="矩形 36876"/>
          <p:cNvSpPr/>
          <p:nvPr>
            <p:custDataLst>
              <p:tags r:id="rId7"/>
            </p:custDataLst>
          </p:nvPr>
        </p:nvSpPr>
        <p:spPr>
          <a:xfrm>
            <a:off x="2555875" y="4652963"/>
            <a:ext cx="3968750" cy="519112"/>
          </a:xfrm>
          <a:prstGeom prst="rect">
            <a:avLst/>
          </a:prstGeom>
          <a:noFill/>
          <a:ln w="9525">
            <a:noFill/>
          </a:ln>
        </p:spPr>
        <p:txBody>
          <a:bodyPr wrap="none" anchor="t" anchorCtr="0">
            <a:spAutoFit/>
          </a:bodyPr>
          <a:p>
            <a:r>
              <a:rPr lang="en-US" altLang="zh-CN" i="1">
                <a:latin typeface="Times New Roman" panose="02020603050405020304" pitchFamily="18" charset="0"/>
              </a:rPr>
              <a:t>a</a:t>
            </a:r>
            <a:r>
              <a:rPr lang="en-US" altLang="zh-CN" baseline="-25000">
                <a:latin typeface="Times New Roman" panose="02020603050405020304" pitchFamily="18" charset="0"/>
              </a:rPr>
              <a:t>12</a:t>
            </a:r>
            <a:r>
              <a:rPr lang="en-US" altLang="zh-CN" i="1">
                <a:latin typeface="Times New Roman" panose="02020603050405020304" pitchFamily="18" charset="0"/>
              </a:rPr>
              <a:t>a</a:t>
            </a:r>
            <a:r>
              <a:rPr lang="en-US" altLang="zh-CN" baseline="-25000">
                <a:latin typeface="Times New Roman" panose="02020603050405020304" pitchFamily="18" charset="0"/>
              </a:rPr>
              <a:t>21</a:t>
            </a:r>
            <a:r>
              <a:rPr lang="en-US" altLang="zh-CN" i="1">
                <a:latin typeface="Times New Roman" panose="02020603050405020304" pitchFamily="18" charset="0"/>
              </a:rPr>
              <a:t>x</a:t>
            </a:r>
            <a:r>
              <a:rPr lang="en-US" altLang="zh-CN" baseline="-25000">
                <a:latin typeface="Times New Roman" panose="02020603050405020304" pitchFamily="18" charset="0"/>
              </a:rPr>
              <a:t>1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baseline="-25000">
                <a:latin typeface="Times New Roman" panose="02020603050405020304" pitchFamily="18" charset="0"/>
              </a:rPr>
              <a:t>12</a:t>
            </a:r>
            <a:r>
              <a:rPr lang="en-US" altLang="zh-CN" i="1">
                <a:latin typeface="Times New Roman" panose="02020603050405020304" pitchFamily="18" charset="0"/>
              </a:rPr>
              <a:t>a</a:t>
            </a:r>
            <a:r>
              <a:rPr lang="en-US" altLang="zh-CN" baseline="-25000">
                <a:latin typeface="Times New Roman" panose="02020603050405020304" pitchFamily="18" charset="0"/>
              </a:rPr>
              <a:t>22</a:t>
            </a:r>
            <a:r>
              <a:rPr lang="en-US" altLang="zh-CN" i="1">
                <a:latin typeface="Times New Roman" panose="02020603050405020304" pitchFamily="18" charset="0"/>
              </a:rPr>
              <a:t>x</a:t>
            </a:r>
            <a:r>
              <a:rPr lang="en-US" altLang="zh-CN" baseline="-25000">
                <a:latin typeface="Times New Roman" panose="02020603050405020304" pitchFamily="18" charset="0"/>
              </a:rPr>
              <a:t>2 </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baseline="-25000">
                <a:latin typeface="Times New Roman" panose="02020603050405020304" pitchFamily="18" charset="0"/>
              </a:rPr>
              <a:t>2</a:t>
            </a:r>
            <a:r>
              <a:rPr lang="en-US" altLang="zh-CN" i="1">
                <a:latin typeface="Times New Roman" panose="02020603050405020304" pitchFamily="18" charset="0"/>
              </a:rPr>
              <a:t>a</a:t>
            </a:r>
            <a:r>
              <a:rPr lang="en-US" altLang="zh-CN" baseline="-25000">
                <a:latin typeface="Times New Roman" panose="02020603050405020304" pitchFamily="18" charset="0"/>
              </a:rPr>
              <a:t>12</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36878" name="矩形 36877"/>
          <p:cNvSpPr/>
          <p:nvPr>
            <p:custDataLst>
              <p:tags r:id="rId8"/>
            </p:custDataLst>
          </p:nvPr>
        </p:nvSpPr>
        <p:spPr>
          <a:xfrm>
            <a:off x="4067175" y="4724400"/>
            <a:ext cx="1295400" cy="533400"/>
          </a:xfrm>
          <a:prstGeom prst="rect">
            <a:avLst/>
          </a:prstGeom>
          <a:noFill/>
          <a:ln w="19050" cap="flat" cmpd="sng">
            <a:solidFill>
              <a:srgbClr val="FF0000"/>
            </a:solidFill>
            <a:prstDash val="solid"/>
            <a:miter/>
            <a:headEnd type="none" w="med" len="med"/>
            <a:tailEnd type="none" w="med" len="med"/>
          </a:ln>
        </p:spPr>
        <p:txBody>
          <a:bodyPr/>
          <a:p>
            <a:endParaRPr lang="zh-CN" altLang="en-US"/>
          </a:p>
        </p:txBody>
      </p:sp>
      <p:sp>
        <p:nvSpPr>
          <p:cNvPr id="36879" name="文本框 36878"/>
          <p:cNvSpPr txBox="1"/>
          <p:nvPr>
            <p:custDataLst>
              <p:tags r:id="rId9"/>
            </p:custDataLst>
          </p:nvPr>
        </p:nvSpPr>
        <p:spPr>
          <a:xfrm>
            <a:off x="611188" y="5300663"/>
            <a:ext cx="3160712" cy="519112"/>
          </a:xfrm>
          <a:prstGeom prst="rect">
            <a:avLst/>
          </a:prstGeom>
          <a:noFill/>
          <a:ln w="9525">
            <a:noFill/>
          </a:ln>
        </p:spPr>
        <p:txBody>
          <a:bodyPr wrap="none" anchor="t" anchorCtr="0">
            <a:spAutoFit/>
          </a:bodyPr>
          <a:p>
            <a:r>
              <a:rPr lang="zh-CN" altLang="en-US">
                <a:latin typeface="Times New Roman" panose="02020603050405020304" pitchFamily="18" charset="0"/>
              </a:rPr>
              <a:t>两式相减消去</a:t>
            </a:r>
            <a:r>
              <a:rPr lang="en-US" altLang="zh-CN" i="1">
                <a:solidFill>
                  <a:srgbClr val="FF3300"/>
                </a:solidFill>
                <a:latin typeface="Times New Roman" panose="02020603050405020304" pitchFamily="18" charset="0"/>
              </a:rPr>
              <a:t>x</a:t>
            </a:r>
            <a:r>
              <a:rPr lang="en-US" altLang="zh-CN" baseline="-25000">
                <a:solidFill>
                  <a:srgbClr val="FF3300"/>
                </a:solidFill>
                <a:latin typeface="Times New Roman" panose="02020603050405020304" pitchFamily="18" charset="0"/>
              </a:rPr>
              <a:t>2</a:t>
            </a:r>
            <a:r>
              <a:rPr lang="en-US" altLang="zh-CN">
                <a:latin typeface="Times New Roman" panose="02020603050405020304" pitchFamily="18" charset="0"/>
              </a:rPr>
              <a:t>, </a:t>
            </a:r>
            <a:r>
              <a:rPr lang="zh-CN" altLang="en-US">
                <a:latin typeface="Times New Roman" panose="02020603050405020304" pitchFamily="18" charset="0"/>
              </a:rPr>
              <a:t>得</a:t>
            </a:r>
            <a:endParaRPr lang="zh-CN" altLang="en-US">
              <a:latin typeface="Times New Roman" panose="02020603050405020304" pitchFamily="18" charset="0"/>
            </a:endParaRPr>
          </a:p>
        </p:txBody>
      </p:sp>
      <p:sp>
        <p:nvSpPr>
          <p:cNvPr id="36880" name="文本框 36879"/>
          <p:cNvSpPr txBox="1"/>
          <p:nvPr>
            <p:custDataLst>
              <p:tags r:id="rId10"/>
            </p:custDataLst>
          </p:nvPr>
        </p:nvSpPr>
        <p:spPr>
          <a:xfrm>
            <a:off x="2124075" y="5805488"/>
            <a:ext cx="5046663" cy="519112"/>
          </a:xfrm>
          <a:prstGeom prst="rect">
            <a:avLst/>
          </a:prstGeom>
          <a:noFill/>
          <a:ln w="9525">
            <a:noFill/>
          </a:ln>
        </p:spPr>
        <p:txBody>
          <a:bodyPr wrap="none" anchor="t" anchorCtr="0">
            <a:spAutoFit/>
          </a:bodyPr>
          <a:p>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baseline="-25000">
                <a:latin typeface="Times New Roman" panose="02020603050405020304" pitchFamily="18" charset="0"/>
              </a:rPr>
              <a:t>11</a:t>
            </a:r>
            <a:r>
              <a:rPr lang="en-US" altLang="zh-CN" i="1">
                <a:latin typeface="Times New Roman" panose="02020603050405020304" pitchFamily="18" charset="0"/>
              </a:rPr>
              <a:t>a</a:t>
            </a:r>
            <a:r>
              <a:rPr lang="en-US" altLang="zh-CN" baseline="-25000">
                <a:latin typeface="Times New Roman" panose="02020603050405020304" pitchFamily="18" charset="0"/>
              </a:rPr>
              <a:t>22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baseline="-25000">
                <a:latin typeface="Times New Roman" panose="02020603050405020304" pitchFamily="18" charset="0"/>
              </a:rPr>
              <a:t>12</a:t>
            </a:r>
            <a:r>
              <a:rPr lang="en-US" altLang="zh-CN" i="1">
                <a:latin typeface="Times New Roman" panose="02020603050405020304" pitchFamily="18" charset="0"/>
              </a:rPr>
              <a:t>a</a:t>
            </a:r>
            <a:r>
              <a:rPr lang="en-US" altLang="zh-CN" baseline="-25000">
                <a:latin typeface="Times New Roman" panose="02020603050405020304" pitchFamily="18" charset="0"/>
              </a:rPr>
              <a:t>21</a:t>
            </a:r>
            <a:r>
              <a:rPr lang="en-US" altLang="zh-CN">
                <a:latin typeface="Times New Roman" panose="02020603050405020304" pitchFamily="18" charset="0"/>
              </a:rPr>
              <a:t>) </a:t>
            </a:r>
            <a:r>
              <a:rPr lang="en-US" altLang="zh-CN" i="1">
                <a:latin typeface="Times New Roman" panose="02020603050405020304" pitchFamily="18" charset="0"/>
              </a:rPr>
              <a:t>x</a:t>
            </a:r>
            <a:r>
              <a:rPr lang="en-US" altLang="zh-CN" baseline="-25000">
                <a:latin typeface="Times New Roman" panose="02020603050405020304" pitchFamily="18" charset="0"/>
              </a:rPr>
              <a:t>1 </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baseline="-25000">
                <a:latin typeface="Times New Roman" panose="02020603050405020304" pitchFamily="18" charset="0"/>
              </a:rPr>
              <a:t>1</a:t>
            </a:r>
            <a:r>
              <a:rPr lang="en-US" altLang="zh-CN" i="1">
                <a:latin typeface="Times New Roman" panose="02020603050405020304" pitchFamily="18" charset="0"/>
              </a:rPr>
              <a:t>a</a:t>
            </a:r>
            <a:r>
              <a:rPr lang="en-US" altLang="zh-CN" baseline="-25000">
                <a:latin typeface="Times New Roman" panose="02020603050405020304" pitchFamily="18" charset="0"/>
              </a:rPr>
              <a:t>22 </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baseline="-25000">
                <a:latin typeface="Times New Roman" panose="02020603050405020304" pitchFamily="18" charset="0"/>
              </a:rPr>
              <a:t>2</a:t>
            </a:r>
            <a:r>
              <a:rPr lang="en-US" altLang="zh-CN" i="1">
                <a:latin typeface="Times New Roman" panose="02020603050405020304" pitchFamily="18" charset="0"/>
              </a:rPr>
              <a:t>a</a:t>
            </a:r>
            <a:r>
              <a:rPr lang="en-US" altLang="zh-CN" baseline="-25000">
                <a:latin typeface="Times New Roman" panose="02020603050405020304" pitchFamily="18" charset="0"/>
              </a:rPr>
              <a:t>12</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36881" name="文本框 36880"/>
          <p:cNvSpPr txBox="1"/>
          <p:nvPr/>
        </p:nvSpPr>
        <p:spPr>
          <a:xfrm>
            <a:off x="971550" y="908050"/>
            <a:ext cx="7705725" cy="701675"/>
          </a:xfrm>
          <a:prstGeom prst="rect">
            <a:avLst/>
          </a:prstGeom>
          <a:noFill/>
          <a:ln w="9525">
            <a:noFill/>
          </a:ln>
        </p:spPr>
        <p:txBody>
          <a:bodyPr>
            <a:spAutoFit/>
          </a:bodyPr>
          <a:p>
            <a:r>
              <a:rPr lang="zh-CN" altLang="en-US" sz="4000">
                <a:solidFill>
                  <a:srgbClr val="FF3300"/>
                </a:solidFill>
                <a:latin typeface="Times New Roman" panose="02020603050405020304" pitchFamily="18" charset="0"/>
                <a:ea typeface="黑体" panose="02010609060101010101" pitchFamily="2" charset="-122"/>
              </a:rPr>
              <a:t>§</a:t>
            </a:r>
            <a:r>
              <a:rPr lang="en-US" altLang="zh-CN" sz="4000">
                <a:solidFill>
                  <a:srgbClr val="FF3300"/>
                </a:solidFill>
                <a:latin typeface="Times New Roman" panose="02020603050405020304" pitchFamily="18" charset="0"/>
                <a:ea typeface="黑体" panose="02010609060101010101" pitchFamily="2" charset="-122"/>
              </a:rPr>
              <a:t>1.1  </a:t>
            </a:r>
            <a:r>
              <a:rPr lang="zh-CN" altLang="en-US" sz="4000" dirty="0">
                <a:solidFill>
                  <a:srgbClr val="FF3300"/>
                </a:solidFill>
                <a:latin typeface="Times New Roman" panose="02020603050405020304" pitchFamily="18" charset="0"/>
                <a:ea typeface="黑体" panose="02010609060101010101" pitchFamily="2" charset="-122"/>
              </a:rPr>
              <a:t>二阶与三阶行列式</a:t>
            </a:r>
            <a:endParaRPr lang="zh-CN" altLang="en-US" sz="4000">
              <a:solidFill>
                <a:srgbClr val="FF3300"/>
              </a:solidFill>
              <a:latin typeface="Times New Roman" panose="02020603050405020304" pitchFamily="18"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81">
                                            <p:txEl>
                                              <p:charRg st="0" end="15"/>
                                            </p:txEl>
                                          </p:spTgt>
                                        </p:tgtEl>
                                        <p:attrNameLst>
                                          <p:attrName>style.visibility</p:attrName>
                                        </p:attrNameLst>
                                      </p:cBhvr>
                                      <p:to>
                                        <p:strVal val="visible"/>
                                      </p:to>
                                    </p:set>
                                    <p:animEffect transition="in" filter="wipe(left)">
                                      <p:cBhvr>
                                        <p:cTn id="7" dur="1000"/>
                                        <p:tgtEl>
                                          <p:spTgt spid="36881">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68">
                                            <p:txEl>
                                              <p:charRg st="0" end="16"/>
                                            </p:txEl>
                                          </p:spTgt>
                                        </p:tgtEl>
                                        <p:attrNameLst>
                                          <p:attrName>style.visibility</p:attrName>
                                        </p:attrNameLst>
                                      </p:cBhvr>
                                      <p:to>
                                        <p:strVal val="visible"/>
                                      </p:to>
                                    </p:set>
                                    <p:animEffect transition="in" filter="wipe(left)">
                                      <p:cBhvr>
                                        <p:cTn id="12" dur="1000"/>
                                        <p:tgtEl>
                                          <p:spTgt spid="36868">
                                            <p:txEl>
                                              <p:charRg st="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869">
                                            <p:txEl>
                                              <p:charRg st="0" end="18"/>
                                            </p:txEl>
                                          </p:spTgt>
                                        </p:tgtEl>
                                        <p:attrNameLst>
                                          <p:attrName>style.visibility</p:attrName>
                                        </p:attrNameLst>
                                      </p:cBhvr>
                                      <p:to>
                                        <p:strVal val="visible"/>
                                      </p:to>
                                    </p:set>
                                    <p:animEffect transition="in" filter="wipe(left)">
                                      <p:cBhvr>
                                        <p:cTn id="17" dur="1000"/>
                                        <p:tgtEl>
                                          <p:spTgt spid="36869">
                                            <p:txEl>
                                              <p:charRg st="0" end="18"/>
                                            </p:txEl>
                                          </p:spTgt>
                                        </p:tgtEl>
                                      </p:cBhvr>
                                    </p:animEffect>
                                  </p:childTnLst>
                                </p:cTn>
                              </p:par>
                            </p:childTnLst>
                          </p:cTn>
                        </p:par>
                        <p:par>
                          <p:cTn id="18" fill="hold">
                            <p:stCondLst>
                              <p:cond delay="1000"/>
                            </p:stCondLst>
                            <p:childTnLst>
                              <p:par>
                                <p:cTn id="19" presetID="4" presetClass="entr" presetSubtype="32" fill="hold" nodeType="afterEffect">
                                  <p:stCondLst>
                                    <p:cond delay="0"/>
                                  </p:stCondLst>
                                  <p:childTnLst>
                                    <p:set>
                                      <p:cBhvr>
                                        <p:cTn id="20" dur="1" fill="hold">
                                          <p:stCondLst>
                                            <p:cond delay="0"/>
                                          </p:stCondLst>
                                        </p:cTn>
                                        <p:tgtEl>
                                          <p:spTgt spid="36871"/>
                                        </p:tgtEl>
                                        <p:attrNameLst>
                                          <p:attrName>style.visibility</p:attrName>
                                        </p:attrNameLst>
                                      </p:cBhvr>
                                      <p:to>
                                        <p:strVal val="visible"/>
                                      </p:to>
                                    </p:set>
                                    <p:animEffect transition="in" filter="box(out)">
                                      <p:cBhvr>
                                        <p:cTn id="21" dur="500"/>
                                        <p:tgtEl>
                                          <p:spTgt spid="36871"/>
                                        </p:tgtEl>
                                      </p:cBhvr>
                                    </p:animEffect>
                                  </p:childTnLst>
                                </p:cTn>
                              </p:par>
                            </p:childTnLst>
                          </p:cTn>
                        </p:par>
                        <p:par>
                          <p:cTn id="22" fill="hold">
                            <p:stCondLst>
                              <p:cond delay="1500"/>
                            </p:stCondLst>
                            <p:childTnLst>
                              <p:par>
                                <p:cTn id="23" presetID="4" presetClass="entr" presetSubtype="32" fill="hold" nodeType="afterEffect">
                                  <p:stCondLst>
                                    <p:cond delay="0"/>
                                  </p:stCondLst>
                                  <p:childTnLst>
                                    <p:set>
                                      <p:cBhvr>
                                        <p:cTn id="24" dur="1" fill="hold">
                                          <p:stCondLst>
                                            <p:cond delay="0"/>
                                          </p:stCondLst>
                                        </p:cTn>
                                        <p:tgtEl>
                                          <p:spTgt spid="36872"/>
                                        </p:tgtEl>
                                        <p:attrNameLst>
                                          <p:attrName>style.visibility</p:attrName>
                                        </p:attrNameLst>
                                      </p:cBhvr>
                                      <p:to>
                                        <p:strVal val="visible"/>
                                      </p:to>
                                    </p:set>
                                    <p:animEffect transition="in" filter="box(out)">
                                      <p:cBhvr>
                                        <p:cTn id="25" dur="500"/>
                                        <p:tgtEl>
                                          <p:spTgt spid="36872"/>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32" fill="hold" nodeType="clickEffect">
                                  <p:stCondLst>
                                    <p:cond delay="0"/>
                                  </p:stCondLst>
                                  <p:childTnLst>
                                    <p:set>
                                      <p:cBhvr>
                                        <p:cTn id="29" dur="1" fill="hold">
                                          <p:stCondLst>
                                            <p:cond delay="0"/>
                                          </p:stCondLst>
                                        </p:cTn>
                                        <p:tgtEl>
                                          <p:spTgt spid="36874">
                                            <p:txEl>
                                              <p:charRg st="0" end="9"/>
                                            </p:txEl>
                                          </p:spTgt>
                                        </p:tgtEl>
                                        <p:attrNameLst>
                                          <p:attrName>style.visibility</p:attrName>
                                        </p:attrNameLst>
                                      </p:cBhvr>
                                      <p:to>
                                        <p:strVal val="visible"/>
                                      </p:to>
                                    </p:set>
                                    <p:animEffect transition="in" filter="box(out)">
                                      <p:cBhvr>
                                        <p:cTn id="30" dur="500"/>
                                        <p:tgtEl>
                                          <p:spTgt spid="36874">
                                            <p:txEl>
                                              <p:charRg st="0"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36875">
                                            <p:txEl>
                                              <p:charRg st="0" end="29"/>
                                            </p:txEl>
                                          </p:spTgt>
                                        </p:tgtEl>
                                        <p:attrNameLst>
                                          <p:attrName>style.visibility</p:attrName>
                                        </p:attrNameLst>
                                      </p:cBhvr>
                                      <p:to>
                                        <p:strVal val="visible"/>
                                      </p:to>
                                    </p:set>
                                    <p:animEffect transition="in" filter="box(out)">
                                      <p:cBhvr>
                                        <p:cTn id="35" dur="500"/>
                                        <p:tgtEl>
                                          <p:spTgt spid="36875">
                                            <p:txEl>
                                              <p:charRg st="0" end="2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nodeType="clickEffect">
                                  <p:stCondLst>
                                    <p:cond delay="0"/>
                                  </p:stCondLst>
                                  <p:childTnLst>
                                    <p:set>
                                      <p:cBhvr>
                                        <p:cTn id="39" dur="1" fill="hold">
                                          <p:stCondLst>
                                            <p:cond delay="0"/>
                                          </p:stCondLst>
                                        </p:cTn>
                                        <p:tgtEl>
                                          <p:spTgt spid="36876">
                                            <p:txEl>
                                              <p:charRg st="0" end="9"/>
                                            </p:txEl>
                                          </p:spTgt>
                                        </p:tgtEl>
                                        <p:attrNameLst>
                                          <p:attrName>style.visibility</p:attrName>
                                        </p:attrNameLst>
                                      </p:cBhvr>
                                      <p:to>
                                        <p:strVal val="visible"/>
                                      </p:to>
                                    </p:set>
                                    <p:animEffect transition="in" filter="box(out)">
                                      <p:cBhvr>
                                        <p:cTn id="40" dur="500"/>
                                        <p:tgtEl>
                                          <p:spTgt spid="36876">
                                            <p:txEl>
                                              <p:charRg st="0"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32" fill="hold" nodeType="clickEffect">
                                  <p:stCondLst>
                                    <p:cond delay="0"/>
                                  </p:stCondLst>
                                  <p:childTnLst>
                                    <p:set>
                                      <p:cBhvr>
                                        <p:cTn id="44" dur="1" fill="hold">
                                          <p:stCondLst>
                                            <p:cond delay="0"/>
                                          </p:stCondLst>
                                        </p:cTn>
                                        <p:tgtEl>
                                          <p:spTgt spid="36877">
                                            <p:txEl>
                                              <p:charRg st="0" end="29"/>
                                            </p:txEl>
                                          </p:spTgt>
                                        </p:tgtEl>
                                        <p:attrNameLst>
                                          <p:attrName>style.visibility</p:attrName>
                                        </p:attrNameLst>
                                      </p:cBhvr>
                                      <p:to>
                                        <p:strVal val="visible"/>
                                      </p:to>
                                    </p:set>
                                    <p:animEffect transition="in" filter="box(out)">
                                      <p:cBhvr>
                                        <p:cTn id="45" dur="500"/>
                                        <p:tgtEl>
                                          <p:spTgt spid="36877">
                                            <p:txEl>
                                              <p:charRg st="0" end="2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32" fill="hold" nodeType="clickEffect">
                                  <p:stCondLst>
                                    <p:cond delay="0"/>
                                  </p:stCondLst>
                                  <p:childTnLst>
                                    <p:set>
                                      <p:cBhvr>
                                        <p:cTn id="49" dur="1" fill="hold">
                                          <p:stCondLst>
                                            <p:cond delay="0"/>
                                          </p:stCondLst>
                                        </p:cTn>
                                        <p:tgtEl>
                                          <p:spTgt spid="36873"/>
                                        </p:tgtEl>
                                        <p:attrNameLst>
                                          <p:attrName>style.visibility</p:attrName>
                                        </p:attrNameLst>
                                      </p:cBhvr>
                                      <p:to>
                                        <p:strVal val="visible"/>
                                      </p:to>
                                    </p:set>
                                    <p:animEffect transition="in" filter="box(out)">
                                      <p:cBhvr>
                                        <p:cTn id="50" dur="500"/>
                                        <p:tgtEl>
                                          <p:spTgt spid="36873"/>
                                        </p:tgtEl>
                                      </p:cBhvr>
                                    </p:animEffect>
                                  </p:childTnLst>
                                </p:cTn>
                              </p:par>
                            </p:childTnLst>
                          </p:cTn>
                        </p:par>
                        <p:par>
                          <p:cTn id="51" fill="hold">
                            <p:stCondLst>
                              <p:cond delay="500"/>
                            </p:stCondLst>
                            <p:childTnLst>
                              <p:par>
                                <p:cTn id="52" presetID="4" presetClass="entr" presetSubtype="32" fill="hold" nodeType="afterEffect">
                                  <p:stCondLst>
                                    <p:cond delay="0"/>
                                  </p:stCondLst>
                                  <p:childTnLst>
                                    <p:set>
                                      <p:cBhvr>
                                        <p:cTn id="53" dur="1" fill="hold">
                                          <p:stCondLst>
                                            <p:cond delay="0"/>
                                          </p:stCondLst>
                                        </p:cTn>
                                        <p:tgtEl>
                                          <p:spTgt spid="36878"/>
                                        </p:tgtEl>
                                        <p:attrNameLst>
                                          <p:attrName>style.visibility</p:attrName>
                                        </p:attrNameLst>
                                      </p:cBhvr>
                                      <p:to>
                                        <p:strVal val="visible"/>
                                      </p:to>
                                    </p:set>
                                    <p:animEffect transition="in" filter="box(out)">
                                      <p:cBhvr>
                                        <p:cTn id="54" dur="500"/>
                                        <p:tgtEl>
                                          <p:spTgt spid="36878"/>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32" fill="hold" nodeType="clickEffect">
                                  <p:stCondLst>
                                    <p:cond delay="0"/>
                                  </p:stCondLst>
                                  <p:childTnLst>
                                    <p:set>
                                      <p:cBhvr>
                                        <p:cTn id="58" dur="1" fill="hold">
                                          <p:stCondLst>
                                            <p:cond delay="0"/>
                                          </p:stCondLst>
                                        </p:cTn>
                                        <p:tgtEl>
                                          <p:spTgt spid="36879">
                                            <p:txEl>
                                              <p:charRg st="0" end="12"/>
                                            </p:txEl>
                                          </p:spTgt>
                                        </p:tgtEl>
                                        <p:attrNameLst>
                                          <p:attrName>style.visibility</p:attrName>
                                        </p:attrNameLst>
                                      </p:cBhvr>
                                      <p:to>
                                        <p:strVal val="visible"/>
                                      </p:to>
                                    </p:set>
                                    <p:animEffect transition="in" filter="box(out)">
                                      <p:cBhvr>
                                        <p:cTn id="59" dur="500"/>
                                        <p:tgtEl>
                                          <p:spTgt spid="36879">
                                            <p:txEl>
                                              <p:charRg st="0" end="12"/>
                                            </p:txEl>
                                          </p:spTgt>
                                        </p:tgtEl>
                                      </p:cBhvr>
                                    </p:animEffect>
                                  </p:childTnLst>
                                </p:cTn>
                              </p:par>
                            </p:childTnLst>
                          </p:cTn>
                        </p:par>
                        <p:par>
                          <p:cTn id="60" fill="hold">
                            <p:stCondLst>
                              <p:cond delay="500"/>
                            </p:stCondLst>
                            <p:childTnLst>
                              <p:par>
                                <p:cTn id="61" presetID="4" presetClass="entr" presetSubtype="32" fill="hold" nodeType="afterEffect">
                                  <p:stCondLst>
                                    <p:cond delay="0"/>
                                  </p:stCondLst>
                                  <p:childTnLst>
                                    <p:set>
                                      <p:cBhvr>
                                        <p:cTn id="62" dur="1" fill="hold">
                                          <p:stCondLst>
                                            <p:cond delay="0"/>
                                          </p:stCondLst>
                                        </p:cTn>
                                        <p:tgtEl>
                                          <p:spTgt spid="36880">
                                            <p:txEl>
                                              <p:charRg st="0" end="38"/>
                                            </p:txEl>
                                          </p:spTgt>
                                        </p:tgtEl>
                                        <p:attrNameLst>
                                          <p:attrName>style.visibility</p:attrName>
                                        </p:attrNameLst>
                                      </p:cBhvr>
                                      <p:to>
                                        <p:strVal val="visible"/>
                                      </p:to>
                                    </p:set>
                                    <p:animEffect transition="in" filter="box(out)">
                                      <p:cBhvr>
                                        <p:cTn id="63" dur="500"/>
                                        <p:tgtEl>
                                          <p:spTgt spid="36880">
                                            <p:txEl>
                                              <p:charRg st="0" end="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build="allAtOnce"/>
      <p:bldP spid="36869" grpId="0" build="allAtOnce"/>
      <p:bldP spid="36881"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9938" name="对象 39937"/>
          <p:cNvGraphicFramePr/>
          <p:nvPr/>
        </p:nvGraphicFramePr>
        <p:xfrm>
          <a:off x="1752600" y="990600"/>
          <a:ext cx="4965700" cy="419100"/>
        </p:xfrm>
        <a:graphic>
          <a:graphicData uri="http://schemas.openxmlformats.org/presentationml/2006/ole">
            <mc:AlternateContent xmlns:mc="http://schemas.openxmlformats.org/markup-compatibility/2006">
              <mc:Choice xmlns:v="urn:schemas-microsoft-com:vml" Requires="v">
                <p:oleObj spid="_x0000_s3077" name="" r:id="rId1" imgW="4965700" imgH="419100" progId="Equation.3">
                  <p:embed/>
                </p:oleObj>
              </mc:Choice>
              <mc:Fallback>
                <p:oleObj name="" r:id="rId1" imgW="4965700" imgH="419100" progId="Equation.3">
                  <p:embed/>
                  <p:pic>
                    <p:nvPicPr>
                      <p:cNvPr id="0" name="图片 3076"/>
                      <p:cNvPicPr/>
                      <p:nvPr/>
                    </p:nvPicPr>
                    <p:blipFill>
                      <a:blip r:embed="rId2"/>
                      <a:stretch>
                        <a:fillRect/>
                      </a:stretch>
                    </p:blipFill>
                    <p:spPr>
                      <a:xfrm>
                        <a:off x="1752600" y="990600"/>
                        <a:ext cx="4965700" cy="419100"/>
                      </a:xfrm>
                      <a:prstGeom prst="rect">
                        <a:avLst/>
                      </a:prstGeom>
                      <a:noFill/>
                      <a:ln w="38100">
                        <a:noFill/>
                        <a:miter/>
                      </a:ln>
                    </p:spPr>
                  </p:pic>
                </p:oleObj>
              </mc:Fallback>
            </mc:AlternateContent>
          </a:graphicData>
        </a:graphic>
      </p:graphicFrame>
      <p:graphicFrame>
        <p:nvGraphicFramePr>
          <p:cNvPr id="39939" name="对象 39938"/>
          <p:cNvGraphicFramePr/>
          <p:nvPr/>
        </p:nvGraphicFramePr>
        <p:xfrm>
          <a:off x="914400" y="1676400"/>
          <a:ext cx="3263900" cy="444500"/>
        </p:xfrm>
        <a:graphic>
          <a:graphicData uri="http://schemas.openxmlformats.org/presentationml/2006/ole">
            <mc:AlternateContent xmlns:mc="http://schemas.openxmlformats.org/markup-compatibility/2006">
              <mc:Choice xmlns:v="urn:schemas-microsoft-com:vml" Requires="v">
                <p:oleObj spid="_x0000_s3080" name="" r:id="rId3" imgW="3262630" imgH="444500" progId="Equation.3">
                  <p:embed/>
                </p:oleObj>
              </mc:Choice>
              <mc:Fallback>
                <p:oleObj name="" r:id="rId3" imgW="3262630" imgH="444500" progId="Equation.3">
                  <p:embed/>
                  <p:pic>
                    <p:nvPicPr>
                      <p:cNvPr id="0" name="图片 3079"/>
                      <p:cNvPicPr/>
                      <p:nvPr/>
                    </p:nvPicPr>
                    <p:blipFill>
                      <a:blip r:embed="rId4"/>
                      <a:stretch>
                        <a:fillRect/>
                      </a:stretch>
                    </p:blipFill>
                    <p:spPr>
                      <a:xfrm>
                        <a:off x="914400" y="1676400"/>
                        <a:ext cx="3263900" cy="444500"/>
                      </a:xfrm>
                      <a:prstGeom prst="rect">
                        <a:avLst/>
                      </a:prstGeom>
                      <a:noFill/>
                      <a:ln w="38100">
                        <a:noFill/>
                        <a:miter/>
                      </a:ln>
                    </p:spPr>
                  </p:pic>
                </p:oleObj>
              </mc:Fallback>
            </mc:AlternateContent>
          </a:graphicData>
        </a:graphic>
      </p:graphicFrame>
      <p:graphicFrame>
        <p:nvGraphicFramePr>
          <p:cNvPr id="39940" name="对象 39939"/>
          <p:cNvGraphicFramePr/>
          <p:nvPr/>
        </p:nvGraphicFramePr>
        <p:xfrm>
          <a:off x="1689100" y="2195513"/>
          <a:ext cx="4940300" cy="419100"/>
        </p:xfrm>
        <a:graphic>
          <a:graphicData uri="http://schemas.openxmlformats.org/presentationml/2006/ole">
            <mc:AlternateContent xmlns:mc="http://schemas.openxmlformats.org/markup-compatibility/2006">
              <mc:Choice xmlns:v="urn:schemas-microsoft-com:vml" Requires="v">
                <p:oleObj spid="_x0000_s3078" name="" r:id="rId5" imgW="4940300" imgH="419100" progId="Equation.3">
                  <p:embed/>
                </p:oleObj>
              </mc:Choice>
              <mc:Fallback>
                <p:oleObj name="" r:id="rId5" imgW="4940300" imgH="419100" progId="Equation.3">
                  <p:embed/>
                  <p:pic>
                    <p:nvPicPr>
                      <p:cNvPr id="0" name="图片 3077"/>
                      <p:cNvPicPr/>
                      <p:nvPr/>
                    </p:nvPicPr>
                    <p:blipFill>
                      <a:blip r:embed="rId6"/>
                      <a:stretch>
                        <a:fillRect/>
                      </a:stretch>
                    </p:blipFill>
                    <p:spPr>
                      <a:xfrm>
                        <a:off x="1689100" y="2195513"/>
                        <a:ext cx="4940300" cy="419100"/>
                      </a:xfrm>
                      <a:prstGeom prst="rect">
                        <a:avLst/>
                      </a:prstGeom>
                      <a:noFill/>
                      <a:ln w="38100">
                        <a:noFill/>
                        <a:miter/>
                      </a:ln>
                    </p:spPr>
                  </p:pic>
                </p:oleObj>
              </mc:Fallback>
            </mc:AlternateContent>
          </a:graphicData>
        </a:graphic>
      </p:graphicFrame>
      <p:graphicFrame>
        <p:nvGraphicFramePr>
          <p:cNvPr id="39941" name="对象 39940"/>
          <p:cNvGraphicFramePr/>
          <p:nvPr/>
        </p:nvGraphicFramePr>
        <p:xfrm>
          <a:off x="914400" y="3048000"/>
          <a:ext cx="3479800" cy="431800"/>
        </p:xfrm>
        <a:graphic>
          <a:graphicData uri="http://schemas.openxmlformats.org/presentationml/2006/ole">
            <mc:AlternateContent xmlns:mc="http://schemas.openxmlformats.org/markup-compatibility/2006">
              <mc:Choice xmlns:v="urn:schemas-microsoft-com:vml" Requires="v">
                <p:oleObj spid="_x0000_s3082" name="" r:id="rId7" imgW="3478530" imgH="431800" progId="Equation.3">
                  <p:embed/>
                </p:oleObj>
              </mc:Choice>
              <mc:Fallback>
                <p:oleObj name="" r:id="rId7" imgW="3478530" imgH="431800" progId="Equation.3">
                  <p:embed/>
                  <p:pic>
                    <p:nvPicPr>
                      <p:cNvPr id="0" name="图片 3081"/>
                      <p:cNvPicPr/>
                      <p:nvPr/>
                    </p:nvPicPr>
                    <p:blipFill>
                      <a:blip r:embed="rId8"/>
                      <a:stretch>
                        <a:fillRect/>
                      </a:stretch>
                    </p:blipFill>
                    <p:spPr>
                      <a:xfrm>
                        <a:off x="914400" y="3048000"/>
                        <a:ext cx="3479800" cy="431800"/>
                      </a:xfrm>
                      <a:prstGeom prst="rect">
                        <a:avLst/>
                      </a:prstGeom>
                      <a:noFill/>
                      <a:ln w="38100">
                        <a:noFill/>
                        <a:miter/>
                      </a:ln>
                    </p:spPr>
                  </p:pic>
                </p:oleObj>
              </mc:Fallback>
            </mc:AlternateContent>
          </a:graphicData>
        </a:graphic>
      </p:graphicFrame>
      <p:sp>
        <p:nvSpPr>
          <p:cNvPr id="39942" name="文本框 39941"/>
          <p:cNvSpPr txBox="1"/>
          <p:nvPr/>
        </p:nvSpPr>
        <p:spPr>
          <a:xfrm>
            <a:off x="4572000" y="2971800"/>
            <a:ext cx="3505200" cy="519113"/>
          </a:xfrm>
          <a:prstGeom prst="rect">
            <a:avLst/>
          </a:prstGeom>
          <a:noFill/>
          <a:ln w="9525">
            <a:noFill/>
          </a:ln>
        </p:spPr>
        <p:txBody>
          <a:bodyPr>
            <a:spAutoFit/>
          </a:bodyPr>
          <a:p>
            <a:pPr eaLnBrk="0" hangingPunct="0"/>
            <a:r>
              <a:rPr lang="zh-CN" altLang="en-US" dirty="0">
                <a:latin typeface="Times New Roman" panose="02020603050405020304" pitchFamily="18" charset="0"/>
              </a:rPr>
              <a:t>方程组的解为</a:t>
            </a:r>
            <a:endParaRPr lang="zh-CN" altLang="en-US" dirty="0">
              <a:latin typeface="Times New Roman" panose="02020603050405020304" pitchFamily="18" charset="0"/>
            </a:endParaRPr>
          </a:p>
        </p:txBody>
      </p:sp>
      <p:graphicFrame>
        <p:nvGraphicFramePr>
          <p:cNvPr id="39943" name="对象 39942"/>
          <p:cNvGraphicFramePr/>
          <p:nvPr/>
        </p:nvGraphicFramePr>
        <p:xfrm>
          <a:off x="1016000" y="3733800"/>
          <a:ext cx="2870200" cy="914400"/>
        </p:xfrm>
        <a:graphic>
          <a:graphicData uri="http://schemas.openxmlformats.org/presentationml/2006/ole">
            <mc:AlternateContent xmlns:mc="http://schemas.openxmlformats.org/markup-compatibility/2006">
              <mc:Choice xmlns:v="urn:schemas-microsoft-com:vml" Requires="v">
                <p:oleObj spid="_x0000_s3081" name="" r:id="rId9" imgW="2870200" imgH="914400" progId="Equation.3">
                  <p:embed/>
                </p:oleObj>
              </mc:Choice>
              <mc:Fallback>
                <p:oleObj name="" r:id="rId9" imgW="2870200" imgH="914400" progId="Equation.3">
                  <p:embed/>
                  <p:pic>
                    <p:nvPicPr>
                      <p:cNvPr id="0" name="图片 3080"/>
                      <p:cNvPicPr/>
                      <p:nvPr/>
                    </p:nvPicPr>
                    <p:blipFill>
                      <a:blip r:embed="rId10"/>
                      <a:stretch>
                        <a:fillRect/>
                      </a:stretch>
                    </p:blipFill>
                    <p:spPr>
                      <a:xfrm>
                        <a:off x="1016000" y="3733800"/>
                        <a:ext cx="2870200" cy="914400"/>
                      </a:xfrm>
                      <a:prstGeom prst="rect">
                        <a:avLst/>
                      </a:prstGeom>
                      <a:noFill/>
                      <a:ln w="38100">
                        <a:noFill/>
                        <a:miter/>
                      </a:ln>
                    </p:spPr>
                  </p:pic>
                </p:oleObj>
              </mc:Fallback>
            </mc:AlternateContent>
          </a:graphicData>
        </a:graphic>
      </p:graphicFrame>
      <p:graphicFrame>
        <p:nvGraphicFramePr>
          <p:cNvPr id="39944" name="对象 39943"/>
          <p:cNvGraphicFramePr/>
          <p:nvPr/>
        </p:nvGraphicFramePr>
        <p:xfrm>
          <a:off x="4191000" y="3733800"/>
          <a:ext cx="4025900" cy="914400"/>
        </p:xfrm>
        <a:graphic>
          <a:graphicData uri="http://schemas.openxmlformats.org/presentationml/2006/ole">
            <mc:AlternateContent xmlns:mc="http://schemas.openxmlformats.org/markup-compatibility/2006">
              <mc:Choice xmlns:v="urn:schemas-microsoft-com:vml" Requires="v">
                <p:oleObj spid="_x0000_s3076" name="" r:id="rId11" imgW="4000500" imgH="914400" progId="Equation.3">
                  <p:embed/>
                </p:oleObj>
              </mc:Choice>
              <mc:Fallback>
                <p:oleObj name="" r:id="rId11" imgW="4000500" imgH="914400" progId="Equation.3">
                  <p:embed/>
                  <p:pic>
                    <p:nvPicPr>
                      <p:cNvPr id="0" name="图片 3075"/>
                      <p:cNvPicPr/>
                      <p:nvPr/>
                    </p:nvPicPr>
                    <p:blipFill>
                      <a:blip r:embed="rId12"/>
                      <a:stretch>
                        <a:fillRect/>
                      </a:stretch>
                    </p:blipFill>
                    <p:spPr>
                      <a:xfrm>
                        <a:off x="4191000" y="3733800"/>
                        <a:ext cx="4025900" cy="914400"/>
                      </a:xfrm>
                      <a:prstGeom prst="rect">
                        <a:avLst/>
                      </a:prstGeom>
                      <a:noFill/>
                      <a:ln w="38100">
                        <a:noFill/>
                        <a:miter/>
                      </a:ln>
                    </p:spPr>
                  </p:pic>
                </p:oleObj>
              </mc:Fallback>
            </mc:AlternateContent>
          </a:graphicData>
        </a:graphic>
      </p:graphicFrame>
      <p:sp>
        <p:nvSpPr>
          <p:cNvPr id="39945" name="椭圆形标注 39944"/>
          <p:cNvSpPr/>
          <p:nvPr/>
        </p:nvSpPr>
        <p:spPr>
          <a:xfrm>
            <a:off x="1752600" y="4267200"/>
            <a:ext cx="2362200" cy="457200"/>
          </a:xfrm>
          <a:prstGeom prst="wedgeEllipseCallout">
            <a:avLst>
              <a:gd name="adj1" fmla="val 17944"/>
              <a:gd name="adj2" fmla="val 189931"/>
            </a:avLst>
          </a:prstGeom>
          <a:noFill/>
          <a:ln w="9525" cap="flat" cmpd="sng">
            <a:solidFill>
              <a:srgbClr val="0000FF"/>
            </a:solidFill>
            <a:prstDash val="solid"/>
            <a:miter/>
            <a:headEnd type="none" w="med" len="med"/>
            <a:tailEnd type="none" w="med" len="med"/>
          </a:ln>
        </p:spPr>
        <p:txBody>
          <a:bodyPr/>
          <a:p>
            <a:pPr algn="ctr" eaLnBrk="0" hangingPunct="0"/>
            <a:endParaRPr sz="2400" b="0" dirty="0">
              <a:latin typeface="Times New Roman" panose="02020603050405020304" pitchFamily="18" charset="0"/>
            </a:endParaRPr>
          </a:p>
        </p:txBody>
      </p:sp>
      <p:sp>
        <p:nvSpPr>
          <p:cNvPr id="39946" name="椭圆形标注 39945"/>
          <p:cNvSpPr/>
          <p:nvPr/>
        </p:nvSpPr>
        <p:spPr>
          <a:xfrm>
            <a:off x="4724400" y="4267200"/>
            <a:ext cx="2209800" cy="457200"/>
          </a:xfrm>
          <a:prstGeom prst="wedgeEllipseCallout">
            <a:avLst>
              <a:gd name="adj1" fmla="val -112718"/>
              <a:gd name="adj2" fmla="val 185764"/>
            </a:avLst>
          </a:prstGeom>
          <a:noFill/>
          <a:ln w="9525" cap="flat" cmpd="sng">
            <a:solidFill>
              <a:srgbClr val="0000FF"/>
            </a:solidFill>
            <a:prstDash val="solid"/>
            <a:miter/>
            <a:headEnd type="none" w="med" len="med"/>
            <a:tailEnd type="none" w="med" len="med"/>
          </a:ln>
        </p:spPr>
        <p:txBody>
          <a:bodyPr/>
          <a:p>
            <a:pPr algn="ctr" eaLnBrk="0" hangingPunct="0"/>
            <a:endParaRPr sz="2400" b="0" dirty="0">
              <a:latin typeface="Times New Roman" panose="02020603050405020304" pitchFamily="18" charset="0"/>
            </a:endParaRPr>
          </a:p>
        </p:txBody>
      </p:sp>
      <p:sp>
        <p:nvSpPr>
          <p:cNvPr id="39947" name="文本框 39946"/>
          <p:cNvSpPr txBox="1"/>
          <p:nvPr/>
        </p:nvSpPr>
        <p:spPr>
          <a:xfrm>
            <a:off x="914400" y="5334000"/>
            <a:ext cx="6705600" cy="519113"/>
          </a:xfrm>
          <a:prstGeom prst="rect">
            <a:avLst/>
          </a:prstGeom>
          <a:noFill/>
          <a:ln w="9525">
            <a:noFill/>
          </a:ln>
        </p:spPr>
        <p:txBody>
          <a:bodyPr>
            <a:spAutoFit/>
          </a:bodyPr>
          <a:p>
            <a:pPr eaLnBrk="0" hangingPunct="0"/>
            <a:r>
              <a:rPr lang="zh-CN" altLang="en-US" dirty="0">
                <a:latin typeface="Times New Roman" panose="02020603050405020304" pitchFamily="18" charset="0"/>
              </a:rPr>
              <a:t>由方程组的四个系数确定</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wipe(left)">
                                      <p:cBhvr>
                                        <p:cTn id="7" dur="500"/>
                                        <p:tgtEl>
                                          <p:spTgt spid="399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940"/>
                                        </p:tgtEl>
                                        <p:attrNameLst>
                                          <p:attrName>style.visibility</p:attrName>
                                        </p:attrNameLst>
                                      </p:cBhvr>
                                      <p:to>
                                        <p:strVal val="visible"/>
                                      </p:to>
                                    </p:set>
                                    <p:animEffect transition="in" filter="wipe(left)">
                                      <p:cBhvr>
                                        <p:cTn id="12" dur="500"/>
                                        <p:tgtEl>
                                          <p:spTgt spid="399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941"/>
                                        </p:tgtEl>
                                        <p:attrNameLst>
                                          <p:attrName>style.visibility</p:attrName>
                                        </p:attrNameLst>
                                      </p:cBhvr>
                                      <p:to>
                                        <p:strVal val="visible"/>
                                      </p:to>
                                    </p:set>
                                    <p:animEffect transition="in" filter="wipe(left)">
                                      <p:cBhvr>
                                        <p:cTn id="17" dur="500"/>
                                        <p:tgtEl>
                                          <p:spTgt spid="399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942"/>
                                        </p:tgtEl>
                                        <p:attrNameLst>
                                          <p:attrName>style.visibility</p:attrName>
                                        </p:attrNameLst>
                                      </p:cBhvr>
                                      <p:to>
                                        <p:strVal val="visible"/>
                                      </p:to>
                                    </p:set>
                                    <p:animEffect transition="in" filter="wipe(left)">
                                      <p:cBhvr>
                                        <p:cTn id="22" dur="500"/>
                                        <p:tgtEl>
                                          <p:spTgt spid="3994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9943"/>
                                        </p:tgtEl>
                                        <p:attrNameLst>
                                          <p:attrName>style.visibility</p:attrName>
                                        </p:attrNameLst>
                                      </p:cBhvr>
                                      <p:to>
                                        <p:strVal val="visible"/>
                                      </p:to>
                                    </p:set>
                                    <p:animEffect transition="in" filter="wipe(left)">
                                      <p:cBhvr>
                                        <p:cTn id="27" dur="500"/>
                                        <p:tgtEl>
                                          <p:spTgt spid="399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9944"/>
                                        </p:tgtEl>
                                        <p:attrNameLst>
                                          <p:attrName>style.visibility</p:attrName>
                                        </p:attrNameLst>
                                      </p:cBhvr>
                                      <p:to>
                                        <p:strVal val="visible"/>
                                      </p:to>
                                    </p:set>
                                    <p:animEffect transition="in" filter="wipe(left)">
                                      <p:cBhvr>
                                        <p:cTn id="32" dur="500"/>
                                        <p:tgtEl>
                                          <p:spTgt spid="3994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9945"/>
                                        </p:tgtEl>
                                        <p:attrNameLst>
                                          <p:attrName>style.visibility</p:attrName>
                                        </p:attrNameLst>
                                      </p:cBhvr>
                                      <p:to>
                                        <p:strVal val="visible"/>
                                      </p:to>
                                    </p:set>
                                    <p:animEffect transition="in" filter="wipe(left)">
                                      <p:cBhvr>
                                        <p:cTn id="37" dur="500"/>
                                        <p:tgtEl>
                                          <p:spTgt spid="3994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39946"/>
                                        </p:tgtEl>
                                        <p:attrNameLst>
                                          <p:attrName>style.visibility</p:attrName>
                                        </p:attrNameLst>
                                      </p:cBhvr>
                                      <p:to>
                                        <p:strVal val="visible"/>
                                      </p:to>
                                    </p:set>
                                    <p:animEffect transition="in" filter="wipe(right)">
                                      <p:cBhvr>
                                        <p:cTn id="42" dur="500"/>
                                        <p:tgtEl>
                                          <p:spTgt spid="3994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lt">
                                    <p:tmPct val="100000"/>
                                  </p:iterate>
                                  <p:childTnLst>
                                    <p:set>
                                      <p:cBhvr>
                                        <p:cTn id="46" dur="1" fill="hold">
                                          <p:stCondLst>
                                            <p:cond delay="0"/>
                                          </p:stCondLst>
                                        </p:cTn>
                                        <p:tgtEl>
                                          <p:spTgt spid="39947"/>
                                        </p:tgtEl>
                                        <p:attrNameLst>
                                          <p:attrName>style.visibility</p:attrName>
                                        </p:attrNameLst>
                                      </p:cBhvr>
                                      <p:to>
                                        <p:strVal val="visible"/>
                                      </p:to>
                                    </p:set>
                                    <p:animEffect transition="in" filter="wipe(left)">
                                      <p:cBhvr>
                                        <p:cTn id="47" dur="75"/>
                                        <p:tgtEl>
                                          <p:spTgt spid="39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2" grpId="0"/>
      <p:bldP spid="39945" grpId="0" animBg="1"/>
      <p:bldP spid="39946" grpId="0" animBg="1"/>
      <p:bldP spid="399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文本框 40961"/>
          <p:cNvSpPr txBox="1"/>
          <p:nvPr/>
        </p:nvSpPr>
        <p:spPr>
          <a:xfrm>
            <a:off x="914400" y="838200"/>
            <a:ext cx="8229600" cy="521970"/>
          </a:xfrm>
          <a:prstGeom prst="rect">
            <a:avLst/>
          </a:prstGeom>
          <a:noFill/>
          <a:ln w="9525">
            <a:noFill/>
          </a:ln>
        </p:spPr>
        <p:txBody>
          <a:bodyPr>
            <a:spAutoFit/>
          </a:bodyPr>
          <a:p>
            <a:pPr>
              <a:spcBef>
                <a:spcPct val="50000"/>
              </a:spcBef>
            </a:pPr>
            <a:r>
              <a:rPr lang="en-US" altLang="zh-CN" dirty="0">
                <a:latin typeface="Times New Roman" panose="02020603050405020304" pitchFamily="18" charset="0"/>
              </a:rPr>
              <a:t>            </a:t>
            </a:r>
            <a:endParaRPr lang="zh-CN" altLang="en-US" dirty="0">
              <a:latin typeface="Times New Roman" panose="02020603050405020304" pitchFamily="18" charset="0"/>
              <a:ea typeface="黑体" panose="02010609060101010101" pitchFamily="2" charset="-122"/>
            </a:endParaRPr>
          </a:p>
        </p:txBody>
      </p:sp>
      <p:sp>
        <p:nvSpPr>
          <p:cNvPr id="40964" name="矩形 40963"/>
          <p:cNvSpPr/>
          <p:nvPr/>
        </p:nvSpPr>
        <p:spPr>
          <a:xfrm>
            <a:off x="251460" y="584200"/>
            <a:ext cx="1969770" cy="542290"/>
          </a:xfrm>
          <a:prstGeom prst="rect">
            <a:avLst/>
          </a:prstGeom>
          <a:noFill/>
          <a:ln w="9525">
            <a:noFill/>
          </a:ln>
        </p:spPr>
        <p:txBody>
          <a:bodyPr wrap="square">
            <a:noAutofit/>
          </a:bodyPr>
          <a:p>
            <a:r>
              <a:rPr lang="zh-CN" altLang="en-US" dirty="0">
                <a:solidFill>
                  <a:srgbClr val="FF3300"/>
                </a:solidFill>
                <a:effectLst>
                  <a:outerShdw blurRad="38100" dist="38100" dir="2700000">
                    <a:srgbClr val="000000"/>
                  </a:outerShdw>
                </a:effectLst>
                <a:latin typeface="Times New Roman" panose="02020603050405020304" pitchFamily="18" charset="0"/>
                <a:ea typeface="黑体" panose="02010609060101010101" pitchFamily="2" charset="-122"/>
              </a:rPr>
              <a:t>定义</a:t>
            </a:r>
            <a:r>
              <a:rPr lang="en-US" altLang="zh-CN" dirty="0">
                <a:solidFill>
                  <a:srgbClr val="FF3300"/>
                </a:solidFill>
                <a:effectLst>
                  <a:outerShdw blurRad="38100" dist="38100" dir="2700000">
                    <a:srgbClr val="000000"/>
                  </a:outerShdw>
                </a:effectLst>
                <a:latin typeface="Times New Roman" panose="02020603050405020304" pitchFamily="18" charset="0"/>
                <a:ea typeface="黑体" panose="02010609060101010101" pitchFamily="2" charset="-122"/>
              </a:rPr>
              <a:t>1.1.1</a:t>
            </a:r>
            <a:endParaRPr lang="en-US" altLang="zh-CN" dirty="0">
              <a:solidFill>
                <a:srgbClr val="FF3300"/>
              </a:solidFill>
              <a:effectLst>
                <a:outerShdw blurRad="38100" dist="38100" dir="2700000">
                  <a:srgbClr val="000000"/>
                </a:outerShdw>
              </a:effectLst>
              <a:latin typeface="Times New Roman" panose="02020603050405020304" pitchFamily="18" charset="0"/>
              <a:ea typeface="黑体" panose="02010609060101010101" pitchFamily="2" charset="-122"/>
            </a:endParaRPr>
          </a:p>
        </p:txBody>
      </p:sp>
      <p:graphicFrame>
        <p:nvGraphicFramePr>
          <p:cNvPr id="40965" name="对象 40964"/>
          <p:cNvGraphicFramePr/>
          <p:nvPr/>
        </p:nvGraphicFramePr>
        <p:xfrm>
          <a:off x="895350" y="1139190"/>
          <a:ext cx="7566025" cy="1771650"/>
        </p:xfrm>
        <a:graphic>
          <a:graphicData uri="http://schemas.openxmlformats.org/presentationml/2006/ole">
            <mc:AlternateContent xmlns:mc="http://schemas.openxmlformats.org/markup-compatibility/2006">
              <mc:Choice xmlns:v="urn:schemas-microsoft-com:vml" Requires="v">
                <p:oleObj spid="_x0000_s3085" name="" r:id="rId1" imgW="2540000" imgH="685800" progId="Equation.3">
                  <p:embed/>
                </p:oleObj>
              </mc:Choice>
              <mc:Fallback>
                <p:oleObj name="" r:id="rId1" imgW="2540000" imgH="685800" progId="Equation.3">
                  <p:embed/>
                  <p:pic>
                    <p:nvPicPr>
                      <p:cNvPr id="0" name="图片 3084"/>
                      <p:cNvPicPr/>
                      <p:nvPr/>
                    </p:nvPicPr>
                    <p:blipFill>
                      <a:blip r:embed="rId2"/>
                      <a:stretch>
                        <a:fillRect/>
                      </a:stretch>
                    </p:blipFill>
                    <p:spPr>
                      <a:xfrm>
                        <a:off x="895350" y="1139190"/>
                        <a:ext cx="7566025" cy="1771650"/>
                      </a:xfrm>
                      <a:prstGeom prst="rect">
                        <a:avLst/>
                      </a:prstGeom>
                      <a:noFill/>
                      <a:ln w="38100">
                        <a:noFill/>
                        <a:miter/>
                      </a:ln>
                    </p:spPr>
                  </p:pic>
                </p:oleObj>
              </mc:Fallback>
            </mc:AlternateContent>
          </a:graphicData>
        </a:graphic>
      </p:graphicFrame>
      <p:sp>
        <p:nvSpPr>
          <p:cNvPr id="40966" name="文本框 40965"/>
          <p:cNvSpPr txBox="1"/>
          <p:nvPr/>
        </p:nvSpPr>
        <p:spPr>
          <a:xfrm>
            <a:off x="929640" y="2997200"/>
            <a:ext cx="7270115" cy="2330450"/>
          </a:xfrm>
          <a:prstGeom prst="rect">
            <a:avLst/>
          </a:prstGeom>
          <a:noFill/>
          <a:ln w="9525">
            <a:noFill/>
          </a:ln>
        </p:spPr>
        <p:txBody>
          <a:bodyPr wrap="square">
            <a:spAutoFit/>
          </a:bodyPr>
          <a:p>
            <a:pPr>
              <a:lnSpc>
                <a:spcPct val="130000"/>
              </a:lnSpc>
            </a:pPr>
            <a:r>
              <a:rPr lang="zh-CN" altLang="en-US">
                <a:latin typeface="Times New Roman" panose="02020603050405020304" pitchFamily="18" charset="0"/>
                <a:ea typeface="黑体" panose="02010609060101010101" pitchFamily="2" charset="-122"/>
              </a:rPr>
              <a:t>行列式中的横排叫做行，竖排叫做列，数</a:t>
            </a:r>
            <a:r>
              <a:rPr lang="en-US" altLang="zh-CN">
                <a:latin typeface="Times New Roman" panose="02020603050405020304" pitchFamily="18" charset="0"/>
                <a:ea typeface="黑体" panose="02010609060101010101" pitchFamily="2" charset="-122"/>
              </a:rPr>
              <a:t>      </a:t>
            </a:r>
            <a:r>
              <a:rPr lang="zh-CN" altLang="en-US">
                <a:latin typeface="Times New Roman" panose="02020603050405020304" pitchFamily="18" charset="0"/>
                <a:ea typeface="黑体" panose="02010609060101010101" pitchFamily="2" charset="-122"/>
              </a:rPr>
              <a:t>称为行列式的元素，</a:t>
            </a:r>
            <a:r>
              <a:rPr lang="en-US" altLang="zh-CN">
                <a:latin typeface="Times New Roman" panose="02020603050405020304" pitchFamily="18" charset="0"/>
                <a:ea typeface="黑体" panose="02010609060101010101" pitchFamily="2" charset="-122"/>
              </a:rPr>
              <a:t>    </a:t>
            </a:r>
            <a:r>
              <a:rPr lang="zh-CN" altLang="en-US">
                <a:latin typeface="Times New Roman" panose="02020603050405020304" pitchFamily="18" charset="0"/>
                <a:ea typeface="黑体" panose="02010609060101010101" pitchFamily="2" charset="-122"/>
              </a:rPr>
              <a:t>的下标</a:t>
            </a:r>
            <a:r>
              <a:rPr lang="en-US" altLang="zh-CN">
                <a:latin typeface="Times New Roman" panose="02020603050405020304" pitchFamily="18" charset="0"/>
                <a:ea typeface="黑体" panose="02010609060101010101" pitchFamily="2" charset="-122"/>
              </a:rPr>
              <a:t>i </a:t>
            </a:r>
            <a:r>
              <a:rPr lang="zh-CN" altLang="en-US">
                <a:latin typeface="Times New Roman" panose="02020603050405020304" pitchFamily="18" charset="0"/>
                <a:ea typeface="黑体" panose="02010609060101010101" pitchFamily="2" charset="-122"/>
              </a:rPr>
              <a:t>和</a:t>
            </a:r>
            <a:r>
              <a:rPr lang="en-US" altLang="zh-CN">
                <a:latin typeface="Times New Roman" panose="02020603050405020304" pitchFamily="18" charset="0"/>
                <a:ea typeface="黑体" panose="02010609060101010101" pitchFamily="2" charset="-122"/>
              </a:rPr>
              <a:t> j </a:t>
            </a:r>
            <a:r>
              <a:rPr lang="zh-CN" altLang="en-US">
                <a:latin typeface="Times New Roman" panose="02020603050405020304" pitchFamily="18" charset="0"/>
                <a:ea typeface="黑体" panose="02010609060101010101" pitchFamily="2" charset="-122"/>
              </a:rPr>
              <a:t>分别为该元素的行标与列标，表示</a:t>
            </a:r>
            <a:r>
              <a:rPr lang="en-US" altLang="zh-CN">
                <a:latin typeface="Times New Roman" panose="02020603050405020304" pitchFamily="18" charset="0"/>
                <a:ea typeface="黑体" panose="02010609060101010101" pitchFamily="2" charset="-122"/>
              </a:rPr>
              <a:t>      </a:t>
            </a:r>
            <a:r>
              <a:rPr lang="zh-CN" altLang="en-US">
                <a:latin typeface="Times New Roman" panose="02020603050405020304" pitchFamily="18" charset="0"/>
                <a:ea typeface="黑体" panose="02010609060101010101" pitchFamily="2" charset="-122"/>
              </a:rPr>
              <a:t>在行列式中的位置位于第</a:t>
            </a:r>
            <a:r>
              <a:rPr lang="en-US" altLang="zh-CN">
                <a:latin typeface="Times New Roman" panose="02020603050405020304" pitchFamily="18" charset="0"/>
                <a:ea typeface="黑体" panose="02010609060101010101" pitchFamily="2" charset="-122"/>
              </a:rPr>
              <a:t>i </a:t>
            </a:r>
            <a:r>
              <a:rPr lang="zh-CN" altLang="en-US">
                <a:latin typeface="Times New Roman" panose="02020603050405020304" pitchFamily="18" charset="0"/>
                <a:ea typeface="黑体" panose="02010609060101010101" pitchFamily="2" charset="-122"/>
              </a:rPr>
              <a:t>行、第</a:t>
            </a:r>
            <a:r>
              <a:rPr lang="en-US" altLang="zh-CN">
                <a:latin typeface="Times New Roman" panose="02020603050405020304" pitchFamily="18" charset="0"/>
                <a:ea typeface="黑体" panose="02010609060101010101" pitchFamily="2" charset="-122"/>
              </a:rPr>
              <a:t> j </a:t>
            </a:r>
            <a:r>
              <a:rPr lang="zh-CN" altLang="en-US">
                <a:latin typeface="Times New Roman" panose="02020603050405020304" pitchFamily="18" charset="0"/>
                <a:ea typeface="黑体" panose="02010609060101010101" pitchFamily="2" charset="-122"/>
              </a:rPr>
              <a:t>列．</a:t>
            </a:r>
            <a:endParaRPr lang="zh-CN" altLang="en-US">
              <a:latin typeface="Times New Roman" panose="02020603050405020304" pitchFamily="18" charset="0"/>
              <a:ea typeface="黑体" panose="02010609060101010101" pitchFamily="2" charset="-122"/>
            </a:endParaRPr>
          </a:p>
        </p:txBody>
      </p:sp>
      <p:graphicFrame>
        <p:nvGraphicFramePr>
          <p:cNvPr id="2" name="对象 1"/>
          <p:cNvGraphicFramePr/>
          <p:nvPr/>
        </p:nvGraphicFramePr>
        <p:xfrm>
          <a:off x="7539355" y="3018155"/>
          <a:ext cx="588645" cy="521970"/>
        </p:xfrm>
        <a:graphic>
          <a:graphicData uri="http://schemas.openxmlformats.org/presentationml/2006/ole">
            <mc:AlternateContent xmlns:mc="http://schemas.openxmlformats.org/markup-compatibility/2006">
              <mc:Choice xmlns:v="urn:schemas-microsoft-com:vml" Requires="v">
                <p:oleObj spid="_x0000_s3" name="" r:id="rId3" imgW="177165" imgH="241300" progId="Equation.KSEE3">
                  <p:embed/>
                </p:oleObj>
              </mc:Choice>
              <mc:Fallback>
                <p:oleObj name="" r:id="rId3" imgW="177165" imgH="241300" progId="Equation.KSEE3">
                  <p:embed/>
                  <p:pic>
                    <p:nvPicPr>
                      <p:cNvPr id="0" name="图片 2"/>
                      <p:cNvPicPr/>
                      <p:nvPr/>
                    </p:nvPicPr>
                    <p:blipFill>
                      <a:blip r:embed="rId4"/>
                      <a:stretch>
                        <a:fillRect/>
                      </a:stretch>
                    </p:blipFill>
                    <p:spPr>
                      <a:xfrm>
                        <a:off x="7539355" y="3018155"/>
                        <a:ext cx="588645" cy="521970"/>
                      </a:xfrm>
                      <a:prstGeom prst="rect">
                        <a:avLst/>
                      </a:prstGeom>
                    </p:spPr>
                  </p:pic>
                </p:oleObj>
              </mc:Fallback>
            </mc:AlternateContent>
          </a:graphicData>
        </a:graphic>
      </p:graphicFrame>
      <p:graphicFrame>
        <p:nvGraphicFramePr>
          <p:cNvPr id="4" name="对象 3"/>
          <p:cNvGraphicFramePr/>
          <p:nvPr/>
        </p:nvGraphicFramePr>
        <p:xfrm>
          <a:off x="4057650" y="3561715"/>
          <a:ext cx="586740" cy="585470"/>
        </p:xfrm>
        <a:graphic>
          <a:graphicData uri="http://schemas.openxmlformats.org/presentationml/2006/ole">
            <mc:AlternateContent xmlns:mc="http://schemas.openxmlformats.org/markup-compatibility/2006">
              <mc:Choice xmlns:v="urn:schemas-microsoft-com:vml" Requires="v">
                <p:oleObj spid="_x0000_s5" name="" r:id="rId5" imgW="177165" imgH="241300" progId="Equation.KSEE3">
                  <p:embed/>
                </p:oleObj>
              </mc:Choice>
              <mc:Fallback>
                <p:oleObj name="" r:id="rId5" imgW="177165" imgH="241300" progId="Equation.KSEE3">
                  <p:embed/>
                  <p:pic>
                    <p:nvPicPr>
                      <p:cNvPr id="0" name="图片 2"/>
                      <p:cNvPicPr/>
                      <p:nvPr/>
                    </p:nvPicPr>
                    <p:blipFill>
                      <a:blip r:embed="rId4"/>
                      <a:stretch>
                        <a:fillRect/>
                      </a:stretch>
                    </p:blipFill>
                    <p:spPr>
                      <a:xfrm>
                        <a:off x="4057650" y="3561715"/>
                        <a:ext cx="586740" cy="585470"/>
                      </a:xfrm>
                      <a:prstGeom prst="rect">
                        <a:avLst/>
                      </a:prstGeom>
                    </p:spPr>
                  </p:pic>
                </p:oleObj>
              </mc:Fallback>
            </mc:AlternateContent>
          </a:graphicData>
        </a:graphic>
      </p:graphicFrame>
      <p:graphicFrame>
        <p:nvGraphicFramePr>
          <p:cNvPr id="6" name="对象 5"/>
          <p:cNvGraphicFramePr/>
          <p:nvPr/>
        </p:nvGraphicFramePr>
        <p:xfrm>
          <a:off x="4928235" y="4147185"/>
          <a:ext cx="668655" cy="641350"/>
        </p:xfrm>
        <a:graphic>
          <a:graphicData uri="http://schemas.openxmlformats.org/presentationml/2006/ole">
            <mc:AlternateContent xmlns:mc="http://schemas.openxmlformats.org/markup-compatibility/2006">
              <mc:Choice xmlns:v="urn:schemas-microsoft-com:vml" Requires="v">
                <p:oleObj spid="_x0000_s7" name="" r:id="rId6" imgW="177165" imgH="241300" progId="Equation.KSEE3">
                  <p:embed/>
                </p:oleObj>
              </mc:Choice>
              <mc:Fallback>
                <p:oleObj name="" r:id="rId6" imgW="177165" imgH="241300" progId="Equation.KSEE3">
                  <p:embed/>
                  <p:pic>
                    <p:nvPicPr>
                      <p:cNvPr id="0" name="图片 2"/>
                      <p:cNvPicPr/>
                      <p:nvPr/>
                    </p:nvPicPr>
                    <p:blipFill>
                      <a:blip r:embed="rId4"/>
                      <a:stretch>
                        <a:fillRect/>
                      </a:stretch>
                    </p:blipFill>
                    <p:spPr>
                      <a:xfrm>
                        <a:off x="4928235" y="4147185"/>
                        <a:ext cx="668655" cy="641350"/>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40962"/>
                                        </p:tgtEl>
                                        <p:attrNameLst>
                                          <p:attrName>style.visibility</p:attrName>
                                        </p:attrNameLst>
                                      </p:cBhvr>
                                      <p:to>
                                        <p:strVal val="visible"/>
                                      </p:to>
                                    </p:set>
                                    <p:animEffect transition="in" filter="wipe(left)">
                                      <p:cBhvr>
                                        <p:cTn id="7" dur="75"/>
                                        <p:tgtEl>
                                          <p:spTgt spid="409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0965"/>
                                        </p:tgtEl>
                                        <p:attrNameLst>
                                          <p:attrName>style.visibility</p:attrName>
                                        </p:attrNameLst>
                                      </p:cBhvr>
                                      <p:to>
                                        <p:strVal val="visible"/>
                                      </p:to>
                                    </p:set>
                                    <p:animEffect transition="in" filter="wipe(left)">
                                      <p:cBhvr>
                                        <p:cTn id="12" dur="500"/>
                                        <p:tgtEl>
                                          <p:spTgt spid="409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0966"/>
                                        </p:tgtEl>
                                        <p:attrNameLst>
                                          <p:attrName>style.visibility</p:attrName>
                                        </p:attrNameLst>
                                      </p:cBhvr>
                                      <p:to>
                                        <p:strVal val="visible"/>
                                      </p:to>
                                    </p:set>
                                    <p:animEffect transition="in" filter="wipe(down)">
                                      <p:cBhvr>
                                        <p:cTn id="17" dur="500"/>
                                        <p:tgtEl>
                                          <p:spTgt spid="40966"/>
                                        </p:tgtEl>
                                      </p:cBhvr>
                                    </p:animEffect>
                                  </p:childTnLst>
                                </p:cTn>
                              </p:par>
                              <p:par>
                                <p:cTn id="18" presetID="22" presetClass="entr" presetSubtype="4" fill="hold"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par>
                                <p:cTn id="21" presetID="22" presetClass="entr" presetSubtype="4"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500"/>
                                        <p:tgtEl>
                                          <p:spTgt spid="4"/>
                                        </p:tgtEl>
                                      </p:cBhvr>
                                    </p:animEffect>
                                  </p:childTnLst>
                                </p:cTn>
                              </p:par>
                              <p:par>
                                <p:cTn id="24" presetID="22" presetClass="entr" presetSubtype="4"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P spid="4096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1986" name="组合 41985"/>
          <p:cNvGrpSpPr/>
          <p:nvPr>
            <p:custDataLst>
              <p:tags r:id="rId1"/>
            </p:custDataLst>
          </p:nvPr>
        </p:nvGrpSpPr>
        <p:grpSpPr>
          <a:xfrm>
            <a:off x="2895600" y="1631950"/>
            <a:ext cx="1752600" cy="1511300"/>
            <a:chOff x="1248" y="1004"/>
            <a:chExt cx="1104" cy="952"/>
          </a:xfrm>
        </p:grpSpPr>
        <p:graphicFrame>
          <p:nvGraphicFramePr>
            <p:cNvPr id="41987" name="对象 41986"/>
            <p:cNvGraphicFramePr/>
            <p:nvPr>
              <p:custDataLst>
                <p:tags r:id="rId2"/>
              </p:custDataLst>
            </p:nvPr>
          </p:nvGraphicFramePr>
          <p:xfrm>
            <a:off x="1296" y="1016"/>
            <a:ext cx="288" cy="342"/>
          </p:xfrm>
          <a:graphic>
            <a:graphicData uri="http://schemas.openxmlformats.org/presentationml/2006/ole">
              <mc:AlternateContent xmlns:mc="http://schemas.openxmlformats.org/markup-compatibility/2006">
                <mc:Choice xmlns:v="urn:schemas-microsoft-com:vml" Requires="v">
                  <p:oleObj spid="_x0000_s3093" name="" r:id="rId3" imgW="203200" imgH="215900" progId="Equation.3">
                    <p:embed/>
                  </p:oleObj>
                </mc:Choice>
                <mc:Fallback>
                  <p:oleObj name="" r:id="rId3" imgW="203200" imgH="215900" progId="Equation.3">
                    <p:embed/>
                    <p:pic>
                      <p:nvPicPr>
                        <p:cNvPr id="0" name="图片 3092"/>
                        <p:cNvPicPr/>
                        <p:nvPr/>
                      </p:nvPicPr>
                      <p:blipFill>
                        <a:blip r:embed="rId4"/>
                        <a:stretch>
                          <a:fillRect/>
                        </a:stretch>
                      </p:blipFill>
                      <p:spPr>
                        <a:xfrm>
                          <a:off x="1296" y="1016"/>
                          <a:ext cx="288" cy="342"/>
                        </a:xfrm>
                        <a:prstGeom prst="rect">
                          <a:avLst/>
                        </a:prstGeom>
                        <a:noFill/>
                        <a:ln w="9525" cap="flat" cmpd="sng">
                          <a:solidFill>
                            <a:schemeClr val="tx2"/>
                          </a:solidFill>
                          <a:prstDash val="solid"/>
                          <a:miter/>
                          <a:headEnd type="none" w="med" len="med"/>
                          <a:tailEnd type="none" w="med" len="med"/>
                        </a:ln>
                      </p:spPr>
                    </p:pic>
                  </p:oleObj>
                </mc:Fallback>
              </mc:AlternateContent>
            </a:graphicData>
          </a:graphic>
        </p:graphicFrame>
        <p:graphicFrame>
          <p:nvGraphicFramePr>
            <p:cNvPr id="41988" name="对象 41987"/>
            <p:cNvGraphicFramePr/>
            <p:nvPr>
              <p:custDataLst>
                <p:tags r:id="rId5"/>
              </p:custDataLst>
            </p:nvPr>
          </p:nvGraphicFramePr>
          <p:xfrm>
            <a:off x="2005" y="1004"/>
            <a:ext cx="281" cy="327"/>
          </p:xfrm>
          <a:graphic>
            <a:graphicData uri="http://schemas.openxmlformats.org/presentationml/2006/ole">
              <mc:AlternateContent xmlns:mc="http://schemas.openxmlformats.org/markup-compatibility/2006">
                <mc:Choice xmlns:v="urn:schemas-microsoft-com:vml" Requires="v">
                  <p:oleObj spid="_x0000_s3091" name="" r:id="rId6" imgW="203200" imgH="215900" progId="Equation.3">
                    <p:embed/>
                  </p:oleObj>
                </mc:Choice>
                <mc:Fallback>
                  <p:oleObj name="" r:id="rId6" imgW="203200" imgH="215900" progId="Equation.3">
                    <p:embed/>
                    <p:pic>
                      <p:nvPicPr>
                        <p:cNvPr id="0" name="图片 3090"/>
                        <p:cNvPicPr/>
                        <p:nvPr/>
                      </p:nvPicPr>
                      <p:blipFill>
                        <a:blip r:embed="rId7"/>
                        <a:stretch>
                          <a:fillRect/>
                        </a:stretch>
                      </p:blipFill>
                      <p:spPr>
                        <a:xfrm>
                          <a:off x="2005" y="1004"/>
                          <a:ext cx="281" cy="327"/>
                        </a:xfrm>
                        <a:prstGeom prst="rect">
                          <a:avLst/>
                        </a:prstGeom>
                        <a:noFill/>
                        <a:ln w="9525" cap="flat" cmpd="sng">
                          <a:solidFill>
                            <a:schemeClr val="tx2"/>
                          </a:solidFill>
                          <a:prstDash val="solid"/>
                          <a:miter/>
                          <a:headEnd type="none" w="med" len="med"/>
                          <a:tailEnd type="none" w="med" len="med"/>
                        </a:ln>
                      </p:spPr>
                    </p:pic>
                  </p:oleObj>
                </mc:Fallback>
              </mc:AlternateContent>
            </a:graphicData>
          </a:graphic>
        </p:graphicFrame>
        <p:graphicFrame>
          <p:nvGraphicFramePr>
            <p:cNvPr id="41989" name="对象 41988"/>
            <p:cNvGraphicFramePr/>
            <p:nvPr>
              <p:custDataLst>
                <p:tags r:id="rId8"/>
              </p:custDataLst>
            </p:nvPr>
          </p:nvGraphicFramePr>
          <p:xfrm>
            <a:off x="2016" y="1632"/>
            <a:ext cx="272" cy="264"/>
          </p:xfrm>
          <a:graphic>
            <a:graphicData uri="http://schemas.openxmlformats.org/presentationml/2006/ole">
              <mc:AlternateContent xmlns:mc="http://schemas.openxmlformats.org/markup-compatibility/2006">
                <mc:Choice xmlns:v="urn:schemas-microsoft-com:vml" Requires="v">
                  <p:oleObj spid="_x0000_s3083" name="" r:id="rId9" imgW="431800" imgH="419100" progId="Equation.3">
                    <p:embed/>
                  </p:oleObj>
                </mc:Choice>
                <mc:Fallback>
                  <p:oleObj name="" r:id="rId9" imgW="431800" imgH="419100" progId="Equation.3">
                    <p:embed/>
                    <p:pic>
                      <p:nvPicPr>
                        <p:cNvPr id="0" name="图片 3082"/>
                        <p:cNvPicPr/>
                        <p:nvPr/>
                      </p:nvPicPr>
                      <p:blipFill>
                        <a:blip r:embed="rId10"/>
                        <a:stretch>
                          <a:fillRect/>
                        </a:stretch>
                      </p:blipFill>
                      <p:spPr>
                        <a:xfrm>
                          <a:off x="2016" y="1632"/>
                          <a:ext cx="272" cy="264"/>
                        </a:xfrm>
                        <a:prstGeom prst="rect">
                          <a:avLst/>
                        </a:prstGeom>
                        <a:noFill/>
                        <a:ln w="9525" cap="flat" cmpd="sng">
                          <a:solidFill>
                            <a:schemeClr val="tx2"/>
                          </a:solidFill>
                          <a:prstDash val="solid"/>
                          <a:miter/>
                          <a:headEnd type="none" w="med" len="med"/>
                          <a:tailEnd type="none" w="med" len="med"/>
                        </a:ln>
                      </p:spPr>
                    </p:pic>
                  </p:oleObj>
                </mc:Fallback>
              </mc:AlternateContent>
            </a:graphicData>
          </a:graphic>
        </p:graphicFrame>
        <p:graphicFrame>
          <p:nvGraphicFramePr>
            <p:cNvPr id="41990" name="对象 41989"/>
            <p:cNvGraphicFramePr/>
            <p:nvPr>
              <p:custDataLst>
                <p:tags r:id="rId11"/>
              </p:custDataLst>
            </p:nvPr>
          </p:nvGraphicFramePr>
          <p:xfrm>
            <a:off x="1320" y="1644"/>
            <a:ext cx="264" cy="264"/>
          </p:xfrm>
          <a:graphic>
            <a:graphicData uri="http://schemas.openxmlformats.org/presentationml/2006/ole">
              <mc:AlternateContent xmlns:mc="http://schemas.openxmlformats.org/markup-compatibility/2006">
                <mc:Choice xmlns:v="urn:schemas-microsoft-com:vml" Requires="v">
                  <p:oleObj spid="_x0000_s3090" name="" r:id="rId12" imgW="419100" imgH="419100" progId="Equation.3">
                    <p:embed/>
                  </p:oleObj>
                </mc:Choice>
                <mc:Fallback>
                  <p:oleObj name="" r:id="rId12" imgW="419100" imgH="419100" progId="Equation.3">
                    <p:embed/>
                    <p:pic>
                      <p:nvPicPr>
                        <p:cNvPr id="0" name="图片 3089"/>
                        <p:cNvPicPr/>
                        <p:nvPr/>
                      </p:nvPicPr>
                      <p:blipFill>
                        <a:blip r:embed="rId13"/>
                        <a:stretch>
                          <a:fillRect/>
                        </a:stretch>
                      </p:blipFill>
                      <p:spPr>
                        <a:xfrm>
                          <a:off x="1320" y="1644"/>
                          <a:ext cx="264" cy="264"/>
                        </a:xfrm>
                        <a:prstGeom prst="rect">
                          <a:avLst/>
                        </a:prstGeom>
                        <a:noFill/>
                        <a:ln w="9525" cap="flat" cmpd="sng">
                          <a:solidFill>
                            <a:schemeClr val="tx2"/>
                          </a:solidFill>
                          <a:prstDash val="solid"/>
                          <a:miter/>
                          <a:headEnd type="none" w="med" len="med"/>
                          <a:tailEnd type="none" w="med" len="med"/>
                        </a:ln>
                      </p:spPr>
                    </p:pic>
                  </p:oleObj>
                </mc:Fallback>
              </mc:AlternateContent>
            </a:graphicData>
          </a:graphic>
        </p:graphicFrame>
        <p:sp>
          <p:nvSpPr>
            <p:cNvPr id="41991" name="直接连接符 41990"/>
            <p:cNvSpPr/>
            <p:nvPr>
              <p:custDataLst>
                <p:tags r:id="rId14"/>
              </p:custDataLst>
            </p:nvPr>
          </p:nvSpPr>
          <p:spPr>
            <a:xfrm>
              <a:off x="1248" y="1032"/>
              <a:ext cx="0" cy="912"/>
            </a:xfrm>
            <a:prstGeom prst="line">
              <a:avLst/>
            </a:prstGeom>
            <a:ln w="9525" cap="flat" cmpd="sng">
              <a:solidFill>
                <a:schemeClr val="tx2"/>
              </a:solidFill>
              <a:prstDash val="solid"/>
              <a:headEnd type="none" w="med" len="med"/>
              <a:tailEnd type="none" w="med" len="med"/>
            </a:ln>
          </p:spPr>
        </p:sp>
        <p:sp>
          <p:nvSpPr>
            <p:cNvPr id="41992" name="直接连接符 41991"/>
            <p:cNvSpPr/>
            <p:nvPr/>
          </p:nvSpPr>
          <p:spPr>
            <a:xfrm>
              <a:off x="2352" y="1044"/>
              <a:ext cx="0" cy="912"/>
            </a:xfrm>
            <a:prstGeom prst="line">
              <a:avLst/>
            </a:prstGeom>
            <a:ln w="9525" cap="flat" cmpd="sng">
              <a:solidFill>
                <a:schemeClr val="tx2"/>
              </a:solidFill>
              <a:prstDash val="solid"/>
              <a:headEnd type="none" w="med" len="med"/>
              <a:tailEnd type="none" w="med" len="med"/>
            </a:ln>
          </p:spPr>
        </p:sp>
      </p:grpSp>
      <p:sp>
        <p:nvSpPr>
          <p:cNvPr id="41993" name="直接连接符 41992"/>
          <p:cNvSpPr/>
          <p:nvPr>
            <p:custDataLst>
              <p:tags r:id="rId15"/>
            </p:custDataLst>
          </p:nvPr>
        </p:nvSpPr>
        <p:spPr>
          <a:xfrm>
            <a:off x="3429000" y="2095500"/>
            <a:ext cx="762000" cy="762000"/>
          </a:xfrm>
          <a:prstGeom prst="line">
            <a:avLst/>
          </a:prstGeom>
          <a:ln w="15875" cap="flat" cmpd="sng">
            <a:solidFill>
              <a:srgbClr val="FF0000"/>
            </a:solidFill>
            <a:prstDash val="solid"/>
            <a:headEnd type="none" w="med" len="med"/>
            <a:tailEnd type="none" w="med" len="med"/>
          </a:ln>
        </p:spPr>
      </p:sp>
      <p:sp>
        <p:nvSpPr>
          <p:cNvPr id="41994" name="直接连接符 41993"/>
          <p:cNvSpPr/>
          <p:nvPr>
            <p:custDataLst>
              <p:tags r:id="rId16"/>
            </p:custDataLst>
          </p:nvPr>
        </p:nvSpPr>
        <p:spPr>
          <a:xfrm flipV="1">
            <a:off x="3333750" y="2019300"/>
            <a:ext cx="762000" cy="762000"/>
          </a:xfrm>
          <a:prstGeom prst="line">
            <a:avLst/>
          </a:prstGeom>
          <a:ln w="15875" cap="flat" cmpd="sng">
            <a:solidFill>
              <a:srgbClr val="0000FF"/>
            </a:solidFill>
            <a:prstDash val="solid"/>
            <a:headEnd type="none" w="med" len="med"/>
            <a:tailEnd type="none" w="med" len="med"/>
          </a:ln>
        </p:spPr>
      </p:sp>
      <p:sp>
        <p:nvSpPr>
          <p:cNvPr id="41995" name="圆角矩形标注 41994"/>
          <p:cNvSpPr/>
          <p:nvPr>
            <p:custDataLst>
              <p:tags r:id="rId17"/>
            </p:custDataLst>
          </p:nvPr>
        </p:nvSpPr>
        <p:spPr>
          <a:xfrm>
            <a:off x="914400" y="1695450"/>
            <a:ext cx="1752600" cy="533400"/>
          </a:xfrm>
          <a:prstGeom prst="wedgeRoundRectCallout">
            <a:avLst>
              <a:gd name="adj1" fmla="val 98644"/>
              <a:gd name="adj2" fmla="val 42264"/>
              <a:gd name="adj3" fmla="val 16667"/>
            </a:avLst>
          </a:prstGeom>
          <a:noFill/>
          <a:ln w="9525" cap="flat" cmpd="sng">
            <a:solidFill>
              <a:srgbClr val="FF0000"/>
            </a:solidFill>
            <a:prstDash val="solid"/>
            <a:miter/>
            <a:headEnd type="none" w="med" len="med"/>
            <a:tailEnd type="none" w="med" len="med"/>
          </a:ln>
        </p:spPr>
        <p:txBody>
          <a:bodyPr/>
          <a:p>
            <a:pPr algn="ctr"/>
            <a:r>
              <a:rPr lang="zh-CN" altLang="en-US" sz="2400">
                <a:latin typeface="Times New Roman" panose="02020603050405020304" pitchFamily="18" charset="0"/>
              </a:rPr>
              <a:t>主</a:t>
            </a:r>
            <a:r>
              <a:rPr lang="zh-CN" altLang="en-US" sz="2400" dirty="0">
                <a:latin typeface="Times New Roman" panose="02020603050405020304" pitchFamily="18" charset="0"/>
              </a:rPr>
              <a:t>对角线</a:t>
            </a:r>
            <a:endParaRPr lang="zh-CN" altLang="en-US" sz="2400">
              <a:latin typeface="Times New Roman" panose="02020603050405020304" pitchFamily="18" charset="0"/>
            </a:endParaRPr>
          </a:p>
        </p:txBody>
      </p:sp>
      <p:sp>
        <p:nvSpPr>
          <p:cNvPr id="41996" name="圆角矩形标注 41995"/>
          <p:cNvSpPr/>
          <p:nvPr>
            <p:custDataLst>
              <p:tags r:id="rId18"/>
            </p:custDataLst>
          </p:nvPr>
        </p:nvSpPr>
        <p:spPr>
          <a:xfrm>
            <a:off x="914400" y="2609850"/>
            <a:ext cx="1752600" cy="533400"/>
          </a:xfrm>
          <a:prstGeom prst="wedgeRoundRectCallout">
            <a:avLst>
              <a:gd name="adj1" fmla="val 98644"/>
              <a:gd name="adj2" fmla="val -54167"/>
              <a:gd name="adj3" fmla="val 16667"/>
            </a:avLst>
          </a:prstGeom>
          <a:noFill/>
          <a:ln w="12700" cap="flat" cmpd="sng">
            <a:solidFill>
              <a:schemeClr val="accent2"/>
            </a:solidFill>
            <a:prstDash val="solid"/>
            <a:miter/>
            <a:headEnd type="none" w="med" len="med"/>
            <a:tailEnd type="none" w="med" len="med"/>
          </a:ln>
        </p:spPr>
        <p:txBody>
          <a:bodyPr/>
          <a:p>
            <a:pPr algn="ctr"/>
            <a:r>
              <a:rPr lang="zh-CN" altLang="en-US" sz="2400" dirty="0">
                <a:latin typeface="Times New Roman" panose="02020603050405020304" pitchFamily="18" charset="0"/>
              </a:rPr>
              <a:t>副对角线</a:t>
            </a:r>
            <a:endParaRPr lang="zh-CN" altLang="en-US" sz="2400">
              <a:latin typeface="Times New Roman" panose="02020603050405020304" pitchFamily="18" charset="0"/>
            </a:endParaRPr>
          </a:p>
        </p:txBody>
      </p:sp>
      <p:sp>
        <p:nvSpPr>
          <p:cNvPr id="41997" name="文本框 41996"/>
          <p:cNvSpPr txBox="1"/>
          <p:nvPr/>
        </p:nvSpPr>
        <p:spPr>
          <a:xfrm>
            <a:off x="4876800" y="792163"/>
            <a:ext cx="3581400" cy="579437"/>
          </a:xfrm>
          <a:prstGeom prst="rect">
            <a:avLst/>
          </a:prstGeom>
          <a:noFill/>
          <a:ln w="9525">
            <a:noFill/>
          </a:ln>
        </p:spPr>
        <p:txBody>
          <a:bodyPr>
            <a:spAutoFit/>
          </a:bodyPr>
          <a:p>
            <a:pPr>
              <a:spcBef>
                <a:spcPct val="50000"/>
              </a:spcBef>
            </a:pPr>
            <a:r>
              <a:rPr lang="zh-CN" altLang="en-US" sz="3200" dirty="0">
                <a:solidFill>
                  <a:srgbClr val="0000FF"/>
                </a:solidFill>
                <a:effectLst>
                  <a:outerShdw blurRad="38100" dist="38100" dir="2700000">
                    <a:srgbClr val="000000"/>
                  </a:outerShdw>
                </a:effectLst>
                <a:latin typeface="Times New Roman" panose="02020603050405020304" pitchFamily="18" charset="0"/>
                <a:ea typeface="黑体" panose="02010609060101010101" pitchFamily="2" charset="-122"/>
              </a:rPr>
              <a:t>对角线法则</a:t>
            </a:r>
            <a:endParaRPr lang="zh-CN" altLang="en-US" sz="3200">
              <a:solidFill>
                <a:srgbClr val="0000FF"/>
              </a:solidFill>
              <a:effectLst>
                <a:outerShdw blurRad="38100" dist="38100" dir="2700000">
                  <a:srgbClr val="000000"/>
                </a:outerShdw>
              </a:effectLst>
              <a:latin typeface="Times New Roman" panose="02020603050405020304" pitchFamily="18" charset="0"/>
              <a:ea typeface="黑体" panose="02010609060101010101" pitchFamily="2" charset="-122"/>
            </a:endParaRPr>
          </a:p>
        </p:txBody>
      </p:sp>
      <p:sp>
        <p:nvSpPr>
          <p:cNvPr id="42000" name="文本框 41999"/>
          <p:cNvSpPr txBox="1"/>
          <p:nvPr/>
        </p:nvSpPr>
        <p:spPr>
          <a:xfrm>
            <a:off x="914400" y="792163"/>
            <a:ext cx="4233863" cy="579437"/>
          </a:xfrm>
          <a:prstGeom prst="rect">
            <a:avLst/>
          </a:prstGeom>
          <a:noFill/>
          <a:ln w="9525">
            <a:noFill/>
          </a:ln>
        </p:spPr>
        <p:txBody>
          <a:bodyPr>
            <a:spAutoFit/>
          </a:bodyPr>
          <a:p>
            <a:r>
              <a:rPr lang="zh-CN" altLang="en-US" sz="3200">
                <a:solidFill>
                  <a:srgbClr val="0000FF"/>
                </a:solidFill>
                <a:latin typeface="Times New Roman" panose="02020603050405020304" pitchFamily="18" charset="0"/>
                <a:ea typeface="黑体" panose="02010609060101010101" pitchFamily="2" charset="-122"/>
              </a:rPr>
              <a:t>二阶</a:t>
            </a:r>
            <a:r>
              <a:rPr lang="zh-CN" altLang="en-US" sz="3200" dirty="0">
                <a:solidFill>
                  <a:srgbClr val="0000FF"/>
                </a:solidFill>
                <a:latin typeface="Times New Roman" panose="02020603050405020304" pitchFamily="18" charset="0"/>
                <a:ea typeface="黑体" panose="02010609060101010101" pitchFamily="2" charset="-122"/>
              </a:rPr>
              <a:t>行列式的计算</a:t>
            </a:r>
            <a:endParaRPr lang="zh-CN" altLang="en-US" sz="3200">
              <a:solidFill>
                <a:srgbClr val="0000FF"/>
              </a:solidFill>
              <a:latin typeface="Times New Roman" panose="02020603050405020304" pitchFamily="18" charset="0"/>
              <a:ea typeface="黑体" panose="02010609060101010101" pitchFamily="2" charset="-122"/>
            </a:endParaRPr>
          </a:p>
        </p:txBody>
      </p:sp>
      <p:sp>
        <p:nvSpPr>
          <p:cNvPr id="42001" name="直接连接符 42000"/>
          <p:cNvSpPr/>
          <p:nvPr/>
        </p:nvSpPr>
        <p:spPr>
          <a:xfrm>
            <a:off x="4267200" y="1143000"/>
            <a:ext cx="685800" cy="0"/>
          </a:xfrm>
          <a:prstGeom prst="line">
            <a:avLst/>
          </a:prstGeom>
          <a:ln w="57150" cap="flat" cmpd="sng">
            <a:solidFill>
              <a:schemeClr val="tx2"/>
            </a:solidFill>
            <a:prstDash val="solid"/>
            <a:headEnd type="none" w="med" len="med"/>
            <a:tailEnd type="none" w="med" len="med"/>
          </a:ln>
        </p:spPr>
      </p:sp>
      <p:sp>
        <p:nvSpPr>
          <p:cNvPr id="42002" name="文本框 42001"/>
          <p:cNvSpPr txBox="1"/>
          <p:nvPr/>
        </p:nvSpPr>
        <p:spPr>
          <a:xfrm>
            <a:off x="914400" y="4953000"/>
            <a:ext cx="1981200" cy="519113"/>
          </a:xfrm>
          <a:prstGeom prst="rect">
            <a:avLst/>
          </a:prstGeom>
          <a:noFill/>
          <a:ln w="9525">
            <a:noFill/>
          </a:ln>
        </p:spPr>
        <p:txBody>
          <a:bodyPr>
            <a:spAutoFit/>
          </a:bodyPr>
          <a:p>
            <a:pPr>
              <a:spcBef>
                <a:spcPct val="50000"/>
              </a:spcBef>
            </a:pPr>
            <a:r>
              <a:rPr lang="zh-CN" altLang="en-US">
                <a:latin typeface="Times New Roman" panose="02020603050405020304" pitchFamily="18" charset="0"/>
              </a:rPr>
              <a:t>若记</a:t>
            </a:r>
            <a:endParaRPr lang="zh-CN" altLang="en-US">
              <a:latin typeface="Times New Roman" panose="02020603050405020304" pitchFamily="18" charset="0"/>
            </a:endParaRPr>
          </a:p>
        </p:txBody>
      </p:sp>
      <p:graphicFrame>
        <p:nvGraphicFramePr>
          <p:cNvPr id="42003" name="对象 42002"/>
          <p:cNvGraphicFramePr/>
          <p:nvPr/>
        </p:nvGraphicFramePr>
        <p:xfrm>
          <a:off x="4114800" y="4800600"/>
          <a:ext cx="2387600" cy="977900"/>
        </p:xfrm>
        <a:graphic>
          <a:graphicData uri="http://schemas.openxmlformats.org/presentationml/2006/ole">
            <mc:AlternateContent xmlns:mc="http://schemas.openxmlformats.org/markup-compatibility/2006">
              <mc:Choice xmlns:v="urn:schemas-microsoft-com:vml" Requires="v">
                <p:oleObj spid="_x0000_s3086" name="" r:id="rId19" imgW="2387600" imgH="977900" progId="Equation.3">
                  <p:embed/>
                </p:oleObj>
              </mc:Choice>
              <mc:Fallback>
                <p:oleObj name="" r:id="rId19" imgW="2387600" imgH="977900" progId="Equation.3">
                  <p:embed/>
                  <p:pic>
                    <p:nvPicPr>
                      <p:cNvPr id="0" name="图片 3085"/>
                      <p:cNvPicPr/>
                      <p:nvPr/>
                    </p:nvPicPr>
                    <p:blipFill>
                      <a:blip r:embed="rId20"/>
                      <a:stretch>
                        <a:fillRect/>
                      </a:stretch>
                    </p:blipFill>
                    <p:spPr>
                      <a:xfrm>
                        <a:off x="4114800" y="4800600"/>
                        <a:ext cx="2387600" cy="977900"/>
                      </a:xfrm>
                      <a:prstGeom prst="rect">
                        <a:avLst/>
                      </a:prstGeom>
                      <a:noFill/>
                      <a:ln w="38100">
                        <a:noFill/>
                        <a:miter/>
                      </a:ln>
                    </p:spPr>
                  </p:pic>
                </p:oleObj>
              </mc:Fallback>
            </mc:AlternateContent>
          </a:graphicData>
        </a:graphic>
      </p:graphicFrame>
      <p:graphicFrame>
        <p:nvGraphicFramePr>
          <p:cNvPr id="42004" name="对象 42003"/>
          <p:cNvGraphicFramePr/>
          <p:nvPr/>
        </p:nvGraphicFramePr>
        <p:xfrm>
          <a:off x="4343400" y="3429000"/>
          <a:ext cx="3517900" cy="1003300"/>
        </p:xfrm>
        <a:graphic>
          <a:graphicData uri="http://schemas.openxmlformats.org/presentationml/2006/ole">
            <mc:AlternateContent xmlns:mc="http://schemas.openxmlformats.org/markup-compatibility/2006">
              <mc:Choice xmlns:v="urn:schemas-microsoft-com:vml" Requires="v">
                <p:oleObj spid="_x0000_s3087" name="" r:id="rId21" imgW="3516630" imgH="1002665" progId="Equation.3">
                  <p:embed/>
                </p:oleObj>
              </mc:Choice>
              <mc:Fallback>
                <p:oleObj name="" r:id="rId21" imgW="3516630" imgH="1002665" progId="Equation.3">
                  <p:embed/>
                  <p:pic>
                    <p:nvPicPr>
                      <p:cNvPr id="0" name="图片 3086"/>
                      <p:cNvPicPr/>
                      <p:nvPr/>
                    </p:nvPicPr>
                    <p:blipFill>
                      <a:blip r:embed="rId22"/>
                      <a:stretch>
                        <a:fillRect/>
                      </a:stretch>
                    </p:blipFill>
                    <p:spPr>
                      <a:xfrm>
                        <a:off x="4343400" y="3429000"/>
                        <a:ext cx="3517900" cy="1003300"/>
                      </a:xfrm>
                      <a:prstGeom prst="rect">
                        <a:avLst/>
                      </a:prstGeom>
                      <a:noFill/>
                      <a:ln w="38100">
                        <a:noFill/>
                        <a:miter/>
                      </a:ln>
                    </p:spPr>
                  </p:pic>
                </p:oleObj>
              </mc:Fallback>
            </mc:AlternateContent>
          </a:graphicData>
        </a:graphic>
      </p:graphicFrame>
      <p:sp>
        <p:nvSpPr>
          <p:cNvPr id="42005" name="矩形 42004"/>
          <p:cNvSpPr/>
          <p:nvPr/>
        </p:nvSpPr>
        <p:spPr>
          <a:xfrm>
            <a:off x="914400" y="3657600"/>
            <a:ext cx="3397250" cy="519113"/>
          </a:xfrm>
          <a:prstGeom prst="rect">
            <a:avLst/>
          </a:prstGeom>
          <a:noFill/>
          <a:ln w="9525">
            <a:noFill/>
          </a:ln>
        </p:spPr>
        <p:txBody>
          <a:bodyPr wrap="none" anchor="t" anchorCtr="0">
            <a:spAutoFit/>
          </a:bodyPr>
          <a:p>
            <a:r>
              <a:rPr lang="zh-CN" altLang="en-US" dirty="0">
                <a:latin typeface="Times New Roman" panose="02020603050405020304" pitchFamily="18" charset="0"/>
              </a:rPr>
              <a:t>对于二元线性方程组</a:t>
            </a:r>
            <a:endParaRPr lang="zh-CN" altLang="en-US" dirty="0">
              <a:latin typeface="Times New Roman" panose="02020603050405020304" pitchFamily="18" charset="0"/>
            </a:endParaRPr>
          </a:p>
        </p:txBody>
      </p:sp>
      <p:grpSp>
        <p:nvGrpSpPr>
          <p:cNvPr id="42006" name="组合 42005"/>
          <p:cNvGrpSpPr/>
          <p:nvPr/>
        </p:nvGrpSpPr>
        <p:grpSpPr>
          <a:xfrm>
            <a:off x="5562600" y="3505200"/>
            <a:ext cx="457200" cy="2362200"/>
            <a:chOff x="3504" y="2208"/>
            <a:chExt cx="288" cy="1488"/>
          </a:xfrm>
        </p:grpSpPr>
        <p:sp>
          <p:nvSpPr>
            <p:cNvPr id="42007" name="矩形 42006"/>
            <p:cNvSpPr/>
            <p:nvPr/>
          </p:nvSpPr>
          <p:spPr>
            <a:xfrm>
              <a:off x="3504" y="2208"/>
              <a:ext cx="288" cy="624"/>
            </a:xfrm>
            <a:prstGeom prst="rect">
              <a:avLst/>
            </a:prstGeom>
            <a:noFill/>
            <a:ln w="28575" cap="flat" cmpd="sng">
              <a:solidFill>
                <a:schemeClr val="accent2"/>
              </a:solidFill>
              <a:prstDash val="solid"/>
              <a:miter/>
              <a:headEnd type="none" w="med" len="med"/>
              <a:tailEnd type="none" w="med" len="med"/>
            </a:ln>
          </p:spPr>
          <p:txBody>
            <a:bodyPr/>
            <a:p>
              <a:endParaRPr lang="zh-CN" altLang="en-US"/>
            </a:p>
          </p:txBody>
        </p:sp>
        <p:sp>
          <p:nvSpPr>
            <p:cNvPr id="42008" name="上下箭头 42007"/>
            <p:cNvSpPr/>
            <p:nvPr/>
          </p:nvSpPr>
          <p:spPr>
            <a:xfrm>
              <a:off x="3600" y="2832"/>
              <a:ext cx="144" cy="192"/>
            </a:xfrm>
            <a:prstGeom prst="upDownArrow">
              <a:avLst>
                <a:gd name="adj1" fmla="val 50000"/>
                <a:gd name="adj2" fmla="val 26666"/>
              </a:avLst>
            </a:prstGeom>
            <a:solidFill>
              <a:srgbClr val="009900"/>
            </a:solidFill>
            <a:ln w="9525" cap="flat" cmpd="sng">
              <a:solidFill>
                <a:schemeClr val="tx1"/>
              </a:solidFill>
              <a:prstDash val="solid"/>
              <a:miter/>
              <a:headEnd type="none" w="med" len="med"/>
              <a:tailEnd type="none" w="med" len="med"/>
            </a:ln>
          </p:spPr>
          <p:txBody>
            <a:bodyPr/>
            <a:p>
              <a:endParaRPr lang="zh-CN" altLang="en-US"/>
            </a:p>
          </p:txBody>
        </p:sp>
        <p:sp>
          <p:nvSpPr>
            <p:cNvPr id="42009" name="矩形 42008"/>
            <p:cNvSpPr/>
            <p:nvPr/>
          </p:nvSpPr>
          <p:spPr>
            <a:xfrm>
              <a:off x="3504" y="3072"/>
              <a:ext cx="288" cy="624"/>
            </a:xfrm>
            <a:prstGeom prst="rect">
              <a:avLst/>
            </a:prstGeom>
            <a:noFill/>
            <a:ln w="28575" cap="flat" cmpd="sng">
              <a:solidFill>
                <a:schemeClr val="accent2"/>
              </a:solidFill>
              <a:prstDash val="solid"/>
              <a:miter/>
              <a:headEnd type="none" w="med" len="med"/>
              <a:tailEnd type="none" w="med" len="med"/>
            </a:ln>
          </p:spPr>
          <p:txBody>
            <a:bodyPr/>
            <a:p>
              <a:endParaRPr lang="zh-CN" altLang="en-US"/>
            </a:p>
          </p:txBody>
        </p:sp>
      </p:grpSp>
      <p:grpSp>
        <p:nvGrpSpPr>
          <p:cNvPr id="42010" name="组合 42009"/>
          <p:cNvGrpSpPr/>
          <p:nvPr/>
        </p:nvGrpSpPr>
        <p:grpSpPr>
          <a:xfrm>
            <a:off x="4495800" y="3505200"/>
            <a:ext cx="762000" cy="2362200"/>
            <a:chOff x="2832" y="2208"/>
            <a:chExt cx="480" cy="1488"/>
          </a:xfrm>
        </p:grpSpPr>
        <p:sp>
          <p:nvSpPr>
            <p:cNvPr id="42011" name="矩形 42010"/>
            <p:cNvSpPr/>
            <p:nvPr/>
          </p:nvSpPr>
          <p:spPr>
            <a:xfrm>
              <a:off x="2832" y="2208"/>
              <a:ext cx="288" cy="624"/>
            </a:xfrm>
            <a:prstGeom prst="rect">
              <a:avLst/>
            </a:prstGeom>
            <a:noFill/>
            <a:ln w="28575" cap="flat" cmpd="sng">
              <a:solidFill>
                <a:srgbClr val="FF0000"/>
              </a:solidFill>
              <a:prstDash val="solid"/>
              <a:miter/>
              <a:headEnd type="none" w="med" len="med"/>
              <a:tailEnd type="none" w="med" len="med"/>
            </a:ln>
          </p:spPr>
          <p:txBody>
            <a:bodyPr/>
            <a:p>
              <a:endParaRPr lang="zh-CN" altLang="en-US"/>
            </a:p>
          </p:txBody>
        </p:sp>
        <p:sp>
          <p:nvSpPr>
            <p:cNvPr id="42012" name="矩形 42011"/>
            <p:cNvSpPr/>
            <p:nvPr/>
          </p:nvSpPr>
          <p:spPr>
            <a:xfrm>
              <a:off x="3024" y="3072"/>
              <a:ext cx="288" cy="624"/>
            </a:xfrm>
            <a:prstGeom prst="rect">
              <a:avLst/>
            </a:prstGeom>
            <a:noFill/>
            <a:ln w="28575" cap="flat" cmpd="sng">
              <a:solidFill>
                <a:srgbClr val="FF0000"/>
              </a:solidFill>
              <a:prstDash val="solid"/>
              <a:miter/>
              <a:headEnd type="none" w="med" len="med"/>
              <a:tailEnd type="none" w="med" len="med"/>
            </a:ln>
          </p:spPr>
          <p:txBody>
            <a:bodyPr/>
            <a:p>
              <a:endParaRPr lang="zh-CN" altLang="en-US"/>
            </a:p>
          </p:txBody>
        </p:sp>
        <p:sp>
          <p:nvSpPr>
            <p:cNvPr id="42013" name="上下箭头 42012"/>
            <p:cNvSpPr/>
            <p:nvPr/>
          </p:nvSpPr>
          <p:spPr>
            <a:xfrm>
              <a:off x="2976" y="2832"/>
              <a:ext cx="144" cy="192"/>
            </a:xfrm>
            <a:prstGeom prst="upDownArrow">
              <a:avLst>
                <a:gd name="adj1" fmla="val 50000"/>
                <a:gd name="adj2" fmla="val 26666"/>
              </a:avLst>
            </a:prstGeom>
            <a:solidFill>
              <a:srgbClr val="009900"/>
            </a:solidFill>
            <a:ln w="9525" cap="flat" cmpd="sng">
              <a:solidFill>
                <a:schemeClr val="tx1"/>
              </a:solidFill>
              <a:prstDash val="solid"/>
              <a:miter/>
              <a:headEnd type="none" w="med" len="med"/>
              <a:tailEnd type="none" w="med" len="med"/>
            </a:ln>
          </p:spPr>
          <p:txBody>
            <a:bodyPr/>
            <a:p>
              <a:endParaRPr lang="zh-CN" altLang="en-US"/>
            </a:p>
          </p:txBody>
        </p:sp>
      </p:grpSp>
      <p:sp>
        <p:nvSpPr>
          <p:cNvPr id="42014" name="矩形 42013"/>
          <p:cNvSpPr/>
          <p:nvPr/>
        </p:nvSpPr>
        <p:spPr>
          <a:xfrm>
            <a:off x="1981200" y="5576888"/>
            <a:ext cx="1978025" cy="519112"/>
          </a:xfrm>
          <a:prstGeom prst="rect">
            <a:avLst/>
          </a:prstGeom>
          <a:noFill/>
          <a:ln w="9525">
            <a:noFill/>
          </a:ln>
        </p:spPr>
        <p:txBody>
          <a:bodyPr wrap="none" anchor="t" anchorCtr="0">
            <a:spAutoFit/>
          </a:bodyPr>
          <a:p>
            <a:r>
              <a:rPr lang="zh-CN" altLang="en-US" dirty="0">
                <a:solidFill>
                  <a:srgbClr val="0000FF"/>
                </a:solidFill>
                <a:latin typeface="Times New Roman" panose="02020603050405020304" pitchFamily="18" charset="0"/>
                <a:ea typeface="黑体" panose="02010609060101010101" pitchFamily="2" charset="-122"/>
              </a:rPr>
              <a:t>系数行列式</a:t>
            </a:r>
            <a:endParaRPr lang="zh-CN" altLang="en-US" dirty="0">
              <a:solidFill>
                <a:srgbClr val="0000FF"/>
              </a:solidFill>
              <a:latin typeface="Times New Roman" panose="02020603050405020304" pitchFamily="18" charset="0"/>
              <a:ea typeface="黑体" panose="02010609060101010101" pitchFamily="2" charset="-122"/>
            </a:endParaRPr>
          </a:p>
        </p:txBody>
      </p:sp>
      <p:sp>
        <p:nvSpPr>
          <p:cNvPr id="42015" name="直接连接符 42014"/>
          <p:cNvSpPr/>
          <p:nvPr/>
        </p:nvSpPr>
        <p:spPr>
          <a:xfrm flipH="1">
            <a:off x="3429000" y="5257800"/>
            <a:ext cx="685800" cy="381000"/>
          </a:xfrm>
          <a:prstGeom prst="line">
            <a:avLst/>
          </a:prstGeom>
          <a:ln w="57150" cap="flat" cmpd="sng">
            <a:solidFill>
              <a:srgbClr val="FF0000"/>
            </a:solidFill>
            <a:prstDash val="solid"/>
            <a:headEnd type="none" w="med" len="med"/>
            <a:tailEnd type="triangle" w="med" len="med"/>
          </a:ln>
        </p:spPr>
      </p:sp>
      <p:graphicFrame>
        <p:nvGraphicFramePr>
          <p:cNvPr id="2" name="对象 -2147482616"/>
          <p:cNvGraphicFramePr>
            <a:graphicFrameLocks noChangeAspect="1"/>
          </p:cNvGraphicFramePr>
          <p:nvPr/>
        </p:nvGraphicFramePr>
        <p:xfrm>
          <a:off x="4800600" y="2108200"/>
          <a:ext cx="2812415" cy="675005"/>
        </p:xfrm>
        <a:graphic>
          <a:graphicData uri="http://schemas.openxmlformats.org/presentationml/2006/ole">
            <mc:AlternateContent xmlns:mc="http://schemas.openxmlformats.org/markup-compatibility/2006">
              <mc:Choice xmlns:v="urn:schemas-microsoft-com:vml" Requires="v">
                <p:oleObj spid="_x0000_s3076" name="" r:id="rId23" imgW="952500" imgH="228600" progId="Equation.DSMT4">
                  <p:embed/>
                </p:oleObj>
              </mc:Choice>
              <mc:Fallback>
                <p:oleObj name="" r:id="rId23" imgW="952500" imgH="228600" progId="Equation.DSMT4">
                  <p:embed/>
                  <p:pic>
                    <p:nvPicPr>
                      <p:cNvPr id="0" name="图片 3075"/>
                      <p:cNvPicPr/>
                      <p:nvPr/>
                    </p:nvPicPr>
                    <p:blipFill>
                      <a:blip r:embed="rId24"/>
                      <a:stretch>
                        <a:fillRect/>
                      </a:stretch>
                    </p:blipFill>
                    <p:spPr>
                      <a:xfrm>
                        <a:off x="4800600" y="2108200"/>
                        <a:ext cx="2812415" cy="67500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001"/>
                                        </p:tgtEl>
                                        <p:attrNameLst>
                                          <p:attrName>style.visibility</p:attrName>
                                        </p:attrNameLst>
                                      </p:cBhvr>
                                      <p:to>
                                        <p:strVal val="visible"/>
                                      </p:to>
                                    </p:set>
                                    <p:animEffect transition="in" filter="wipe(left)">
                                      <p:cBhvr>
                                        <p:cTn id="7" dur="500"/>
                                        <p:tgtEl>
                                          <p:spTgt spid="4200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1997"/>
                                        </p:tgtEl>
                                        <p:attrNameLst>
                                          <p:attrName>style.visibility</p:attrName>
                                        </p:attrNameLst>
                                      </p:cBhvr>
                                      <p:to>
                                        <p:strVal val="visible"/>
                                      </p:to>
                                    </p:set>
                                    <p:animEffect transition="in" filter="wipe(left)">
                                      <p:cBhvr>
                                        <p:cTn id="11" dur="500"/>
                                        <p:tgtEl>
                                          <p:spTgt spid="4199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1986"/>
                                        </p:tgtEl>
                                        <p:attrNameLst>
                                          <p:attrName>style.visibility</p:attrName>
                                        </p:attrNameLst>
                                      </p:cBhvr>
                                      <p:to>
                                        <p:strVal val="visible"/>
                                      </p:to>
                                    </p:set>
                                    <p:animEffect transition="in" filter="wipe(left)">
                                      <p:cBhvr>
                                        <p:cTn id="16" dur="500"/>
                                        <p:tgtEl>
                                          <p:spTgt spid="4198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1993"/>
                                        </p:tgtEl>
                                        <p:attrNameLst>
                                          <p:attrName>style.visibility</p:attrName>
                                        </p:attrNameLst>
                                      </p:cBhvr>
                                      <p:to>
                                        <p:strVal val="visible"/>
                                      </p:to>
                                    </p:set>
                                    <p:animEffect transition="in" filter="wipe(left)">
                                      <p:cBhvr>
                                        <p:cTn id="21" dur="500"/>
                                        <p:tgtEl>
                                          <p:spTgt spid="4199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1994"/>
                                        </p:tgtEl>
                                        <p:attrNameLst>
                                          <p:attrName>style.visibility</p:attrName>
                                        </p:attrNameLst>
                                      </p:cBhvr>
                                      <p:to>
                                        <p:strVal val="visible"/>
                                      </p:to>
                                    </p:set>
                                    <p:animEffect transition="in" filter="wipe(left)">
                                      <p:cBhvr>
                                        <p:cTn id="26" dur="500"/>
                                        <p:tgtEl>
                                          <p:spTgt spid="4199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lt">
                                    <p:tmPct val="100000"/>
                                  </p:iterate>
                                  <p:childTnLst>
                                    <p:set>
                                      <p:cBhvr>
                                        <p:cTn id="30" dur="1" fill="hold">
                                          <p:stCondLst>
                                            <p:cond delay="0"/>
                                          </p:stCondLst>
                                        </p:cTn>
                                        <p:tgtEl>
                                          <p:spTgt spid="41995"/>
                                        </p:tgtEl>
                                        <p:attrNameLst>
                                          <p:attrName>style.visibility</p:attrName>
                                        </p:attrNameLst>
                                      </p:cBhvr>
                                      <p:to>
                                        <p:strVal val="visible"/>
                                      </p:to>
                                    </p:set>
                                    <p:animEffect transition="in" filter="wipe(left)">
                                      <p:cBhvr>
                                        <p:cTn id="31" dur="75"/>
                                        <p:tgtEl>
                                          <p:spTgt spid="4199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1996"/>
                                        </p:tgtEl>
                                        <p:attrNameLst>
                                          <p:attrName>style.visibility</p:attrName>
                                        </p:attrNameLst>
                                      </p:cBhvr>
                                      <p:to>
                                        <p:strVal val="visible"/>
                                      </p:to>
                                    </p:set>
                                    <p:animEffect transition="in" filter="wipe(left)">
                                      <p:cBhvr>
                                        <p:cTn id="36" dur="500"/>
                                        <p:tgtEl>
                                          <p:spTgt spid="4199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down)">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iterate type="lt">
                                    <p:tmPct val="100000"/>
                                  </p:iterate>
                                  <p:childTnLst>
                                    <p:set>
                                      <p:cBhvr>
                                        <p:cTn id="45" dur="1" fill="hold">
                                          <p:stCondLst>
                                            <p:cond delay="0"/>
                                          </p:stCondLst>
                                        </p:cTn>
                                        <p:tgtEl>
                                          <p:spTgt spid="42005"/>
                                        </p:tgtEl>
                                        <p:attrNameLst>
                                          <p:attrName>style.visibility</p:attrName>
                                        </p:attrNameLst>
                                      </p:cBhvr>
                                      <p:to>
                                        <p:strVal val="visible"/>
                                      </p:to>
                                    </p:set>
                                    <p:animEffect transition="in" filter="wipe(left)">
                                      <p:cBhvr>
                                        <p:cTn id="46" dur="75"/>
                                        <p:tgtEl>
                                          <p:spTgt spid="42005"/>
                                        </p:tgtEl>
                                      </p:cBhvr>
                                    </p:animEffect>
                                  </p:childTnLst>
                                </p:cTn>
                              </p:par>
                            </p:childTnLst>
                          </p:cTn>
                        </p:par>
                        <p:par>
                          <p:cTn id="47" fill="hold">
                            <p:stCondLst>
                              <p:cond delay="675"/>
                            </p:stCondLst>
                            <p:childTnLst>
                              <p:par>
                                <p:cTn id="48" presetID="22" presetClass="entr" presetSubtype="8" fill="hold" nodeType="afterEffect">
                                  <p:stCondLst>
                                    <p:cond delay="0"/>
                                  </p:stCondLst>
                                  <p:childTnLst>
                                    <p:set>
                                      <p:cBhvr>
                                        <p:cTn id="49" dur="1" fill="hold">
                                          <p:stCondLst>
                                            <p:cond delay="0"/>
                                          </p:stCondLst>
                                        </p:cTn>
                                        <p:tgtEl>
                                          <p:spTgt spid="42004"/>
                                        </p:tgtEl>
                                        <p:attrNameLst>
                                          <p:attrName>style.visibility</p:attrName>
                                        </p:attrNameLst>
                                      </p:cBhvr>
                                      <p:to>
                                        <p:strVal val="visible"/>
                                      </p:to>
                                    </p:set>
                                    <p:animEffect transition="in" filter="wipe(left)">
                                      <p:cBhvr>
                                        <p:cTn id="50" dur="500"/>
                                        <p:tgtEl>
                                          <p:spTgt spid="4200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2002"/>
                                        </p:tgtEl>
                                        <p:attrNameLst>
                                          <p:attrName>style.visibility</p:attrName>
                                        </p:attrNameLst>
                                      </p:cBhvr>
                                      <p:to>
                                        <p:strVal val="visible"/>
                                      </p:to>
                                    </p:set>
                                    <p:animEffect transition="in" filter="wipe(left)">
                                      <p:cBhvr>
                                        <p:cTn id="55" dur="500"/>
                                        <p:tgtEl>
                                          <p:spTgt spid="4200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42003"/>
                                        </p:tgtEl>
                                        <p:attrNameLst>
                                          <p:attrName>style.visibility</p:attrName>
                                        </p:attrNameLst>
                                      </p:cBhvr>
                                      <p:to>
                                        <p:strVal val="visible"/>
                                      </p:to>
                                    </p:set>
                                    <p:animEffect transition="in" filter="wipe(left)">
                                      <p:cBhvr>
                                        <p:cTn id="60" dur="500"/>
                                        <p:tgtEl>
                                          <p:spTgt spid="4200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42010"/>
                                        </p:tgtEl>
                                        <p:attrNameLst>
                                          <p:attrName>style.visibility</p:attrName>
                                        </p:attrNameLst>
                                      </p:cBhvr>
                                      <p:to>
                                        <p:strVal val="visible"/>
                                      </p:to>
                                    </p:set>
                                    <p:animEffect transition="in" filter="wipe(up)">
                                      <p:cBhvr>
                                        <p:cTn id="65" dur="500"/>
                                        <p:tgtEl>
                                          <p:spTgt spid="42010"/>
                                        </p:tgtEl>
                                      </p:cBhvr>
                                    </p:animEffect>
                                  </p:childTnLst>
                                  <p:subTnLst>
                                    <p:set>
                                      <p:cBhvr override="childStyle">
                                        <p:cTn dur="1" fill="hold" display="0" masterRel="sameClick" afterEffect="1">
                                          <p:stCondLst>
                                            <p:cond evt="end" delay="0">
                                              <p:tn val="63"/>
                                            </p:cond>
                                          </p:stCondLst>
                                        </p:cTn>
                                        <p:tgtEl>
                                          <p:spTgt spid="42010"/>
                                        </p:tgtEl>
                                        <p:attrNameLst>
                                          <p:attrName>style.visibility</p:attrName>
                                        </p:attrNameLst>
                                      </p:cBhvr>
                                      <p:to>
                                        <p:strVal val="hidden"/>
                                      </p:to>
                                    </p:set>
                                  </p:sub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42006"/>
                                        </p:tgtEl>
                                        <p:attrNameLst>
                                          <p:attrName>style.visibility</p:attrName>
                                        </p:attrNameLst>
                                      </p:cBhvr>
                                      <p:to>
                                        <p:strVal val="visible"/>
                                      </p:to>
                                    </p:set>
                                    <p:animEffect transition="in" filter="wipe(up)">
                                      <p:cBhvr>
                                        <p:cTn id="70" dur="500"/>
                                        <p:tgtEl>
                                          <p:spTgt spid="42006"/>
                                        </p:tgtEl>
                                      </p:cBhvr>
                                    </p:animEffect>
                                  </p:childTnLst>
                                  <p:subTnLst>
                                    <p:set>
                                      <p:cBhvr override="childStyle">
                                        <p:cTn dur="1" fill="hold" display="0" masterRel="sameClick" afterEffect="1">
                                          <p:stCondLst>
                                            <p:cond evt="end" delay="0">
                                              <p:tn val="68"/>
                                            </p:cond>
                                          </p:stCondLst>
                                        </p:cTn>
                                        <p:tgtEl>
                                          <p:spTgt spid="42006"/>
                                        </p:tgtEl>
                                        <p:attrNameLst>
                                          <p:attrName>style.visibility</p:attrName>
                                        </p:attrNameLst>
                                      </p:cBhvr>
                                      <p:to>
                                        <p:strVal val="hidden"/>
                                      </p:to>
                                    </p:set>
                                  </p:subTnLst>
                                </p:cTn>
                              </p:par>
                            </p:childTnLst>
                          </p:cTn>
                        </p:par>
                      </p:childTnLst>
                    </p:cTn>
                  </p:par>
                  <p:par>
                    <p:cTn id="71" fill="hold">
                      <p:stCondLst>
                        <p:cond delay="indefinite"/>
                      </p:stCondLst>
                      <p:childTnLst>
                        <p:par>
                          <p:cTn id="72" fill="hold">
                            <p:stCondLst>
                              <p:cond delay="0"/>
                            </p:stCondLst>
                            <p:childTnLst>
                              <p:par>
                                <p:cTn id="73" presetID="22" presetClass="entr" presetSubtype="2" fill="hold" nodeType="clickEffect">
                                  <p:stCondLst>
                                    <p:cond delay="0"/>
                                  </p:stCondLst>
                                  <p:childTnLst>
                                    <p:set>
                                      <p:cBhvr>
                                        <p:cTn id="74" dur="1" fill="hold">
                                          <p:stCondLst>
                                            <p:cond delay="0"/>
                                          </p:stCondLst>
                                        </p:cTn>
                                        <p:tgtEl>
                                          <p:spTgt spid="42015"/>
                                        </p:tgtEl>
                                        <p:attrNameLst>
                                          <p:attrName>style.visibility</p:attrName>
                                        </p:attrNameLst>
                                      </p:cBhvr>
                                      <p:to>
                                        <p:strVal val="visible"/>
                                      </p:to>
                                    </p:set>
                                    <p:animEffect transition="in" filter="wipe(right)">
                                      <p:cBhvr>
                                        <p:cTn id="75" dur="500"/>
                                        <p:tgtEl>
                                          <p:spTgt spid="42015"/>
                                        </p:tgtEl>
                                      </p:cBhvr>
                                    </p:animEffect>
                                  </p:childTnLst>
                                </p:cTn>
                              </p:par>
                            </p:childTnLst>
                          </p:cTn>
                        </p:par>
                        <p:par>
                          <p:cTn id="76" fill="hold">
                            <p:stCondLst>
                              <p:cond delay="500"/>
                            </p:stCondLst>
                            <p:childTnLst>
                              <p:par>
                                <p:cTn id="77" presetID="22" presetClass="entr" presetSubtype="8" fill="hold" grpId="0" nodeType="afterEffect">
                                  <p:stCondLst>
                                    <p:cond delay="0"/>
                                  </p:stCondLst>
                                  <p:iterate type="lt">
                                    <p:tmPct val="100000"/>
                                  </p:iterate>
                                  <p:childTnLst>
                                    <p:set>
                                      <p:cBhvr>
                                        <p:cTn id="78" dur="1" fill="hold">
                                          <p:stCondLst>
                                            <p:cond delay="0"/>
                                          </p:stCondLst>
                                        </p:cTn>
                                        <p:tgtEl>
                                          <p:spTgt spid="42014"/>
                                        </p:tgtEl>
                                        <p:attrNameLst>
                                          <p:attrName>style.visibility</p:attrName>
                                        </p:attrNameLst>
                                      </p:cBhvr>
                                      <p:to>
                                        <p:strVal val="visible"/>
                                      </p:to>
                                    </p:set>
                                    <p:animEffect transition="in" filter="wipe(left)">
                                      <p:cBhvr>
                                        <p:cTn id="79" dur="75"/>
                                        <p:tgtEl>
                                          <p:spTgt spid="42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5" grpId="0" animBg="1"/>
      <p:bldP spid="41996" grpId="0" animBg="1"/>
      <p:bldP spid="41997" grpId="0"/>
      <p:bldP spid="42002" grpId="0"/>
      <p:bldP spid="42005" grpId="0"/>
      <p:bldP spid="420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3010" name="对象 43009"/>
          <p:cNvGraphicFramePr/>
          <p:nvPr/>
        </p:nvGraphicFramePr>
        <p:xfrm>
          <a:off x="2209800" y="838200"/>
          <a:ext cx="3517900" cy="1003300"/>
        </p:xfrm>
        <a:graphic>
          <a:graphicData uri="http://schemas.openxmlformats.org/presentationml/2006/ole">
            <mc:AlternateContent xmlns:mc="http://schemas.openxmlformats.org/markup-compatibility/2006">
              <mc:Choice xmlns:v="urn:schemas-microsoft-com:vml" Requires="v">
                <p:oleObj spid="_x0000_s3102" name="" r:id="rId1" imgW="3516630" imgH="1002665" progId="Equation.3">
                  <p:embed/>
                </p:oleObj>
              </mc:Choice>
              <mc:Fallback>
                <p:oleObj name="" r:id="rId1" imgW="3516630" imgH="1002665" progId="Equation.3">
                  <p:embed/>
                  <p:pic>
                    <p:nvPicPr>
                      <p:cNvPr id="0" name="图片 3101"/>
                      <p:cNvPicPr/>
                      <p:nvPr/>
                    </p:nvPicPr>
                    <p:blipFill>
                      <a:blip r:embed="rId2"/>
                      <a:stretch>
                        <a:fillRect/>
                      </a:stretch>
                    </p:blipFill>
                    <p:spPr>
                      <a:xfrm>
                        <a:off x="2209800" y="838200"/>
                        <a:ext cx="3517900" cy="1003300"/>
                      </a:xfrm>
                      <a:prstGeom prst="rect">
                        <a:avLst/>
                      </a:prstGeom>
                      <a:noFill/>
                      <a:ln w="38100">
                        <a:noFill/>
                        <a:miter/>
                      </a:ln>
                    </p:spPr>
                  </p:pic>
                </p:oleObj>
              </mc:Fallback>
            </mc:AlternateContent>
          </a:graphicData>
        </a:graphic>
      </p:graphicFrame>
      <p:graphicFrame>
        <p:nvGraphicFramePr>
          <p:cNvPr id="43011" name="对象 43010"/>
          <p:cNvGraphicFramePr/>
          <p:nvPr/>
        </p:nvGraphicFramePr>
        <p:xfrm>
          <a:off x="3810000" y="2209800"/>
          <a:ext cx="2387600" cy="977900"/>
        </p:xfrm>
        <a:graphic>
          <a:graphicData uri="http://schemas.openxmlformats.org/presentationml/2006/ole">
            <mc:AlternateContent xmlns:mc="http://schemas.openxmlformats.org/markup-compatibility/2006">
              <mc:Choice xmlns:v="urn:schemas-microsoft-com:vml" Requires="v">
                <p:oleObj spid="_x0000_s3103" name="" r:id="rId3" imgW="2387600" imgH="977900" progId="Equation.3">
                  <p:embed/>
                </p:oleObj>
              </mc:Choice>
              <mc:Fallback>
                <p:oleObj name="" r:id="rId3" imgW="2387600" imgH="977900" progId="Equation.3">
                  <p:embed/>
                  <p:pic>
                    <p:nvPicPr>
                      <p:cNvPr id="0" name="图片 3102"/>
                      <p:cNvPicPr/>
                      <p:nvPr/>
                    </p:nvPicPr>
                    <p:blipFill>
                      <a:blip r:embed="rId4"/>
                      <a:stretch>
                        <a:fillRect/>
                      </a:stretch>
                    </p:blipFill>
                    <p:spPr>
                      <a:xfrm>
                        <a:off x="3810000" y="2209800"/>
                        <a:ext cx="2387600" cy="977900"/>
                      </a:xfrm>
                      <a:prstGeom prst="rect">
                        <a:avLst/>
                      </a:prstGeom>
                      <a:noFill/>
                      <a:ln w="38100">
                        <a:noFill/>
                        <a:miter/>
                      </a:ln>
                    </p:spPr>
                  </p:pic>
                </p:oleObj>
              </mc:Fallback>
            </mc:AlternateContent>
          </a:graphicData>
        </a:graphic>
      </p:graphicFrame>
      <p:sp>
        <p:nvSpPr>
          <p:cNvPr id="43012" name="矩形 43011"/>
          <p:cNvSpPr/>
          <p:nvPr/>
        </p:nvSpPr>
        <p:spPr>
          <a:xfrm>
            <a:off x="4495800" y="838200"/>
            <a:ext cx="457200" cy="990600"/>
          </a:xfrm>
          <a:prstGeom prst="rect">
            <a:avLst/>
          </a:prstGeom>
          <a:noFill/>
          <a:ln w="28575" cap="flat" cmpd="sng">
            <a:solidFill>
              <a:schemeClr val="accent2"/>
            </a:solidFill>
            <a:prstDash val="solid"/>
            <a:miter/>
            <a:headEnd type="none" w="med" len="med"/>
            <a:tailEnd type="none" w="med" len="med"/>
          </a:ln>
        </p:spPr>
        <p:txBody>
          <a:bodyPr/>
          <a:p>
            <a:endParaRPr lang="zh-CN" altLang="en-US"/>
          </a:p>
        </p:txBody>
      </p:sp>
      <p:sp>
        <p:nvSpPr>
          <p:cNvPr id="43013" name="矩形 43012"/>
          <p:cNvSpPr/>
          <p:nvPr/>
        </p:nvSpPr>
        <p:spPr>
          <a:xfrm>
            <a:off x="4495800" y="2209800"/>
            <a:ext cx="457200" cy="990600"/>
          </a:xfrm>
          <a:prstGeom prst="rect">
            <a:avLst/>
          </a:prstGeom>
          <a:noFill/>
          <a:ln w="28575" cap="flat" cmpd="sng">
            <a:solidFill>
              <a:schemeClr val="accent2"/>
            </a:solidFill>
            <a:prstDash val="solid"/>
            <a:miter/>
            <a:headEnd type="none" w="med" len="med"/>
            <a:tailEnd type="none" w="med" len="med"/>
          </a:ln>
        </p:spPr>
        <p:txBody>
          <a:bodyPr/>
          <a:p>
            <a:endParaRPr lang="zh-CN" altLang="en-US"/>
          </a:p>
        </p:txBody>
      </p:sp>
      <p:sp>
        <p:nvSpPr>
          <p:cNvPr id="43014" name="下箭头 43013"/>
          <p:cNvSpPr/>
          <p:nvPr/>
        </p:nvSpPr>
        <p:spPr>
          <a:xfrm>
            <a:off x="4648200" y="1828800"/>
            <a:ext cx="304800" cy="381000"/>
          </a:xfrm>
          <a:prstGeom prst="downArrow">
            <a:avLst>
              <a:gd name="adj1" fmla="val 50000"/>
              <a:gd name="adj2" fmla="val 31250"/>
            </a:avLst>
          </a:prstGeom>
          <a:solidFill>
            <a:srgbClr val="FF0000"/>
          </a:solidFill>
          <a:ln w="9525" cap="flat" cmpd="sng">
            <a:solidFill>
              <a:srgbClr val="FF0000"/>
            </a:solidFill>
            <a:prstDash val="solid"/>
            <a:miter/>
            <a:headEnd type="none" w="med" len="med"/>
            <a:tailEnd type="none" w="med" len="med"/>
          </a:ln>
        </p:spPr>
        <p:txBody>
          <a:bodyPr/>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animEffect transition="in" filter="wipe(left)">
                                      <p:cBhvr>
                                        <p:cTn id="7" dur="500"/>
                                        <p:tgtEl>
                                          <p:spTgt spid="430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012"/>
                                        </p:tgtEl>
                                        <p:attrNameLst>
                                          <p:attrName>style.visibility</p:attrName>
                                        </p:attrNameLst>
                                      </p:cBhvr>
                                      <p:to>
                                        <p:strVal val="visible"/>
                                      </p:to>
                                    </p:set>
                                    <p:animEffect transition="in" filter="wipe(left)">
                                      <p:cBhvr>
                                        <p:cTn id="12" dur="500"/>
                                        <p:tgtEl>
                                          <p:spTgt spid="430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3014"/>
                                        </p:tgtEl>
                                        <p:attrNameLst>
                                          <p:attrName>style.visibility</p:attrName>
                                        </p:attrNameLst>
                                      </p:cBhvr>
                                      <p:to>
                                        <p:strVal val="visible"/>
                                      </p:to>
                                    </p:set>
                                    <p:animEffect transition="in" filter="wipe(up)">
                                      <p:cBhvr>
                                        <p:cTn id="17" dur="500"/>
                                        <p:tgtEl>
                                          <p:spTgt spid="430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3013"/>
                                        </p:tgtEl>
                                        <p:attrNameLst>
                                          <p:attrName>style.visibility</p:attrName>
                                        </p:attrNameLst>
                                      </p:cBhvr>
                                      <p:to>
                                        <p:strVal val="visible"/>
                                      </p:to>
                                    </p:set>
                                    <p:animEffect transition="in" filter="wipe(left)">
                                      <p:cBhvr>
                                        <p:cTn id="22" dur="500"/>
                                        <p:tgtEl>
                                          <p:spTgt spid="43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4034" name="对象 44033"/>
          <p:cNvGraphicFramePr/>
          <p:nvPr/>
        </p:nvGraphicFramePr>
        <p:xfrm>
          <a:off x="2133600" y="914400"/>
          <a:ext cx="3517900" cy="1003300"/>
        </p:xfrm>
        <a:graphic>
          <a:graphicData uri="http://schemas.openxmlformats.org/presentationml/2006/ole">
            <mc:AlternateContent xmlns:mc="http://schemas.openxmlformats.org/markup-compatibility/2006">
              <mc:Choice xmlns:v="urn:schemas-microsoft-com:vml" Requires="v">
                <p:oleObj spid="_x0000_s3096" name="" r:id="rId1" imgW="3516630" imgH="1002665" progId="Equation.3">
                  <p:embed/>
                </p:oleObj>
              </mc:Choice>
              <mc:Fallback>
                <p:oleObj name="" r:id="rId1" imgW="3516630" imgH="1002665" progId="Equation.3">
                  <p:embed/>
                  <p:pic>
                    <p:nvPicPr>
                      <p:cNvPr id="0" name="图片 3095"/>
                      <p:cNvPicPr/>
                      <p:nvPr/>
                    </p:nvPicPr>
                    <p:blipFill>
                      <a:blip r:embed="rId2"/>
                      <a:stretch>
                        <a:fillRect/>
                      </a:stretch>
                    </p:blipFill>
                    <p:spPr>
                      <a:xfrm>
                        <a:off x="2133600" y="914400"/>
                        <a:ext cx="3517900" cy="1003300"/>
                      </a:xfrm>
                      <a:prstGeom prst="rect">
                        <a:avLst/>
                      </a:prstGeom>
                      <a:noFill/>
                      <a:ln w="38100">
                        <a:noFill/>
                        <a:miter/>
                      </a:ln>
                    </p:spPr>
                  </p:pic>
                </p:oleObj>
              </mc:Fallback>
            </mc:AlternateContent>
          </a:graphicData>
        </a:graphic>
      </p:graphicFrame>
      <p:sp>
        <p:nvSpPr>
          <p:cNvPr id="44035" name="矩形 44034"/>
          <p:cNvSpPr/>
          <p:nvPr/>
        </p:nvSpPr>
        <p:spPr>
          <a:xfrm>
            <a:off x="4419600" y="914400"/>
            <a:ext cx="457200" cy="990600"/>
          </a:xfrm>
          <a:prstGeom prst="rect">
            <a:avLst/>
          </a:prstGeom>
          <a:noFill/>
          <a:ln w="28575" cap="flat" cmpd="sng">
            <a:solidFill>
              <a:schemeClr val="accent2"/>
            </a:solidFill>
            <a:prstDash val="solid"/>
            <a:miter/>
            <a:headEnd type="none" w="med" len="med"/>
            <a:tailEnd type="none" w="med" len="med"/>
          </a:ln>
        </p:spPr>
        <p:txBody>
          <a:bodyPr/>
          <a:p>
            <a:endParaRPr lang="zh-CN" altLang="en-US"/>
          </a:p>
        </p:txBody>
      </p:sp>
      <p:graphicFrame>
        <p:nvGraphicFramePr>
          <p:cNvPr id="44036" name="对象 44035"/>
          <p:cNvGraphicFramePr/>
          <p:nvPr/>
        </p:nvGraphicFramePr>
        <p:xfrm>
          <a:off x="3581400" y="2209800"/>
          <a:ext cx="2374900" cy="977900"/>
        </p:xfrm>
        <a:graphic>
          <a:graphicData uri="http://schemas.openxmlformats.org/presentationml/2006/ole">
            <mc:AlternateContent xmlns:mc="http://schemas.openxmlformats.org/markup-compatibility/2006">
              <mc:Choice xmlns:v="urn:schemas-microsoft-com:vml" Requires="v">
                <p:oleObj spid="_x0000_s3094" name="" r:id="rId3" imgW="2374900" imgH="977900" progId="Equation.3">
                  <p:embed/>
                </p:oleObj>
              </mc:Choice>
              <mc:Fallback>
                <p:oleObj name="" r:id="rId3" imgW="2374900" imgH="977900" progId="Equation.3">
                  <p:embed/>
                  <p:pic>
                    <p:nvPicPr>
                      <p:cNvPr id="0" name="图片 3093"/>
                      <p:cNvPicPr/>
                      <p:nvPr/>
                    </p:nvPicPr>
                    <p:blipFill>
                      <a:blip r:embed="rId4"/>
                      <a:stretch>
                        <a:fillRect/>
                      </a:stretch>
                    </p:blipFill>
                    <p:spPr>
                      <a:xfrm>
                        <a:off x="3581400" y="2209800"/>
                        <a:ext cx="2374900" cy="977900"/>
                      </a:xfrm>
                      <a:prstGeom prst="rect">
                        <a:avLst/>
                      </a:prstGeom>
                      <a:noFill/>
                      <a:ln w="38100">
                        <a:noFill/>
                        <a:miter/>
                      </a:ln>
                    </p:spPr>
                  </p:pic>
                </p:oleObj>
              </mc:Fallback>
            </mc:AlternateContent>
          </a:graphicData>
        </a:graphic>
      </p:graphicFrame>
      <p:graphicFrame>
        <p:nvGraphicFramePr>
          <p:cNvPr id="44037" name="对象 44036"/>
          <p:cNvGraphicFramePr/>
          <p:nvPr/>
        </p:nvGraphicFramePr>
        <p:xfrm>
          <a:off x="2133600" y="3505200"/>
          <a:ext cx="3517900" cy="1003300"/>
        </p:xfrm>
        <a:graphic>
          <a:graphicData uri="http://schemas.openxmlformats.org/presentationml/2006/ole">
            <mc:AlternateContent xmlns:mc="http://schemas.openxmlformats.org/markup-compatibility/2006">
              <mc:Choice xmlns:v="urn:schemas-microsoft-com:vml" Requires="v">
                <p:oleObj spid="_x0000_s3101" name="" r:id="rId5" imgW="3516630" imgH="1002665" progId="Equation.3">
                  <p:embed/>
                </p:oleObj>
              </mc:Choice>
              <mc:Fallback>
                <p:oleObj name="" r:id="rId5" imgW="3516630" imgH="1002665" progId="Equation.3">
                  <p:embed/>
                  <p:pic>
                    <p:nvPicPr>
                      <p:cNvPr id="0" name="图片 3100"/>
                      <p:cNvPicPr/>
                      <p:nvPr/>
                    </p:nvPicPr>
                    <p:blipFill>
                      <a:blip r:embed="rId2"/>
                      <a:stretch>
                        <a:fillRect/>
                      </a:stretch>
                    </p:blipFill>
                    <p:spPr>
                      <a:xfrm>
                        <a:off x="2133600" y="3505200"/>
                        <a:ext cx="3517900" cy="1003300"/>
                      </a:xfrm>
                      <a:prstGeom prst="rect">
                        <a:avLst/>
                      </a:prstGeom>
                      <a:noFill/>
                      <a:ln w="38100">
                        <a:noFill/>
                        <a:miter/>
                      </a:ln>
                    </p:spPr>
                  </p:pic>
                </p:oleObj>
              </mc:Fallback>
            </mc:AlternateContent>
          </a:graphicData>
        </a:graphic>
      </p:graphicFrame>
      <p:sp>
        <p:nvSpPr>
          <p:cNvPr id="44038" name="矩形 44037"/>
          <p:cNvSpPr/>
          <p:nvPr/>
        </p:nvSpPr>
        <p:spPr>
          <a:xfrm>
            <a:off x="4419600" y="3505200"/>
            <a:ext cx="457200" cy="990600"/>
          </a:xfrm>
          <a:prstGeom prst="rect">
            <a:avLst/>
          </a:prstGeom>
          <a:noFill/>
          <a:ln w="28575" cap="flat" cmpd="sng">
            <a:solidFill>
              <a:schemeClr val="accent2"/>
            </a:solidFill>
            <a:prstDash val="solid"/>
            <a:miter/>
            <a:headEnd type="none" w="med" len="med"/>
            <a:tailEnd type="none" w="med" len="med"/>
          </a:ln>
        </p:spPr>
        <p:txBody>
          <a:bodyPr/>
          <a:p>
            <a:endParaRPr lang="zh-CN" altLang="en-US"/>
          </a:p>
        </p:txBody>
      </p:sp>
      <p:graphicFrame>
        <p:nvGraphicFramePr>
          <p:cNvPr id="44039" name="对象 44038"/>
          <p:cNvGraphicFramePr/>
          <p:nvPr/>
        </p:nvGraphicFramePr>
        <p:xfrm>
          <a:off x="3048000" y="5105400"/>
          <a:ext cx="2387600" cy="977900"/>
        </p:xfrm>
        <a:graphic>
          <a:graphicData uri="http://schemas.openxmlformats.org/presentationml/2006/ole">
            <mc:AlternateContent xmlns:mc="http://schemas.openxmlformats.org/markup-compatibility/2006">
              <mc:Choice xmlns:v="urn:schemas-microsoft-com:vml" Requires="v">
                <p:oleObj spid="_x0000_s3095" name="" r:id="rId6" imgW="2387600" imgH="977900" progId="Equation.3">
                  <p:embed/>
                </p:oleObj>
              </mc:Choice>
              <mc:Fallback>
                <p:oleObj name="" r:id="rId6" imgW="2387600" imgH="977900" progId="Equation.3">
                  <p:embed/>
                  <p:pic>
                    <p:nvPicPr>
                      <p:cNvPr id="0" name="图片 3094"/>
                      <p:cNvPicPr/>
                      <p:nvPr/>
                    </p:nvPicPr>
                    <p:blipFill>
                      <a:blip r:embed="rId7"/>
                      <a:stretch>
                        <a:fillRect/>
                      </a:stretch>
                    </p:blipFill>
                    <p:spPr>
                      <a:xfrm>
                        <a:off x="3048000" y="5105400"/>
                        <a:ext cx="2387600" cy="977900"/>
                      </a:xfrm>
                      <a:prstGeom prst="rect">
                        <a:avLst/>
                      </a:prstGeom>
                      <a:noFill/>
                      <a:ln w="38100">
                        <a:noFill/>
                        <a:miter/>
                      </a:ln>
                    </p:spPr>
                  </p:pic>
                </p:oleObj>
              </mc:Fallback>
            </mc:AlternateContent>
          </a:graphicData>
        </a:graphic>
      </p:graphicFrame>
      <p:sp>
        <p:nvSpPr>
          <p:cNvPr id="44040" name="矩形 44039"/>
          <p:cNvSpPr/>
          <p:nvPr/>
        </p:nvSpPr>
        <p:spPr>
          <a:xfrm>
            <a:off x="4495800" y="5105400"/>
            <a:ext cx="457200" cy="990600"/>
          </a:xfrm>
          <a:prstGeom prst="rect">
            <a:avLst/>
          </a:prstGeom>
          <a:noFill/>
          <a:ln w="28575" cap="flat" cmpd="sng">
            <a:solidFill>
              <a:schemeClr val="accent2"/>
            </a:solidFill>
            <a:prstDash val="solid"/>
            <a:miter/>
            <a:headEnd type="none" w="med" len="med"/>
            <a:tailEnd type="none" w="med" len="med"/>
          </a:ln>
        </p:spPr>
        <p:txBody>
          <a:bodyPr/>
          <a:p>
            <a:endParaRPr lang="zh-CN" altLang="en-US"/>
          </a:p>
        </p:txBody>
      </p:sp>
      <p:sp>
        <p:nvSpPr>
          <p:cNvPr id="44041" name="下箭头 44040"/>
          <p:cNvSpPr/>
          <p:nvPr/>
        </p:nvSpPr>
        <p:spPr>
          <a:xfrm>
            <a:off x="4572000" y="4572000"/>
            <a:ext cx="304800" cy="381000"/>
          </a:xfrm>
          <a:prstGeom prst="downArrow">
            <a:avLst>
              <a:gd name="adj1" fmla="val 50000"/>
              <a:gd name="adj2" fmla="val 31250"/>
            </a:avLst>
          </a:prstGeom>
          <a:solidFill>
            <a:srgbClr val="FF0000"/>
          </a:solidFill>
          <a:ln w="9525" cap="flat" cmpd="sng">
            <a:solidFill>
              <a:srgbClr val="FF0000"/>
            </a:solidFill>
            <a:prstDash val="solid"/>
            <a:miter/>
            <a:headEnd type="none" w="med" len="med"/>
            <a:tailEnd type="none" w="med" len="med"/>
          </a:ln>
        </p:spPr>
        <p:txBody>
          <a:bodyPr/>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037"/>
                                        </p:tgtEl>
                                        <p:attrNameLst>
                                          <p:attrName>style.visibility</p:attrName>
                                        </p:attrNameLst>
                                      </p:cBhvr>
                                      <p:to>
                                        <p:strVal val="visible"/>
                                      </p:to>
                                    </p:set>
                                    <p:animEffect transition="in" filter="wipe(left)">
                                      <p:cBhvr>
                                        <p:cTn id="7" dur="500"/>
                                        <p:tgtEl>
                                          <p:spTgt spid="440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039"/>
                                        </p:tgtEl>
                                        <p:attrNameLst>
                                          <p:attrName>style.visibility</p:attrName>
                                        </p:attrNameLst>
                                      </p:cBhvr>
                                      <p:to>
                                        <p:strVal val="visible"/>
                                      </p:to>
                                    </p:set>
                                    <p:animEffect transition="in" filter="wipe(left)">
                                      <p:cBhvr>
                                        <p:cTn id="12" dur="500"/>
                                        <p:tgtEl>
                                          <p:spTgt spid="440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038"/>
                                        </p:tgtEl>
                                        <p:attrNameLst>
                                          <p:attrName>style.visibility</p:attrName>
                                        </p:attrNameLst>
                                      </p:cBhvr>
                                      <p:to>
                                        <p:strVal val="visible"/>
                                      </p:to>
                                    </p:set>
                                    <p:animEffect transition="in" filter="wipe(left)">
                                      <p:cBhvr>
                                        <p:cTn id="17" dur="500"/>
                                        <p:tgtEl>
                                          <p:spTgt spid="440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041"/>
                                        </p:tgtEl>
                                        <p:attrNameLst>
                                          <p:attrName>style.visibility</p:attrName>
                                        </p:attrNameLst>
                                      </p:cBhvr>
                                      <p:to>
                                        <p:strVal val="visible"/>
                                      </p:to>
                                    </p:set>
                                    <p:animEffect transition="in" filter="wipe(up)">
                                      <p:cBhvr>
                                        <p:cTn id="22" dur="500"/>
                                        <p:tgtEl>
                                          <p:spTgt spid="4404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4040"/>
                                        </p:tgtEl>
                                        <p:attrNameLst>
                                          <p:attrName>style.visibility</p:attrName>
                                        </p:attrNameLst>
                                      </p:cBhvr>
                                      <p:to>
                                        <p:strVal val="visible"/>
                                      </p:to>
                                    </p:set>
                                    <p:animEffect transition="in" filter="wipe(left)">
                                      <p:cBhvr>
                                        <p:cTn id="27" dur="500"/>
                                        <p:tgtEl>
                                          <p:spTgt spid="44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5058" name="对象 45057"/>
          <p:cNvGraphicFramePr/>
          <p:nvPr/>
        </p:nvGraphicFramePr>
        <p:xfrm>
          <a:off x="2133600" y="914400"/>
          <a:ext cx="3517900" cy="1003300"/>
        </p:xfrm>
        <a:graphic>
          <a:graphicData uri="http://schemas.openxmlformats.org/presentationml/2006/ole">
            <mc:AlternateContent xmlns:mc="http://schemas.openxmlformats.org/markup-compatibility/2006">
              <mc:Choice xmlns:v="urn:schemas-microsoft-com:vml" Requires="v">
                <p:oleObj spid="_x0000_s3097" name="" r:id="rId1" imgW="3516630" imgH="1002665" progId="Equation.3">
                  <p:embed/>
                </p:oleObj>
              </mc:Choice>
              <mc:Fallback>
                <p:oleObj name="" r:id="rId1" imgW="3516630" imgH="1002665" progId="Equation.3">
                  <p:embed/>
                  <p:pic>
                    <p:nvPicPr>
                      <p:cNvPr id="0" name="图片 3096"/>
                      <p:cNvPicPr/>
                      <p:nvPr/>
                    </p:nvPicPr>
                    <p:blipFill>
                      <a:blip r:embed="rId2"/>
                      <a:stretch>
                        <a:fillRect/>
                      </a:stretch>
                    </p:blipFill>
                    <p:spPr>
                      <a:xfrm>
                        <a:off x="2133600" y="914400"/>
                        <a:ext cx="3517900" cy="1003300"/>
                      </a:xfrm>
                      <a:prstGeom prst="rect">
                        <a:avLst/>
                      </a:prstGeom>
                      <a:noFill/>
                      <a:ln w="38100">
                        <a:noFill/>
                        <a:miter/>
                      </a:ln>
                    </p:spPr>
                  </p:pic>
                </p:oleObj>
              </mc:Fallback>
            </mc:AlternateContent>
          </a:graphicData>
        </a:graphic>
      </p:graphicFrame>
      <p:sp>
        <p:nvSpPr>
          <p:cNvPr id="45059" name="矩形 45058"/>
          <p:cNvSpPr/>
          <p:nvPr/>
        </p:nvSpPr>
        <p:spPr>
          <a:xfrm>
            <a:off x="4419600" y="914400"/>
            <a:ext cx="457200" cy="990600"/>
          </a:xfrm>
          <a:prstGeom prst="rect">
            <a:avLst/>
          </a:prstGeom>
          <a:noFill/>
          <a:ln w="28575" cap="flat" cmpd="sng">
            <a:solidFill>
              <a:schemeClr val="accent2"/>
            </a:solidFill>
            <a:prstDash val="solid"/>
            <a:miter/>
            <a:headEnd type="none" w="med" len="med"/>
            <a:tailEnd type="none" w="med" len="med"/>
          </a:ln>
        </p:spPr>
        <p:txBody>
          <a:bodyPr/>
          <a:p>
            <a:endParaRPr lang="zh-CN" altLang="en-US"/>
          </a:p>
        </p:txBody>
      </p:sp>
      <p:graphicFrame>
        <p:nvGraphicFramePr>
          <p:cNvPr id="45060" name="对象 45059"/>
          <p:cNvGraphicFramePr/>
          <p:nvPr/>
        </p:nvGraphicFramePr>
        <p:xfrm>
          <a:off x="2895600" y="2209800"/>
          <a:ext cx="2374900" cy="977900"/>
        </p:xfrm>
        <a:graphic>
          <a:graphicData uri="http://schemas.openxmlformats.org/presentationml/2006/ole">
            <mc:AlternateContent xmlns:mc="http://schemas.openxmlformats.org/markup-compatibility/2006">
              <mc:Choice xmlns:v="urn:schemas-microsoft-com:vml" Requires="v">
                <p:oleObj spid="_x0000_s3098" name="" r:id="rId3" imgW="2374900" imgH="977900" progId="Equation.3">
                  <p:embed/>
                </p:oleObj>
              </mc:Choice>
              <mc:Fallback>
                <p:oleObj name="" r:id="rId3" imgW="2374900" imgH="977900" progId="Equation.3">
                  <p:embed/>
                  <p:pic>
                    <p:nvPicPr>
                      <p:cNvPr id="0" name="图片 3097"/>
                      <p:cNvPicPr/>
                      <p:nvPr/>
                    </p:nvPicPr>
                    <p:blipFill>
                      <a:blip r:embed="rId4"/>
                      <a:stretch>
                        <a:fillRect/>
                      </a:stretch>
                    </p:blipFill>
                    <p:spPr>
                      <a:xfrm>
                        <a:off x="2895600" y="2209800"/>
                        <a:ext cx="2374900" cy="977900"/>
                      </a:xfrm>
                      <a:prstGeom prst="rect">
                        <a:avLst/>
                      </a:prstGeom>
                      <a:noFill/>
                      <a:ln w="38100">
                        <a:noFill/>
                        <a:miter/>
                      </a:ln>
                    </p:spPr>
                  </p:pic>
                </p:oleObj>
              </mc:Fallback>
            </mc:AlternateContent>
          </a:graphicData>
        </a:graphic>
      </p:graphicFrame>
      <p:graphicFrame>
        <p:nvGraphicFramePr>
          <p:cNvPr id="45061" name="对象 45060"/>
          <p:cNvGraphicFramePr/>
          <p:nvPr/>
        </p:nvGraphicFramePr>
        <p:xfrm>
          <a:off x="2133600" y="3505200"/>
          <a:ext cx="3517900" cy="1003300"/>
        </p:xfrm>
        <a:graphic>
          <a:graphicData uri="http://schemas.openxmlformats.org/presentationml/2006/ole">
            <mc:AlternateContent xmlns:mc="http://schemas.openxmlformats.org/markup-compatibility/2006">
              <mc:Choice xmlns:v="urn:schemas-microsoft-com:vml" Requires="v">
                <p:oleObj spid="_x0000_s3099" name="" r:id="rId5" imgW="3516630" imgH="1002665" progId="Equation.3">
                  <p:embed/>
                </p:oleObj>
              </mc:Choice>
              <mc:Fallback>
                <p:oleObj name="" r:id="rId5" imgW="3516630" imgH="1002665" progId="Equation.3">
                  <p:embed/>
                  <p:pic>
                    <p:nvPicPr>
                      <p:cNvPr id="0" name="图片 3098"/>
                      <p:cNvPicPr/>
                      <p:nvPr/>
                    </p:nvPicPr>
                    <p:blipFill>
                      <a:blip r:embed="rId2"/>
                      <a:stretch>
                        <a:fillRect/>
                      </a:stretch>
                    </p:blipFill>
                    <p:spPr>
                      <a:xfrm>
                        <a:off x="2133600" y="3505200"/>
                        <a:ext cx="3517900" cy="1003300"/>
                      </a:xfrm>
                      <a:prstGeom prst="rect">
                        <a:avLst/>
                      </a:prstGeom>
                      <a:noFill/>
                      <a:ln w="38100">
                        <a:noFill/>
                        <a:miter/>
                      </a:ln>
                    </p:spPr>
                  </p:pic>
                </p:oleObj>
              </mc:Fallback>
            </mc:AlternateContent>
          </a:graphicData>
        </a:graphic>
      </p:graphicFrame>
      <p:sp>
        <p:nvSpPr>
          <p:cNvPr id="45062" name="矩形 45061"/>
          <p:cNvSpPr/>
          <p:nvPr/>
        </p:nvSpPr>
        <p:spPr>
          <a:xfrm>
            <a:off x="4419600" y="3505200"/>
            <a:ext cx="457200" cy="990600"/>
          </a:xfrm>
          <a:prstGeom prst="rect">
            <a:avLst/>
          </a:prstGeom>
          <a:noFill/>
          <a:ln w="28575" cap="flat" cmpd="sng">
            <a:solidFill>
              <a:schemeClr val="accent2"/>
            </a:solidFill>
            <a:prstDash val="solid"/>
            <a:miter/>
            <a:headEnd type="none" w="med" len="med"/>
            <a:tailEnd type="none" w="med" len="med"/>
          </a:ln>
        </p:spPr>
        <p:txBody>
          <a:bodyPr/>
          <a:p>
            <a:endParaRPr lang="zh-CN" altLang="en-US"/>
          </a:p>
        </p:txBody>
      </p:sp>
      <p:graphicFrame>
        <p:nvGraphicFramePr>
          <p:cNvPr id="45063" name="对象 45062"/>
          <p:cNvGraphicFramePr/>
          <p:nvPr/>
        </p:nvGraphicFramePr>
        <p:xfrm>
          <a:off x="2895600" y="4876800"/>
          <a:ext cx="2019300" cy="977900"/>
        </p:xfrm>
        <a:graphic>
          <a:graphicData uri="http://schemas.openxmlformats.org/presentationml/2006/ole">
            <mc:AlternateContent xmlns:mc="http://schemas.openxmlformats.org/markup-compatibility/2006">
              <mc:Choice xmlns:v="urn:schemas-microsoft-com:vml" Requires="v">
                <p:oleObj spid="_x0000_s3100" name="" r:id="rId6" imgW="2019300" imgH="977900" progId="Equation.3">
                  <p:embed/>
                </p:oleObj>
              </mc:Choice>
              <mc:Fallback>
                <p:oleObj name="" r:id="rId6" imgW="2019300" imgH="977900" progId="Equation.3">
                  <p:embed/>
                  <p:pic>
                    <p:nvPicPr>
                      <p:cNvPr id="0" name="图片 3099"/>
                      <p:cNvPicPr/>
                      <p:nvPr/>
                    </p:nvPicPr>
                    <p:blipFill>
                      <a:blip r:embed="rId7"/>
                      <a:stretch>
                        <a:fillRect/>
                      </a:stretch>
                    </p:blipFill>
                    <p:spPr>
                      <a:xfrm>
                        <a:off x="2895600" y="4876800"/>
                        <a:ext cx="2019300" cy="977900"/>
                      </a:xfrm>
                      <a:prstGeom prst="rect">
                        <a:avLst/>
                      </a:prstGeom>
                      <a:noFill/>
                      <a:ln w="38100">
                        <a:noFill/>
                        <a:miter/>
                      </a:ln>
                    </p:spPr>
                  </p:pic>
                </p:oleObj>
              </mc:Fallback>
            </mc:AlternateContent>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文本框 46081"/>
          <p:cNvSpPr txBox="1"/>
          <p:nvPr/>
        </p:nvSpPr>
        <p:spPr>
          <a:xfrm>
            <a:off x="1219200" y="838200"/>
            <a:ext cx="5486400" cy="519113"/>
          </a:xfrm>
          <a:prstGeom prst="rect">
            <a:avLst/>
          </a:prstGeom>
          <a:noFill/>
          <a:ln w="9525">
            <a:noFill/>
          </a:ln>
        </p:spPr>
        <p:txBody>
          <a:bodyPr>
            <a:spAutoFit/>
          </a:bodyPr>
          <a:p>
            <a:pPr>
              <a:spcBef>
                <a:spcPct val="50000"/>
              </a:spcBef>
            </a:pPr>
            <a:r>
              <a:rPr lang="zh-CN" altLang="en-US">
                <a:latin typeface="Times New Roman" panose="02020603050405020304" pitchFamily="18" charset="0"/>
              </a:rPr>
              <a:t>则二元</a:t>
            </a:r>
            <a:r>
              <a:rPr lang="zh-CN" altLang="en-US" dirty="0">
                <a:latin typeface="Times New Roman" panose="02020603050405020304" pitchFamily="18" charset="0"/>
              </a:rPr>
              <a:t>线性方程组的解为</a:t>
            </a:r>
            <a:endParaRPr lang="zh-CN" altLang="en-US">
              <a:latin typeface="Times New Roman" panose="02020603050405020304" pitchFamily="18" charset="0"/>
            </a:endParaRPr>
          </a:p>
        </p:txBody>
      </p:sp>
      <p:graphicFrame>
        <p:nvGraphicFramePr>
          <p:cNvPr id="46083" name="对象 46082"/>
          <p:cNvGraphicFramePr/>
          <p:nvPr/>
        </p:nvGraphicFramePr>
        <p:xfrm>
          <a:off x="1219200" y="1752600"/>
          <a:ext cx="3276600" cy="1981200"/>
        </p:xfrm>
        <a:graphic>
          <a:graphicData uri="http://schemas.openxmlformats.org/presentationml/2006/ole">
            <mc:AlternateContent xmlns:mc="http://schemas.openxmlformats.org/markup-compatibility/2006">
              <mc:Choice xmlns:v="urn:schemas-microsoft-com:vml" Requires="v">
                <p:oleObj spid="_x0000_s3087" name="" r:id="rId1" imgW="3276600" imgH="1981200" progId="Equation.3">
                  <p:embed/>
                </p:oleObj>
              </mc:Choice>
              <mc:Fallback>
                <p:oleObj name="" r:id="rId1" imgW="3276600" imgH="1981200" progId="Equation.3">
                  <p:embed/>
                  <p:pic>
                    <p:nvPicPr>
                      <p:cNvPr id="0" name="图片 3086"/>
                      <p:cNvPicPr/>
                      <p:nvPr/>
                    </p:nvPicPr>
                    <p:blipFill>
                      <a:blip r:embed="rId2"/>
                      <a:stretch>
                        <a:fillRect/>
                      </a:stretch>
                    </p:blipFill>
                    <p:spPr>
                      <a:xfrm>
                        <a:off x="1219200" y="1752600"/>
                        <a:ext cx="3276600" cy="1981200"/>
                      </a:xfrm>
                      <a:prstGeom prst="rect">
                        <a:avLst/>
                      </a:prstGeom>
                      <a:noFill/>
                      <a:ln w="38100">
                        <a:noFill/>
                        <a:miter/>
                      </a:ln>
                    </p:spPr>
                  </p:pic>
                </p:oleObj>
              </mc:Fallback>
            </mc:AlternateContent>
          </a:graphicData>
        </a:graphic>
      </p:graphicFrame>
      <p:graphicFrame>
        <p:nvGraphicFramePr>
          <p:cNvPr id="46085" name="对象 46084"/>
          <p:cNvGraphicFramePr/>
          <p:nvPr/>
        </p:nvGraphicFramePr>
        <p:xfrm>
          <a:off x="4419600" y="1828800"/>
          <a:ext cx="3314700" cy="1981200"/>
        </p:xfrm>
        <a:graphic>
          <a:graphicData uri="http://schemas.openxmlformats.org/presentationml/2006/ole">
            <mc:AlternateContent xmlns:mc="http://schemas.openxmlformats.org/markup-compatibility/2006">
              <mc:Choice xmlns:v="urn:schemas-microsoft-com:vml" Requires="v">
                <p:oleObj spid="_x0000_s3086" name="" r:id="rId3" imgW="3314700" imgH="1981200" progId="Equation.3">
                  <p:embed/>
                </p:oleObj>
              </mc:Choice>
              <mc:Fallback>
                <p:oleObj name="" r:id="rId3" imgW="3314700" imgH="1981200" progId="Equation.3">
                  <p:embed/>
                  <p:pic>
                    <p:nvPicPr>
                      <p:cNvPr id="0" name="图片 3085"/>
                      <p:cNvPicPr/>
                      <p:nvPr/>
                    </p:nvPicPr>
                    <p:blipFill>
                      <a:blip r:embed="rId4"/>
                      <a:stretch>
                        <a:fillRect/>
                      </a:stretch>
                    </p:blipFill>
                    <p:spPr>
                      <a:xfrm>
                        <a:off x="4419600" y="1828800"/>
                        <a:ext cx="3314700" cy="19812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6083"/>
                                        </p:tgtEl>
                                        <p:attrNameLst>
                                          <p:attrName>style.visibility</p:attrName>
                                        </p:attrNameLst>
                                      </p:cBhvr>
                                      <p:to>
                                        <p:strVal val="visible"/>
                                      </p:to>
                                    </p:set>
                                    <p:animEffect transition="in" filter="wipe(left)">
                                      <p:cBhvr>
                                        <p:cTn id="7" dur="500"/>
                                        <p:tgtEl>
                                          <p:spTgt spid="460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6085"/>
                                        </p:tgtEl>
                                        <p:attrNameLst>
                                          <p:attrName>style.visibility</p:attrName>
                                        </p:attrNameLst>
                                      </p:cBhvr>
                                      <p:to>
                                        <p:strVal val="visible"/>
                                      </p:to>
                                    </p:set>
                                    <p:animEffect transition="in" filter="wipe(left)">
                                      <p:cBhvr>
                                        <p:cTn id="12" dur="500"/>
                                        <p:tgtEl>
                                          <p:spTgt spid="46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文本框 47105"/>
          <p:cNvSpPr txBox="1"/>
          <p:nvPr/>
        </p:nvSpPr>
        <p:spPr>
          <a:xfrm>
            <a:off x="220345" y="836295"/>
            <a:ext cx="1686560" cy="521970"/>
          </a:xfrm>
          <a:prstGeom prst="rect">
            <a:avLst/>
          </a:prstGeom>
          <a:noFill/>
          <a:ln w="9525">
            <a:noFill/>
          </a:ln>
        </p:spPr>
        <p:txBody>
          <a:bodyPr wrap="square">
            <a:spAutoFit/>
          </a:bodyPr>
          <a:p>
            <a:pPr>
              <a:spcBef>
                <a:spcPct val="50000"/>
              </a:spcBef>
            </a:pPr>
            <a:r>
              <a:rPr lang="zh-CN" altLang="en-US">
                <a:solidFill>
                  <a:srgbClr val="FF3300"/>
                </a:solidFill>
                <a:effectLst/>
                <a:latin typeface="黑体" panose="02010609060101010101" pitchFamily="2" charset="-122"/>
                <a:ea typeface="黑体" panose="02010609060101010101" pitchFamily="2" charset="-122"/>
              </a:rPr>
              <a:t>例</a:t>
            </a:r>
            <a:r>
              <a:rPr lang="en-US" altLang="zh-CN">
                <a:solidFill>
                  <a:srgbClr val="FF3300"/>
                </a:solidFill>
                <a:effectLst/>
                <a:latin typeface="黑体" panose="02010609060101010101" pitchFamily="2" charset="-122"/>
                <a:ea typeface="黑体" panose="02010609060101010101" pitchFamily="2" charset="-122"/>
              </a:rPr>
              <a:t>1.1.1</a:t>
            </a:r>
            <a:endParaRPr lang="en-US" altLang="zh-CN">
              <a:solidFill>
                <a:srgbClr val="FF3300"/>
              </a:solidFill>
              <a:effectLst/>
              <a:latin typeface="黑体" panose="02010609060101010101" pitchFamily="2" charset="-122"/>
              <a:ea typeface="黑体" panose="02010609060101010101" pitchFamily="2" charset="-122"/>
            </a:endParaRPr>
          </a:p>
        </p:txBody>
      </p:sp>
      <p:graphicFrame>
        <p:nvGraphicFramePr>
          <p:cNvPr id="47107" name="对象 47106"/>
          <p:cNvGraphicFramePr/>
          <p:nvPr/>
        </p:nvGraphicFramePr>
        <p:xfrm>
          <a:off x="1787525" y="871220"/>
          <a:ext cx="3282315" cy="1579245"/>
        </p:xfrm>
        <a:graphic>
          <a:graphicData uri="http://schemas.openxmlformats.org/presentationml/2006/ole">
            <mc:AlternateContent xmlns:mc="http://schemas.openxmlformats.org/markup-compatibility/2006">
              <mc:Choice xmlns:v="urn:schemas-microsoft-com:vml" Requires="v">
                <p:oleObj spid="_x0000_s3088" name="" r:id="rId1" imgW="1409700" imgH="711200" progId="Equation.3">
                  <p:embed/>
                </p:oleObj>
              </mc:Choice>
              <mc:Fallback>
                <p:oleObj name="" r:id="rId1" imgW="1409700" imgH="711200" progId="Equation.3">
                  <p:embed/>
                  <p:pic>
                    <p:nvPicPr>
                      <p:cNvPr id="0" name="图片 3087"/>
                      <p:cNvPicPr/>
                      <p:nvPr/>
                    </p:nvPicPr>
                    <p:blipFill>
                      <a:blip r:embed="rId2"/>
                      <a:stretch>
                        <a:fillRect/>
                      </a:stretch>
                    </p:blipFill>
                    <p:spPr>
                      <a:xfrm>
                        <a:off x="1787525" y="871220"/>
                        <a:ext cx="3282315" cy="1579245"/>
                      </a:xfrm>
                      <a:prstGeom prst="rect">
                        <a:avLst/>
                      </a:prstGeom>
                      <a:noFill/>
                      <a:ln w="38100">
                        <a:noFill/>
                        <a:miter/>
                      </a:ln>
                    </p:spPr>
                  </p:pic>
                </p:oleObj>
              </mc:Fallback>
            </mc:AlternateContent>
          </a:graphicData>
        </a:graphic>
      </p:graphicFrame>
      <p:sp>
        <p:nvSpPr>
          <p:cNvPr id="47108" name="文本框 47107"/>
          <p:cNvSpPr txBox="1"/>
          <p:nvPr/>
        </p:nvSpPr>
        <p:spPr>
          <a:xfrm>
            <a:off x="914400" y="2819400"/>
            <a:ext cx="838200" cy="519113"/>
          </a:xfrm>
          <a:prstGeom prst="rect">
            <a:avLst/>
          </a:prstGeom>
          <a:noFill/>
          <a:ln w="9525">
            <a:noFill/>
          </a:ln>
        </p:spPr>
        <p:txBody>
          <a:bodyPr>
            <a:spAutoFit/>
          </a:bodyPr>
          <a:p>
            <a:pPr>
              <a:spcBef>
                <a:spcPct val="50000"/>
              </a:spcBef>
            </a:pPr>
            <a:r>
              <a:rPr lang="zh-CN" altLang="en-US">
                <a:solidFill>
                  <a:srgbClr val="3333FF"/>
                </a:solidFill>
                <a:latin typeface="Times New Roman" panose="02020603050405020304" pitchFamily="18" charset="0"/>
                <a:ea typeface="黑体" panose="02010609060101010101" pitchFamily="2" charset="-122"/>
              </a:rPr>
              <a:t>解</a:t>
            </a:r>
            <a:endParaRPr lang="zh-CN" altLang="en-US">
              <a:solidFill>
                <a:srgbClr val="3333FF"/>
              </a:solidFill>
              <a:latin typeface="Times New Roman" panose="02020603050405020304" pitchFamily="18" charset="0"/>
              <a:ea typeface="黑体" panose="02010609060101010101" pitchFamily="2" charset="-122"/>
            </a:endParaRPr>
          </a:p>
        </p:txBody>
      </p:sp>
      <p:graphicFrame>
        <p:nvGraphicFramePr>
          <p:cNvPr id="47109" name="对象 47108"/>
          <p:cNvGraphicFramePr/>
          <p:nvPr/>
        </p:nvGraphicFramePr>
        <p:xfrm>
          <a:off x="1619885" y="2551748"/>
          <a:ext cx="5470525" cy="1232535"/>
        </p:xfrm>
        <a:graphic>
          <a:graphicData uri="http://schemas.openxmlformats.org/presentationml/2006/ole">
            <mc:AlternateContent xmlns:mc="http://schemas.openxmlformats.org/markup-compatibility/2006">
              <mc:Choice xmlns:v="urn:schemas-microsoft-com:vml" Requires="v">
                <p:oleObj spid="_x0000_s3076" name="" r:id="rId3" imgW="2234565" imgH="457200" progId="Equation.3">
                  <p:embed/>
                </p:oleObj>
              </mc:Choice>
              <mc:Fallback>
                <p:oleObj name="" r:id="rId3" imgW="2234565" imgH="457200" progId="Equation.3">
                  <p:embed/>
                  <p:pic>
                    <p:nvPicPr>
                      <p:cNvPr id="0" name="图片 3075"/>
                      <p:cNvPicPr/>
                      <p:nvPr/>
                    </p:nvPicPr>
                    <p:blipFill>
                      <a:blip r:embed="rId4"/>
                      <a:stretch>
                        <a:fillRect/>
                      </a:stretch>
                    </p:blipFill>
                    <p:spPr>
                      <a:xfrm>
                        <a:off x="1619885" y="2551748"/>
                        <a:ext cx="5470525" cy="1232535"/>
                      </a:xfrm>
                      <a:prstGeom prst="rect">
                        <a:avLst/>
                      </a:prstGeom>
                      <a:noFill/>
                      <a:ln w="38100">
                        <a:noFill/>
                        <a:miter/>
                      </a:ln>
                    </p:spPr>
                  </p:pic>
                </p:oleObj>
              </mc:Fallback>
            </mc:AlternateContent>
          </a:graphicData>
        </a:graphic>
      </p:graphicFrame>
      <p:graphicFrame>
        <p:nvGraphicFramePr>
          <p:cNvPr id="47112" name="对象 47111"/>
          <p:cNvGraphicFramePr/>
          <p:nvPr/>
        </p:nvGraphicFramePr>
        <p:xfrm>
          <a:off x="1292225" y="3848100"/>
          <a:ext cx="2689225" cy="1172845"/>
        </p:xfrm>
        <a:graphic>
          <a:graphicData uri="http://schemas.openxmlformats.org/presentationml/2006/ole">
            <mc:AlternateContent xmlns:mc="http://schemas.openxmlformats.org/markup-compatibility/2006">
              <mc:Choice xmlns:v="urn:schemas-microsoft-com:vml" Requires="v">
                <p:oleObj spid="_x0000_s3079" name="" r:id="rId5" imgW="1219200" imgH="457200" progId="Equation.3">
                  <p:embed/>
                </p:oleObj>
              </mc:Choice>
              <mc:Fallback>
                <p:oleObj name="" r:id="rId5" imgW="1219200" imgH="457200" progId="Equation.3">
                  <p:embed/>
                  <p:pic>
                    <p:nvPicPr>
                      <p:cNvPr id="0" name="图片 3078"/>
                      <p:cNvPicPr/>
                      <p:nvPr/>
                    </p:nvPicPr>
                    <p:blipFill>
                      <a:blip r:embed="rId6"/>
                      <a:stretch>
                        <a:fillRect/>
                      </a:stretch>
                    </p:blipFill>
                    <p:spPr>
                      <a:xfrm>
                        <a:off x="1292225" y="3848100"/>
                        <a:ext cx="2689225" cy="1172845"/>
                      </a:xfrm>
                      <a:prstGeom prst="rect">
                        <a:avLst/>
                      </a:prstGeom>
                      <a:noFill/>
                      <a:ln w="38100">
                        <a:noFill/>
                        <a:miter/>
                      </a:ln>
                    </p:spPr>
                  </p:pic>
                </p:oleObj>
              </mc:Fallback>
            </mc:AlternateContent>
          </a:graphicData>
        </a:graphic>
      </p:graphicFrame>
      <p:graphicFrame>
        <p:nvGraphicFramePr>
          <p:cNvPr id="47114" name="对象 47113"/>
          <p:cNvGraphicFramePr/>
          <p:nvPr/>
        </p:nvGraphicFramePr>
        <p:xfrm>
          <a:off x="4328795" y="3784600"/>
          <a:ext cx="2749550" cy="1164590"/>
        </p:xfrm>
        <a:graphic>
          <a:graphicData uri="http://schemas.openxmlformats.org/presentationml/2006/ole">
            <mc:AlternateContent xmlns:mc="http://schemas.openxmlformats.org/markup-compatibility/2006">
              <mc:Choice xmlns:v="urn:schemas-microsoft-com:vml" Requires="v">
                <p:oleObj spid="_x0000_s3081" name="" r:id="rId7" imgW="1206500" imgH="457200" progId="Equation.3">
                  <p:embed/>
                </p:oleObj>
              </mc:Choice>
              <mc:Fallback>
                <p:oleObj name="" r:id="rId7" imgW="1206500" imgH="457200" progId="Equation.3">
                  <p:embed/>
                  <p:pic>
                    <p:nvPicPr>
                      <p:cNvPr id="0" name="图片 3080"/>
                      <p:cNvPicPr/>
                      <p:nvPr/>
                    </p:nvPicPr>
                    <p:blipFill>
                      <a:blip r:embed="rId8"/>
                      <a:stretch>
                        <a:fillRect/>
                      </a:stretch>
                    </p:blipFill>
                    <p:spPr>
                      <a:xfrm>
                        <a:off x="4328795" y="3784600"/>
                        <a:ext cx="2749550" cy="1164590"/>
                      </a:xfrm>
                      <a:prstGeom prst="rect">
                        <a:avLst/>
                      </a:prstGeom>
                      <a:noFill/>
                      <a:ln w="38100">
                        <a:noFill/>
                        <a:miter/>
                      </a:ln>
                    </p:spPr>
                  </p:pic>
                </p:oleObj>
              </mc:Fallback>
            </mc:AlternateContent>
          </a:graphicData>
        </a:graphic>
      </p:graphicFrame>
      <p:graphicFrame>
        <p:nvGraphicFramePr>
          <p:cNvPr id="47117" name="对象 47116"/>
          <p:cNvGraphicFramePr/>
          <p:nvPr/>
        </p:nvGraphicFramePr>
        <p:xfrm>
          <a:off x="1187450" y="5113020"/>
          <a:ext cx="3286760" cy="937895"/>
        </p:xfrm>
        <a:graphic>
          <a:graphicData uri="http://schemas.openxmlformats.org/presentationml/2006/ole">
            <mc:AlternateContent xmlns:mc="http://schemas.openxmlformats.org/markup-compatibility/2006">
              <mc:Choice xmlns:v="urn:schemas-microsoft-com:vml" Requires="v">
                <p:oleObj spid="_x0000_s3085" name="" r:id="rId9" imgW="1422400" imgH="393700" progId="Equation.3">
                  <p:embed/>
                </p:oleObj>
              </mc:Choice>
              <mc:Fallback>
                <p:oleObj name="" r:id="rId9" imgW="1422400" imgH="393700" progId="Equation.3">
                  <p:embed/>
                  <p:pic>
                    <p:nvPicPr>
                      <p:cNvPr id="0" name="图片 3084"/>
                      <p:cNvPicPr/>
                      <p:nvPr/>
                    </p:nvPicPr>
                    <p:blipFill>
                      <a:blip r:embed="rId10"/>
                      <a:stretch>
                        <a:fillRect/>
                      </a:stretch>
                    </p:blipFill>
                    <p:spPr>
                      <a:xfrm>
                        <a:off x="1187450" y="5113020"/>
                        <a:ext cx="3286760" cy="937895"/>
                      </a:xfrm>
                      <a:prstGeom prst="rect">
                        <a:avLst/>
                      </a:prstGeom>
                      <a:noFill/>
                      <a:ln w="38100">
                        <a:noFill/>
                        <a:miter/>
                      </a:ln>
                    </p:spPr>
                  </p:pic>
                </p:oleObj>
              </mc:Fallback>
            </mc:AlternateContent>
          </a:graphicData>
        </a:graphic>
      </p:graphicFrame>
      <p:graphicFrame>
        <p:nvGraphicFramePr>
          <p:cNvPr id="47118" name="对象 47117"/>
          <p:cNvGraphicFramePr/>
          <p:nvPr/>
        </p:nvGraphicFramePr>
        <p:xfrm>
          <a:off x="4787900" y="5041265"/>
          <a:ext cx="3200400" cy="1081405"/>
        </p:xfrm>
        <a:graphic>
          <a:graphicData uri="http://schemas.openxmlformats.org/presentationml/2006/ole">
            <mc:AlternateContent xmlns:mc="http://schemas.openxmlformats.org/markup-compatibility/2006">
              <mc:Choice xmlns:v="urn:schemas-microsoft-com:vml" Requires="v">
                <p:oleObj spid="_x0000_s3083" name="" r:id="rId11" imgW="1270000" imgH="393700" progId="Equation.3">
                  <p:embed/>
                </p:oleObj>
              </mc:Choice>
              <mc:Fallback>
                <p:oleObj name="" r:id="rId11" imgW="1270000" imgH="393700" progId="Equation.3">
                  <p:embed/>
                  <p:pic>
                    <p:nvPicPr>
                      <p:cNvPr id="0" name="图片 3082"/>
                      <p:cNvPicPr/>
                      <p:nvPr/>
                    </p:nvPicPr>
                    <p:blipFill>
                      <a:blip r:embed="rId12"/>
                      <a:stretch>
                        <a:fillRect/>
                      </a:stretch>
                    </p:blipFill>
                    <p:spPr>
                      <a:xfrm>
                        <a:off x="4787900" y="5041265"/>
                        <a:ext cx="3200400" cy="108140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8"/>
                                        </p:tgtEl>
                                        <p:attrNameLst>
                                          <p:attrName>style.visibility</p:attrName>
                                        </p:attrNameLst>
                                      </p:cBhvr>
                                      <p:to>
                                        <p:strVal val="visible"/>
                                      </p:to>
                                    </p:set>
                                    <p:animEffect transition="in" filter="wipe(left)">
                                      <p:cBhvr>
                                        <p:cTn id="7" dur="500"/>
                                        <p:tgtEl>
                                          <p:spTgt spid="4710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109"/>
                                        </p:tgtEl>
                                        <p:attrNameLst>
                                          <p:attrName>style.visibility</p:attrName>
                                        </p:attrNameLst>
                                      </p:cBhvr>
                                      <p:to>
                                        <p:strVal val="visible"/>
                                      </p:to>
                                    </p:set>
                                    <p:animEffect transition="in" filter="wipe(left)">
                                      <p:cBhvr>
                                        <p:cTn id="12" dur="500"/>
                                        <p:tgtEl>
                                          <p:spTgt spid="4710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7112"/>
                                        </p:tgtEl>
                                        <p:attrNameLst>
                                          <p:attrName>style.visibility</p:attrName>
                                        </p:attrNameLst>
                                      </p:cBhvr>
                                      <p:to>
                                        <p:strVal val="visible"/>
                                      </p:to>
                                    </p:set>
                                    <p:animEffect transition="in" filter="wipe(left)">
                                      <p:cBhvr>
                                        <p:cTn id="17" dur="500"/>
                                        <p:tgtEl>
                                          <p:spTgt spid="471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7114"/>
                                        </p:tgtEl>
                                        <p:attrNameLst>
                                          <p:attrName>style.visibility</p:attrName>
                                        </p:attrNameLst>
                                      </p:cBhvr>
                                      <p:to>
                                        <p:strVal val="visible"/>
                                      </p:to>
                                    </p:set>
                                    <p:animEffect transition="in" filter="wipe(left)">
                                      <p:cBhvr>
                                        <p:cTn id="22" dur="500"/>
                                        <p:tgtEl>
                                          <p:spTgt spid="471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7117"/>
                                        </p:tgtEl>
                                        <p:attrNameLst>
                                          <p:attrName>style.visibility</p:attrName>
                                        </p:attrNameLst>
                                      </p:cBhvr>
                                      <p:to>
                                        <p:strVal val="visible"/>
                                      </p:to>
                                    </p:set>
                                    <p:animEffect transition="in" filter="wipe(left)">
                                      <p:cBhvr>
                                        <p:cTn id="27" dur="500"/>
                                        <p:tgtEl>
                                          <p:spTgt spid="471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7118"/>
                                        </p:tgtEl>
                                        <p:attrNameLst>
                                          <p:attrName>style.visibility</p:attrName>
                                        </p:attrNameLst>
                                      </p:cBhvr>
                                      <p:to>
                                        <p:strVal val="visible"/>
                                      </p:to>
                                    </p:set>
                                    <p:animEffect transition="in" filter="wipe(left)">
                                      <p:cBhvr>
                                        <p:cTn id="32" dur="500"/>
                                        <p:tgtEl>
                                          <p:spTgt spid="47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48129"/>
          <p:cNvSpPr>
            <a:spLocks noGrp="1"/>
          </p:cNvSpPr>
          <p:nvPr>
            <p:ph type="title"/>
          </p:nvPr>
        </p:nvSpPr>
        <p:spPr/>
        <p:txBody>
          <a:bodyPr anchor="ctr" anchorCtr="0"/>
          <a:p>
            <a:pPr algn="l"/>
            <a:r>
              <a:rPr lang="zh-CN" altLang="en-US" dirty="0">
                <a:solidFill>
                  <a:schemeClr val="tx1"/>
                </a:solidFill>
              </a:rPr>
              <a:t>二、</a:t>
            </a:r>
            <a:r>
              <a:rPr lang="zh-CN" altLang="en-US" dirty="0">
                <a:solidFill>
                  <a:srgbClr val="0000FF"/>
                </a:solidFill>
              </a:rPr>
              <a:t>三阶行列式</a:t>
            </a:r>
            <a:endParaRPr lang="zh-CN" altLang="en-US">
              <a:solidFill>
                <a:srgbClr val="0000FF"/>
              </a:solidFill>
            </a:endParaRPr>
          </a:p>
        </p:txBody>
      </p:sp>
      <p:sp>
        <p:nvSpPr>
          <p:cNvPr id="48131" name="文本框 48130"/>
          <p:cNvSpPr txBox="1"/>
          <p:nvPr/>
        </p:nvSpPr>
        <p:spPr>
          <a:xfrm>
            <a:off x="914400" y="1600200"/>
            <a:ext cx="1626235" cy="521970"/>
          </a:xfrm>
          <a:prstGeom prst="rect">
            <a:avLst/>
          </a:prstGeom>
          <a:noFill/>
          <a:ln w="9525">
            <a:noFill/>
          </a:ln>
        </p:spPr>
        <p:txBody>
          <a:bodyPr wrap="square">
            <a:spAutoFit/>
          </a:bodyPr>
          <a:p>
            <a:pPr>
              <a:spcBef>
                <a:spcPct val="50000"/>
              </a:spcBef>
            </a:pPr>
            <a:r>
              <a:rPr lang="zh-CN" altLang="en-US" dirty="0">
                <a:solidFill>
                  <a:srgbClr val="FF3300"/>
                </a:solidFill>
                <a:effectLst>
                  <a:outerShdw blurRad="38100" dist="38100" dir="2700000">
                    <a:srgbClr val="000000"/>
                  </a:outerShdw>
                </a:effectLst>
                <a:latin typeface="Times New Roman" panose="02020603050405020304" pitchFamily="18" charset="0"/>
                <a:ea typeface="黑体" panose="02010609060101010101" pitchFamily="2" charset="-122"/>
              </a:rPr>
              <a:t>定义</a:t>
            </a:r>
            <a:r>
              <a:rPr lang="en-US" altLang="zh-CN" dirty="0">
                <a:solidFill>
                  <a:srgbClr val="FF3300"/>
                </a:solidFill>
                <a:effectLst>
                  <a:outerShdw blurRad="38100" dist="38100" dir="2700000">
                    <a:srgbClr val="000000"/>
                  </a:outerShdw>
                </a:effectLst>
                <a:latin typeface="Times New Roman" panose="02020603050405020304" pitchFamily="18" charset="0"/>
                <a:ea typeface="黑体" panose="02010609060101010101" pitchFamily="2" charset="-122"/>
              </a:rPr>
              <a:t>1.1.2</a:t>
            </a:r>
            <a:endParaRPr lang="en-US" altLang="zh-CN" dirty="0">
              <a:solidFill>
                <a:srgbClr val="FF3300"/>
              </a:solidFill>
              <a:effectLst>
                <a:outerShdw blurRad="38100" dist="38100" dir="2700000">
                  <a:srgbClr val="000000"/>
                </a:outerShdw>
              </a:effectLst>
              <a:latin typeface="Times New Roman" panose="02020603050405020304" pitchFamily="18" charset="0"/>
              <a:ea typeface="黑体" panose="02010609060101010101" pitchFamily="2" charset="-122"/>
            </a:endParaRPr>
          </a:p>
        </p:txBody>
      </p:sp>
      <p:sp>
        <p:nvSpPr>
          <p:cNvPr id="48133" name="文本框 48132"/>
          <p:cNvSpPr txBox="1"/>
          <p:nvPr/>
        </p:nvSpPr>
        <p:spPr>
          <a:xfrm>
            <a:off x="3028950" y="1700530"/>
            <a:ext cx="1143000" cy="519113"/>
          </a:xfrm>
          <a:prstGeom prst="rect">
            <a:avLst/>
          </a:prstGeom>
          <a:noFill/>
          <a:ln w="9525">
            <a:noFill/>
          </a:ln>
        </p:spPr>
        <p:txBody>
          <a:bodyPr>
            <a:spAutoFit/>
          </a:bodyPr>
          <a:p>
            <a:pPr>
              <a:spcBef>
                <a:spcPct val="50000"/>
              </a:spcBef>
            </a:pPr>
            <a:r>
              <a:rPr lang="zh-CN" altLang="en-US">
                <a:solidFill>
                  <a:srgbClr val="0000FF"/>
                </a:solidFill>
                <a:effectLst>
                  <a:outerShdw blurRad="38100" dist="38100" dir="2700000">
                    <a:srgbClr val="000000"/>
                  </a:outerShdw>
                </a:effectLst>
                <a:latin typeface="Times New Roman" panose="02020603050405020304" pitchFamily="18" charset="0"/>
                <a:ea typeface="黑体" panose="02010609060101010101" pitchFamily="2" charset="-122"/>
              </a:rPr>
              <a:t>记</a:t>
            </a:r>
            <a:endParaRPr lang="zh-CN" altLang="en-US">
              <a:solidFill>
                <a:srgbClr val="0000FF"/>
              </a:solidFill>
              <a:effectLst>
                <a:outerShdw blurRad="38100" dist="38100" dir="2700000">
                  <a:srgbClr val="000000"/>
                </a:outerShdw>
              </a:effectLst>
              <a:latin typeface="Times New Roman" panose="02020603050405020304" pitchFamily="18" charset="0"/>
              <a:ea typeface="黑体" panose="02010609060101010101" pitchFamily="2" charset="-122"/>
            </a:endParaRPr>
          </a:p>
        </p:txBody>
      </p:sp>
      <p:graphicFrame>
        <p:nvGraphicFramePr>
          <p:cNvPr id="48134" name="对象 48133"/>
          <p:cNvGraphicFramePr/>
          <p:nvPr/>
        </p:nvGraphicFramePr>
        <p:xfrm>
          <a:off x="3028950" y="2585720"/>
          <a:ext cx="5276850" cy="1212215"/>
        </p:xfrm>
        <a:graphic>
          <a:graphicData uri="http://schemas.openxmlformats.org/presentationml/2006/ole">
            <mc:AlternateContent xmlns:mc="http://schemas.openxmlformats.org/markup-compatibility/2006">
              <mc:Choice xmlns:v="urn:schemas-microsoft-com:vml" Requires="v">
                <p:oleObj spid="_x0000_s3094" name="" r:id="rId1" imgW="2120900" imgH="457200" progId="Equation.3">
                  <p:embed/>
                </p:oleObj>
              </mc:Choice>
              <mc:Fallback>
                <p:oleObj name="" r:id="rId1" imgW="2120900" imgH="457200" progId="Equation.3">
                  <p:embed/>
                  <p:pic>
                    <p:nvPicPr>
                      <p:cNvPr id="0" name="图片 3093"/>
                      <p:cNvPicPr/>
                      <p:nvPr/>
                    </p:nvPicPr>
                    <p:blipFill>
                      <a:blip r:embed="rId2"/>
                      <a:stretch>
                        <a:fillRect/>
                      </a:stretch>
                    </p:blipFill>
                    <p:spPr>
                      <a:xfrm>
                        <a:off x="3028950" y="2585720"/>
                        <a:ext cx="5276850" cy="1212215"/>
                      </a:xfrm>
                      <a:prstGeom prst="rect">
                        <a:avLst/>
                      </a:prstGeom>
                      <a:noFill/>
                      <a:ln w="38100">
                        <a:noFill/>
                        <a:miter/>
                      </a:ln>
                    </p:spPr>
                  </p:pic>
                </p:oleObj>
              </mc:Fallback>
            </mc:AlternateContent>
          </a:graphicData>
        </a:graphic>
      </p:graphicFrame>
      <p:graphicFrame>
        <p:nvGraphicFramePr>
          <p:cNvPr id="48135" name="对象 48134"/>
          <p:cNvGraphicFramePr/>
          <p:nvPr/>
        </p:nvGraphicFramePr>
        <p:xfrm>
          <a:off x="971550" y="2348865"/>
          <a:ext cx="2057400" cy="1536700"/>
        </p:xfrm>
        <a:graphic>
          <a:graphicData uri="http://schemas.openxmlformats.org/presentationml/2006/ole">
            <mc:AlternateContent xmlns:mc="http://schemas.openxmlformats.org/markup-compatibility/2006">
              <mc:Choice xmlns:v="urn:schemas-microsoft-com:vml" Requires="v">
                <p:oleObj spid="_x0000_s3089" name="" r:id="rId3" imgW="2057400" imgH="1536700" progId="Equation.3">
                  <p:embed/>
                </p:oleObj>
              </mc:Choice>
              <mc:Fallback>
                <p:oleObj name="" r:id="rId3" imgW="2057400" imgH="1536700" progId="Equation.3">
                  <p:embed/>
                  <p:pic>
                    <p:nvPicPr>
                      <p:cNvPr id="0" name="图片 3088"/>
                      <p:cNvPicPr/>
                      <p:nvPr/>
                    </p:nvPicPr>
                    <p:blipFill>
                      <a:blip r:embed="rId4"/>
                      <a:stretch>
                        <a:fillRect/>
                      </a:stretch>
                    </p:blipFill>
                    <p:spPr>
                      <a:xfrm>
                        <a:off x="971550" y="2348865"/>
                        <a:ext cx="2057400" cy="1536700"/>
                      </a:xfrm>
                      <a:prstGeom prst="rect">
                        <a:avLst/>
                      </a:prstGeom>
                      <a:noFill/>
                      <a:ln w="38100">
                        <a:noFill/>
                        <a:miter/>
                      </a:ln>
                    </p:spPr>
                  </p:pic>
                </p:oleObj>
              </mc:Fallback>
            </mc:AlternateContent>
          </a:graphicData>
        </a:graphic>
      </p:graphicFrame>
      <p:sp>
        <p:nvSpPr>
          <p:cNvPr id="48136" name="矩形 48135"/>
          <p:cNvSpPr/>
          <p:nvPr/>
        </p:nvSpPr>
        <p:spPr>
          <a:xfrm>
            <a:off x="755650" y="4869180"/>
            <a:ext cx="5021580" cy="521970"/>
          </a:xfrm>
          <a:prstGeom prst="rect">
            <a:avLst/>
          </a:prstGeom>
          <a:noFill/>
          <a:ln w="9525">
            <a:noFill/>
          </a:ln>
        </p:spPr>
        <p:txBody>
          <a:bodyPr wrap="none" anchor="t" anchorCtr="0">
            <a:spAutoFit/>
          </a:bodyPr>
          <a:p>
            <a:r>
              <a:rPr lang="zh-CN" altLang="en-US" dirty="0">
                <a:latin typeface="黑体" panose="02010609060101010101" pitchFamily="2" charset="-122"/>
                <a:ea typeface="黑体" panose="02010609060101010101" pitchFamily="2" charset="-122"/>
              </a:rPr>
              <a:t>称</a:t>
            </a:r>
            <a:r>
              <a:rPr lang="en-US" altLang="zh-CN" dirty="0">
                <a:latin typeface="黑体" panose="02010609060101010101" pitchFamily="2" charset="-122"/>
                <a:ea typeface="黑体" panose="02010609060101010101" pitchFamily="2" charset="-122"/>
              </a:rPr>
              <a:t>            </a:t>
            </a:r>
            <a:r>
              <a:rPr lang="zh-CN" altLang="en-US" dirty="0">
                <a:latin typeface="黑体" panose="02010609060101010101" pitchFamily="2" charset="-122"/>
                <a:ea typeface="黑体" panose="02010609060101010101" pitchFamily="2" charset="-122"/>
              </a:rPr>
              <a:t>为</a:t>
            </a:r>
            <a:r>
              <a:rPr lang="zh-CN" altLang="en-US" dirty="0">
                <a:solidFill>
                  <a:srgbClr val="0000FF"/>
                </a:solidFill>
                <a:effectLst>
                  <a:outerShdw blurRad="38100" dist="38100" dir="2700000">
                    <a:srgbClr val="000000"/>
                  </a:outerShdw>
                </a:effectLst>
                <a:latin typeface="黑体" panose="02010609060101010101" pitchFamily="2" charset="-122"/>
                <a:ea typeface="黑体" panose="02010609060101010101" pitchFamily="2" charset="-122"/>
              </a:rPr>
              <a:t>三阶行列式</a:t>
            </a:r>
            <a:r>
              <a:rPr lang="en-US" altLang="zh-CN">
                <a:latin typeface="宋体" panose="02010600030101010101" pitchFamily="2" charset="-122"/>
              </a:rPr>
              <a:t>.</a:t>
            </a:r>
            <a:endParaRPr lang="en-US" altLang="zh-CN">
              <a:latin typeface="宋体" panose="02010600030101010101" pitchFamily="2" charset="-122"/>
            </a:endParaRPr>
          </a:p>
        </p:txBody>
      </p:sp>
      <p:graphicFrame>
        <p:nvGraphicFramePr>
          <p:cNvPr id="2" name="对象 1"/>
          <p:cNvGraphicFramePr/>
          <p:nvPr/>
        </p:nvGraphicFramePr>
        <p:xfrm>
          <a:off x="1259840" y="4220845"/>
          <a:ext cx="2057400" cy="1536700"/>
        </p:xfrm>
        <a:graphic>
          <a:graphicData uri="http://schemas.openxmlformats.org/presentationml/2006/ole">
            <mc:AlternateContent xmlns:mc="http://schemas.openxmlformats.org/markup-compatibility/2006">
              <mc:Choice xmlns:v="urn:schemas-microsoft-com:vml" Requires="v">
                <p:oleObj spid="_x0000_s3" name="" r:id="rId5" imgW="2057400" imgH="1536700" progId="Equation.3">
                  <p:embed/>
                </p:oleObj>
              </mc:Choice>
              <mc:Fallback>
                <p:oleObj name="" r:id="rId5" imgW="2057400" imgH="1536700" progId="Equation.3">
                  <p:embed/>
                  <p:pic>
                    <p:nvPicPr>
                      <p:cNvPr id="0" name="图片 3088"/>
                      <p:cNvPicPr/>
                      <p:nvPr/>
                    </p:nvPicPr>
                    <p:blipFill>
                      <a:blip r:embed="rId4"/>
                      <a:stretch>
                        <a:fillRect/>
                      </a:stretch>
                    </p:blipFill>
                    <p:spPr>
                      <a:xfrm>
                        <a:off x="1259840" y="4220845"/>
                        <a:ext cx="2057400" cy="15367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animEffect transition="in" filter="wipe(left)">
                                      <p:cBhvr>
                                        <p:cTn id="7" dur="500"/>
                                        <p:tgtEl>
                                          <p:spTgt spid="481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133"/>
                                        </p:tgtEl>
                                        <p:attrNameLst>
                                          <p:attrName>style.visibility</p:attrName>
                                        </p:attrNameLst>
                                      </p:cBhvr>
                                      <p:to>
                                        <p:strVal val="visible"/>
                                      </p:to>
                                    </p:set>
                                    <p:animEffect transition="in" filter="wipe(left)">
                                      <p:cBhvr>
                                        <p:cTn id="12" dur="500"/>
                                        <p:tgtEl>
                                          <p:spTgt spid="481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8135"/>
                                        </p:tgtEl>
                                        <p:attrNameLst>
                                          <p:attrName>style.visibility</p:attrName>
                                        </p:attrNameLst>
                                      </p:cBhvr>
                                      <p:to>
                                        <p:strVal val="visible"/>
                                      </p:to>
                                    </p:set>
                                    <p:animEffect transition="in" filter="wipe(left)">
                                      <p:cBhvr>
                                        <p:cTn id="17" dur="500"/>
                                        <p:tgtEl>
                                          <p:spTgt spid="481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8134"/>
                                        </p:tgtEl>
                                        <p:attrNameLst>
                                          <p:attrName>style.visibility</p:attrName>
                                        </p:attrNameLst>
                                      </p:cBhvr>
                                      <p:to>
                                        <p:strVal val="visible"/>
                                      </p:to>
                                    </p:set>
                                    <p:animEffect transition="in" filter="wipe(left)">
                                      <p:cBhvr>
                                        <p:cTn id="22" dur="500"/>
                                        <p:tgtEl>
                                          <p:spTgt spid="48134"/>
                                        </p:tgtEl>
                                      </p:cBhvr>
                                    </p:animEffect>
                                  </p:childTnLst>
                                </p:cTn>
                              </p:par>
                            </p:childTnLst>
                          </p:cTn>
                        </p:par>
                        <p:par>
                          <p:cTn id="23" fill="hold">
                            <p:stCondLst>
                              <p:cond delay="500"/>
                            </p:stCondLst>
                            <p:childTnLst>
                              <p:par>
                                <p:cTn id="24" presetID="22" presetClass="entr" presetSubtype="8" fill="hold" grpId="0" nodeType="afterEffect">
                                  <p:stCondLst>
                                    <p:cond delay="0"/>
                                  </p:stCondLst>
                                  <p:iterate type="lt">
                                    <p:tmPct val="100000"/>
                                  </p:iterate>
                                  <p:childTnLst>
                                    <p:set>
                                      <p:cBhvr>
                                        <p:cTn id="25" dur="1" fill="hold">
                                          <p:stCondLst>
                                            <p:cond delay="0"/>
                                          </p:stCondLst>
                                        </p:cTn>
                                        <p:tgtEl>
                                          <p:spTgt spid="48136"/>
                                        </p:tgtEl>
                                        <p:attrNameLst>
                                          <p:attrName>style.visibility</p:attrName>
                                        </p:attrNameLst>
                                      </p:cBhvr>
                                      <p:to>
                                        <p:strVal val="visible"/>
                                      </p:to>
                                    </p:set>
                                    <p:animEffect transition="in" filter="wipe(left)">
                                      <p:cBhvr>
                                        <p:cTn id="26" dur="75"/>
                                        <p:tgtEl>
                                          <p:spTgt spid="48136"/>
                                        </p:tgtEl>
                                      </p:cBhvr>
                                    </p:animEffect>
                                  </p:childTnLst>
                                </p:cTn>
                              </p:par>
                              <p:par>
                                <p:cTn id="27" presetID="22" presetClass="entr" presetSubtype="8" fill="hold" nodeType="with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left)">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P spid="48133" grpId="0"/>
      <p:bldP spid="481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82" name="矩形 49181"/>
          <p:cNvSpPr/>
          <p:nvPr/>
        </p:nvSpPr>
        <p:spPr>
          <a:xfrm>
            <a:off x="544830" y="2225040"/>
            <a:ext cx="5591175" cy="521970"/>
          </a:xfrm>
          <a:prstGeom prst="rect">
            <a:avLst/>
          </a:prstGeom>
          <a:noFill/>
          <a:ln w="9525">
            <a:noFill/>
          </a:ln>
        </p:spPr>
        <p:txBody>
          <a:bodyPr wrap="square">
            <a:spAutoFit/>
          </a:bodyPr>
          <a:p>
            <a:r>
              <a:rPr lang="zh-CN" altLang="en-US" dirty="0">
                <a:solidFill>
                  <a:srgbClr val="0000FF"/>
                </a:solidFill>
                <a:latin typeface="Times New Roman" panose="02020603050405020304" pitchFamily="18" charset="0"/>
                <a:ea typeface="黑体" panose="02010609060101010101" pitchFamily="2" charset="-122"/>
              </a:rPr>
              <a:t>三阶行列式的计算</a:t>
            </a:r>
            <a:endParaRPr lang="zh-CN" altLang="en-US" dirty="0">
              <a:solidFill>
                <a:srgbClr val="0000FF"/>
              </a:solidFill>
              <a:latin typeface="Times New Roman" panose="02020603050405020304" pitchFamily="18" charset="0"/>
              <a:ea typeface="黑体" panose="02010609060101010101" pitchFamily="2" charset="-122"/>
            </a:endParaRPr>
          </a:p>
        </p:txBody>
      </p:sp>
      <p:graphicFrame>
        <p:nvGraphicFramePr>
          <p:cNvPr id="49185" name="对象 49184"/>
          <p:cNvGraphicFramePr/>
          <p:nvPr/>
        </p:nvGraphicFramePr>
        <p:xfrm>
          <a:off x="2938780" y="548640"/>
          <a:ext cx="2705100" cy="1536700"/>
        </p:xfrm>
        <a:graphic>
          <a:graphicData uri="http://schemas.openxmlformats.org/presentationml/2006/ole">
            <mc:AlternateContent xmlns:mc="http://schemas.openxmlformats.org/markup-compatibility/2006">
              <mc:Choice xmlns:v="urn:schemas-microsoft-com:vml" Requires="v">
                <p:oleObj spid="_x0000_s3162" name="" r:id="rId1" imgW="2705100" imgH="1536700" progId="Equation.3">
                  <p:embed/>
                </p:oleObj>
              </mc:Choice>
              <mc:Fallback>
                <p:oleObj name="" r:id="rId1" imgW="2705100" imgH="1536700" progId="Equation.3">
                  <p:embed/>
                  <p:pic>
                    <p:nvPicPr>
                      <p:cNvPr id="0" name="图片 3161"/>
                      <p:cNvPicPr/>
                      <p:nvPr/>
                    </p:nvPicPr>
                    <p:blipFill>
                      <a:blip r:embed="rId2"/>
                      <a:stretch>
                        <a:fillRect/>
                      </a:stretch>
                    </p:blipFill>
                    <p:spPr>
                      <a:xfrm>
                        <a:off x="2938780" y="548640"/>
                        <a:ext cx="2705100" cy="1536700"/>
                      </a:xfrm>
                      <a:prstGeom prst="rect">
                        <a:avLst/>
                      </a:prstGeom>
                      <a:noFill/>
                      <a:ln w="38100">
                        <a:noFill/>
                        <a:miter/>
                      </a:ln>
                    </p:spPr>
                  </p:pic>
                </p:oleObj>
              </mc:Fallback>
            </mc:AlternateContent>
          </a:graphicData>
        </a:graphic>
      </p:graphicFrame>
      <p:grpSp>
        <p:nvGrpSpPr>
          <p:cNvPr id="49186" name="组合 49185"/>
          <p:cNvGrpSpPr/>
          <p:nvPr/>
        </p:nvGrpSpPr>
        <p:grpSpPr>
          <a:xfrm>
            <a:off x="5529580" y="1158240"/>
            <a:ext cx="1447800" cy="519113"/>
            <a:chOff x="3360" y="864"/>
            <a:chExt cx="912" cy="327"/>
          </a:xfrm>
        </p:grpSpPr>
        <p:sp>
          <p:nvSpPr>
            <p:cNvPr id="49187" name="文本框 49186"/>
            <p:cNvSpPr txBox="1"/>
            <p:nvPr/>
          </p:nvSpPr>
          <p:spPr>
            <a:xfrm>
              <a:off x="3456" y="864"/>
              <a:ext cx="816" cy="327"/>
            </a:xfrm>
            <a:prstGeom prst="rect">
              <a:avLst/>
            </a:prstGeom>
            <a:noFill/>
            <a:ln w="9525">
              <a:noFill/>
            </a:ln>
          </p:spPr>
          <p:txBody>
            <a:bodyPr>
              <a:spAutoFit/>
            </a:bodyPr>
            <a:p>
              <a:pPr>
                <a:spcBef>
                  <a:spcPct val="50000"/>
                </a:spcBef>
              </a:pPr>
              <a:r>
                <a:rPr lang="en-US" altLang="zh-CN">
                  <a:latin typeface="宋体" panose="02010600030101010101" pitchFamily="2" charset="-122"/>
                </a:rPr>
                <a:t>.</a:t>
              </a:r>
              <a:r>
                <a:rPr lang="zh-CN" altLang="en-US">
                  <a:solidFill>
                    <a:srgbClr val="0000FF"/>
                  </a:solidFill>
                  <a:latin typeface="Times New Roman" panose="02020603050405020304" pitchFamily="18" charset="0"/>
                  <a:ea typeface="黑体" panose="02010609060101010101" pitchFamily="2" charset="-122"/>
                </a:rPr>
                <a:t>列标</a:t>
              </a:r>
              <a:endParaRPr lang="zh-CN" altLang="en-US">
                <a:solidFill>
                  <a:srgbClr val="0000FF"/>
                </a:solidFill>
                <a:latin typeface="Times New Roman" panose="02020603050405020304" pitchFamily="18" charset="0"/>
                <a:ea typeface="黑体" panose="02010609060101010101" pitchFamily="2" charset="-122"/>
              </a:endParaRPr>
            </a:p>
          </p:txBody>
        </p:sp>
        <p:sp>
          <p:nvSpPr>
            <p:cNvPr id="49188" name="直接连接符 49187"/>
            <p:cNvSpPr/>
            <p:nvPr/>
          </p:nvSpPr>
          <p:spPr>
            <a:xfrm>
              <a:off x="3360" y="1056"/>
              <a:ext cx="240" cy="0"/>
            </a:xfrm>
            <a:prstGeom prst="line">
              <a:avLst/>
            </a:prstGeom>
            <a:ln w="9525" cap="flat" cmpd="sng">
              <a:solidFill>
                <a:srgbClr val="0000FF"/>
              </a:solidFill>
              <a:prstDash val="solid"/>
              <a:headEnd type="none" w="med" len="med"/>
              <a:tailEnd type="none" w="med" len="med"/>
            </a:ln>
          </p:spPr>
        </p:sp>
      </p:grpSp>
      <p:grpSp>
        <p:nvGrpSpPr>
          <p:cNvPr id="49189" name="组合 49188"/>
          <p:cNvGrpSpPr/>
          <p:nvPr/>
        </p:nvGrpSpPr>
        <p:grpSpPr>
          <a:xfrm>
            <a:off x="5398453" y="1508443"/>
            <a:ext cx="1203325" cy="747712"/>
            <a:chOff x="3264" y="1056"/>
            <a:chExt cx="758" cy="471"/>
          </a:xfrm>
        </p:grpSpPr>
        <p:sp>
          <p:nvSpPr>
            <p:cNvPr id="49190" name="直接连接符 49189"/>
            <p:cNvSpPr/>
            <p:nvPr/>
          </p:nvSpPr>
          <p:spPr>
            <a:xfrm>
              <a:off x="3264" y="1056"/>
              <a:ext cx="240" cy="288"/>
            </a:xfrm>
            <a:prstGeom prst="line">
              <a:avLst/>
            </a:prstGeom>
            <a:ln w="9525" cap="flat" cmpd="sng">
              <a:solidFill>
                <a:srgbClr val="FF0000"/>
              </a:solidFill>
              <a:prstDash val="solid"/>
              <a:headEnd type="none" w="med" len="med"/>
              <a:tailEnd type="none" w="med" len="med"/>
            </a:ln>
          </p:spPr>
        </p:sp>
        <p:sp>
          <p:nvSpPr>
            <p:cNvPr id="49191" name="矩形 49190"/>
            <p:cNvSpPr/>
            <p:nvPr/>
          </p:nvSpPr>
          <p:spPr>
            <a:xfrm>
              <a:off x="3456" y="1200"/>
              <a:ext cx="566" cy="327"/>
            </a:xfrm>
            <a:prstGeom prst="rect">
              <a:avLst/>
            </a:prstGeom>
            <a:noFill/>
            <a:ln w="9525">
              <a:noFill/>
            </a:ln>
          </p:spPr>
          <p:txBody>
            <a:bodyPr wrap="none" anchor="t" anchorCtr="0">
              <a:spAutoFit/>
            </a:bodyPr>
            <a:p>
              <a:r>
                <a:rPr lang="zh-CN" altLang="en-US" dirty="0">
                  <a:solidFill>
                    <a:srgbClr val="FF0000"/>
                  </a:solidFill>
                  <a:latin typeface="Times New Roman" panose="02020603050405020304" pitchFamily="18" charset="0"/>
                  <a:ea typeface="黑体" panose="02010609060101010101" pitchFamily="2" charset="-122"/>
                </a:rPr>
                <a:t>行标</a:t>
              </a:r>
              <a:endParaRPr lang="zh-CN" altLang="en-US" dirty="0">
                <a:solidFill>
                  <a:srgbClr val="FF0000"/>
                </a:solidFill>
                <a:latin typeface="Times New Roman" panose="02020603050405020304" pitchFamily="18" charset="0"/>
                <a:ea typeface="黑体" panose="02010609060101010101" pitchFamily="2" charset="-122"/>
              </a:endParaRPr>
            </a:p>
          </p:txBody>
        </p:sp>
      </p:grpSp>
      <p:grpSp>
        <p:nvGrpSpPr>
          <p:cNvPr id="50178" name="组合 50177"/>
          <p:cNvGrpSpPr/>
          <p:nvPr/>
        </p:nvGrpSpPr>
        <p:grpSpPr>
          <a:xfrm>
            <a:off x="934720" y="3449955"/>
            <a:ext cx="2324100" cy="1600200"/>
            <a:chOff x="1080" y="816"/>
            <a:chExt cx="1464" cy="1008"/>
          </a:xfrm>
        </p:grpSpPr>
        <p:graphicFrame>
          <p:nvGraphicFramePr>
            <p:cNvPr id="50179" name="对象 50178"/>
            <p:cNvGraphicFramePr/>
            <p:nvPr/>
          </p:nvGraphicFramePr>
          <p:xfrm>
            <a:off x="1200" y="816"/>
            <a:ext cx="1256" cy="960"/>
          </p:xfrm>
          <a:graphic>
            <a:graphicData uri="http://schemas.openxmlformats.org/presentationml/2006/ole">
              <mc:AlternateContent xmlns:mc="http://schemas.openxmlformats.org/markup-compatibility/2006">
                <mc:Choice xmlns:v="urn:schemas-microsoft-com:vml" Requires="v">
                  <p:oleObj spid="_x0000_s3158" name="" r:id="rId3" imgW="1993900" imgH="1524000" progId="Equation.3">
                    <p:embed/>
                  </p:oleObj>
                </mc:Choice>
                <mc:Fallback>
                  <p:oleObj name="" r:id="rId3" imgW="1993900" imgH="1524000" progId="Equation.3">
                    <p:embed/>
                    <p:pic>
                      <p:nvPicPr>
                        <p:cNvPr id="0" name="图片 3157"/>
                        <p:cNvPicPr/>
                        <p:nvPr/>
                      </p:nvPicPr>
                      <p:blipFill>
                        <a:blip r:embed="rId4"/>
                        <a:stretch>
                          <a:fillRect/>
                        </a:stretch>
                      </p:blipFill>
                      <p:spPr>
                        <a:xfrm>
                          <a:off x="1200" y="816"/>
                          <a:ext cx="1256" cy="960"/>
                        </a:xfrm>
                        <a:prstGeom prst="rect">
                          <a:avLst/>
                        </a:prstGeom>
                        <a:noFill/>
                        <a:ln w="38100">
                          <a:noFill/>
                          <a:miter/>
                        </a:ln>
                      </p:spPr>
                    </p:pic>
                  </p:oleObj>
                </mc:Fallback>
              </mc:AlternateContent>
            </a:graphicData>
          </a:graphic>
        </p:graphicFrame>
        <p:sp>
          <p:nvSpPr>
            <p:cNvPr id="50180" name="直接连接符 50179"/>
            <p:cNvSpPr/>
            <p:nvPr/>
          </p:nvSpPr>
          <p:spPr>
            <a:xfrm>
              <a:off x="2544" y="816"/>
              <a:ext cx="0" cy="1008"/>
            </a:xfrm>
            <a:prstGeom prst="line">
              <a:avLst/>
            </a:prstGeom>
            <a:ln w="9525" cap="flat" cmpd="sng">
              <a:solidFill>
                <a:schemeClr val="tx1"/>
              </a:solidFill>
              <a:prstDash val="solid"/>
              <a:headEnd type="none" w="med" len="med"/>
              <a:tailEnd type="none" w="med" len="med"/>
            </a:ln>
          </p:spPr>
        </p:sp>
        <p:sp>
          <p:nvSpPr>
            <p:cNvPr id="50181" name="直接连接符 50180"/>
            <p:cNvSpPr/>
            <p:nvPr/>
          </p:nvSpPr>
          <p:spPr>
            <a:xfrm>
              <a:off x="1080" y="816"/>
              <a:ext cx="0" cy="1008"/>
            </a:xfrm>
            <a:prstGeom prst="line">
              <a:avLst/>
            </a:prstGeom>
            <a:ln w="9525" cap="flat" cmpd="sng">
              <a:solidFill>
                <a:schemeClr val="tx1"/>
              </a:solidFill>
              <a:prstDash val="solid"/>
              <a:headEnd type="none" w="med" len="med"/>
              <a:tailEnd type="none" w="med" len="med"/>
            </a:ln>
          </p:spPr>
        </p:sp>
      </p:grpSp>
      <p:sp>
        <p:nvSpPr>
          <p:cNvPr id="50182" name="直接连接符 50181"/>
          <p:cNvSpPr/>
          <p:nvPr/>
        </p:nvSpPr>
        <p:spPr>
          <a:xfrm>
            <a:off x="1430020" y="3754755"/>
            <a:ext cx="1371600" cy="990600"/>
          </a:xfrm>
          <a:prstGeom prst="line">
            <a:avLst/>
          </a:prstGeom>
          <a:ln w="28575" cap="flat" cmpd="sng">
            <a:solidFill>
              <a:srgbClr val="FF0000"/>
            </a:solidFill>
            <a:prstDash val="solid"/>
            <a:headEnd type="none" w="med" len="med"/>
            <a:tailEnd type="none" w="med" len="med"/>
          </a:ln>
        </p:spPr>
      </p:sp>
      <p:sp>
        <p:nvSpPr>
          <p:cNvPr id="50183" name="任意多边形 50182"/>
          <p:cNvSpPr/>
          <p:nvPr/>
        </p:nvSpPr>
        <p:spPr>
          <a:xfrm rot="682824">
            <a:off x="1452245" y="3756343"/>
            <a:ext cx="2038350" cy="1524000"/>
          </a:xfrm>
          <a:custGeom>
            <a:avLst/>
            <a:gdLst/>
            <a:ahLst/>
            <a:cxnLst/>
            <a:pathLst>
              <a:path w="1208" h="1232">
                <a:moveTo>
                  <a:pt x="240" y="0"/>
                </a:moveTo>
                <a:cubicBezTo>
                  <a:pt x="668" y="192"/>
                  <a:pt x="1096" y="384"/>
                  <a:pt x="1152" y="576"/>
                </a:cubicBezTo>
                <a:cubicBezTo>
                  <a:pt x="1208" y="768"/>
                  <a:pt x="768" y="1072"/>
                  <a:pt x="576" y="1152"/>
                </a:cubicBezTo>
                <a:cubicBezTo>
                  <a:pt x="384" y="1232"/>
                  <a:pt x="192" y="1144"/>
                  <a:pt x="0" y="1056"/>
                </a:cubicBezTo>
              </a:path>
            </a:pathLst>
          </a:custGeom>
          <a:noFill/>
          <a:ln w="28575" cap="flat" cmpd="sng">
            <a:solidFill>
              <a:srgbClr val="FF0000"/>
            </a:solidFill>
            <a:prstDash val="solid"/>
            <a:headEnd type="none" w="med" len="med"/>
            <a:tailEnd type="none" w="med" len="med"/>
          </a:ln>
        </p:spPr>
        <p:txBody>
          <a:bodyPr/>
          <a:p>
            <a:endParaRPr lang="zh-CN" altLang="en-US"/>
          </a:p>
        </p:txBody>
      </p:sp>
      <p:sp>
        <p:nvSpPr>
          <p:cNvPr id="50184" name="任意多边形 50183"/>
          <p:cNvSpPr/>
          <p:nvPr/>
        </p:nvSpPr>
        <p:spPr>
          <a:xfrm rot="-682824" flipH="1">
            <a:off x="591820" y="3754755"/>
            <a:ext cx="2038350" cy="1524000"/>
          </a:xfrm>
          <a:custGeom>
            <a:avLst/>
            <a:gdLst/>
            <a:ahLst/>
            <a:cxnLst/>
            <a:pathLst>
              <a:path w="1208" h="1232">
                <a:moveTo>
                  <a:pt x="240" y="0"/>
                </a:moveTo>
                <a:cubicBezTo>
                  <a:pt x="668" y="192"/>
                  <a:pt x="1096" y="384"/>
                  <a:pt x="1152" y="576"/>
                </a:cubicBezTo>
                <a:cubicBezTo>
                  <a:pt x="1208" y="768"/>
                  <a:pt x="768" y="1072"/>
                  <a:pt x="576" y="1152"/>
                </a:cubicBezTo>
                <a:cubicBezTo>
                  <a:pt x="384" y="1232"/>
                  <a:pt x="192" y="1144"/>
                  <a:pt x="0" y="1056"/>
                </a:cubicBezTo>
              </a:path>
            </a:pathLst>
          </a:custGeom>
          <a:noFill/>
          <a:ln w="28575" cap="flat" cmpd="sng">
            <a:solidFill>
              <a:srgbClr val="0000FF"/>
            </a:solidFill>
            <a:prstDash val="solid"/>
            <a:headEnd type="none" w="med" len="med"/>
            <a:tailEnd type="none" w="med" len="med"/>
          </a:ln>
        </p:spPr>
        <p:txBody>
          <a:bodyPr/>
          <a:p>
            <a:endParaRPr lang="zh-CN" altLang="en-US"/>
          </a:p>
        </p:txBody>
      </p:sp>
      <p:sp>
        <p:nvSpPr>
          <p:cNvPr id="50185" name="任意多边形 50184"/>
          <p:cNvSpPr/>
          <p:nvPr/>
        </p:nvSpPr>
        <p:spPr>
          <a:xfrm>
            <a:off x="1277620" y="3678555"/>
            <a:ext cx="2514600" cy="1524000"/>
          </a:xfrm>
          <a:custGeom>
            <a:avLst/>
            <a:gdLst/>
            <a:ahLst/>
            <a:cxnLst/>
            <a:pathLst>
              <a:path w="1792" h="1056">
                <a:moveTo>
                  <a:pt x="0" y="336"/>
                </a:moveTo>
                <a:cubicBezTo>
                  <a:pt x="356" y="648"/>
                  <a:pt x="712" y="960"/>
                  <a:pt x="1008" y="1008"/>
                </a:cubicBezTo>
                <a:cubicBezTo>
                  <a:pt x="1304" y="1056"/>
                  <a:pt x="1760" y="792"/>
                  <a:pt x="1776" y="624"/>
                </a:cubicBezTo>
                <a:cubicBezTo>
                  <a:pt x="1792" y="456"/>
                  <a:pt x="1448" y="228"/>
                  <a:pt x="1104" y="0"/>
                </a:cubicBezTo>
              </a:path>
            </a:pathLst>
          </a:custGeom>
          <a:noFill/>
          <a:ln w="28575" cap="flat" cmpd="sng">
            <a:solidFill>
              <a:srgbClr val="FF0000"/>
            </a:solidFill>
            <a:prstDash val="solid"/>
            <a:headEnd type="none" w="med" len="med"/>
            <a:tailEnd type="none" w="med" len="med"/>
          </a:ln>
        </p:spPr>
        <p:txBody>
          <a:bodyPr/>
          <a:p>
            <a:endParaRPr lang="zh-CN" altLang="en-US"/>
          </a:p>
        </p:txBody>
      </p:sp>
      <p:sp>
        <p:nvSpPr>
          <p:cNvPr id="50186" name="任意多边形 50185"/>
          <p:cNvSpPr/>
          <p:nvPr/>
        </p:nvSpPr>
        <p:spPr>
          <a:xfrm flipH="1">
            <a:off x="439420" y="3678555"/>
            <a:ext cx="2514600" cy="1524000"/>
          </a:xfrm>
          <a:custGeom>
            <a:avLst/>
            <a:gdLst/>
            <a:ahLst/>
            <a:cxnLst/>
            <a:pathLst>
              <a:path w="1792" h="1056">
                <a:moveTo>
                  <a:pt x="0" y="336"/>
                </a:moveTo>
                <a:cubicBezTo>
                  <a:pt x="356" y="648"/>
                  <a:pt x="712" y="960"/>
                  <a:pt x="1008" y="1008"/>
                </a:cubicBezTo>
                <a:cubicBezTo>
                  <a:pt x="1304" y="1056"/>
                  <a:pt x="1760" y="792"/>
                  <a:pt x="1776" y="624"/>
                </a:cubicBezTo>
                <a:cubicBezTo>
                  <a:pt x="1792" y="456"/>
                  <a:pt x="1448" y="228"/>
                  <a:pt x="1104" y="0"/>
                </a:cubicBezTo>
              </a:path>
            </a:pathLst>
          </a:custGeom>
          <a:noFill/>
          <a:ln w="28575" cap="flat" cmpd="sng">
            <a:solidFill>
              <a:srgbClr val="0000FF"/>
            </a:solidFill>
            <a:prstDash val="solid"/>
            <a:headEnd type="none" w="med" len="med"/>
            <a:tailEnd type="none" w="med" len="med"/>
          </a:ln>
        </p:spPr>
        <p:txBody>
          <a:bodyPr/>
          <a:p>
            <a:endParaRPr lang="zh-CN" altLang="en-US"/>
          </a:p>
        </p:txBody>
      </p:sp>
      <p:sp>
        <p:nvSpPr>
          <p:cNvPr id="50187" name="直接连接符 50186"/>
          <p:cNvSpPr/>
          <p:nvPr/>
        </p:nvSpPr>
        <p:spPr>
          <a:xfrm flipV="1">
            <a:off x="1201420" y="3754755"/>
            <a:ext cx="1524000" cy="1066800"/>
          </a:xfrm>
          <a:prstGeom prst="line">
            <a:avLst/>
          </a:prstGeom>
          <a:ln w="28575" cap="flat" cmpd="sng">
            <a:solidFill>
              <a:srgbClr val="0000FF"/>
            </a:solidFill>
            <a:prstDash val="solid"/>
            <a:headEnd type="none" w="med" len="med"/>
            <a:tailEnd type="none" w="med" len="med"/>
          </a:ln>
        </p:spPr>
      </p:sp>
      <p:sp>
        <p:nvSpPr>
          <p:cNvPr id="50190" name="矩形 50189"/>
          <p:cNvSpPr/>
          <p:nvPr/>
        </p:nvSpPr>
        <p:spPr>
          <a:xfrm>
            <a:off x="1107440" y="2740660"/>
            <a:ext cx="2752725" cy="521970"/>
          </a:xfrm>
          <a:prstGeom prst="rect">
            <a:avLst/>
          </a:prstGeom>
          <a:noFill/>
          <a:ln w="9525">
            <a:noFill/>
          </a:ln>
        </p:spPr>
        <p:txBody>
          <a:bodyPr wrap="square" anchor="t" anchorCtr="0">
            <a:spAutoFit/>
          </a:bodyPr>
          <a:p>
            <a:r>
              <a:rPr lang="en-US" altLang="zh-CN">
                <a:solidFill>
                  <a:srgbClr val="0000FF"/>
                </a:solidFill>
                <a:effectLst>
                  <a:outerShdw blurRad="38100" dist="38100" dir="2700000">
                    <a:srgbClr val="000000"/>
                  </a:outerShdw>
                </a:effectLst>
                <a:latin typeface="黑体" panose="02010609060101010101" pitchFamily="2" charset="-122"/>
                <a:ea typeface="黑体" panose="02010609060101010101" pitchFamily="2" charset="-122"/>
              </a:rPr>
              <a:t>(1)</a:t>
            </a:r>
            <a:r>
              <a:rPr lang="zh-CN" altLang="en-US" dirty="0">
                <a:solidFill>
                  <a:srgbClr val="0000FF"/>
                </a:solidFill>
                <a:effectLst>
                  <a:outerShdw blurRad="38100" dist="38100" dir="2700000">
                    <a:srgbClr val="000000"/>
                  </a:outerShdw>
                </a:effectLst>
                <a:latin typeface="黑体" panose="02010609060101010101" pitchFamily="2" charset="-122"/>
                <a:ea typeface="黑体" panose="02010609060101010101" pitchFamily="2" charset="-122"/>
              </a:rPr>
              <a:t>对角线法则</a:t>
            </a:r>
            <a:endParaRPr lang="zh-CN" altLang="en-US" dirty="0">
              <a:solidFill>
                <a:srgbClr val="0000FF"/>
              </a:solidFill>
              <a:effectLst>
                <a:outerShdw blurRad="38100" dist="38100" dir="2700000">
                  <a:srgbClr val="000000"/>
                </a:outerShdw>
              </a:effectLst>
              <a:latin typeface="黑体" panose="02010609060101010101" pitchFamily="2" charset="-122"/>
              <a:ea typeface="黑体" panose="02010609060101010101" pitchFamily="2" charset="-122"/>
            </a:endParaRPr>
          </a:p>
        </p:txBody>
      </p:sp>
      <p:graphicFrame>
        <p:nvGraphicFramePr>
          <p:cNvPr id="3" name="对象 -2147482588"/>
          <p:cNvGraphicFramePr>
            <a:graphicFrameLocks noChangeAspect="1"/>
          </p:cNvGraphicFramePr>
          <p:nvPr/>
        </p:nvGraphicFramePr>
        <p:xfrm>
          <a:off x="3203258" y="3716973"/>
          <a:ext cx="5214620" cy="1083310"/>
        </p:xfrm>
        <a:graphic>
          <a:graphicData uri="http://schemas.openxmlformats.org/presentationml/2006/ole">
            <mc:AlternateContent xmlns:mc="http://schemas.openxmlformats.org/markup-compatibility/2006">
              <mc:Choice xmlns:v="urn:schemas-microsoft-com:vml" Requires="v">
                <p:oleObj spid="_x0000_s4" name="" r:id="rId5" imgW="2197100" imgH="457200" progId="Equation.DSMT4">
                  <p:embed/>
                </p:oleObj>
              </mc:Choice>
              <mc:Fallback>
                <p:oleObj name="" r:id="rId5" imgW="2197100" imgH="457200" progId="Equation.DSMT4">
                  <p:embed/>
                  <p:pic>
                    <p:nvPicPr>
                      <p:cNvPr id="0" name="图片 3075"/>
                      <p:cNvPicPr/>
                      <p:nvPr/>
                    </p:nvPicPr>
                    <p:blipFill>
                      <a:blip r:embed="rId6"/>
                      <a:stretch>
                        <a:fillRect/>
                      </a:stretch>
                    </p:blipFill>
                    <p:spPr>
                      <a:xfrm>
                        <a:off x="3203258" y="3716973"/>
                        <a:ext cx="5214620" cy="1083310"/>
                      </a:xfrm>
                      <a:prstGeom prst="rect">
                        <a:avLst/>
                      </a:prstGeom>
                      <a:noFill/>
                      <a:ln w="38100">
                        <a:noFill/>
                        <a:miter/>
                      </a:ln>
                    </p:spPr>
                  </p:pic>
                </p:oleObj>
              </mc:Fallback>
            </mc:AlternateContent>
          </a:graphicData>
        </a:graphic>
      </p:graphicFrame>
      <p:sp>
        <p:nvSpPr>
          <p:cNvPr id="50191" name="矩形 50190"/>
          <p:cNvSpPr/>
          <p:nvPr/>
        </p:nvSpPr>
        <p:spPr>
          <a:xfrm>
            <a:off x="755650" y="5464810"/>
            <a:ext cx="7804150" cy="1019175"/>
          </a:xfrm>
          <a:prstGeom prst="rect">
            <a:avLst/>
          </a:prstGeom>
          <a:noFill/>
          <a:ln w="9525">
            <a:noFill/>
          </a:ln>
        </p:spPr>
        <p:txBody>
          <a:bodyPr wrap="none" anchor="t" anchorCtr="0">
            <a:noAutofit/>
          </a:bodyPr>
          <a:p>
            <a:r>
              <a:rPr lang="zh-CN" altLang="en-US" dirty="0">
                <a:solidFill>
                  <a:srgbClr val="0000FF"/>
                </a:solidFill>
                <a:latin typeface="Times New Roman" panose="02020603050405020304" pitchFamily="18" charset="0"/>
                <a:ea typeface="黑体" panose="02010609060101010101" pitchFamily="2" charset="-122"/>
              </a:rPr>
              <a:t>注意</a:t>
            </a:r>
            <a:r>
              <a:rPr lang="zh-CN" altLang="en-US" dirty="0">
                <a:solidFill>
                  <a:schemeClr val="bg2"/>
                </a:solidFill>
                <a:latin typeface="Times New Roman" panose="02020603050405020304" pitchFamily="18" charset="0"/>
              </a:rPr>
              <a:t>     </a:t>
            </a:r>
            <a:r>
              <a:rPr lang="zh-CN" altLang="en-US" dirty="0">
                <a:latin typeface="Times New Roman" panose="02020603050405020304" pitchFamily="18" charset="0"/>
              </a:rPr>
              <a:t>红线上三元素的乘积冠以正号，蓝线上三</a:t>
            </a:r>
            <a:endParaRPr lang="zh-CN" altLang="en-US" dirty="0">
              <a:latin typeface="Times New Roman" panose="02020603050405020304" pitchFamily="18" charset="0"/>
            </a:endParaRPr>
          </a:p>
          <a:p>
            <a:r>
              <a:rPr lang="zh-CN" altLang="en-US" dirty="0">
                <a:latin typeface="Times New Roman" panose="02020603050405020304" pitchFamily="18" charset="0"/>
              </a:rPr>
              <a:t>元素的乘积冠以负号．</a:t>
            </a:r>
            <a:endParaRPr lang="zh-CN" altLang="en-US" dirty="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9185"/>
                                        </p:tgtEl>
                                        <p:attrNameLst>
                                          <p:attrName>style.visibility</p:attrName>
                                        </p:attrNameLst>
                                      </p:cBhvr>
                                      <p:to>
                                        <p:strVal val="visible"/>
                                      </p:to>
                                    </p:set>
                                    <p:animEffect transition="in" filter="box(in)">
                                      <p:cBhvr>
                                        <p:cTn id="7" dur="2000"/>
                                        <p:tgtEl>
                                          <p:spTgt spid="491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9186"/>
                                        </p:tgtEl>
                                        <p:attrNameLst>
                                          <p:attrName>style.visibility</p:attrName>
                                        </p:attrNameLst>
                                      </p:cBhvr>
                                      <p:to>
                                        <p:strVal val="visible"/>
                                      </p:to>
                                    </p:set>
                                    <p:animEffect transition="in" filter="wipe(left)">
                                      <p:cBhvr>
                                        <p:cTn id="12" dur="500"/>
                                        <p:tgtEl>
                                          <p:spTgt spid="491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9189"/>
                                        </p:tgtEl>
                                        <p:attrNameLst>
                                          <p:attrName>style.visibility</p:attrName>
                                        </p:attrNameLst>
                                      </p:cBhvr>
                                      <p:to>
                                        <p:strVal val="visible"/>
                                      </p:to>
                                    </p:set>
                                    <p:animEffect transition="in" filter="wipe(left)">
                                      <p:cBhvr>
                                        <p:cTn id="17" dur="500"/>
                                        <p:tgtEl>
                                          <p:spTgt spid="491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49182"/>
                                        </p:tgtEl>
                                        <p:attrNameLst>
                                          <p:attrName>style.visibility</p:attrName>
                                        </p:attrNameLst>
                                      </p:cBhvr>
                                      <p:to>
                                        <p:strVal val="visible"/>
                                      </p:to>
                                    </p:set>
                                    <p:animEffect transition="in" filter="wipe(left)">
                                      <p:cBhvr>
                                        <p:cTn id="22" dur="75"/>
                                        <p:tgtEl>
                                          <p:spTgt spid="491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0190"/>
                                        </p:tgtEl>
                                        <p:attrNameLst>
                                          <p:attrName>style.visibility</p:attrName>
                                        </p:attrNameLst>
                                      </p:cBhvr>
                                      <p:to>
                                        <p:strVal val="visible"/>
                                      </p:to>
                                    </p:set>
                                    <p:animEffect transition="in" filter="wipe(down)">
                                      <p:cBhvr>
                                        <p:cTn id="27" dur="500"/>
                                        <p:tgtEl>
                                          <p:spTgt spid="5019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0178"/>
                                        </p:tgtEl>
                                        <p:attrNameLst>
                                          <p:attrName>style.visibility</p:attrName>
                                        </p:attrNameLst>
                                      </p:cBhvr>
                                      <p:to>
                                        <p:strVal val="visible"/>
                                      </p:to>
                                    </p:set>
                                    <p:animEffect transition="in" filter="wipe(left)">
                                      <p:cBhvr>
                                        <p:cTn id="32" dur="500"/>
                                        <p:tgtEl>
                                          <p:spTgt spid="5017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0182"/>
                                        </p:tgtEl>
                                        <p:attrNameLst>
                                          <p:attrName>style.visibility</p:attrName>
                                        </p:attrNameLst>
                                      </p:cBhvr>
                                      <p:to>
                                        <p:strVal val="visible"/>
                                      </p:to>
                                    </p:set>
                                    <p:animEffect transition="in" filter="wipe(left)">
                                      <p:cBhvr>
                                        <p:cTn id="37" dur="500"/>
                                        <p:tgtEl>
                                          <p:spTgt spid="5018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0183"/>
                                        </p:tgtEl>
                                        <p:attrNameLst>
                                          <p:attrName>style.visibility</p:attrName>
                                        </p:attrNameLst>
                                      </p:cBhvr>
                                      <p:to>
                                        <p:strVal val="visible"/>
                                      </p:to>
                                    </p:set>
                                    <p:animEffect transition="in" filter="wipe(left)">
                                      <p:cBhvr>
                                        <p:cTn id="42" dur="500"/>
                                        <p:tgtEl>
                                          <p:spTgt spid="5018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0185"/>
                                        </p:tgtEl>
                                        <p:attrNameLst>
                                          <p:attrName>style.visibility</p:attrName>
                                        </p:attrNameLst>
                                      </p:cBhvr>
                                      <p:to>
                                        <p:strVal val="visible"/>
                                      </p:to>
                                    </p:set>
                                    <p:animEffect transition="in" filter="wipe(left)">
                                      <p:cBhvr>
                                        <p:cTn id="47" dur="500"/>
                                        <p:tgtEl>
                                          <p:spTgt spid="5018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0187"/>
                                        </p:tgtEl>
                                        <p:attrNameLst>
                                          <p:attrName>style.visibility</p:attrName>
                                        </p:attrNameLst>
                                      </p:cBhvr>
                                      <p:to>
                                        <p:strVal val="visible"/>
                                      </p:to>
                                    </p:set>
                                    <p:animEffect transition="in" filter="wipe(left)">
                                      <p:cBhvr>
                                        <p:cTn id="52" dur="500"/>
                                        <p:tgtEl>
                                          <p:spTgt spid="5018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0184"/>
                                        </p:tgtEl>
                                        <p:attrNameLst>
                                          <p:attrName>style.visibility</p:attrName>
                                        </p:attrNameLst>
                                      </p:cBhvr>
                                      <p:to>
                                        <p:strVal val="visible"/>
                                      </p:to>
                                    </p:set>
                                    <p:animEffect transition="in" filter="wipe(left)">
                                      <p:cBhvr>
                                        <p:cTn id="57" dur="500"/>
                                        <p:tgtEl>
                                          <p:spTgt spid="5018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0186"/>
                                        </p:tgtEl>
                                        <p:attrNameLst>
                                          <p:attrName>style.visibility</p:attrName>
                                        </p:attrNameLst>
                                      </p:cBhvr>
                                      <p:to>
                                        <p:strVal val="visible"/>
                                      </p:to>
                                    </p:set>
                                    <p:animEffect transition="in" filter="wipe(left)">
                                      <p:cBhvr>
                                        <p:cTn id="62" dur="500"/>
                                        <p:tgtEl>
                                          <p:spTgt spid="5018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3"/>
                                        </p:tgtEl>
                                        <p:attrNameLst>
                                          <p:attrName>style.visibility</p:attrName>
                                        </p:attrNameLst>
                                      </p:cBhvr>
                                      <p:to>
                                        <p:strVal val="visible"/>
                                      </p:to>
                                    </p:set>
                                    <p:animEffect transition="in" filter="wipe(down)">
                                      <p:cBhvr>
                                        <p:cTn id="67" dur="500"/>
                                        <p:tgtEl>
                                          <p:spTgt spid="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iterate type="lt">
                                    <p:tmPct val="100000"/>
                                  </p:iterate>
                                  <p:childTnLst>
                                    <p:set>
                                      <p:cBhvr>
                                        <p:cTn id="71" dur="1" fill="hold">
                                          <p:stCondLst>
                                            <p:cond delay="0"/>
                                          </p:stCondLst>
                                        </p:cTn>
                                        <p:tgtEl>
                                          <p:spTgt spid="50191"/>
                                        </p:tgtEl>
                                        <p:attrNameLst>
                                          <p:attrName>style.visibility</p:attrName>
                                        </p:attrNameLst>
                                      </p:cBhvr>
                                      <p:to>
                                        <p:strVal val="visible"/>
                                      </p:to>
                                    </p:set>
                                    <p:animEffect transition="in" filter="wipe(left)">
                                      <p:cBhvr>
                                        <p:cTn id="72" dur="75"/>
                                        <p:tgtEl>
                                          <p:spTgt spid="50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82" grpId="0"/>
      <p:bldP spid="50191" grpId="0"/>
      <p:bldP spid="5019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对象 4"/>
          <p:cNvGraphicFramePr/>
          <p:nvPr/>
        </p:nvGraphicFramePr>
        <p:xfrm>
          <a:off x="6060440" y="668020"/>
          <a:ext cx="1363663" cy="1498600"/>
        </p:xfrm>
        <a:graphic>
          <a:graphicData uri="http://schemas.openxmlformats.org/presentationml/2006/ole">
            <mc:AlternateContent xmlns:mc="http://schemas.openxmlformats.org/markup-compatibility/2006">
              <mc:Choice xmlns:v="urn:schemas-microsoft-com:vml" Requires="v">
                <p:oleObj spid="_x0000_s6" name="" r:id="rId1" imgW="1219200" imgH="1498600" progId="Equation.3">
                  <p:embed/>
                </p:oleObj>
              </mc:Choice>
              <mc:Fallback>
                <p:oleObj name="" r:id="rId1" imgW="1219200" imgH="1498600" progId="Equation.3">
                  <p:embed/>
                  <p:pic>
                    <p:nvPicPr>
                      <p:cNvPr id="0" name="图片 3094"/>
                      <p:cNvPicPr/>
                      <p:nvPr/>
                    </p:nvPicPr>
                    <p:blipFill>
                      <a:blip r:embed="rId2"/>
                      <a:stretch>
                        <a:fillRect/>
                      </a:stretch>
                    </p:blipFill>
                    <p:spPr>
                      <a:xfrm>
                        <a:off x="6060440" y="668020"/>
                        <a:ext cx="1363663" cy="1498600"/>
                      </a:xfrm>
                      <a:prstGeom prst="rect">
                        <a:avLst/>
                      </a:prstGeom>
                      <a:noFill/>
                      <a:ln w="38100">
                        <a:noFill/>
                        <a:miter/>
                      </a:ln>
                    </p:spPr>
                  </p:pic>
                </p:oleObj>
              </mc:Fallback>
            </mc:AlternateContent>
          </a:graphicData>
        </a:graphic>
      </p:graphicFrame>
      <p:sp>
        <p:nvSpPr>
          <p:cNvPr id="7" name="直接连接符 6"/>
          <p:cNvSpPr/>
          <p:nvPr/>
        </p:nvSpPr>
        <p:spPr>
          <a:xfrm>
            <a:off x="4079240" y="972820"/>
            <a:ext cx="457200" cy="457200"/>
          </a:xfrm>
          <a:prstGeom prst="line">
            <a:avLst/>
          </a:prstGeom>
          <a:ln w="28575" cap="flat" cmpd="sng">
            <a:solidFill>
              <a:srgbClr val="FF0000"/>
            </a:solidFill>
            <a:prstDash val="solid"/>
            <a:headEnd type="none" w="med" len="med"/>
            <a:tailEnd type="none" w="med" len="med"/>
          </a:ln>
        </p:spPr>
      </p:sp>
      <p:sp>
        <p:nvSpPr>
          <p:cNvPr id="8" name="直接连接符 7"/>
          <p:cNvSpPr/>
          <p:nvPr/>
        </p:nvSpPr>
        <p:spPr>
          <a:xfrm>
            <a:off x="4841240" y="1506220"/>
            <a:ext cx="457200" cy="457200"/>
          </a:xfrm>
          <a:prstGeom prst="line">
            <a:avLst/>
          </a:prstGeom>
          <a:ln w="28575" cap="flat" cmpd="sng">
            <a:solidFill>
              <a:srgbClr val="FF0000"/>
            </a:solidFill>
            <a:prstDash val="solid"/>
            <a:headEnd type="none" w="med" len="med"/>
            <a:tailEnd type="none" w="med" len="med"/>
          </a:ln>
        </p:spPr>
      </p:sp>
      <p:sp>
        <p:nvSpPr>
          <p:cNvPr id="9" name="直接连接符 8"/>
          <p:cNvSpPr/>
          <p:nvPr/>
        </p:nvSpPr>
        <p:spPr>
          <a:xfrm>
            <a:off x="4917440" y="896620"/>
            <a:ext cx="381000" cy="381000"/>
          </a:xfrm>
          <a:prstGeom prst="line">
            <a:avLst/>
          </a:prstGeom>
          <a:ln w="28575" cap="flat" cmpd="sng">
            <a:solidFill>
              <a:srgbClr val="FF0000"/>
            </a:solidFill>
            <a:prstDash val="solid"/>
            <a:headEnd type="none" w="med" len="med"/>
            <a:tailEnd type="none" w="med" len="med"/>
          </a:ln>
        </p:spPr>
      </p:sp>
      <p:sp>
        <p:nvSpPr>
          <p:cNvPr id="10" name="直接连接符 9"/>
          <p:cNvSpPr/>
          <p:nvPr/>
        </p:nvSpPr>
        <p:spPr>
          <a:xfrm>
            <a:off x="5815965" y="1582420"/>
            <a:ext cx="396875" cy="381000"/>
          </a:xfrm>
          <a:prstGeom prst="line">
            <a:avLst/>
          </a:prstGeom>
          <a:ln w="28575" cap="flat" cmpd="sng">
            <a:solidFill>
              <a:srgbClr val="FF0000"/>
            </a:solidFill>
            <a:prstDash val="solid"/>
            <a:headEnd type="none" w="med" len="med"/>
            <a:tailEnd type="none" w="med" len="med"/>
          </a:ln>
        </p:spPr>
      </p:sp>
      <p:sp>
        <p:nvSpPr>
          <p:cNvPr id="11" name="直接连接符 10"/>
          <p:cNvSpPr/>
          <p:nvPr/>
        </p:nvSpPr>
        <p:spPr>
          <a:xfrm>
            <a:off x="5755640" y="896620"/>
            <a:ext cx="457200" cy="457200"/>
          </a:xfrm>
          <a:prstGeom prst="line">
            <a:avLst/>
          </a:prstGeom>
          <a:ln w="28575" cap="flat" cmpd="sng">
            <a:solidFill>
              <a:srgbClr val="FF0000"/>
            </a:solidFill>
            <a:prstDash val="solid"/>
            <a:headEnd type="none" w="med" len="med"/>
            <a:tailEnd type="none" w="med" len="med"/>
          </a:ln>
        </p:spPr>
      </p:sp>
      <p:sp>
        <p:nvSpPr>
          <p:cNvPr id="12" name="直接连接符 11"/>
          <p:cNvSpPr/>
          <p:nvPr/>
        </p:nvSpPr>
        <p:spPr>
          <a:xfrm>
            <a:off x="6441440" y="1430020"/>
            <a:ext cx="457200" cy="457200"/>
          </a:xfrm>
          <a:prstGeom prst="line">
            <a:avLst/>
          </a:prstGeom>
          <a:ln w="28575" cap="flat" cmpd="sng">
            <a:solidFill>
              <a:srgbClr val="FF0000"/>
            </a:solidFill>
            <a:prstDash val="solid"/>
            <a:headEnd type="none" w="med" len="med"/>
            <a:tailEnd type="none" w="med" len="med"/>
          </a:ln>
        </p:spPr>
      </p:sp>
      <p:sp>
        <p:nvSpPr>
          <p:cNvPr id="13" name="直接连接符 12"/>
          <p:cNvSpPr/>
          <p:nvPr/>
        </p:nvSpPr>
        <p:spPr>
          <a:xfrm>
            <a:off x="5527040" y="2115820"/>
            <a:ext cx="304800" cy="304800"/>
          </a:xfrm>
          <a:prstGeom prst="line">
            <a:avLst/>
          </a:prstGeom>
          <a:ln w="28575" cap="flat" cmpd="sng">
            <a:solidFill>
              <a:srgbClr val="FF0000"/>
            </a:solidFill>
            <a:prstDash val="solid"/>
            <a:headEnd type="none" w="med" len="med"/>
            <a:tailEnd type="triangle" w="med" len="med"/>
          </a:ln>
        </p:spPr>
      </p:sp>
      <p:sp>
        <p:nvSpPr>
          <p:cNvPr id="14" name="直接连接符 13"/>
          <p:cNvSpPr/>
          <p:nvPr/>
        </p:nvSpPr>
        <p:spPr>
          <a:xfrm>
            <a:off x="6517640" y="2115820"/>
            <a:ext cx="304800" cy="304800"/>
          </a:xfrm>
          <a:prstGeom prst="line">
            <a:avLst/>
          </a:prstGeom>
          <a:ln w="28575" cap="flat" cmpd="sng">
            <a:solidFill>
              <a:srgbClr val="FF0000"/>
            </a:solidFill>
            <a:prstDash val="solid"/>
            <a:headEnd type="none" w="med" len="med"/>
            <a:tailEnd type="triangle" w="med" len="med"/>
          </a:ln>
        </p:spPr>
      </p:sp>
      <p:sp>
        <p:nvSpPr>
          <p:cNvPr id="15" name="直接连接符 14"/>
          <p:cNvSpPr/>
          <p:nvPr/>
        </p:nvSpPr>
        <p:spPr>
          <a:xfrm>
            <a:off x="7127240" y="2039620"/>
            <a:ext cx="304800" cy="304800"/>
          </a:xfrm>
          <a:prstGeom prst="line">
            <a:avLst/>
          </a:prstGeom>
          <a:ln w="28575" cap="flat" cmpd="sng">
            <a:solidFill>
              <a:srgbClr val="FF0000"/>
            </a:solidFill>
            <a:prstDash val="solid"/>
            <a:headEnd type="none" w="med" len="med"/>
            <a:tailEnd type="triangle" w="med" len="med"/>
          </a:ln>
        </p:spPr>
      </p:sp>
      <p:graphicFrame>
        <p:nvGraphicFramePr>
          <p:cNvPr id="16" name="对象 15"/>
          <p:cNvGraphicFramePr/>
          <p:nvPr/>
        </p:nvGraphicFramePr>
        <p:xfrm>
          <a:off x="5831840" y="2420620"/>
          <a:ext cx="254000" cy="241300"/>
        </p:xfrm>
        <a:graphic>
          <a:graphicData uri="http://schemas.openxmlformats.org/presentationml/2006/ole">
            <mc:AlternateContent xmlns:mc="http://schemas.openxmlformats.org/markup-compatibility/2006">
              <mc:Choice xmlns:v="urn:schemas-microsoft-com:vml" Requires="v">
                <p:oleObj spid="_x0000_s17" name="" r:id="rId3" imgW="254000" imgH="241300" progId="Equation.3">
                  <p:embed/>
                </p:oleObj>
              </mc:Choice>
              <mc:Fallback>
                <p:oleObj name="" r:id="rId3" imgW="254000" imgH="241300" progId="Equation.3">
                  <p:embed/>
                  <p:pic>
                    <p:nvPicPr>
                      <p:cNvPr id="0" name="图片 3090"/>
                      <p:cNvPicPr/>
                      <p:nvPr/>
                    </p:nvPicPr>
                    <p:blipFill>
                      <a:blip r:embed="rId4"/>
                      <a:stretch>
                        <a:fillRect/>
                      </a:stretch>
                    </p:blipFill>
                    <p:spPr>
                      <a:xfrm>
                        <a:off x="5831840" y="2420620"/>
                        <a:ext cx="254000" cy="241300"/>
                      </a:xfrm>
                      <a:prstGeom prst="rect">
                        <a:avLst/>
                      </a:prstGeom>
                      <a:noFill/>
                      <a:ln w="38100">
                        <a:noFill/>
                        <a:miter/>
                      </a:ln>
                    </p:spPr>
                  </p:pic>
                </p:oleObj>
              </mc:Fallback>
            </mc:AlternateContent>
          </a:graphicData>
        </a:graphic>
      </p:graphicFrame>
      <p:graphicFrame>
        <p:nvGraphicFramePr>
          <p:cNvPr id="18" name="对象 17"/>
          <p:cNvGraphicFramePr/>
          <p:nvPr/>
        </p:nvGraphicFramePr>
        <p:xfrm>
          <a:off x="6746240" y="2420620"/>
          <a:ext cx="254000" cy="241300"/>
        </p:xfrm>
        <a:graphic>
          <a:graphicData uri="http://schemas.openxmlformats.org/presentationml/2006/ole">
            <mc:AlternateContent xmlns:mc="http://schemas.openxmlformats.org/markup-compatibility/2006">
              <mc:Choice xmlns:v="urn:schemas-microsoft-com:vml" Requires="v">
                <p:oleObj spid="_x0000_s19" name="" r:id="rId5" imgW="254000" imgH="241300" progId="Equation.3">
                  <p:embed/>
                </p:oleObj>
              </mc:Choice>
              <mc:Fallback>
                <p:oleObj name="" r:id="rId5" imgW="254000" imgH="241300" progId="Equation.3">
                  <p:embed/>
                  <p:pic>
                    <p:nvPicPr>
                      <p:cNvPr id="0" name="图片 3091"/>
                      <p:cNvPicPr/>
                      <p:nvPr/>
                    </p:nvPicPr>
                    <p:blipFill>
                      <a:blip r:embed="rId4"/>
                      <a:stretch>
                        <a:fillRect/>
                      </a:stretch>
                    </p:blipFill>
                    <p:spPr>
                      <a:xfrm>
                        <a:off x="6746240" y="2420620"/>
                        <a:ext cx="254000" cy="241300"/>
                      </a:xfrm>
                      <a:prstGeom prst="rect">
                        <a:avLst/>
                      </a:prstGeom>
                      <a:noFill/>
                      <a:ln w="38100">
                        <a:noFill/>
                        <a:miter/>
                      </a:ln>
                    </p:spPr>
                  </p:pic>
                </p:oleObj>
              </mc:Fallback>
            </mc:AlternateContent>
          </a:graphicData>
        </a:graphic>
      </p:graphicFrame>
      <p:graphicFrame>
        <p:nvGraphicFramePr>
          <p:cNvPr id="20" name="对象 19"/>
          <p:cNvGraphicFramePr/>
          <p:nvPr/>
        </p:nvGraphicFramePr>
        <p:xfrm>
          <a:off x="7508240" y="2420620"/>
          <a:ext cx="254000" cy="241300"/>
        </p:xfrm>
        <a:graphic>
          <a:graphicData uri="http://schemas.openxmlformats.org/presentationml/2006/ole">
            <mc:AlternateContent xmlns:mc="http://schemas.openxmlformats.org/markup-compatibility/2006">
              <mc:Choice xmlns:v="urn:schemas-microsoft-com:vml" Requires="v">
                <p:oleObj spid="_x0000_s21" name="" r:id="rId6" imgW="254000" imgH="241300" progId="Equation.3">
                  <p:embed/>
                </p:oleObj>
              </mc:Choice>
              <mc:Fallback>
                <p:oleObj name="" r:id="rId6" imgW="254000" imgH="241300" progId="Equation.3">
                  <p:embed/>
                  <p:pic>
                    <p:nvPicPr>
                      <p:cNvPr id="0" name="图片 3092"/>
                      <p:cNvPicPr/>
                      <p:nvPr/>
                    </p:nvPicPr>
                    <p:blipFill>
                      <a:blip r:embed="rId4"/>
                      <a:stretch>
                        <a:fillRect/>
                      </a:stretch>
                    </p:blipFill>
                    <p:spPr>
                      <a:xfrm>
                        <a:off x="7508240" y="2420620"/>
                        <a:ext cx="254000" cy="241300"/>
                      </a:xfrm>
                      <a:prstGeom prst="rect">
                        <a:avLst/>
                      </a:prstGeom>
                      <a:noFill/>
                      <a:ln w="38100">
                        <a:noFill/>
                        <a:miter/>
                      </a:ln>
                    </p:spPr>
                  </p:pic>
                </p:oleObj>
              </mc:Fallback>
            </mc:AlternateContent>
          </a:graphicData>
        </a:graphic>
      </p:graphicFrame>
      <p:sp>
        <p:nvSpPr>
          <p:cNvPr id="22" name="直接连接符 21"/>
          <p:cNvSpPr/>
          <p:nvPr/>
        </p:nvSpPr>
        <p:spPr>
          <a:xfrm flipH="1">
            <a:off x="4688840" y="820420"/>
            <a:ext cx="533400" cy="533400"/>
          </a:xfrm>
          <a:prstGeom prst="line">
            <a:avLst/>
          </a:prstGeom>
          <a:ln w="28575" cap="flat" cmpd="sng">
            <a:solidFill>
              <a:srgbClr val="0000FF"/>
            </a:solidFill>
            <a:prstDash val="solid"/>
            <a:headEnd type="none" w="med" len="med"/>
            <a:tailEnd type="none" w="med" len="med"/>
          </a:ln>
        </p:spPr>
      </p:sp>
      <p:sp>
        <p:nvSpPr>
          <p:cNvPr id="23" name="直接连接符 22"/>
          <p:cNvSpPr/>
          <p:nvPr/>
        </p:nvSpPr>
        <p:spPr>
          <a:xfrm flipH="1">
            <a:off x="3926840" y="1430020"/>
            <a:ext cx="533400" cy="533400"/>
          </a:xfrm>
          <a:prstGeom prst="line">
            <a:avLst/>
          </a:prstGeom>
          <a:ln w="28575" cap="flat" cmpd="sng">
            <a:solidFill>
              <a:srgbClr val="0000FF"/>
            </a:solidFill>
            <a:prstDash val="solid"/>
            <a:headEnd type="none" w="med" len="med"/>
            <a:tailEnd type="none" w="med" len="med"/>
          </a:ln>
        </p:spPr>
      </p:sp>
      <p:sp>
        <p:nvSpPr>
          <p:cNvPr id="24" name="直接连接符 23"/>
          <p:cNvSpPr/>
          <p:nvPr/>
        </p:nvSpPr>
        <p:spPr>
          <a:xfrm flipH="1">
            <a:off x="5603240" y="820420"/>
            <a:ext cx="533400" cy="533400"/>
          </a:xfrm>
          <a:prstGeom prst="line">
            <a:avLst/>
          </a:prstGeom>
          <a:ln w="28575" cap="flat" cmpd="sng">
            <a:solidFill>
              <a:srgbClr val="0000FF"/>
            </a:solidFill>
            <a:prstDash val="solid"/>
            <a:headEnd type="none" w="med" len="med"/>
            <a:tailEnd type="none" w="med" len="med"/>
          </a:ln>
        </p:spPr>
      </p:sp>
      <p:sp>
        <p:nvSpPr>
          <p:cNvPr id="25" name="直接连接符 24"/>
          <p:cNvSpPr/>
          <p:nvPr/>
        </p:nvSpPr>
        <p:spPr>
          <a:xfrm flipH="1">
            <a:off x="4841240" y="1506220"/>
            <a:ext cx="533400" cy="533400"/>
          </a:xfrm>
          <a:prstGeom prst="line">
            <a:avLst/>
          </a:prstGeom>
          <a:ln w="28575" cap="flat" cmpd="sng">
            <a:solidFill>
              <a:srgbClr val="0000FF"/>
            </a:solidFill>
            <a:prstDash val="solid"/>
            <a:headEnd type="none" w="med" len="med"/>
            <a:tailEnd type="none" w="med" len="med"/>
          </a:ln>
        </p:spPr>
      </p:sp>
      <p:grpSp>
        <p:nvGrpSpPr>
          <p:cNvPr id="26" name="组合 25"/>
          <p:cNvGrpSpPr/>
          <p:nvPr/>
        </p:nvGrpSpPr>
        <p:grpSpPr>
          <a:xfrm>
            <a:off x="4993640" y="820420"/>
            <a:ext cx="1981200" cy="1676400"/>
            <a:chOff x="2880" y="2016"/>
            <a:chExt cx="1248" cy="1056"/>
          </a:xfrm>
        </p:grpSpPr>
        <p:sp>
          <p:nvSpPr>
            <p:cNvPr id="27" name="直接连接符 26"/>
            <p:cNvSpPr/>
            <p:nvPr/>
          </p:nvSpPr>
          <p:spPr>
            <a:xfrm flipH="1">
              <a:off x="3792" y="2016"/>
              <a:ext cx="336" cy="336"/>
            </a:xfrm>
            <a:prstGeom prst="line">
              <a:avLst/>
            </a:prstGeom>
            <a:ln w="28575" cap="flat" cmpd="sng">
              <a:solidFill>
                <a:srgbClr val="0000FF"/>
              </a:solidFill>
              <a:prstDash val="solid"/>
              <a:headEnd type="none" w="med" len="med"/>
              <a:tailEnd type="none" w="med" len="med"/>
            </a:ln>
          </p:spPr>
        </p:sp>
        <p:sp>
          <p:nvSpPr>
            <p:cNvPr id="28" name="直接连接符 27"/>
            <p:cNvSpPr/>
            <p:nvPr/>
          </p:nvSpPr>
          <p:spPr>
            <a:xfrm flipH="1">
              <a:off x="3264" y="2400"/>
              <a:ext cx="336" cy="336"/>
            </a:xfrm>
            <a:prstGeom prst="line">
              <a:avLst/>
            </a:prstGeom>
            <a:ln w="28575" cap="flat" cmpd="sng">
              <a:solidFill>
                <a:srgbClr val="0000FF"/>
              </a:solidFill>
              <a:prstDash val="solid"/>
              <a:headEnd type="none" w="med" len="med"/>
              <a:tailEnd type="none" w="med" len="med"/>
            </a:ln>
          </p:spPr>
        </p:sp>
        <p:sp>
          <p:nvSpPr>
            <p:cNvPr id="29" name="直接连接符 28"/>
            <p:cNvSpPr/>
            <p:nvPr/>
          </p:nvSpPr>
          <p:spPr>
            <a:xfrm flipH="1">
              <a:off x="2880" y="2832"/>
              <a:ext cx="240" cy="240"/>
            </a:xfrm>
            <a:prstGeom prst="line">
              <a:avLst/>
            </a:prstGeom>
            <a:ln w="28575" cap="flat" cmpd="sng">
              <a:solidFill>
                <a:srgbClr val="0000FF"/>
              </a:solidFill>
              <a:prstDash val="solid"/>
              <a:headEnd type="none" w="med" len="med"/>
              <a:tailEnd type="triangle" w="med" len="med"/>
            </a:ln>
          </p:spPr>
        </p:sp>
      </p:grpSp>
      <p:sp>
        <p:nvSpPr>
          <p:cNvPr id="30" name="直接连接符 29"/>
          <p:cNvSpPr/>
          <p:nvPr/>
        </p:nvSpPr>
        <p:spPr>
          <a:xfrm flipH="1">
            <a:off x="4231640" y="2115820"/>
            <a:ext cx="381000" cy="381000"/>
          </a:xfrm>
          <a:prstGeom prst="line">
            <a:avLst/>
          </a:prstGeom>
          <a:ln w="28575" cap="flat" cmpd="sng">
            <a:solidFill>
              <a:srgbClr val="0000FF"/>
            </a:solidFill>
            <a:prstDash val="solid"/>
            <a:headEnd type="none" w="med" len="med"/>
            <a:tailEnd type="triangle" w="med" len="med"/>
          </a:ln>
        </p:spPr>
      </p:sp>
      <p:sp>
        <p:nvSpPr>
          <p:cNvPr id="31" name="直接连接符 30"/>
          <p:cNvSpPr/>
          <p:nvPr/>
        </p:nvSpPr>
        <p:spPr>
          <a:xfrm flipH="1">
            <a:off x="3393440" y="2039620"/>
            <a:ext cx="381000" cy="381000"/>
          </a:xfrm>
          <a:prstGeom prst="line">
            <a:avLst/>
          </a:prstGeom>
          <a:ln w="28575" cap="flat" cmpd="sng">
            <a:solidFill>
              <a:srgbClr val="0000FF"/>
            </a:solidFill>
            <a:prstDash val="solid"/>
            <a:headEnd type="none" w="med" len="med"/>
            <a:tailEnd type="triangle" w="med" len="med"/>
          </a:ln>
        </p:spPr>
      </p:sp>
      <p:graphicFrame>
        <p:nvGraphicFramePr>
          <p:cNvPr id="32" name="对象 31"/>
          <p:cNvGraphicFramePr/>
          <p:nvPr/>
        </p:nvGraphicFramePr>
        <p:xfrm>
          <a:off x="4993640" y="2573020"/>
          <a:ext cx="241300" cy="88900"/>
        </p:xfrm>
        <a:graphic>
          <a:graphicData uri="http://schemas.openxmlformats.org/presentationml/2006/ole">
            <mc:AlternateContent xmlns:mc="http://schemas.openxmlformats.org/markup-compatibility/2006">
              <mc:Choice xmlns:v="urn:schemas-microsoft-com:vml" Requires="v">
                <p:oleObj spid="_x0000_s33" name="" r:id="rId7" imgW="240665" imgH="88265" progId="Equation.3">
                  <p:embed/>
                </p:oleObj>
              </mc:Choice>
              <mc:Fallback>
                <p:oleObj name="" r:id="rId7" imgW="240665" imgH="88265" progId="Equation.3">
                  <p:embed/>
                  <p:pic>
                    <p:nvPicPr>
                      <p:cNvPr id="0" name="图片 3096"/>
                      <p:cNvPicPr/>
                      <p:nvPr/>
                    </p:nvPicPr>
                    <p:blipFill>
                      <a:blip r:embed="rId8"/>
                      <a:stretch>
                        <a:fillRect/>
                      </a:stretch>
                    </p:blipFill>
                    <p:spPr>
                      <a:xfrm>
                        <a:off x="4993640" y="2573020"/>
                        <a:ext cx="241300" cy="88900"/>
                      </a:xfrm>
                      <a:prstGeom prst="rect">
                        <a:avLst/>
                      </a:prstGeom>
                      <a:noFill/>
                      <a:ln w="38100">
                        <a:noFill/>
                        <a:miter/>
                      </a:ln>
                    </p:spPr>
                  </p:pic>
                </p:oleObj>
              </mc:Fallback>
            </mc:AlternateContent>
          </a:graphicData>
        </a:graphic>
      </p:graphicFrame>
      <p:graphicFrame>
        <p:nvGraphicFramePr>
          <p:cNvPr id="34" name="对象 33"/>
          <p:cNvGraphicFramePr/>
          <p:nvPr/>
        </p:nvGraphicFramePr>
        <p:xfrm>
          <a:off x="4155440" y="2573020"/>
          <a:ext cx="241300" cy="88900"/>
        </p:xfrm>
        <a:graphic>
          <a:graphicData uri="http://schemas.openxmlformats.org/presentationml/2006/ole">
            <mc:AlternateContent xmlns:mc="http://schemas.openxmlformats.org/markup-compatibility/2006">
              <mc:Choice xmlns:v="urn:schemas-microsoft-com:vml" Requires="v">
                <p:oleObj spid="_x0000_s35" name="" r:id="rId9" imgW="240665" imgH="88265" progId="Equation.3">
                  <p:embed/>
                </p:oleObj>
              </mc:Choice>
              <mc:Fallback>
                <p:oleObj name="" r:id="rId9" imgW="240665" imgH="88265" progId="Equation.3">
                  <p:embed/>
                  <p:pic>
                    <p:nvPicPr>
                      <p:cNvPr id="0" name="图片 3156"/>
                      <p:cNvPicPr/>
                      <p:nvPr/>
                    </p:nvPicPr>
                    <p:blipFill>
                      <a:blip r:embed="rId8"/>
                      <a:stretch>
                        <a:fillRect/>
                      </a:stretch>
                    </p:blipFill>
                    <p:spPr>
                      <a:xfrm>
                        <a:off x="4155440" y="2573020"/>
                        <a:ext cx="241300" cy="88900"/>
                      </a:xfrm>
                      <a:prstGeom prst="rect">
                        <a:avLst/>
                      </a:prstGeom>
                      <a:noFill/>
                      <a:ln w="38100">
                        <a:noFill/>
                        <a:miter/>
                      </a:ln>
                    </p:spPr>
                  </p:pic>
                </p:oleObj>
              </mc:Fallback>
            </mc:AlternateContent>
          </a:graphicData>
        </a:graphic>
      </p:graphicFrame>
      <p:graphicFrame>
        <p:nvGraphicFramePr>
          <p:cNvPr id="36" name="对象 35"/>
          <p:cNvGraphicFramePr/>
          <p:nvPr/>
        </p:nvGraphicFramePr>
        <p:xfrm>
          <a:off x="3317240" y="2573020"/>
          <a:ext cx="241300" cy="88900"/>
        </p:xfrm>
        <a:graphic>
          <a:graphicData uri="http://schemas.openxmlformats.org/presentationml/2006/ole">
            <mc:AlternateContent xmlns:mc="http://schemas.openxmlformats.org/markup-compatibility/2006">
              <mc:Choice xmlns:v="urn:schemas-microsoft-com:vml" Requires="v">
                <p:oleObj spid="_x0000_s37" name="" r:id="rId10" imgW="240665" imgH="88265" progId="Equation.3">
                  <p:embed/>
                </p:oleObj>
              </mc:Choice>
              <mc:Fallback>
                <p:oleObj name="" r:id="rId10" imgW="240665" imgH="88265" progId="Equation.3">
                  <p:embed/>
                  <p:pic>
                    <p:nvPicPr>
                      <p:cNvPr id="0" name="图片 3159"/>
                      <p:cNvPicPr/>
                      <p:nvPr/>
                    </p:nvPicPr>
                    <p:blipFill>
                      <a:blip r:embed="rId8"/>
                      <a:stretch>
                        <a:fillRect/>
                      </a:stretch>
                    </p:blipFill>
                    <p:spPr>
                      <a:xfrm>
                        <a:off x="3317240" y="2573020"/>
                        <a:ext cx="241300" cy="88900"/>
                      </a:xfrm>
                      <a:prstGeom prst="rect">
                        <a:avLst/>
                      </a:prstGeom>
                      <a:noFill/>
                      <a:ln w="38100">
                        <a:noFill/>
                        <a:miter/>
                      </a:ln>
                    </p:spPr>
                  </p:pic>
                </p:oleObj>
              </mc:Fallback>
            </mc:AlternateContent>
          </a:graphicData>
        </a:graphic>
      </p:graphicFrame>
      <p:sp>
        <p:nvSpPr>
          <p:cNvPr id="38" name="文本框 37"/>
          <p:cNvSpPr txBox="1"/>
          <p:nvPr/>
        </p:nvSpPr>
        <p:spPr>
          <a:xfrm>
            <a:off x="1259840" y="1125220"/>
            <a:ext cx="2725738" cy="521970"/>
          </a:xfrm>
          <a:prstGeom prst="rect">
            <a:avLst/>
          </a:prstGeom>
          <a:noFill/>
          <a:ln w="9525">
            <a:noFill/>
          </a:ln>
        </p:spPr>
        <p:txBody>
          <a:bodyPr>
            <a:spAutoFit/>
          </a:bodyPr>
          <a:p>
            <a:r>
              <a:rPr lang="en-US" altLang="zh-CN">
                <a:latin typeface="黑体" panose="02010609060101010101" pitchFamily="2" charset="-122"/>
                <a:ea typeface="黑体" panose="02010609060101010101" pitchFamily="2" charset="-122"/>
              </a:rPr>
              <a:t>(2)</a:t>
            </a:r>
            <a:r>
              <a:rPr lang="zh-CN" altLang="en-US" dirty="0">
                <a:latin typeface="黑体" panose="02010609060101010101" pitchFamily="2" charset="-122"/>
                <a:ea typeface="黑体" panose="02010609060101010101" pitchFamily="2" charset="-122"/>
              </a:rPr>
              <a:t>沙</a:t>
            </a:r>
            <a:r>
              <a:rPr lang="zh-CN" altLang="en-US">
                <a:latin typeface="黑体" panose="02010609060101010101" pitchFamily="2" charset="-122"/>
                <a:ea typeface="黑体" panose="02010609060101010101" pitchFamily="2" charset="-122"/>
              </a:rPr>
              <a:t>路法</a:t>
            </a:r>
            <a:endParaRPr lang="zh-CN" altLang="en-US">
              <a:latin typeface="黑体" panose="02010609060101010101" pitchFamily="2" charset="-122"/>
              <a:ea typeface="黑体" panose="02010609060101010101" pitchFamily="2" charset="-122"/>
            </a:endParaRPr>
          </a:p>
        </p:txBody>
      </p:sp>
      <p:graphicFrame>
        <p:nvGraphicFramePr>
          <p:cNvPr id="39" name="对象 38"/>
          <p:cNvGraphicFramePr/>
          <p:nvPr/>
        </p:nvGraphicFramePr>
        <p:xfrm>
          <a:off x="3088640" y="668020"/>
          <a:ext cx="2705100" cy="1536700"/>
        </p:xfrm>
        <a:graphic>
          <a:graphicData uri="http://schemas.openxmlformats.org/presentationml/2006/ole">
            <mc:AlternateContent xmlns:mc="http://schemas.openxmlformats.org/markup-compatibility/2006">
              <mc:Choice xmlns:v="urn:schemas-microsoft-com:vml" Requires="v">
                <p:oleObj spid="_x0000_s40" name="" r:id="rId11" imgW="2705100" imgH="1536700" progId="Equation.3">
                  <p:embed/>
                </p:oleObj>
              </mc:Choice>
              <mc:Fallback>
                <p:oleObj name="" r:id="rId11" imgW="2705100" imgH="1536700" progId="Equation.3">
                  <p:embed/>
                  <p:pic>
                    <p:nvPicPr>
                      <p:cNvPr id="0" name="图片 3158"/>
                      <p:cNvPicPr/>
                      <p:nvPr/>
                    </p:nvPicPr>
                    <p:blipFill>
                      <a:blip r:embed="rId12"/>
                      <a:stretch>
                        <a:fillRect/>
                      </a:stretch>
                    </p:blipFill>
                    <p:spPr>
                      <a:xfrm>
                        <a:off x="3088640" y="668020"/>
                        <a:ext cx="2705100" cy="1536700"/>
                      </a:xfrm>
                      <a:prstGeom prst="rect">
                        <a:avLst/>
                      </a:prstGeom>
                      <a:noFill/>
                      <a:ln w="38100">
                        <a:noFill/>
                        <a:miter/>
                      </a:ln>
                    </p:spPr>
                  </p:pic>
                </p:oleObj>
              </mc:Fallback>
            </mc:AlternateContent>
          </a:graphicData>
        </a:graphic>
      </p:graphicFrame>
      <p:graphicFrame>
        <p:nvGraphicFramePr>
          <p:cNvPr id="41" name="对象 -2147482588"/>
          <p:cNvGraphicFramePr>
            <a:graphicFrameLocks noChangeAspect="1"/>
          </p:cNvGraphicFramePr>
          <p:nvPr/>
        </p:nvGraphicFramePr>
        <p:xfrm>
          <a:off x="1825308" y="2739073"/>
          <a:ext cx="5214620" cy="1083310"/>
        </p:xfrm>
        <a:graphic>
          <a:graphicData uri="http://schemas.openxmlformats.org/presentationml/2006/ole">
            <mc:AlternateContent xmlns:mc="http://schemas.openxmlformats.org/markup-compatibility/2006">
              <mc:Choice xmlns:v="urn:schemas-microsoft-com:vml" Requires="v">
                <p:oleObj spid="_x0000_s42" name="" r:id="rId13" imgW="2197100" imgH="457200" progId="Equation.DSMT4">
                  <p:embed/>
                </p:oleObj>
              </mc:Choice>
              <mc:Fallback>
                <p:oleObj name="" r:id="rId13" imgW="2197100" imgH="457200" progId="Equation.DSMT4">
                  <p:embed/>
                  <p:pic>
                    <p:nvPicPr>
                      <p:cNvPr id="0" name="图片 3075"/>
                      <p:cNvPicPr/>
                      <p:nvPr/>
                    </p:nvPicPr>
                    <p:blipFill>
                      <a:blip r:embed="rId14"/>
                      <a:stretch>
                        <a:fillRect/>
                      </a:stretch>
                    </p:blipFill>
                    <p:spPr>
                      <a:xfrm>
                        <a:off x="1825308" y="2739073"/>
                        <a:ext cx="5214620" cy="1083310"/>
                      </a:xfrm>
                      <a:prstGeom prst="rect">
                        <a:avLst/>
                      </a:prstGeom>
                      <a:noFill/>
                      <a:ln w="38100">
                        <a:noFill/>
                        <a:miter/>
                      </a:ln>
                    </p:spPr>
                  </p:pic>
                </p:oleObj>
              </mc:Fallback>
            </mc:AlternateContent>
          </a:graphicData>
        </a:graphic>
      </p:graphicFrame>
      <p:sp>
        <p:nvSpPr>
          <p:cNvPr id="43" name="矩形 42"/>
          <p:cNvSpPr/>
          <p:nvPr/>
        </p:nvSpPr>
        <p:spPr>
          <a:xfrm>
            <a:off x="611505" y="4086225"/>
            <a:ext cx="8049895" cy="953135"/>
          </a:xfrm>
          <a:prstGeom prst="rect">
            <a:avLst/>
          </a:prstGeom>
          <a:noFill/>
          <a:ln w="9525">
            <a:noFill/>
          </a:ln>
        </p:spPr>
        <p:txBody>
          <a:bodyPr wrap="square" anchor="t" anchorCtr="0">
            <a:spAutoFit/>
          </a:bodyPr>
          <a:p>
            <a:pPr>
              <a:spcBef>
                <a:spcPct val="50000"/>
              </a:spcBef>
            </a:pPr>
            <a:r>
              <a:rPr lang="zh-CN" altLang="en-US" dirty="0">
                <a:solidFill>
                  <a:srgbClr val="0000FF"/>
                </a:solidFill>
                <a:latin typeface="Times New Roman" panose="02020603050405020304" pitchFamily="18" charset="0"/>
                <a:ea typeface="黑体" panose="02010609060101010101" pitchFamily="2" charset="-122"/>
              </a:rPr>
              <a:t>说明：</a:t>
            </a:r>
            <a:r>
              <a:rPr lang="en-US" altLang="zh-CN">
                <a:solidFill>
                  <a:schemeClr val="tx1"/>
                </a:solidFill>
                <a:latin typeface="Times New Roman" panose="02020603050405020304" pitchFamily="18" charset="0"/>
                <a:ea typeface="黑体" panose="02010609060101010101" pitchFamily="2" charset="-122"/>
              </a:rPr>
              <a:t>1.</a:t>
            </a:r>
            <a:r>
              <a:rPr lang="zh-CN" altLang="en-US" dirty="0">
                <a:latin typeface="Times New Roman" panose="02020603050405020304" pitchFamily="18" charset="0"/>
              </a:rPr>
              <a:t>对角线法则、沙路法都只适用于二阶与三</a:t>
            </a:r>
            <a:r>
              <a:rPr lang="en-US" altLang="zh-CN" dirty="0">
                <a:latin typeface="Times New Roman" panose="02020603050405020304" pitchFamily="18" charset="0"/>
              </a:rPr>
              <a:t>       </a:t>
            </a:r>
            <a:r>
              <a:rPr lang="zh-CN" altLang="en-US" dirty="0">
                <a:latin typeface="Times New Roman" panose="02020603050405020304" pitchFamily="18" charset="0"/>
              </a:rPr>
              <a:t>阶行列式．</a:t>
            </a:r>
            <a:endParaRPr lang="zh-CN" altLang="en-US" dirty="0">
              <a:latin typeface="Times New Roman" panose="02020603050405020304" pitchFamily="18" charset="0"/>
            </a:endParaRPr>
          </a:p>
        </p:txBody>
      </p:sp>
      <p:sp>
        <p:nvSpPr>
          <p:cNvPr id="46" name="文本框 45"/>
          <p:cNvSpPr txBox="1"/>
          <p:nvPr/>
        </p:nvSpPr>
        <p:spPr>
          <a:xfrm>
            <a:off x="627380" y="5151755"/>
            <a:ext cx="8183245" cy="1262380"/>
          </a:xfrm>
          <a:prstGeom prst="rect">
            <a:avLst/>
          </a:prstGeom>
          <a:noFill/>
        </p:spPr>
        <p:txBody>
          <a:bodyPr wrap="square" rtlCol="0">
            <a:noAutofit/>
          </a:bodyPr>
          <a:p>
            <a:r>
              <a:rPr lang="en-US" altLang="zh-CN" dirty="0">
                <a:latin typeface="宋体" panose="02010600030101010101" pitchFamily="2" charset="-122"/>
                <a:sym typeface="+mn-ea"/>
              </a:rPr>
              <a:t>2.</a:t>
            </a:r>
            <a:r>
              <a:rPr lang="zh-CN" altLang="en-US" dirty="0">
                <a:latin typeface="宋体" panose="02010600030101010101" pitchFamily="2" charset="-122"/>
                <a:sym typeface="+mn-ea"/>
              </a:rPr>
              <a:t>三阶行列式包括</a:t>
            </a:r>
            <a:r>
              <a:rPr lang="en-US" altLang="zh-CN">
                <a:latin typeface="宋体" panose="02010600030101010101" pitchFamily="2" charset="-122"/>
                <a:sym typeface="+mn-ea"/>
              </a:rPr>
              <a:t>3!</a:t>
            </a:r>
            <a:r>
              <a:rPr lang="zh-CN" altLang="en-US" dirty="0">
                <a:latin typeface="宋体" panose="02010600030101010101" pitchFamily="2" charset="-122"/>
                <a:sym typeface="+mn-ea"/>
              </a:rPr>
              <a:t>项</a:t>
            </a:r>
            <a:r>
              <a:rPr lang="en-US" altLang="zh-CN">
                <a:latin typeface="宋体" panose="02010600030101010101" pitchFamily="2" charset="-122"/>
                <a:sym typeface="+mn-ea"/>
              </a:rPr>
              <a:t>,</a:t>
            </a:r>
            <a:r>
              <a:rPr lang="zh-CN" altLang="en-US" dirty="0">
                <a:latin typeface="宋体" panose="02010600030101010101" pitchFamily="2" charset="-122"/>
                <a:sym typeface="+mn-ea"/>
              </a:rPr>
              <a:t>每一项都是位于不同行</a:t>
            </a:r>
            <a:r>
              <a:rPr lang="en-US" altLang="zh-CN">
                <a:latin typeface="宋体" panose="02010600030101010101" pitchFamily="2" charset="-122"/>
                <a:sym typeface="+mn-ea"/>
              </a:rPr>
              <a:t>,</a:t>
            </a:r>
            <a:r>
              <a:rPr lang="zh-CN" altLang="en-US" dirty="0">
                <a:latin typeface="宋体" panose="02010600030101010101" pitchFamily="2" charset="-122"/>
                <a:sym typeface="+mn-ea"/>
              </a:rPr>
              <a:t>不同列的三个元素的乘积</a:t>
            </a:r>
            <a:r>
              <a:rPr lang="en-US" altLang="zh-CN">
                <a:latin typeface="黑体" panose="02010609060101010101" pitchFamily="2" charset="-122"/>
                <a:ea typeface="黑体" panose="02010609060101010101" pitchFamily="2" charset="-122"/>
                <a:sym typeface="+mn-ea"/>
              </a:rPr>
              <a:t>,</a:t>
            </a:r>
            <a:r>
              <a:rPr lang="zh-CN" altLang="en-US" dirty="0">
                <a:latin typeface="宋体" panose="02010600030101010101" pitchFamily="2" charset="-122"/>
                <a:sym typeface="+mn-ea"/>
              </a:rPr>
              <a:t>其中三项为正</a:t>
            </a:r>
            <a:r>
              <a:rPr lang="en-US" altLang="zh-CN">
                <a:latin typeface="宋体" panose="02010600030101010101" pitchFamily="2" charset="-122"/>
                <a:sym typeface="+mn-ea"/>
              </a:rPr>
              <a:t>,</a:t>
            </a:r>
            <a:r>
              <a:rPr lang="zh-CN" altLang="en-US" dirty="0">
                <a:latin typeface="宋体" panose="02010600030101010101" pitchFamily="2" charset="-122"/>
                <a:sym typeface="+mn-ea"/>
              </a:rPr>
              <a:t>三项为负</a:t>
            </a:r>
            <a:r>
              <a:rPr lang="en-US" altLang="zh-CN">
                <a:latin typeface="宋体" panose="02010600030101010101" pitchFamily="2" charset="-122"/>
                <a:sym typeface="+mn-ea"/>
              </a:rPr>
              <a:t>.</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38"/>
                                        </p:tgtEl>
                                        <p:attrNameLst>
                                          <p:attrName>style.visibility</p:attrName>
                                        </p:attrNameLst>
                                      </p:cBhvr>
                                      <p:to>
                                        <p:strVal val="visible"/>
                                      </p:to>
                                    </p:set>
                                    <p:animEffect transition="in" filter="wipe(left)">
                                      <p:cBhvr>
                                        <p:cTn id="7" dur="75"/>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left)">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par>
                          <p:cTn id="31" fill="hold">
                            <p:stCondLst>
                              <p:cond delay="1500"/>
                            </p:stCondLst>
                            <p:childTnLst>
                              <p:par>
                                <p:cTn id="32" presetID="22" presetClass="entr" presetSubtype="8"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500"/>
                                        <p:tgtEl>
                                          <p:spTgt spid="9"/>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500"/>
                                        <p:tgtEl>
                                          <p:spTgt spid="10"/>
                                        </p:tgtEl>
                                      </p:cBhvr>
                                    </p:animEffect>
                                  </p:childTnLst>
                                </p:cTn>
                              </p:par>
                            </p:childTnLst>
                          </p:cTn>
                        </p:par>
                        <p:par>
                          <p:cTn id="44" fill="hold">
                            <p:stCondLst>
                              <p:cond delay="1000"/>
                            </p:stCondLst>
                            <p:childTnLst>
                              <p:par>
                                <p:cTn id="45" presetID="22" presetClass="entr" presetSubtype="8"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par>
                          <p:cTn id="48" fill="hold">
                            <p:stCondLst>
                              <p:cond delay="1500"/>
                            </p:stCondLst>
                            <p:childTnLst>
                              <p:par>
                                <p:cTn id="49" presetID="22" presetClass="entr" presetSubtype="8" fill="hold"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left)">
                                      <p:cBhvr>
                                        <p:cTn id="51" dur="5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wipe(left)">
                                      <p:cBhvr>
                                        <p:cTn id="56" dur="500"/>
                                        <p:tgtEl>
                                          <p:spTgt spid="11"/>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left)">
                                      <p:cBhvr>
                                        <p:cTn id="60" dur="500"/>
                                        <p:tgtEl>
                                          <p:spTgt spid="12"/>
                                        </p:tgtEl>
                                      </p:cBhvr>
                                    </p:animEffect>
                                  </p:childTnLst>
                                </p:cTn>
                              </p:par>
                            </p:childTnLst>
                          </p:cTn>
                        </p:par>
                        <p:par>
                          <p:cTn id="61" fill="hold">
                            <p:stCondLst>
                              <p:cond delay="1000"/>
                            </p:stCondLst>
                            <p:childTnLst>
                              <p:par>
                                <p:cTn id="62" presetID="22" presetClass="entr" presetSubtype="8" fill="hold"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wipe(left)">
                                      <p:cBhvr>
                                        <p:cTn id="64" dur="500"/>
                                        <p:tgtEl>
                                          <p:spTgt spid="15"/>
                                        </p:tgtEl>
                                      </p:cBhvr>
                                    </p:animEffect>
                                  </p:childTnLst>
                                </p:cTn>
                              </p:par>
                            </p:childTnLst>
                          </p:cTn>
                        </p:par>
                        <p:par>
                          <p:cTn id="65" fill="hold">
                            <p:stCondLst>
                              <p:cond delay="1500"/>
                            </p:stCondLst>
                            <p:childTnLst>
                              <p:par>
                                <p:cTn id="66" presetID="22" presetClass="entr" presetSubtype="8" fill="hold" nodeType="after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left)">
                                      <p:cBhvr>
                                        <p:cTn id="68" dur="5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wipe(up)">
                                      <p:cBhvr>
                                        <p:cTn id="73" dur="500"/>
                                        <p:tgtEl>
                                          <p:spTgt spid="22"/>
                                        </p:tgtEl>
                                      </p:cBhvr>
                                    </p:animEffect>
                                  </p:childTnLst>
                                </p:cTn>
                              </p:par>
                            </p:childTnLst>
                          </p:cTn>
                        </p:par>
                        <p:par>
                          <p:cTn id="74" fill="hold">
                            <p:stCondLst>
                              <p:cond delay="500"/>
                            </p:stCondLst>
                            <p:childTnLst>
                              <p:par>
                                <p:cTn id="75" presetID="22" presetClass="entr" presetSubtype="1" fill="hold" nodeType="after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wipe(up)">
                                      <p:cBhvr>
                                        <p:cTn id="77" dur="500"/>
                                        <p:tgtEl>
                                          <p:spTgt spid="23"/>
                                        </p:tgtEl>
                                      </p:cBhvr>
                                    </p:animEffect>
                                  </p:childTnLst>
                                </p:cTn>
                              </p:par>
                            </p:childTnLst>
                          </p:cTn>
                        </p:par>
                        <p:par>
                          <p:cTn id="78" fill="hold">
                            <p:stCondLst>
                              <p:cond delay="1000"/>
                            </p:stCondLst>
                            <p:childTnLst>
                              <p:par>
                                <p:cTn id="79" presetID="22" presetClass="entr" presetSubtype="1" fill="hold" nodeType="after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wipe(up)">
                                      <p:cBhvr>
                                        <p:cTn id="81" dur="500"/>
                                        <p:tgtEl>
                                          <p:spTgt spid="31"/>
                                        </p:tgtEl>
                                      </p:cBhvr>
                                    </p:animEffect>
                                  </p:childTnLst>
                                </p:cTn>
                              </p:par>
                            </p:childTnLst>
                          </p:cTn>
                        </p:par>
                        <p:par>
                          <p:cTn id="82" fill="hold">
                            <p:stCondLst>
                              <p:cond delay="1500"/>
                            </p:stCondLst>
                            <p:childTnLst>
                              <p:par>
                                <p:cTn id="83" presetID="22" presetClass="entr" presetSubtype="8" fill="hold" nodeType="after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wipe(left)">
                                      <p:cBhvr>
                                        <p:cTn id="85" dur="500"/>
                                        <p:tgtEl>
                                          <p:spTgt spid="3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nodeType="click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wipe(up)">
                                      <p:cBhvr>
                                        <p:cTn id="90" dur="500"/>
                                        <p:tgtEl>
                                          <p:spTgt spid="24"/>
                                        </p:tgtEl>
                                      </p:cBhvr>
                                    </p:animEffect>
                                  </p:childTnLst>
                                </p:cTn>
                              </p:par>
                            </p:childTnLst>
                          </p:cTn>
                        </p:par>
                        <p:par>
                          <p:cTn id="91" fill="hold">
                            <p:stCondLst>
                              <p:cond delay="500"/>
                            </p:stCondLst>
                            <p:childTnLst>
                              <p:par>
                                <p:cTn id="92" presetID="22" presetClass="entr" presetSubtype="1" fill="hold"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wipe(up)">
                                      <p:cBhvr>
                                        <p:cTn id="94" dur="500"/>
                                        <p:tgtEl>
                                          <p:spTgt spid="25"/>
                                        </p:tgtEl>
                                      </p:cBhvr>
                                    </p:animEffect>
                                  </p:childTnLst>
                                </p:cTn>
                              </p:par>
                            </p:childTnLst>
                          </p:cTn>
                        </p:par>
                        <p:par>
                          <p:cTn id="95" fill="hold">
                            <p:stCondLst>
                              <p:cond delay="1000"/>
                            </p:stCondLst>
                            <p:childTnLst>
                              <p:par>
                                <p:cTn id="96" presetID="22" presetClass="entr" presetSubtype="1" fill="hold" nodeType="after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wipe(up)">
                                      <p:cBhvr>
                                        <p:cTn id="98" dur="500"/>
                                        <p:tgtEl>
                                          <p:spTgt spid="30"/>
                                        </p:tgtEl>
                                      </p:cBhvr>
                                    </p:animEffect>
                                  </p:childTnLst>
                                </p:cTn>
                              </p:par>
                            </p:childTnLst>
                          </p:cTn>
                        </p:par>
                        <p:par>
                          <p:cTn id="99" fill="hold">
                            <p:stCondLst>
                              <p:cond delay="1500"/>
                            </p:stCondLst>
                            <p:childTnLst>
                              <p:par>
                                <p:cTn id="100" presetID="22" presetClass="entr" presetSubtype="8" fill="hold" nodeType="afterEffect">
                                  <p:stCondLst>
                                    <p:cond delay="0"/>
                                  </p:stCondLst>
                                  <p:childTnLst>
                                    <p:set>
                                      <p:cBhvr>
                                        <p:cTn id="101" dur="1" fill="hold">
                                          <p:stCondLst>
                                            <p:cond delay="0"/>
                                          </p:stCondLst>
                                        </p:cTn>
                                        <p:tgtEl>
                                          <p:spTgt spid="34"/>
                                        </p:tgtEl>
                                        <p:attrNameLst>
                                          <p:attrName>style.visibility</p:attrName>
                                        </p:attrNameLst>
                                      </p:cBhvr>
                                      <p:to>
                                        <p:strVal val="visible"/>
                                      </p:to>
                                    </p:set>
                                    <p:animEffect transition="in" filter="wipe(left)">
                                      <p:cBhvr>
                                        <p:cTn id="102" dur="500"/>
                                        <p:tgtEl>
                                          <p:spTgt spid="3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26"/>
                                        </p:tgtEl>
                                        <p:attrNameLst>
                                          <p:attrName>style.visibility</p:attrName>
                                        </p:attrNameLst>
                                      </p:cBhvr>
                                      <p:to>
                                        <p:strVal val="visible"/>
                                      </p:to>
                                    </p:set>
                                    <p:animEffect transition="in" filter="wipe(up)">
                                      <p:cBhvr>
                                        <p:cTn id="107" dur="500"/>
                                        <p:tgtEl>
                                          <p:spTgt spid="26"/>
                                        </p:tgtEl>
                                      </p:cBhvr>
                                    </p:animEffect>
                                  </p:childTnLst>
                                </p:cTn>
                              </p:par>
                            </p:childTnLst>
                          </p:cTn>
                        </p:par>
                        <p:par>
                          <p:cTn id="108" fill="hold">
                            <p:stCondLst>
                              <p:cond delay="500"/>
                            </p:stCondLst>
                            <p:childTnLst>
                              <p:par>
                                <p:cTn id="109" presetID="22" presetClass="entr" presetSubtype="8" fill="hold" nodeType="afterEffect">
                                  <p:stCondLst>
                                    <p:cond delay="0"/>
                                  </p:stCondLst>
                                  <p:childTnLst>
                                    <p:set>
                                      <p:cBhvr>
                                        <p:cTn id="110" dur="1" fill="hold">
                                          <p:stCondLst>
                                            <p:cond delay="0"/>
                                          </p:stCondLst>
                                        </p:cTn>
                                        <p:tgtEl>
                                          <p:spTgt spid="32"/>
                                        </p:tgtEl>
                                        <p:attrNameLst>
                                          <p:attrName>style.visibility</p:attrName>
                                        </p:attrNameLst>
                                      </p:cBhvr>
                                      <p:to>
                                        <p:strVal val="visible"/>
                                      </p:to>
                                    </p:set>
                                    <p:animEffect transition="in" filter="wipe(left)">
                                      <p:cBhvr>
                                        <p:cTn id="111" dur="500"/>
                                        <p:tgtEl>
                                          <p:spTgt spid="32"/>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nodeType="clickEffect">
                                  <p:stCondLst>
                                    <p:cond delay="0"/>
                                  </p:stCondLst>
                                  <p:childTnLst>
                                    <p:set>
                                      <p:cBhvr>
                                        <p:cTn id="115" dur="1" fill="hold">
                                          <p:stCondLst>
                                            <p:cond delay="0"/>
                                          </p:stCondLst>
                                        </p:cTn>
                                        <p:tgtEl>
                                          <p:spTgt spid="41"/>
                                        </p:tgtEl>
                                        <p:attrNameLst>
                                          <p:attrName>style.visibility</p:attrName>
                                        </p:attrNameLst>
                                      </p:cBhvr>
                                      <p:to>
                                        <p:strVal val="visible"/>
                                      </p:to>
                                    </p:set>
                                    <p:animEffect transition="in" filter="blinds(horizontal)">
                                      <p:cBhvr>
                                        <p:cTn id="116" dur="500"/>
                                        <p:tgtEl>
                                          <p:spTgt spid="41"/>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iterate type="lt">
                                    <p:tmPct val="100000"/>
                                  </p:iterate>
                                  <p:childTnLst>
                                    <p:set>
                                      <p:cBhvr>
                                        <p:cTn id="120" dur="1" fill="hold">
                                          <p:stCondLst>
                                            <p:cond delay="0"/>
                                          </p:stCondLst>
                                        </p:cTn>
                                        <p:tgtEl>
                                          <p:spTgt spid="43"/>
                                        </p:tgtEl>
                                        <p:attrNameLst>
                                          <p:attrName>style.visibility</p:attrName>
                                        </p:attrNameLst>
                                      </p:cBhvr>
                                      <p:to>
                                        <p:strVal val="visible"/>
                                      </p:to>
                                    </p:set>
                                    <p:animEffect transition="in" filter="wipe(left)">
                                      <p:cBhvr>
                                        <p:cTn id="121" dur="75"/>
                                        <p:tgtEl>
                                          <p:spTgt spid="43"/>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4" fill="hold" grpId="0" nodeType="click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wipe(down)">
                                      <p:cBhvr>
                                        <p:cTn id="12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3" grpId="0"/>
      <p:bldP spid="4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矩形 51201"/>
          <p:cNvSpPr/>
          <p:nvPr/>
        </p:nvSpPr>
        <p:spPr>
          <a:xfrm>
            <a:off x="675005" y="2032000"/>
            <a:ext cx="3486150" cy="519113"/>
          </a:xfrm>
          <a:prstGeom prst="rect">
            <a:avLst/>
          </a:prstGeom>
          <a:noFill/>
          <a:ln w="9525">
            <a:noFill/>
          </a:ln>
        </p:spPr>
        <p:txBody>
          <a:bodyPr wrap="none" anchor="t" anchorCtr="0">
            <a:spAutoFit/>
          </a:bodyPr>
          <a:p>
            <a:r>
              <a:rPr lang="en-US" altLang="zh-CN" dirty="0">
                <a:latin typeface="Times New Roman" panose="02020603050405020304" pitchFamily="18" charset="0"/>
              </a:rPr>
              <a:t> </a:t>
            </a:r>
            <a:r>
              <a:rPr lang="zh-CN" altLang="en-US" dirty="0">
                <a:latin typeface="Times New Roman" panose="02020603050405020304" pitchFamily="18" charset="0"/>
              </a:rPr>
              <a:t>如果三元线性方程组</a:t>
            </a:r>
            <a:endParaRPr lang="zh-CN" altLang="en-US" dirty="0">
              <a:latin typeface="Times New Roman" panose="02020603050405020304" pitchFamily="18" charset="0"/>
            </a:endParaRPr>
          </a:p>
        </p:txBody>
      </p:sp>
      <p:graphicFrame>
        <p:nvGraphicFramePr>
          <p:cNvPr id="51203" name="对象 51202"/>
          <p:cNvGraphicFramePr/>
          <p:nvPr/>
        </p:nvGraphicFramePr>
        <p:xfrm>
          <a:off x="4211955" y="1628775"/>
          <a:ext cx="3911600" cy="1536700"/>
        </p:xfrm>
        <a:graphic>
          <a:graphicData uri="http://schemas.openxmlformats.org/presentationml/2006/ole">
            <mc:AlternateContent xmlns:mc="http://schemas.openxmlformats.org/markup-compatibility/2006">
              <mc:Choice xmlns:v="urn:schemas-microsoft-com:vml" Requires="v">
                <p:oleObj spid="_x0000_s3169" name="" r:id="rId1" imgW="3911600" imgH="1536700" progId="Equation.3">
                  <p:embed/>
                </p:oleObj>
              </mc:Choice>
              <mc:Fallback>
                <p:oleObj name="" r:id="rId1" imgW="3911600" imgH="1536700" progId="Equation.3">
                  <p:embed/>
                  <p:pic>
                    <p:nvPicPr>
                      <p:cNvPr id="0" name="图片 3168"/>
                      <p:cNvPicPr/>
                      <p:nvPr/>
                    </p:nvPicPr>
                    <p:blipFill>
                      <a:blip r:embed="rId2"/>
                      <a:stretch>
                        <a:fillRect/>
                      </a:stretch>
                    </p:blipFill>
                    <p:spPr>
                      <a:xfrm>
                        <a:off x="4211955" y="1628775"/>
                        <a:ext cx="3911600" cy="1536700"/>
                      </a:xfrm>
                      <a:prstGeom prst="rect">
                        <a:avLst/>
                      </a:prstGeom>
                      <a:noFill/>
                      <a:ln w="38100">
                        <a:noFill/>
                        <a:miter/>
                      </a:ln>
                    </p:spPr>
                  </p:pic>
                </p:oleObj>
              </mc:Fallback>
            </mc:AlternateContent>
          </a:graphicData>
        </a:graphic>
      </p:graphicFrame>
      <p:sp>
        <p:nvSpPr>
          <p:cNvPr id="51204" name="文本框 51203"/>
          <p:cNvSpPr txBox="1"/>
          <p:nvPr/>
        </p:nvSpPr>
        <p:spPr>
          <a:xfrm>
            <a:off x="751205" y="3838575"/>
            <a:ext cx="2336800" cy="519113"/>
          </a:xfrm>
          <a:prstGeom prst="rect">
            <a:avLst/>
          </a:prstGeom>
          <a:noFill/>
          <a:ln w="9525">
            <a:noFill/>
          </a:ln>
        </p:spPr>
        <p:txBody>
          <a:bodyPr wrap="none" anchor="t" anchorCtr="0">
            <a:spAutoFit/>
          </a:bodyPr>
          <a:p>
            <a:r>
              <a:rPr lang="zh-CN" altLang="en-US">
                <a:latin typeface="Times New Roman" panose="02020603050405020304" pitchFamily="18" charset="0"/>
              </a:rPr>
              <a:t>的</a:t>
            </a:r>
            <a:r>
              <a:rPr lang="zh-CN" altLang="en-US" dirty="0">
                <a:latin typeface="Times New Roman" panose="02020603050405020304" pitchFamily="18" charset="0"/>
              </a:rPr>
              <a:t>系数行列式</a:t>
            </a:r>
            <a:endParaRPr lang="zh-CN" altLang="en-US">
              <a:latin typeface="Times New Roman" panose="02020603050405020304" pitchFamily="18" charset="0"/>
            </a:endParaRPr>
          </a:p>
        </p:txBody>
      </p:sp>
      <p:graphicFrame>
        <p:nvGraphicFramePr>
          <p:cNvPr id="51205" name="对象 51204"/>
          <p:cNvGraphicFramePr/>
          <p:nvPr/>
        </p:nvGraphicFramePr>
        <p:xfrm>
          <a:off x="3189605" y="3381375"/>
          <a:ext cx="2705100" cy="1536700"/>
        </p:xfrm>
        <a:graphic>
          <a:graphicData uri="http://schemas.openxmlformats.org/presentationml/2006/ole">
            <mc:AlternateContent xmlns:mc="http://schemas.openxmlformats.org/markup-compatibility/2006">
              <mc:Choice xmlns:v="urn:schemas-microsoft-com:vml" Requires="v">
                <p:oleObj spid="_x0000_s3167" name="" r:id="rId3" imgW="2705100" imgH="1536700" progId="Equation.3">
                  <p:embed/>
                </p:oleObj>
              </mc:Choice>
              <mc:Fallback>
                <p:oleObj name="" r:id="rId3" imgW="2705100" imgH="1536700" progId="Equation.3">
                  <p:embed/>
                  <p:pic>
                    <p:nvPicPr>
                      <p:cNvPr id="0" name="图片 3166"/>
                      <p:cNvPicPr/>
                      <p:nvPr/>
                    </p:nvPicPr>
                    <p:blipFill>
                      <a:blip r:embed="rId4"/>
                      <a:stretch>
                        <a:fillRect/>
                      </a:stretch>
                    </p:blipFill>
                    <p:spPr>
                      <a:xfrm>
                        <a:off x="3189605" y="3381375"/>
                        <a:ext cx="2705100" cy="1536700"/>
                      </a:xfrm>
                      <a:prstGeom prst="rect">
                        <a:avLst/>
                      </a:prstGeom>
                      <a:noFill/>
                      <a:ln w="38100">
                        <a:noFill/>
                        <a:miter/>
                      </a:ln>
                    </p:spPr>
                  </p:pic>
                </p:oleObj>
              </mc:Fallback>
            </mc:AlternateContent>
          </a:graphicData>
        </a:graphic>
      </p:graphicFrame>
      <p:graphicFrame>
        <p:nvGraphicFramePr>
          <p:cNvPr id="51206" name="对象 51205"/>
          <p:cNvGraphicFramePr/>
          <p:nvPr/>
        </p:nvGraphicFramePr>
        <p:xfrm>
          <a:off x="6040755" y="3965575"/>
          <a:ext cx="584200" cy="368300"/>
        </p:xfrm>
        <a:graphic>
          <a:graphicData uri="http://schemas.openxmlformats.org/presentationml/2006/ole">
            <mc:AlternateContent xmlns:mc="http://schemas.openxmlformats.org/markup-compatibility/2006">
              <mc:Choice xmlns:v="urn:schemas-microsoft-com:vml" Requires="v">
                <p:oleObj spid="_x0000_s3166" name="" r:id="rId5" imgW="584200" imgH="368300" progId="Equation.3">
                  <p:embed/>
                </p:oleObj>
              </mc:Choice>
              <mc:Fallback>
                <p:oleObj name="" r:id="rId5" imgW="584200" imgH="368300" progId="Equation.3">
                  <p:embed/>
                  <p:pic>
                    <p:nvPicPr>
                      <p:cNvPr id="0" name="图片 3165"/>
                      <p:cNvPicPr/>
                      <p:nvPr/>
                    </p:nvPicPr>
                    <p:blipFill>
                      <a:blip r:embed="rId6"/>
                      <a:stretch>
                        <a:fillRect/>
                      </a:stretch>
                    </p:blipFill>
                    <p:spPr>
                      <a:xfrm>
                        <a:off x="6040755" y="3965575"/>
                        <a:ext cx="584200" cy="368300"/>
                      </a:xfrm>
                      <a:prstGeom prst="rect">
                        <a:avLst/>
                      </a:prstGeom>
                      <a:noFill/>
                      <a:ln w="38100">
                        <a:noFill/>
                        <a:miter/>
                      </a:ln>
                    </p:spPr>
                  </p:pic>
                </p:oleObj>
              </mc:Fallback>
            </mc:AlternateContent>
          </a:graphicData>
        </a:graphic>
      </p:graphicFrame>
      <p:sp>
        <p:nvSpPr>
          <p:cNvPr id="51207" name="矩形 51206"/>
          <p:cNvSpPr/>
          <p:nvPr/>
        </p:nvSpPr>
        <p:spPr>
          <a:xfrm>
            <a:off x="675005" y="1041400"/>
            <a:ext cx="5918200" cy="519113"/>
          </a:xfrm>
          <a:prstGeom prst="rect">
            <a:avLst/>
          </a:prstGeom>
          <a:noFill/>
          <a:ln w="9525">
            <a:noFill/>
          </a:ln>
        </p:spPr>
        <p:txBody>
          <a:bodyPr wrap="none" anchor="t" anchorCtr="0">
            <a:spAutoFit/>
          </a:bodyPr>
          <a:p>
            <a:r>
              <a:rPr lang="en-US" altLang="zh-CN" dirty="0">
                <a:solidFill>
                  <a:srgbClr val="0000FF"/>
                </a:solidFill>
                <a:latin typeface="Times New Roman" panose="02020603050405020304" pitchFamily="18" charset="0"/>
                <a:ea typeface="黑体" panose="02010609060101010101" pitchFamily="2" charset="-122"/>
              </a:rPr>
              <a:t> </a:t>
            </a:r>
            <a:r>
              <a:rPr lang="zh-CN" altLang="en-US" dirty="0">
                <a:solidFill>
                  <a:srgbClr val="0000FF"/>
                </a:solidFill>
                <a:latin typeface="Times New Roman" panose="02020603050405020304" pitchFamily="18" charset="0"/>
                <a:ea typeface="黑体" panose="02010609060101010101" pitchFamily="2" charset="-122"/>
              </a:rPr>
              <a:t>利用三阶行列式求解三元线性方程组</a:t>
            </a:r>
            <a:endParaRPr lang="zh-CN" altLang="en-US" dirty="0">
              <a:solidFill>
                <a:srgbClr val="0000FF"/>
              </a:solidFill>
              <a:latin typeface="Times New Roman" panose="02020603050405020304" pitchFamily="18" charset="0"/>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51207"/>
                                        </p:tgtEl>
                                        <p:attrNameLst>
                                          <p:attrName>style.visibility</p:attrName>
                                        </p:attrNameLst>
                                      </p:cBhvr>
                                      <p:to>
                                        <p:strVal val="visible"/>
                                      </p:to>
                                    </p:set>
                                    <p:animEffect transition="in" filter="wipe(left)">
                                      <p:cBhvr>
                                        <p:cTn id="7" dur="75"/>
                                        <p:tgtEl>
                                          <p:spTgt spid="512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51202"/>
                                        </p:tgtEl>
                                        <p:attrNameLst>
                                          <p:attrName>style.visibility</p:attrName>
                                        </p:attrNameLst>
                                      </p:cBhvr>
                                      <p:to>
                                        <p:strVal val="visible"/>
                                      </p:to>
                                    </p:set>
                                    <p:animEffect transition="in" filter="wipe(left)">
                                      <p:cBhvr>
                                        <p:cTn id="12" dur="75"/>
                                        <p:tgtEl>
                                          <p:spTgt spid="512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1203"/>
                                        </p:tgtEl>
                                        <p:attrNameLst>
                                          <p:attrName>style.visibility</p:attrName>
                                        </p:attrNameLst>
                                      </p:cBhvr>
                                      <p:to>
                                        <p:strVal val="visible"/>
                                      </p:to>
                                    </p:set>
                                    <p:animEffect transition="in" filter="wipe(left)">
                                      <p:cBhvr>
                                        <p:cTn id="17" dur="500"/>
                                        <p:tgtEl>
                                          <p:spTgt spid="5120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51204"/>
                                        </p:tgtEl>
                                        <p:attrNameLst>
                                          <p:attrName>style.visibility</p:attrName>
                                        </p:attrNameLst>
                                      </p:cBhvr>
                                      <p:to>
                                        <p:strVal val="visible"/>
                                      </p:to>
                                    </p:set>
                                    <p:animEffect transition="in" filter="wipe(left)">
                                      <p:cBhvr>
                                        <p:cTn id="22" dur="75"/>
                                        <p:tgtEl>
                                          <p:spTgt spid="512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1205"/>
                                        </p:tgtEl>
                                        <p:attrNameLst>
                                          <p:attrName>style.visibility</p:attrName>
                                        </p:attrNameLst>
                                      </p:cBhvr>
                                      <p:to>
                                        <p:strVal val="visible"/>
                                      </p:to>
                                    </p:set>
                                    <p:animEffect transition="in" filter="wipe(left)">
                                      <p:cBhvr>
                                        <p:cTn id="27" dur="500"/>
                                        <p:tgtEl>
                                          <p:spTgt spid="512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1206"/>
                                        </p:tgtEl>
                                        <p:attrNameLst>
                                          <p:attrName>style.visibility</p:attrName>
                                        </p:attrNameLst>
                                      </p:cBhvr>
                                      <p:to>
                                        <p:strVal val="visible"/>
                                      </p:to>
                                    </p:set>
                                    <p:animEffect transition="in" filter="wipe(left)">
                                      <p:cBhvr>
                                        <p:cTn id="32" dur="500"/>
                                        <p:tgtEl>
                                          <p:spTgt spid="51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p:bldP spid="51204" grpId="0"/>
      <p:bldP spid="5120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2226" name="对象 52225"/>
          <p:cNvGraphicFramePr/>
          <p:nvPr/>
        </p:nvGraphicFramePr>
        <p:xfrm>
          <a:off x="2438400" y="914400"/>
          <a:ext cx="3911600" cy="1536700"/>
        </p:xfrm>
        <a:graphic>
          <a:graphicData uri="http://schemas.openxmlformats.org/presentationml/2006/ole">
            <mc:AlternateContent xmlns:mc="http://schemas.openxmlformats.org/markup-compatibility/2006">
              <mc:Choice xmlns:v="urn:schemas-microsoft-com:vml" Requires="v">
                <p:oleObj spid="_x0000_s3170" name="" r:id="rId1" imgW="3911600" imgH="1536700" progId="Equation.3">
                  <p:embed/>
                </p:oleObj>
              </mc:Choice>
              <mc:Fallback>
                <p:oleObj name="" r:id="rId1" imgW="3911600" imgH="1536700" progId="Equation.3">
                  <p:embed/>
                  <p:pic>
                    <p:nvPicPr>
                      <p:cNvPr id="0" name="图片 3169"/>
                      <p:cNvPicPr/>
                      <p:nvPr/>
                    </p:nvPicPr>
                    <p:blipFill>
                      <a:blip r:embed="rId2"/>
                      <a:stretch>
                        <a:fillRect/>
                      </a:stretch>
                    </p:blipFill>
                    <p:spPr>
                      <a:xfrm>
                        <a:off x="2438400" y="914400"/>
                        <a:ext cx="3911600" cy="1536700"/>
                      </a:xfrm>
                      <a:prstGeom prst="rect">
                        <a:avLst/>
                      </a:prstGeom>
                      <a:noFill/>
                      <a:ln w="38100">
                        <a:noFill/>
                        <a:miter/>
                      </a:ln>
                    </p:spPr>
                  </p:pic>
                </p:oleObj>
              </mc:Fallback>
            </mc:AlternateContent>
          </a:graphicData>
        </a:graphic>
      </p:graphicFrame>
      <p:graphicFrame>
        <p:nvGraphicFramePr>
          <p:cNvPr id="52227" name="对象 52226"/>
          <p:cNvGraphicFramePr/>
          <p:nvPr/>
        </p:nvGraphicFramePr>
        <p:xfrm>
          <a:off x="3429000" y="2895600"/>
          <a:ext cx="2781300" cy="1536700"/>
        </p:xfrm>
        <a:graphic>
          <a:graphicData uri="http://schemas.openxmlformats.org/presentationml/2006/ole">
            <mc:AlternateContent xmlns:mc="http://schemas.openxmlformats.org/markup-compatibility/2006">
              <mc:Choice xmlns:v="urn:schemas-microsoft-com:vml" Requires="v">
                <p:oleObj spid="_x0000_s3172" name="" r:id="rId3" imgW="2781300" imgH="1536700" progId="Equation.3">
                  <p:embed/>
                </p:oleObj>
              </mc:Choice>
              <mc:Fallback>
                <p:oleObj name="" r:id="rId3" imgW="2781300" imgH="1536700" progId="Equation.3">
                  <p:embed/>
                  <p:pic>
                    <p:nvPicPr>
                      <p:cNvPr id="0" name="图片 3171"/>
                      <p:cNvPicPr/>
                      <p:nvPr/>
                    </p:nvPicPr>
                    <p:blipFill>
                      <a:blip r:embed="rId4"/>
                      <a:stretch>
                        <a:fillRect/>
                      </a:stretch>
                    </p:blipFill>
                    <p:spPr>
                      <a:xfrm>
                        <a:off x="3429000" y="2895600"/>
                        <a:ext cx="2781300" cy="1536700"/>
                      </a:xfrm>
                      <a:prstGeom prst="rect">
                        <a:avLst/>
                      </a:prstGeom>
                      <a:noFill/>
                      <a:ln w="38100">
                        <a:noFill/>
                        <a:miter/>
                      </a:ln>
                    </p:spPr>
                  </p:pic>
                </p:oleObj>
              </mc:Fallback>
            </mc:AlternateContent>
          </a:graphicData>
        </a:graphic>
      </p:graphicFrame>
      <p:sp>
        <p:nvSpPr>
          <p:cNvPr id="52228" name="矩形 52227"/>
          <p:cNvSpPr/>
          <p:nvPr/>
        </p:nvSpPr>
        <p:spPr>
          <a:xfrm>
            <a:off x="1066800" y="3352800"/>
            <a:ext cx="901700" cy="519113"/>
          </a:xfrm>
          <a:prstGeom prst="rect">
            <a:avLst/>
          </a:prstGeom>
          <a:noFill/>
          <a:ln w="9525">
            <a:noFill/>
          </a:ln>
        </p:spPr>
        <p:txBody>
          <a:bodyPr wrap="none" anchor="t" anchorCtr="0">
            <a:spAutoFit/>
          </a:bodyPr>
          <a:p>
            <a:r>
              <a:rPr lang="zh-CN" altLang="en-US" dirty="0">
                <a:latin typeface="Times New Roman" panose="02020603050405020304" pitchFamily="18" charset="0"/>
              </a:rPr>
              <a:t>若记</a:t>
            </a:r>
            <a:endParaRPr lang="zh-CN" altLang="en-US" dirty="0">
              <a:latin typeface="Times New Roman" panose="02020603050405020304" pitchFamily="18" charset="0"/>
            </a:endParaRPr>
          </a:p>
        </p:txBody>
      </p:sp>
      <p:sp>
        <p:nvSpPr>
          <p:cNvPr id="52229" name="矩形 52228"/>
          <p:cNvSpPr/>
          <p:nvPr/>
        </p:nvSpPr>
        <p:spPr>
          <a:xfrm>
            <a:off x="5867400" y="9906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sp>
        <p:nvSpPr>
          <p:cNvPr id="52230" name="矩形 52229"/>
          <p:cNvSpPr/>
          <p:nvPr/>
        </p:nvSpPr>
        <p:spPr>
          <a:xfrm>
            <a:off x="3657600" y="9906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sp>
        <p:nvSpPr>
          <p:cNvPr id="52231" name="矩形 52230"/>
          <p:cNvSpPr/>
          <p:nvPr/>
        </p:nvSpPr>
        <p:spPr>
          <a:xfrm>
            <a:off x="4800600" y="9906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sp>
        <p:nvSpPr>
          <p:cNvPr id="52232" name="任意多边形 52231"/>
          <p:cNvSpPr/>
          <p:nvPr/>
        </p:nvSpPr>
        <p:spPr>
          <a:xfrm>
            <a:off x="4419600" y="2438400"/>
            <a:ext cx="1447800" cy="533400"/>
          </a:xfrm>
          <a:custGeom>
            <a:avLst/>
            <a:gdLst/>
            <a:ahLst/>
            <a:cxnLst/>
            <a:pathLst>
              <a:path w="912" h="336">
                <a:moveTo>
                  <a:pt x="912" y="0"/>
                </a:moveTo>
                <a:cubicBezTo>
                  <a:pt x="748" y="44"/>
                  <a:pt x="584" y="88"/>
                  <a:pt x="432" y="144"/>
                </a:cubicBezTo>
                <a:cubicBezTo>
                  <a:pt x="280" y="200"/>
                  <a:pt x="72" y="304"/>
                  <a:pt x="0" y="336"/>
                </a:cubicBezTo>
              </a:path>
            </a:pathLst>
          </a:custGeom>
          <a:noFill/>
          <a:ln w="28575" cap="flat" cmpd="sng">
            <a:solidFill>
              <a:srgbClr val="FF0000"/>
            </a:solidFill>
            <a:prstDash val="solid"/>
            <a:headEnd type="none" w="med" len="med"/>
            <a:tailEnd type="triangle" w="med" len="med"/>
          </a:ln>
        </p:spPr>
        <p:txBody>
          <a:bodyPr/>
          <a:p>
            <a:endParaRPr lang="zh-CN" altLang="en-US"/>
          </a:p>
        </p:txBody>
      </p:sp>
      <p:sp>
        <p:nvSpPr>
          <p:cNvPr id="52233" name="直接连接符 52232"/>
          <p:cNvSpPr/>
          <p:nvPr/>
        </p:nvSpPr>
        <p:spPr>
          <a:xfrm>
            <a:off x="4114800" y="2514600"/>
            <a:ext cx="838200" cy="457200"/>
          </a:xfrm>
          <a:prstGeom prst="line">
            <a:avLst/>
          </a:prstGeom>
          <a:ln w="28575" cap="flat" cmpd="sng">
            <a:solidFill>
              <a:srgbClr val="FF0000"/>
            </a:solidFill>
            <a:prstDash val="solid"/>
            <a:headEnd type="none" w="med" len="med"/>
            <a:tailEnd type="triangle" w="med" len="med"/>
          </a:ln>
        </p:spPr>
      </p:sp>
      <p:sp>
        <p:nvSpPr>
          <p:cNvPr id="52234" name="直接连接符 52233"/>
          <p:cNvSpPr/>
          <p:nvPr/>
        </p:nvSpPr>
        <p:spPr>
          <a:xfrm>
            <a:off x="5257800" y="2438400"/>
            <a:ext cx="533400" cy="533400"/>
          </a:xfrm>
          <a:prstGeom prst="line">
            <a:avLst/>
          </a:prstGeom>
          <a:ln w="28575" cap="flat" cmpd="sng">
            <a:solidFill>
              <a:srgbClr val="FF0000"/>
            </a:solidFill>
            <a:prstDash val="solid"/>
            <a:headEnd type="none" w="med" len="med"/>
            <a:tailEnd type="triangle" w="med" len="med"/>
          </a:ln>
        </p:spPr>
      </p:sp>
      <p:graphicFrame>
        <p:nvGraphicFramePr>
          <p:cNvPr id="52235" name="对象 52234"/>
          <p:cNvGraphicFramePr/>
          <p:nvPr/>
        </p:nvGraphicFramePr>
        <p:xfrm>
          <a:off x="3429000" y="4495800"/>
          <a:ext cx="2705100" cy="1536700"/>
        </p:xfrm>
        <a:graphic>
          <a:graphicData uri="http://schemas.openxmlformats.org/presentationml/2006/ole">
            <mc:AlternateContent xmlns:mc="http://schemas.openxmlformats.org/markup-compatibility/2006">
              <mc:Choice xmlns:v="urn:schemas-microsoft-com:vml" Requires="v">
                <p:oleObj spid="_x0000_s3173" name="" r:id="rId5" imgW="2705100" imgH="1536700" progId="Equation.3">
                  <p:embed/>
                </p:oleObj>
              </mc:Choice>
              <mc:Fallback>
                <p:oleObj name="" r:id="rId5" imgW="2705100" imgH="1536700" progId="Equation.3">
                  <p:embed/>
                  <p:pic>
                    <p:nvPicPr>
                      <p:cNvPr id="0" name="图片 3172"/>
                      <p:cNvPicPr/>
                      <p:nvPr/>
                    </p:nvPicPr>
                    <p:blipFill>
                      <a:blip r:embed="rId6"/>
                      <a:stretch>
                        <a:fillRect/>
                      </a:stretch>
                    </p:blipFill>
                    <p:spPr>
                      <a:xfrm>
                        <a:off x="3429000" y="4495800"/>
                        <a:ext cx="2705100" cy="1536700"/>
                      </a:xfrm>
                      <a:prstGeom prst="rect">
                        <a:avLst/>
                      </a:prstGeom>
                      <a:noFill/>
                      <a:ln w="38100">
                        <a:noFill/>
                        <a:miter/>
                      </a:ln>
                    </p:spPr>
                  </p:pic>
                </p:oleObj>
              </mc:Fallback>
            </mc:AlternateContent>
          </a:graphicData>
        </a:graphic>
      </p:graphicFrame>
      <p:sp>
        <p:nvSpPr>
          <p:cNvPr id="52236" name="文本框 52235"/>
          <p:cNvSpPr txBox="1"/>
          <p:nvPr/>
        </p:nvSpPr>
        <p:spPr>
          <a:xfrm>
            <a:off x="1127125" y="4891088"/>
            <a:ext cx="542925" cy="519112"/>
          </a:xfrm>
          <a:prstGeom prst="rect">
            <a:avLst/>
          </a:prstGeom>
          <a:noFill/>
          <a:ln w="9525">
            <a:noFill/>
          </a:ln>
        </p:spPr>
        <p:txBody>
          <a:bodyPr wrap="none" anchor="t" anchorCtr="0">
            <a:spAutoFit/>
          </a:bodyPr>
          <a:p>
            <a:r>
              <a:rPr lang="zh-CN" altLang="en-US">
                <a:latin typeface="Times New Roman" panose="02020603050405020304" pitchFamily="18" charset="0"/>
              </a:rPr>
              <a:t>或</a:t>
            </a:r>
            <a:endParaRPr lang="zh-CN" altLang="en-US">
              <a:latin typeface="Times New Roman" panose="02020603050405020304" pitchFamily="18" charset="0"/>
            </a:endParaRPr>
          </a:p>
        </p:txBody>
      </p:sp>
      <p:sp>
        <p:nvSpPr>
          <p:cNvPr id="52237" name="矩形 52236"/>
          <p:cNvSpPr/>
          <p:nvPr/>
        </p:nvSpPr>
        <p:spPr>
          <a:xfrm>
            <a:off x="4114800" y="45720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grpSp>
        <p:nvGrpSpPr>
          <p:cNvPr id="52238" name="组合 52237"/>
          <p:cNvGrpSpPr/>
          <p:nvPr/>
        </p:nvGrpSpPr>
        <p:grpSpPr>
          <a:xfrm>
            <a:off x="2362200" y="4572000"/>
            <a:ext cx="1828800" cy="1511300"/>
            <a:chOff x="1488" y="2880"/>
            <a:chExt cx="1152" cy="952"/>
          </a:xfrm>
        </p:grpSpPr>
        <p:graphicFrame>
          <p:nvGraphicFramePr>
            <p:cNvPr id="52239" name="对象 52238"/>
            <p:cNvGraphicFramePr/>
            <p:nvPr/>
          </p:nvGraphicFramePr>
          <p:xfrm>
            <a:off x="1488" y="2880"/>
            <a:ext cx="440" cy="952"/>
          </p:xfrm>
          <a:graphic>
            <a:graphicData uri="http://schemas.openxmlformats.org/presentationml/2006/ole">
              <mc:AlternateContent xmlns:mc="http://schemas.openxmlformats.org/markup-compatibility/2006">
                <mc:Choice xmlns:v="urn:schemas-microsoft-com:vml" Requires="v">
                  <p:oleObj spid="_x0000_s3165" name="" r:id="rId7" imgW="698500" imgH="1511300" progId="Equation.3">
                    <p:embed/>
                  </p:oleObj>
                </mc:Choice>
                <mc:Fallback>
                  <p:oleObj name="" r:id="rId7" imgW="698500" imgH="1511300" progId="Equation.3">
                    <p:embed/>
                    <p:pic>
                      <p:nvPicPr>
                        <p:cNvPr id="0" name="图片 3164"/>
                        <p:cNvPicPr/>
                        <p:nvPr/>
                      </p:nvPicPr>
                      <p:blipFill>
                        <a:blip r:embed="rId8"/>
                        <a:stretch>
                          <a:fillRect/>
                        </a:stretch>
                      </p:blipFill>
                      <p:spPr>
                        <a:xfrm>
                          <a:off x="1488" y="2880"/>
                          <a:ext cx="440" cy="952"/>
                        </a:xfrm>
                        <a:prstGeom prst="rect">
                          <a:avLst/>
                        </a:prstGeom>
                        <a:noFill/>
                        <a:ln w="38100">
                          <a:noFill/>
                          <a:miter/>
                        </a:ln>
                      </p:spPr>
                    </p:pic>
                  </p:oleObj>
                </mc:Fallback>
              </mc:AlternateContent>
            </a:graphicData>
          </a:graphic>
        </p:graphicFrame>
        <p:sp>
          <p:nvSpPr>
            <p:cNvPr id="52240" name="上弧形箭头 52239"/>
            <p:cNvSpPr/>
            <p:nvPr/>
          </p:nvSpPr>
          <p:spPr>
            <a:xfrm>
              <a:off x="1872" y="2928"/>
              <a:ext cx="768" cy="96"/>
            </a:xfrm>
            <a:prstGeom prst="curvedDownArrow">
              <a:avLst>
                <a:gd name="adj1" fmla="val 160000"/>
                <a:gd name="adj2" fmla="val 320000"/>
                <a:gd name="adj3" fmla="val 33333"/>
              </a:avLst>
            </a:prstGeom>
            <a:solidFill>
              <a:srgbClr val="FF0000"/>
            </a:solidFill>
            <a:ln w="9525" cap="flat" cmpd="sng">
              <a:solidFill>
                <a:schemeClr val="tx1"/>
              </a:solidFill>
              <a:prstDash val="solid"/>
              <a:miter/>
              <a:headEnd type="none" w="med" len="med"/>
              <a:tailEnd type="none" w="med" len="med"/>
            </a:ln>
          </p:spPr>
          <p:txBody>
            <a:bodyPr/>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229"/>
                                        </p:tgtEl>
                                        <p:attrNameLst>
                                          <p:attrName>style.visibility</p:attrName>
                                        </p:attrNameLst>
                                      </p:cBhvr>
                                      <p:to>
                                        <p:strVal val="visible"/>
                                      </p:to>
                                    </p:set>
                                    <p:animEffect transition="in" filter="wipe(left)">
                                      <p:cBhvr>
                                        <p:cTn id="7" dur="500"/>
                                        <p:tgtEl>
                                          <p:spTgt spid="522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2230"/>
                                        </p:tgtEl>
                                        <p:attrNameLst>
                                          <p:attrName>style.visibility</p:attrName>
                                        </p:attrNameLst>
                                      </p:cBhvr>
                                      <p:to>
                                        <p:strVal val="visible"/>
                                      </p:to>
                                    </p:set>
                                    <p:animEffect transition="in" filter="wipe(left)">
                                      <p:cBhvr>
                                        <p:cTn id="12" dur="500"/>
                                        <p:tgtEl>
                                          <p:spTgt spid="522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2231"/>
                                        </p:tgtEl>
                                        <p:attrNameLst>
                                          <p:attrName>style.visibility</p:attrName>
                                        </p:attrNameLst>
                                      </p:cBhvr>
                                      <p:to>
                                        <p:strVal val="visible"/>
                                      </p:to>
                                    </p:set>
                                    <p:animEffect transition="in" filter="wipe(left)">
                                      <p:cBhvr>
                                        <p:cTn id="17" dur="500"/>
                                        <p:tgtEl>
                                          <p:spTgt spid="522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228"/>
                                        </p:tgtEl>
                                        <p:attrNameLst>
                                          <p:attrName>style.visibility</p:attrName>
                                        </p:attrNameLst>
                                      </p:cBhvr>
                                      <p:to>
                                        <p:strVal val="visible"/>
                                      </p:to>
                                    </p:set>
                                    <p:animEffect transition="in" filter="wipe(left)">
                                      <p:cBhvr>
                                        <p:cTn id="22" dur="500"/>
                                        <p:tgtEl>
                                          <p:spTgt spid="52228"/>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52227"/>
                                        </p:tgtEl>
                                        <p:attrNameLst>
                                          <p:attrName>style.visibility</p:attrName>
                                        </p:attrNameLst>
                                      </p:cBhvr>
                                      <p:to>
                                        <p:strVal val="visible"/>
                                      </p:to>
                                    </p:set>
                                    <p:animEffect transition="in" filter="wipe(left)">
                                      <p:cBhvr>
                                        <p:cTn id="26" dur="500"/>
                                        <p:tgtEl>
                                          <p:spTgt spid="5222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52232"/>
                                        </p:tgtEl>
                                        <p:attrNameLst>
                                          <p:attrName>style.visibility</p:attrName>
                                        </p:attrNameLst>
                                      </p:cBhvr>
                                      <p:to>
                                        <p:strVal val="visible"/>
                                      </p:to>
                                    </p:set>
                                    <p:animEffect transition="in" filter="wipe(right)">
                                      <p:cBhvr>
                                        <p:cTn id="31" dur="500"/>
                                        <p:tgtEl>
                                          <p:spTgt spid="5223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2233"/>
                                        </p:tgtEl>
                                        <p:attrNameLst>
                                          <p:attrName>style.visibility</p:attrName>
                                        </p:attrNameLst>
                                      </p:cBhvr>
                                      <p:to>
                                        <p:strVal val="visible"/>
                                      </p:to>
                                    </p:set>
                                    <p:animEffect transition="in" filter="wipe(left)">
                                      <p:cBhvr>
                                        <p:cTn id="36" dur="500"/>
                                        <p:tgtEl>
                                          <p:spTgt spid="5223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2234"/>
                                        </p:tgtEl>
                                        <p:attrNameLst>
                                          <p:attrName>style.visibility</p:attrName>
                                        </p:attrNameLst>
                                      </p:cBhvr>
                                      <p:to>
                                        <p:strVal val="visible"/>
                                      </p:to>
                                    </p:set>
                                    <p:animEffect transition="in" filter="wipe(left)">
                                      <p:cBhvr>
                                        <p:cTn id="41" dur="500"/>
                                        <p:tgtEl>
                                          <p:spTgt spid="5223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2236"/>
                                        </p:tgtEl>
                                        <p:attrNameLst>
                                          <p:attrName>style.visibility</p:attrName>
                                        </p:attrNameLst>
                                      </p:cBhvr>
                                      <p:to>
                                        <p:strVal val="visible"/>
                                      </p:to>
                                    </p:set>
                                    <p:animEffect transition="in" filter="wipe(left)">
                                      <p:cBhvr>
                                        <p:cTn id="46" dur="500"/>
                                        <p:tgtEl>
                                          <p:spTgt spid="5223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52235"/>
                                        </p:tgtEl>
                                        <p:attrNameLst>
                                          <p:attrName>style.visibility</p:attrName>
                                        </p:attrNameLst>
                                      </p:cBhvr>
                                      <p:to>
                                        <p:strVal val="visible"/>
                                      </p:to>
                                    </p:set>
                                    <p:animEffect transition="in" filter="wipe(left)">
                                      <p:cBhvr>
                                        <p:cTn id="51" dur="500"/>
                                        <p:tgtEl>
                                          <p:spTgt spid="5223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2237"/>
                                        </p:tgtEl>
                                        <p:attrNameLst>
                                          <p:attrName>style.visibility</p:attrName>
                                        </p:attrNameLst>
                                      </p:cBhvr>
                                      <p:to>
                                        <p:strVal val="visible"/>
                                      </p:to>
                                    </p:set>
                                    <p:animEffect transition="in" filter="wipe(left)">
                                      <p:cBhvr>
                                        <p:cTn id="56" dur="500"/>
                                        <p:tgtEl>
                                          <p:spTgt spid="5223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52238"/>
                                        </p:tgtEl>
                                        <p:attrNameLst>
                                          <p:attrName>style.visibility</p:attrName>
                                        </p:attrNameLst>
                                      </p:cBhvr>
                                      <p:to>
                                        <p:strVal val="visible"/>
                                      </p:to>
                                    </p:set>
                                    <p:animEffect transition="in" filter="wipe(left)">
                                      <p:cBhvr>
                                        <p:cTn id="61" dur="500"/>
                                        <p:tgtEl>
                                          <p:spTgt spid="52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p:bldP spid="5223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3250" name="对象 53249"/>
          <p:cNvGraphicFramePr/>
          <p:nvPr/>
        </p:nvGraphicFramePr>
        <p:xfrm>
          <a:off x="2438400" y="914400"/>
          <a:ext cx="3911600" cy="1536700"/>
        </p:xfrm>
        <a:graphic>
          <a:graphicData uri="http://schemas.openxmlformats.org/presentationml/2006/ole">
            <mc:AlternateContent xmlns:mc="http://schemas.openxmlformats.org/markup-compatibility/2006">
              <mc:Choice xmlns:v="urn:schemas-microsoft-com:vml" Requires="v">
                <p:oleObj spid="_x0000_s3178" name="" r:id="rId1" imgW="3911600" imgH="1536700" progId="Equation.3">
                  <p:embed/>
                </p:oleObj>
              </mc:Choice>
              <mc:Fallback>
                <p:oleObj name="" r:id="rId1" imgW="3911600" imgH="1536700" progId="Equation.3">
                  <p:embed/>
                  <p:pic>
                    <p:nvPicPr>
                      <p:cNvPr id="0" name="图片 3177"/>
                      <p:cNvPicPr/>
                      <p:nvPr/>
                    </p:nvPicPr>
                    <p:blipFill>
                      <a:blip r:embed="rId2"/>
                      <a:stretch>
                        <a:fillRect/>
                      </a:stretch>
                    </p:blipFill>
                    <p:spPr>
                      <a:xfrm>
                        <a:off x="2438400" y="914400"/>
                        <a:ext cx="3911600" cy="1536700"/>
                      </a:xfrm>
                      <a:prstGeom prst="rect">
                        <a:avLst/>
                      </a:prstGeom>
                      <a:noFill/>
                      <a:ln w="38100">
                        <a:noFill/>
                        <a:miter/>
                      </a:ln>
                    </p:spPr>
                  </p:pic>
                </p:oleObj>
              </mc:Fallback>
            </mc:AlternateContent>
          </a:graphicData>
        </a:graphic>
      </p:graphicFrame>
      <p:graphicFrame>
        <p:nvGraphicFramePr>
          <p:cNvPr id="53251" name="对象 53250"/>
          <p:cNvGraphicFramePr/>
          <p:nvPr/>
        </p:nvGraphicFramePr>
        <p:xfrm>
          <a:off x="3429000" y="2895600"/>
          <a:ext cx="2781300" cy="1536700"/>
        </p:xfrm>
        <a:graphic>
          <a:graphicData uri="http://schemas.openxmlformats.org/presentationml/2006/ole">
            <mc:AlternateContent xmlns:mc="http://schemas.openxmlformats.org/markup-compatibility/2006">
              <mc:Choice xmlns:v="urn:schemas-microsoft-com:vml" Requires="v">
                <p:oleObj spid="_x0000_s3181" name="" r:id="rId3" imgW="2781300" imgH="1536700" progId="Equation.3">
                  <p:embed/>
                </p:oleObj>
              </mc:Choice>
              <mc:Fallback>
                <p:oleObj name="" r:id="rId3" imgW="2781300" imgH="1536700" progId="Equation.3">
                  <p:embed/>
                  <p:pic>
                    <p:nvPicPr>
                      <p:cNvPr id="0" name="图片 3180"/>
                      <p:cNvPicPr/>
                      <p:nvPr/>
                    </p:nvPicPr>
                    <p:blipFill>
                      <a:blip r:embed="rId4"/>
                      <a:stretch>
                        <a:fillRect/>
                      </a:stretch>
                    </p:blipFill>
                    <p:spPr>
                      <a:xfrm>
                        <a:off x="3429000" y="2895600"/>
                        <a:ext cx="2781300" cy="1536700"/>
                      </a:xfrm>
                      <a:prstGeom prst="rect">
                        <a:avLst/>
                      </a:prstGeom>
                      <a:noFill/>
                      <a:ln w="38100">
                        <a:noFill/>
                        <a:miter/>
                      </a:ln>
                    </p:spPr>
                  </p:pic>
                </p:oleObj>
              </mc:Fallback>
            </mc:AlternateContent>
          </a:graphicData>
        </a:graphic>
      </p:graphicFrame>
      <p:sp>
        <p:nvSpPr>
          <p:cNvPr id="53252" name="矩形 53251"/>
          <p:cNvSpPr/>
          <p:nvPr/>
        </p:nvSpPr>
        <p:spPr>
          <a:xfrm>
            <a:off x="1066800" y="3352800"/>
            <a:ext cx="542925" cy="519113"/>
          </a:xfrm>
          <a:prstGeom prst="rect">
            <a:avLst/>
          </a:prstGeom>
          <a:noFill/>
          <a:ln w="9525">
            <a:noFill/>
          </a:ln>
        </p:spPr>
        <p:txBody>
          <a:bodyPr wrap="none" anchor="t" anchorCtr="0">
            <a:spAutoFit/>
          </a:bodyPr>
          <a:p>
            <a:r>
              <a:rPr lang="zh-CN" altLang="en-US" dirty="0">
                <a:latin typeface="Times New Roman" panose="02020603050405020304" pitchFamily="18" charset="0"/>
              </a:rPr>
              <a:t>记</a:t>
            </a:r>
            <a:endParaRPr lang="zh-CN" altLang="en-US" dirty="0">
              <a:latin typeface="Times New Roman" panose="02020603050405020304" pitchFamily="18" charset="0"/>
            </a:endParaRPr>
          </a:p>
        </p:txBody>
      </p:sp>
      <p:sp>
        <p:nvSpPr>
          <p:cNvPr id="53253" name="矩形 53252"/>
          <p:cNvSpPr/>
          <p:nvPr/>
        </p:nvSpPr>
        <p:spPr>
          <a:xfrm>
            <a:off x="5867400" y="9906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sp>
        <p:nvSpPr>
          <p:cNvPr id="53254" name="矩形 53253"/>
          <p:cNvSpPr/>
          <p:nvPr/>
        </p:nvSpPr>
        <p:spPr>
          <a:xfrm>
            <a:off x="3657600" y="9906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sp>
        <p:nvSpPr>
          <p:cNvPr id="53255" name="矩形 53254"/>
          <p:cNvSpPr/>
          <p:nvPr/>
        </p:nvSpPr>
        <p:spPr>
          <a:xfrm>
            <a:off x="4800600" y="9906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sp>
        <p:nvSpPr>
          <p:cNvPr id="53256" name="任意多边形 53255"/>
          <p:cNvSpPr/>
          <p:nvPr/>
        </p:nvSpPr>
        <p:spPr>
          <a:xfrm>
            <a:off x="4419600" y="2438400"/>
            <a:ext cx="1447800" cy="533400"/>
          </a:xfrm>
          <a:custGeom>
            <a:avLst/>
            <a:gdLst/>
            <a:ahLst/>
            <a:cxnLst/>
            <a:pathLst>
              <a:path w="912" h="336">
                <a:moveTo>
                  <a:pt x="912" y="0"/>
                </a:moveTo>
                <a:cubicBezTo>
                  <a:pt x="748" y="44"/>
                  <a:pt x="584" y="88"/>
                  <a:pt x="432" y="144"/>
                </a:cubicBezTo>
                <a:cubicBezTo>
                  <a:pt x="280" y="200"/>
                  <a:pt x="72" y="304"/>
                  <a:pt x="0" y="336"/>
                </a:cubicBezTo>
              </a:path>
            </a:pathLst>
          </a:custGeom>
          <a:noFill/>
          <a:ln w="28575" cap="flat" cmpd="sng">
            <a:solidFill>
              <a:srgbClr val="FF0000"/>
            </a:solidFill>
            <a:prstDash val="solid"/>
            <a:headEnd type="none" w="med" len="med"/>
            <a:tailEnd type="triangle" w="med" len="med"/>
          </a:ln>
        </p:spPr>
        <p:txBody>
          <a:bodyPr/>
          <a:p>
            <a:endParaRPr lang="zh-CN" altLang="en-US"/>
          </a:p>
        </p:txBody>
      </p:sp>
      <p:sp>
        <p:nvSpPr>
          <p:cNvPr id="53257" name="直接连接符 53256"/>
          <p:cNvSpPr/>
          <p:nvPr/>
        </p:nvSpPr>
        <p:spPr>
          <a:xfrm>
            <a:off x="4114800" y="2514600"/>
            <a:ext cx="838200" cy="457200"/>
          </a:xfrm>
          <a:prstGeom prst="line">
            <a:avLst/>
          </a:prstGeom>
          <a:ln w="28575" cap="flat" cmpd="sng">
            <a:solidFill>
              <a:srgbClr val="FF0000"/>
            </a:solidFill>
            <a:prstDash val="solid"/>
            <a:headEnd type="none" w="med" len="med"/>
            <a:tailEnd type="triangle" w="med" len="med"/>
          </a:ln>
        </p:spPr>
      </p:sp>
      <p:sp>
        <p:nvSpPr>
          <p:cNvPr id="53258" name="直接连接符 53257"/>
          <p:cNvSpPr/>
          <p:nvPr/>
        </p:nvSpPr>
        <p:spPr>
          <a:xfrm>
            <a:off x="5257800" y="2438400"/>
            <a:ext cx="533400" cy="533400"/>
          </a:xfrm>
          <a:prstGeom prst="line">
            <a:avLst/>
          </a:prstGeom>
          <a:ln w="28575" cap="flat" cmpd="sng">
            <a:solidFill>
              <a:srgbClr val="FF0000"/>
            </a:solidFill>
            <a:prstDash val="solid"/>
            <a:headEnd type="none" w="med" len="med"/>
            <a:tailEnd type="triangle" w="med" len="med"/>
          </a:ln>
        </p:spPr>
      </p:sp>
      <p:graphicFrame>
        <p:nvGraphicFramePr>
          <p:cNvPr id="53259" name="对象 53258"/>
          <p:cNvGraphicFramePr/>
          <p:nvPr/>
        </p:nvGraphicFramePr>
        <p:xfrm>
          <a:off x="3429000" y="4572000"/>
          <a:ext cx="2781300" cy="1536700"/>
        </p:xfrm>
        <a:graphic>
          <a:graphicData uri="http://schemas.openxmlformats.org/presentationml/2006/ole">
            <mc:AlternateContent xmlns:mc="http://schemas.openxmlformats.org/markup-compatibility/2006">
              <mc:Choice xmlns:v="urn:schemas-microsoft-com:vml" Requires="v">
                <p:oleObj spid="_x0000_s3182" name="" r:id="rId5" imgW="2781300" imgH="1536700" progId="Equation.3">
                  <p:embed/>
                </p:oleObj>
              </mc:Choice>
              <mc:Fallback>
                <p:oleObj name="" r:id="rId5" imgW="2781300" imgH="1536700" progId="Equation.3">
                  <p:embed/>
                  <p:pic>
                    <p:nvPicPr>
                      <p:cNvPr id="0" name="图片 3181"/>
                      <p:cNvPicPr/>
                      <p:nvPr/>
                    </p:nvPicPr>
                    <p:blipFill>
                      <a:blip r:embed="rId4"/>
                      <a:stretch>
                        <a:fillRect/>
                      </a:stretch>
                    </p:blipFill>
                    <p:spPr>
                      <a:xfrm>
                        <a:off x="3429000" y="4572000"/>
                        <a:ext cx="2781300" cy="1536700"/>
                      </a:xfrm>
                      <a:prstGeom prst="rect">
                        <a:avLst/>
                      </a:prstGeom>
                      <a:noFill/>
                      <a:ln w="38100">
                        <a:noFill/>
                        <a:miter/>
                      </a:ln>
                    </p:spPr>
                  </p:pic>
                </p:oleObj>
              </mc:Fallback>
            </mc:AlternateContent>
          </a:graphicData>
        </a:graphic>
      </p:graphicFrame>
      <p:sp>
        <p:nvSpPr>
          <p:cNvPr id="53260" name="矩形 53259"/>
          <p:cNvSpPr/>
          <p:nvPr/>
        </p:nvSpPr>
        <p:spPr>
          <a:xfrm>
            <a:off x="1143000" y="4953000"/>
            <a:ext cx="542925" cy="519113"/>
          </a:xfrm>
          <a:prstGeom prst="rect">
            <a:avLst/>
          </a:prstGeom>
          <a:noFill/>
          <a:ln w="9525">
            <a:noFill/>
          </a:ln>
        </p:spPr>
        <p:txBody>
          <a:bodyPr wrap="none" anchor="t" anchorCtr="0">
            <a:spAutoFit/>
          </a:bodyPr>
          <a:p>
            <a:r>
              <a:rPr lang="zh-CN" altLang="en-US" dirty="0">
                <a:latin typeface="Times New Roman" panose="02020603050405020304" pitchFamily="18" charset="0"/>
              </a:rPr>
              <a:t>即</a:t>
            </a:r>
            <a:endParaRPr lang="zh-CN" altLang="en-US" dirty="0">
              <a:latin typeface="Times New Roman" panose="02020603050405020304" pitchFamily="18"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4274" name="对象 54273"/>
          <p:cNvGraphicFramePr/>
          <p:nvPr/>
        </p:nvGraphicFramePr>
        <p:xfrm>
          <a:off x="990600" y="990600"/>
          <a:ext cx="3911600" cy="1536700"/>
        </p:xfrm>
        <a:graphic>
          <a:graphicData uri="http://schemas.openxmlformats.org/presentationml/2006/ole">
            <mc:AlternateContent xmlns:mc="http://schemas.openxmlformats.org/markup-compatibility/2006">
              <mc:Choice xmlns:v="urn:schemas-microsoft-com:vml" Requires="v">
                <p:oleObj spid="_x0000_s3180" name="" r:id="rId1" imgW="3911600" imgH="1536700" progId="Equation.3">
                  <p:embed/>
                </p:oleObj>
              </mc:Choice>
              <mc:Fallback>
                <p:oleObj name="" r:id="rId1" imgW="3911600" imgH="1536700" progId="Equation.3">
                  <p:embed/>
                  <p:pic>
                    <p:nvPicPr>
                      <p:cNvPr id="0" name="图片 3179"/>
                      <p:cNvPicPr/>
                      <p:nvPr/>
                    </p:nvPicPr>
                    <p:blipFill>
                      <a:blip r:embed="rId2"/>
                      <a:stretch>
                        <a:fillRect/>
                      </a:stretch>
                    </p:blipFill>
                    <p:spPr>
                      <a:xfrm>
                        <a:off x="990600" y="990600"/>
                        <a:ext cx="3911600" cy="1536700"/>
                      </a:xfrm>
                      <a:prstGeom prst="rect">
                        <a:avLst/>
                      </a:prstGeom>
                      <a:noFill/>
                      <a:ln w="38100">
                        <a:noFill/>
                        <a:miter/>
                      </a:ln>
                    </p:spPr>
                  </p:pic>
                </p:oleObj>
              </mc:Fallback>
            </mc:AlternateContent>
          </a:graphicData>
        </a:graphic>
      </p:graphicFrame>
      <p:graphicFrame>
        <p:nvGraphicFramePr>
          <p:cNvPr id="54275" name="对象 54274"/>
          <p:cNvGraphicFramePr/>
          <p:nvPr/>
        </p:nvGraphicFramePr>
        <p:xfrm>
          <a:off x="3048000" y="2971800"/>
          <a:ext cx="2705100" cy="1536700"/>
        </p:xfrm>
        <a:graphic>
          <a:graphicData uri="http://schemas.openxmlformats.org/presentationml/2006/ole">
            <mc:AlternateContent xmlns:mc="http://schemas.openxmlformats.org/markup-compatibility/2006">
              <mc:Choice xmlns:v="urn:schemas-microsoft-com:vml" Requires="v">
                <p:oleObj spid="_x0000_s3177" name="" r:id="rId3" imgW="2705100" imgH="1536700" progId="Equation.3">
                  <p:embed/>
                </p:oleObj>
              </mc:Choice>
              <mc:Fallback>
                <p:oleObj name="" r:id="rId3" imgW="2705100" imgH="1536700" progId="Equation.3">
                  <p:embed/>
                  <p:pic>
                    <p:nvPicPr>
                      <p:cNvPr id="0" name="图片 3176"/>
                      <p:cNvPicPr/>
                      <p:nvPr/>
                    </p:nvPicPr>
                    <p:blipFill>
                      <a:blip r:embed="rId4"/>
                      <a:stretch>
                        <a:fillRect/>
                      </a:stretch>
                    </p:blipFill>
                    <p:spPr>
                      <a:xfrm>
                        <a:off x="3048000" y="2971800"/>
                        <a:ext cx="2705100" cy="1536700"/>
                      </a:xfrm>
                      <a:prstGeom prst="rect">
                        <a:avLst/>
                      </a:prstGeom>
                      <a:noFill/>
                      <a:ln w="38100">
                        <a:noFill/>
                        <a:miter/>
                      </a:ln>
                    </p:spPr>
                  </p:pic>
                </p:oleObj>
              </mc:Fallback>
            </mc:AlternateContent>
          </a:graphicData>
        </a:graphic>
      </p:graphicFrame>
      <p:sp>
        <p:nvSpPr>
          <p:cNvPr id="54276" name="矩形 54275"/>
          <p:cNvSpPr/>
          <p:nvPr/>
        </p:nvSpPr>
        <p:spPr>
          <a:xfrm>
            <a:off x="4419600" y="10668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sp>
        <p:nvSpPr>
          <p:cNvPr id="54277" name="矩形 54276"/>
          <p:cNvSpPr/>
          <p:nvPr/>
        </p:nvSpPr>
        <p:spPr>
          <a:xfrm>
            <a:off x="4495800" y="30480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sp>
        <p:nvSpPr>
          <p:cNvPr id="54278" name="下箭头 54277"/>
          <p:cNvSpPr/>
          <p:nvPr/>
        </p:nvSpPr>
        <p:spPr>
          <a:xfrm>
            <a:off x="4572000" y="2667000"/>
            <a:ext cx="304800" cy="304800"/>
          </a:xfrm>
          <a:prstGeom prst="downArrow">
            <a:avLst>
              <a:gd name="adj1" fmla="val 50000"/>
              <a:gd name="adj2" fmla="val 25000"/>
            </a:avLst>
          </a:prstGeom>
          <a:solidFill>
            <a:srgbClr val="FF0000"/>
          </a:solidFill>
          <a:ln w="9525" cap="flat" cmpd="sng">
            <a:solidFill>
              <a:srgbClr val="FF0000"/>
            </a:solidFill>
            <a:prstDash val="solid"/>
            <a:miter/>
            <a:headEnd type="none" w="med" len="med"/>
            <a:tailEnd type="none" w="med" len="med"/>
          </a:ln>
        </p:spPr>
        <p:txBody>
          <a:bodyPr/>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4276"/>
                                        </p:tgtEl>
                                        <p:attrNameLst>
                                          <p:attrName>style.visibility</p:attrName>
                                        </p:attrNameLst>
                                      </p:cBhvr>
                                      <p:to>
                                        <p:strVal val="visible"/>
                                      </p:to>
                                    </p:set>
                                    <p:animEffect transition="in" filter="wipe(left)">
                                      <p:cBhvr>
                                        <p:cTn id="7" dur="500"/>
                                        <p:tgtEl>
                                          <p:spTgt spid="542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4275"/>
                                        </p:tgtEl>
                                        <p:attrNameLst>
                                          <p:attrName>style.visibility</p:attrName>
                                        </p:attrNameLst>
                                      </p:cBhvr>
                                      <p:to>
                                        <p:strVal val="visible"/>
                                      </p:to>
                                    </p:set>
                                    <p:animEffect transition="in" filter="wipe(left)">
                                      <p:cBhvr>
                                        <p:cTn id="12" dur="500"/>
                                        <p:tgtEl>
                                          <p:spTgt spid="542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4277"/>
                                        </p:tgtEl>
                                        <p:attrNameLst>
                                          <p:attrName>style.visibility</p:attrName>
                                        </p:attrNameLst>
                                      </p:cBhvr>
                                      <p:to>
                                        <p:strVal val="visible"/>
                                      </p:to>
                                    </p:set>
                                    <p:animEffect transition="in" filter="wipe(left)">
                                      <p:cBhvr>
                                        <p:cTn id="17" dur="500"/>
                                        <p:tgtEl>
                                          <p:spTgt spid="5427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4278"/>
                                        </p:tgtEl>
                                        <p:attrNameLst>
                                          <p:attrName>style.visibility</p:attrName>
                                        </p:attrNameLst>
                                      </p:cBhvr>
                                      <p:to>
                                        <p:strVal val="visible"/>
                                      </p:to>
                                    </p:set>
                                    <p:animEffect transition="in" filter="wipe(up)">
                                      <p:cBhvr>
                                        <p:cTn id="22" dur="500"/>
                                        <p:tgtEl>
                                          <p:spTgt spid="54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5298" name="对象 55297"/>
          <p:cNvGraphicFramePr/>
          <p:nvPr/>
        </p:nvGraphicFramePr>
        <p:xfrm>
          <a:off x="1143000" y="762000"/>
          <a:ext cx="3911600" cy="1536700"/>
        </p:xfrm>
        <a:graphic>
          <a:graphicData uri="http://schemas.openxmlformats.org/presentationml/2006/ole">
            <mc:AlternateContent xmlns:mc="http://schemas.openxmlformats.org/markup-compatibility/2006">
              <mc:Choice xmlns:v="urn:schemas-microsoft-com:vml" Requires="v">
                <p:oleObj spid="_x0000_s3176" name="" r:id="rId1" imgW="3911600" imgH="1536700" progId="Equation.3">
                  <p:embed/>
                </p:oleObj>
              </mc:Choice>
              <mc:Fallback>
                <p:oleObj name="" r:id="rId1" imgW="3911600" imgH="1536700" progId="Equation.3">
                  <p:embed/>
                  <p:pic>
                    <p:nvPicPr>
                      <p:cNvPr id="0" name="图片 3175"/>
                      <p:cNvPicPr/>
                      <p:nvPr/>
                    </p:nvPicPr>
                    <p:blipFill>
                      <a:blip r:embed="rId2"/>
                      <a:stretch>
                        <a:fillRect/>
                      </a:stretch>
                    </p:blipFill>
                    <p:spPr>
                      <a:xfrm>
                        <a:off x="1143000" y="762000"/>
                        <a:ext cx="3911600" cy="1536700"/>
                      </a:xfrm>
                      <a:prstGeom prst="rect">
                        <a:avLst/>
                      </a:prstGeom>
                      <a:noFill/>
                      <a:ln w="38100">
                        <a:noFill/>
                        <a:miter/>
                      </a:ln>
                    </p:spPr>
                  </p:pic>
                </p:oleObj>
              </mc:Fallback>
            </mc:AlternateContent>
          </a:graphicData>
        </a:graphic>
      </p:graphicFrame>
      <p:sp>
        <p:nvSpPr>
          <p:cNvPr id="55299" name="矩形 55298"/>
          <p:cNvSpPr/>
          <p:nvPr/>
        </p:nvSpPr>
        <p:spPr>
          <a:xfrm>
            <a:off x="4572000" y="8382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graphicFrame>
        <p:nvGraphicFramePr>
          <p:cNvPr id="55300" name="对象 55299"/>
          <p:cNvGraphicFramePr/>
          <p:nvPr/>
        </p:nvGraphicFramePr>
        <p:xfrm>
          <a:off x="2590800" y="2590800"/>
          <a:ext cx="2794000" cy="1536700"/>
        </p:xfrm>
        <a:graphic>
          <a:graphicData uri="http://schemas.openxmlformats.org/presentationml/2006/ole">
            <mc:AlternateContent xmlns:mc="http://schemas.openxmlformats.org/markup-compatibility/2006">
              <mc:Choice xmlns:v="urn:schemas-microsoft-com:vml" Requires="v">
                <p:oleObj spid="_x0000_s3179" name="" r:id="rId3" imgW="2794000" imgH="1536700" progId="Equation.3">
                  <p:embed/>
                </p:oleObj>
              </mc:Choice>
              <mc:Fallback>
                <p:oleObj name="" r:id="rId3" imgW="2794000" imgH="1536700" progId="Equation.3">
                  <p:embed/>
                  <p:pic>
                    <p:nvPicPr>
                      <p:cNvPr id="0" name="图片 3178"/>
                      <p:cNvPicPr/>
                      <p:nvPr/>
                    </p:nvPicPr>
                    <p:blipFill>
                      <a:blip r:embed="rId4"/>
                      <a:stretch>
                        <a:fillRect/>
                      </a:stretch>
                    </p:blipFill>
                    <p:spPr>
                      <a:xfrm>
                        <a:off x="2590800" y="2590800"/>
                        <a:ext cx="2794000" cy="1536700"/>
                      </a:xfrm>
                      <a:prstGeom prst="rect">
                        <a:avLst/>
                      </a:prstGeom>
                      <a:noFill/>
                      <a:ln w="38100">
                        <a:noFill/>
                        <a:miter/>
                      </a:ln>
                    </p:spPr>
                  </p:pic>
                </p:oleObj>
              </mc:Fallback>
            </mc:AlternateContent>
          </a:graphicData>
        </a:graphic>
      </p:graphicFrame>
      <p:sp>
        <p:nvSpPr>
          <p:cNvPr id="55301" name="文本框 55300"/>
          <p:cNvSpPr txBox="1"/>
          <p:nvPr/>
        </p:nvSpPr>
        <p:spPr>
          <a:xfrm>
            <a:off x="1371600" y="3048000"/>
            <a:ext cx="542925" cy="519113"/>
          </a:xfrm>
          <a:prstGeom prst="rect">
            <a:avLst/>
          </a:prstGeom>
          <a:noFill/>
          <a:ln w="9525">
            <a:noFill/>
          </a:ln>
        </p:spPr>
        <p:txBody>
          <a:bodyPr wrap="none" anchor="t" anchorCtr="0">
            <a:spAutoFit/>
          </a:bodyPr>
          <a:p>
            <a:r>
              <a:rPr lang="zh-CN" altLang="en-US">
                <a:latin typeface="Times New Roman" panose="02020603050405020304" pitchFamily="18" charset="0"/>
              </a:rPr>
              <a:t>得</a:t>
            </a:r>
            <a:endParaRPr lang="zh-CN" altLang="en-US">
              <a:latin typeface="Times New Roman" panose="02020603050405020304" pitchFamily="18" charset="0"/>
            </a:endParaRPr>
          </a:p>
        </p:txBody>
      </p:sp>
      <p:graphicFrame>
        <p:nvGraphicFramePr>
          <p:cNvPr id="55302" name="对象 55301"/>
          <p:cNvGraphicFramePr/>
          <p:nvPr/>
        </p:nvGraphicFramePr>
        <p:xfrm>
          <a:off x="914400" y="4419600"/>
          <a:ext cx="3911600" cy="1536700"/>
        </p:xfrm>
        <a:graphic>
          <a:graphicData uri="http://schemas.openxmlformats.org/presentationml/2006/ole">
            <mc:AlternateContent xmlns:mc="http://schemas.openxmlformats.org/markup-compatibility/2006">
              <mc:Choice xmlns:v="urn:schemas-microsoft-com:vml" Requires="v">
                <p:oleObj spid="_x0000_s3175" name="" r:id="rId5" imgW="3911600" imgH="1536700" progId="Equation.3">
                  <p:embed/>
                </p:oleObj>
              </mc:Choice>
              <mc:Fallback>
                <p:oleObj name="" r:id="rId5" imgW="3911600" imgH="1536700" progId="Equation.3">
                  <p:embed/>
                  <p:pic>
                    <p:nvPicPr>
                      <p:cNvPr id="0" name="图片 3174"/>
                      <p:cNvPicPr/>
                      <p:nvPr/>
                    </p:nvPicPr>
                    <p:blipFill>
                      <a:blip r:embed="rId2"/>
                      <a:stretch>
                        <a:fillRect/>
                      </a:stretch>
                    </p:blipFill>
                    <p:spPr>
                      <a:xfrm>
                        <a:off x="914400" y="4419600"/>
                        <a:ext cx="3911600" cy="1536700"/>
                      </a:xfrm>
                      <a:prstGeom prst="rect">
                        <a:avLst/>
                      </a:prstGeom>
                      <a:noFill/>
                      <a:ln w="38100">
                        <a:noFill/>
                        <a:miter/>
                      </a:ln>
                    </p:spPr>
                  </p:pic>
                </p:oleObj>
              </mc:Fallback>
            </mc:AlternateContent>
          </a:graphicData>
        </a:graphic>
      </p:graphicFrame>
      <p:sp>
        <p:nvSpPr>
          <p:cNvPr id="55303" name="矩形 55302"/>
          <p:cNvSpPr/>
          <p:nvPr/>
        </p:nvSpPr>
        <p:spPr>
          <a:xfrm>
            <a:off x="4343400" y="44958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graphicFrame>
        <p:nvGraphicFramePr>
          <p:cNvPr id="55304" name="对象 55303"/>
          <p:cNvGraphicFramePr/>
          <p:nvPr/>
        </p:nvGraphicFramePr>
        <p:xfrm>
          <a:off x="5562600" y="4419600"/>
          <a:ext cx="2705100" cy="1536700"/>
        </p:xfrm>
        <a:graphic>
          <a:graphicData uri="http://schemas.openxmlformats.org/presentationml/2006/ole">
            <mc:AlternateContent xmlns:mc="http://schemas.openxmlformats.org/markup-compatibility/2006">
              <mc:Choice xmlns:v="urn:schemas-microsoft-com:vml" Requires="v">
                <p:oleObj spid="_x0000_s3174" name="" r:id="rId6" imgW="2705100" imgH="1536700" progId="Equation.3">
                  <p:embed/>
                </p:oleObj>
              </mc:Choice>
              <mc:Fallback>
                <p:oleObj name="" r:id="rId6" imgW="2705100" imgH="1536700" progId="Equation.3">
                  <p:embed/>
                  <p:pic>
                    <p:nvPicPr>
                      <p:cNvPr id="0" name="图片 3173"/>
                      <p:cNvPicPr/>
                      <p:nvPr/>
                    </p:nvPicPr>
                    <p:blipFill>
                      <a:blip r:embed="rId7"/>
                      <a:stretch>
                        <a:fillRect/>
                      </a:stretch>
                    </p:blipFill>
                    <p:spPr>
                      <a:xfrm>
                        <a:off x="5562600" y="4419600"/>
                        <a:ext cx="2705100" cy="1536700"/>
                      </a:xfrm>
                      <a:prstGeom prst="rect">
                        <a:avLst/>
                      </a:prstGeom>
                      <a:noFill/>
                      <a:ln w="38100">
                        <a:noFill/>
                        <a:miter/>
                      </a:ln>
                    </p:spPr>
                  </p:pic>
                </p:oleObj>
              </mc:Fallback>
            </mc:AlternateContent>
          </a:graphicData>
        </a:graphic>
      </p:graphicFrame>
      <p:sp>
        <p:nvSpPr>
          <p:cNvPr id="55305" name="矩形 55304"/>
          <p:cNvSpPr/>
          <p:nvPr/>
        </p:nvSpPr>
        <p:spPr>
          <a:xfrm>
            <a:off x="7772400" y="44958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sp>
        <p:nvSpPr>
          <p:cNvPr id="55306" name="任意多边形 55305"/>
          <p:cNvSpPr/>
          <p:nvPr/>
        </p:nvSpPr>
        <p:spPr>
          <a:xfrm>
            <a:off x="4876800" y="3962400"/>
            <a:ext cx="3200400" cy="800100"/>
          </a:xfrm>
          <a:custGeom>
            <a:avLst/>
            <a:gdLst/>
            <a:ahLst/>
            <a:cxnLst/>
            <a:pathLst>
              <a:path w="2016" h="504">
                <a:moveTo>
                  <a:pt x="0" y="504"/>
                </a:moveTo>
                <a:cubicBezTo>
                  <a:pt x="288" y="276"/>
                  <a:pt x="576" y="48"/>
                  <a:pt x="912" y="24"/>
                </a:cubicBezTo>
                <a:cubicBezTo>
                  <a:pt x="1248" y="0"/>
                  <a:pt x="1832" y="304"/>
                  <a:pt x="2016" y="360"/>
                </a:cubicBezTo>
              </a:path>
            </a:pathLst>
          </a:custGeom>
          <a:noFill/>
          <a:ln w="28575" cap="flat" cmpd="sng">
            <a:solidFill>
              <a:srgbClr val="FF0000"/>
            </a:solidFill>
            <a:prstDash val="solid"/>
            <a:headEnd type="none" w="med" len="med"/>
            <a:tailEnd type="triangle" w="med" len="med"/>
          </a:ln>
        </p:spPr>
        <p:txBody>
          <a:bodyPr/>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5302"/>
                                        </p:tgtEl>
                                        <p:attrNameLst>
                                          <p:attrName>style.visibility</p:attrName>
                                        </p:attrNameLst>
                                      </p:cBhvr>
                                      <p:to>
                                        <p:strVal val="visible"/>
                                      </p:to>
                                    </p:set>
                                    <p:animEffect transition="in" filter="wipe(left)">
                                      <p:cBhvr>
                                        <p:cTn id="7" dur="500"/>
                                        <p:tgtEl>
                                          <p:spTgt spid="553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5303"/>
                                        </p:tgtEl>
                                        <p:attrNameLst>
                                          <p:attrName>style.visibility</p:attrName>
                                        </p:attrNameLst>
                                      </p:cBhvr>
                                      <p:to>
                                        <p:strVal val="visible"/>
                                      </p:to>
                                    </p:set>
                                    <p:animEffect transition="in" filter="wipe(left)">
                                      <p:cBhvr>
                                        <p:cTn id="12" dur="500"/>
                                        <p:tgtEl>
                                          <p:spTgt spid="553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5304"/>
                                        </p:tgtEl>
                                        <p:attrNameLst>
                                          <p:attrName>style.visibility</p:attrName>
                                        </p:attrNameLst>
                                      </p:cBhvr>
                                      <p:to>
                                        <p:strVal val="visible"/>
                                      </p:to>
                                    </p:set>
                                    <p:animEffect transition="in" filter="wipe(left)">
                                      <p:cBhvr>
                                        <p:cTn id="17" dur="500"/>
                                        <p:tgtEl>
                                          <p:spTgt spid="553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5305"/>
                                        </p:tgtEl>
                                        <p:attrNameLst>
                                          <p:attrName>style.visibility</p:attrName>
                                        </p:attrNameLst>
                                      </p:cBhvr>
                                      <p:to>
                                        <p:strVal val="visible"/>
                                      </p:to>
                                    </p:set>
                                    <p:animEffect transition="in" filter="wipe(left)">
                                      <p:cBhvr>
                                        <p:cTn id="22" dur="500"/>
                                        <p:tgtEl>
                                          <p:spTgt spid="553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5306"/>
                                        </p:tgtEl>
                                        <p:attrNameLst>
                                          <p:attrName>style.visibility</p:attrName>
                                        </p:attrNameLst>
                                      </p:cBhvr>
                                      <p:to>
                                        <p:strVal val="visible"/>
                                      </p:to>
                                    </p:set>
                                    <p:animEffect transition="in" filter="wipe(left)">
                                      <p:cBhvr>
                                        <p:cTn id="27" dur="500"/>
                                        <p:tgtEl>
                                          <p:spTgt spid="55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6322" name="对象 56321"/>
          <p:cNvGraphicFramePr/>
          <p:nvPr/>
        </p:nvGraphicFramePr>
        <p:xfrm>
          <a:off x="2195830" y="770255"/>
          <a:ext cx="2738120" cy="1555750"/>
        </p:xfrm>
        <a:graphic>
          <a:graphicData uri="http://schemas.openxmlformats.org/presentationml/2006/ole">
            <mc:AlternateContent xmlns:mc="http://schemas.openxmlformats.org/markup-compatibility/2006">
              <mc:Choice xmlns:v="urn:schemas-microsoft-com:vml" Requires="v">
                <p:oleObj spid="_x0000_s3184" name="" r:id="rId1" imgW="1612900" imgH="711200" progId="Equation.3">
                  <p:embed/>
                </p:oleObj>
              </mc:Choice>
              <mc:Fallback>
                <p:oleObj name="" r:id="rId1" imgW="1612900" imgH="711200" progId="Equation.3">
                  <p:embed/>
                  <p:pic>
                    <p:nvPicPr>
                      <p:cNvPr id="0" name="图片 3183"/>
                      <p:cNvPicPr/>
                      <p:nvPr/>
                    </p:nvPicPr>
                    <p:blipFill>
                      <a:blip r:embed="rId2"/>
                      <a:stretch>
                        <a:fillRect/>
                      </a:stretch>
                    </p:blipFill>
                    <p:spPr>
                      <a:xfrm>
                        <a:off x="2195830" y="770255"/>
                        <a:ext cx="2738120" cy="1555750"/>
                      </a:xfrm>
                      <a:prstGeom prst="rect">
                        <a:avLst/>
                      </a:prstGeom>
                      <a:noFill/>
                      <a:ln w="38100">
                        <a:noFill/>
                        <a:miter/>
                      </a:ln>
                    </p:spPr>
                  </p:pic>
                </p:oleObj>
              </mc:Fallback>
            </mc:AlternateContent>
          </a:graphicData>
        </a:graphic>
      </p:graphicFrame>
      <p:sp>
        <p:nvSpPr>
          <p:cNvPr id="56323" name="矩形 56322"/>
          <p:cNvSpPr/>
          <p:nvPr/>
        </p:nvSpPr>
        <p:spPr>
          <a:xfrm>
            <a:off x="4572000" y="8382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graphicFrame>
        <p:nvGraphicFramePr>
          <p:cNvPr id="56324" name="对象 56323"/>
          <p:cNvGraphicFramePr/>
          <p:nvPr/>
        </p:nvGraphicFramePr>
        <p:xfrm>
          <a:off x="2590800" y="2590800"/>
          <a:ext cx="2794000" cy="1536700"/>
        </p:xfrm>
        <a:graphic>
          <a:graphicData uri="http://schemas.openxmlformats.org/presentationml/2006/ole">
            <mc:AlternateContent xmlns:mc="http://schemas.openxmlformats.org/markup-compatibility/2006">
              <mc:Choice xmlns:v="urn:schemas-microsoft-com:vml" Requires="v">
                <p:oleObj spid="_x0000_s3183" name="" r:id="rId3" imgW="2794000" imgH="1536700" progId="Equation.3">
                  <p:embed/>
                </p:oleObj>
              </mc:Choice>
              <mc:Fallback>
                <p:oleObj name="" r:id="rId3" imgW="2794000" imgH="1536700" progId="Equation.3">
                  <p:embed/>
                  <p:pic>
                    <p:nvPicPr>
                      <p:cNvPr id="0" name="图片 3182"/>
                      <p:cNvPicPr/>
                      <p:nvPr/>
                    </p:nvPicPr>
                    <p:blipFill>
                      <a:blip r:embed="rId4"/>
                      <a:stretch>
                        <a:fillRect/>
                      </a:stretch>
                    </p:blipFill>
                    <p:spPr>
                      <a:xfrm>
                        <a:off x="2590800" y="2590800"/>
                        <a:ext cx="2794000" cy="1536700"/>
                      </a:xfrm>
                      <a:prstGeom prst="rect">
                        <a:avLst/>
                      </a:prstGeom>
                      <a:noFill/>
                      <a:ln w="38100">
                        <a:noFill/>
                        <a:miter/>
                      </a:ln>
                    </p:spPr>
                  </p:pic>
                </p:oleObj>
              </mc:Fallback>
            </mc:AlternateContent>
          </a:graphicData>
        </a:graphic>
      </p:graphicFrame>
      <p:sp>
        <p:nvSpPr>
          <p:cNvPr id="56325" name="文本框 56324"/>
          <p:cNvSpPr txBox="1"/>
          <p:nvPr/>
        </p:nvSpPr>
        <p:spPr>
          <a:xfrm>
            <a:off x="1371600" y="3048000"/>
            <a:ext cx="542925" cy="519113"/>
          </a:xfrm>
          <a:prstGeom prst="rect">
            <a:avLst/>
          </a:prstGeom>
          <a:noFill/>
          <a:ln w="9525">
            <a:noFill/>
          </a:ln>
        </p:spPr>
        <p:txBody>
          <a:bodyPr wrap="none" anchor="t" anchorCtr="0">
            <a:spAutoFit/>
          </a:bodyPr>
          <a:p>
            <a:r>
              <a:rPr lang="zh-CN" altLang="en-US">
                <a:latin typeface="Times New Roman" panose="02020603050405020304" pitchFamily="18" charset="0"/>
              </a:rPr>
              <a:t>得</a:t>
            </a:r>
            <a:endParaRPr lang="zh-CN" altLang="en-US">
              <a:latin typeface="Times New Roman" panose="02020603050405020304" pitchFamily="18" charset="0"/>
            </a:endParaRPr>
          </a:p>
        </p:txBody>
      </p:sp>
      <p:graphicFrame>
        <p:nvGraphicFramePr>
          <p:cNvPr id="56326" name="对象 56325"/>
          <p:cNvGraphicFramePr/>
          <p:nvPr/>
        </p:nvGraphicFramePr>
        <p:xfrm>
          <a:off x="914400" y="4419600"/>
          <a:ext cx="3911600" cy="1536700"/>
        </p:xfrm>
        <a:graphic>
          <a:graphicData uri="http://schemas.openxmlformats.org/presentationml/2006/ole">
            <mc:AlternateContent xmlns:mc="http://schemas.openxmlformats.org/markup-compatibility/2006">
              <mc:Choice xmlns:v="urn:schemas-microsoft-com:vml" Requires="v">
                <p:oleObj spid="_x0000_s3102" name="" r:id="rId5" imgW="3911600" imgH="1536700" progId="Equation.3">
                  <p:embed/>
                </p:oleObj>
              </mc:Choice>
              <mc:Fallback>
                <p:oleObj name="" r:id="rId5" imgW="3911600" imgH="1536700" progId="Equation.3">
                  <p:embed/>
                  <p:pic>
                    <p:nvPicPr>
                      <p:cNvPr id="0" name="图片 3101"/>
                      <p:cNvPicPr/>
                      <p:nvPr/>
                    </p:nvPicPr>
                    <p:blipFill>
                      <a:blip r:embed="rId6"/>
                      <a:stretch>
                        <a:fillRect/>
                      </a:stretch>
                    </p:blipFill>
                    <p:spPr>
                      <a:xfrm>
                        <a:off x="914400" y="4419600"/>
                        <a:ext cx="3911600" cy="1536700"/>
                      </a:xfrm>
                      <a:prstGeom prst="rect">
                        <a:avLst/>
                      </a:prstGeom>
                      <a:noFill/>
                      <a:ln w="38100">
                        <a:noFill/>
                        <a:miter/>
                      </a:ln>
                    </p:spPr>
                  </p:pic>
                </p:oleObj>
              </mc:Fallback>
            </mc:AlternateContent>
          </a:graphicData>
        </a:graphic>
      </p:graphicFrame>
      <p:sp>
        <p:nvSpPr>
          <p:cNvPr id="56327" name="矩形 56326"/>
          <p:cNvSpPr/>
          <p:nvPr/>
        </p:nvSpPr>
        <p:spPr>
          <a:xfrm>
            <a:off x="4343400" y="4495800"/>
            <a:ext cx="457200" cy="1447800"/>
          </a:xfrm>
          <a:prstGeom prst="rect">
            <a:avLst/>
          </a:prstGeom>
          <a:noFill/>
          <a:ln w="28575" cap="flat" cmpd="sng">
            <a:solidFill>
              <a:srgbClr val="0000FF"/>
            </a:solidFill>
            <a:prstDash val="solid"/>
            <a:miter/>
            <a:headEnd type="none" w="med" len="med"/>
            <a:tailEnd type="none" w="med" len="med"/>
          </a:ln>
        </p:spPr>
        <p:txBody>
          <a:bodyPr/>
          <a:p>
            <a:endParaRPr lang="zh-CN" altLang="en-US"/>
          </a:p>
        </p:txBody>
      </p:sp>
      <p:graphicFrame>
        <p:nvGraphicFramePr>
          <p:cNvPr id="56328" name="对象 56327"/>
          <p:cNvGraphicFramePr/>
          <p:nvPr/>
        </p:nvGraphicFramePr>
        <p:xfrm>
          <a:off x="4933950" y="4419600"/>
          <a:ext cx="3225800" cy="1536700"/>
        </p:xfrm>
        <a:graphic>
          <a:graphicData uri="http://schemas.openxmlformats.org/presentationml/2006/ole">
            <mc:AlternateContent xmlns:mc="http://schemas.openxmlformats.org/markup-compatibility/2006">
              <mc:Choice xmlns:v="urn:schemas-microsoft-com:vml" Requires="v">
                <p:oleObj spid="_x0000_s3099" name="" r:id="rId7" imgW="3225800" imgH="1536700" progId="Equation.3">
                  <p:embed/>
                </p:oleObj>
              </mc:Choice>
              <mc:Fallback>
                <p:oleObj name="" r:id="rId7" imgW="3225800" imgH="1536700" progId="Equation.3">
                  <p:embed/>
                  <p:pic>
                    <p:nvPicPr>
                      <p:cNvPr id="0" name="图片 3098"/>
                      <p:cNvPicPr/>
                      <p:nvPr/>
                    </p:nvPicPr>
                    <p:blipFill>
                      <a:blip r:embed="rId8"/>
                      <a:stretch>
                        <a:fillRect/>
                      </a:stretch>
                    </p:blipFill>
                    <p:spPr>
                      <a:xfrm>
                        <a:off x="4933950" y="4419600"/>
                        <a:ext cx="3225800" cy="1536700"/>
                      </a:xfrm>
                      <a:prstGeom prst="rect">
                        <a:avLst/>
                      </a:prstGeom>
                      <a:noFill/>
                      <a:ln w="38100">
                        <a:noFill/>
                        <a:miter/>
                      </a:ln>
                    </p:spPr>
                  </p:pic>
                </p:oleObj>
              </mc:Fallback>
            </mc:AlternateContent>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7346" name="对象 57345"/>
          <p:cNvGraphicFramePr/>
          <p:nvPr/>
        </p:nvGraphicFramePr>
        <p:xfrm>
          <a:off x="4800600" y="2743200"/>
          <a:ext cx="2794000" cy="1536700"/>
        </p:xfrm>
        <a:graphic>
          <a:graphicData uri="http://schemas.openxmlformats.org/presentationml/2006/ole">
            <mc:AlternateContent xmlns:mc="http://schemas.openxmlformats.org/markup-compatibility/2006">
              <mc:Choice xmlns:v="urn:schemas-microsoft-com:vml" Requires="v">
                <p:oleObj spid="_x0000_s3103" name="" r:id="rId1" imgW="2794000" imgH="1536700" progId="Equation.3">
                  <p:embed/>
                </p:oleObj>
              </mc:Choice>
              <mc:Fallback>
                <p:oleObj name="" r:id="rId1" imgW="2794000" imgH="1536700" progId="Equation.3">
                  <p:embed/>
                  <p:pic>
                    <p:nvPicPr>
                      <p:cNvPr id="0" name="图片 3102"/>
                      <p:cNvPicPr/>
                      <p:nvPr/>
                    </p:nvPicPr>
                    <p:blipFill>
                      <a:blip r:embed="rId2"/>
                      <a:stretch>
                        <a:fillRect/>
                      </a:stretch>
                    </p:blipFill>
                    <p:spPr>
                      <a:xfrm>
                        <a:off x="4800600" y="2743200"/>
                        <a:ext cx="2794000" cy="1536700"/>
                      </a:xfrm>
                      <a:prstGeom prst="rect">
                        <a:avLst/>
                      </a:prstGeom>
                      <a:noFill/>
                      <a:ln w="38100">
                        <a:noFill/>
                        <a:miter/>
                      </a:ln>
                    </p:spPr>
                  </p:pic>
                </p:oleObj>
              </mc:Fallback>
            </mc:AlternateContent>
          </a:graphicData>
        </a:graphic>
      </p:graphicFrame>
      <p:graphicFrame>
        <p:nvGraphicFramePr>
          <p:cNvPr id="57347" name="对象 57346"/>
          <p:cNvGraphicFramePr/>
          <p:nvPr/>
        </p:nvGraphicFramePr>
        <p:xfrm>
          <a:off x="1631950" y="2743200"/>
          <a:ext cx="2794000" cy="1536700"/>
        </p:xfrm>
        <a:graphic>
          <a:graphicData uri="http://schemas.openxmlformats.org/presentationml/2006/ole">
            <mc:AlternateContent xmlns:mc="http://schemas.openxmlformats.org/markup-compatibility/2006">
              <mc:Choice xmlns:v="urn:schemas-microsoft-com:vml" Requires="v">
                <p:oleObj spid="_x0000_s3111" name="" r:id="rId3" imgW="2794000" imgH="1536700" progId="Equation.3">
                  <p:embed/>
                </p:oleObj>
              </mc:Choice>
              <mc:Fallback>
                <p:oleObj name="" r:id="rId3" imgW="2794000" imgH="1536700" progId="Equation.3">
                  <p:embed/>
                  <p:pic>
                    <p:nvPicPr>
                      <p:cNvPr id="0" name="图片 3110"/>
                      <p:cNvPicPr/>
                      <p:nvPr/>
                    </p:nvPicPr>
                    <p:blipFill>
                      <a:blip r:embed="rId4"/>
                      <a:stretch>
                        <a:fillRect/>
                      </a:stretch>
                    </p:blipFill>
                    <p:spPr>
                      <a:xfrm>
                        <a:off x="1631950" y="2743200"/>
                        <a:ext cx="2794000" cy="1536700"/>
                      </a:xfrm>
                      <a:prstGeom prst="rect">
                        <a:avLst/>
                      </a:prstGeom>
                      <a:noFill/>
                      <a:ln w="38100">
                        <a:noFill/>
                        <a:miter/>
                      </a:ln>
                    </p:spPr>
                  </p:pic>
                </p:oleObj>
              </mc:Fallback>
            </mc:AlternateContent>
          </a:graphicData>
        </a:graphic>
      </p:graphicFrame>
      <p:sp>
        <p:nvSpPr>
          <p:cNvPr id="57348" name="矩形 57347"/>
          <p:cNvSpPr/>
          <p:nvPr/>
        </p:nvSpPr>
        <p:spPr>
          <a:xfrm>
            <a:off x="914400" y="4495800"/>
            <a:ext cx="4249738" cy="519113"/>
          </a:xfrm>
          <a:prstGeom prst="rect">
            <a:avLst/>
          </a:prstGeom>
          <a:noFill/>
          <a:ln w="9525">
            <a:noFill/>
          </a:ln>
        </p:spPr>
        <p:txBody>
          <a:bodyPr wrap="none" anchor="t" anchorCtr="0">
            <a:spAutoFit/>
          </a:bodyPr>
          <a:p>
            <a:r>
              <a:rPr lang="zh-CN" altLang="en-US" dirty="0">
                <a:latin typeface="Times New Roman" panose="02020603050405020304" pitchFamily="18" charset="0"/>
              </a:rPr>
              <a:t>则三元线性方程组的解为</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57349" name="对象 57348"/>
          <p:cNvGraphicFramePr/>
          <p:nvPr/>
        </p:nvGraphicFramePr>
        <p:xfrm>
          <a:off x="1676400" y="5181600"/>
          <a:ext cx="1270000" cy="825500"/>
        </p:xfrm>
        <a:graphic>
          <a:graphicData uri="http://schemas.openxmlformats.org/presentationml/2006/ole">
            <mc:AlternateContent xmlns:mc="http://schemas.openxmlformats.org/markup-compatibility/2006">
              <mc:Choice xmlns:v="urn:schemas-microsoft-com:vml" Requires="v">
                <p:oleObj spid="_x0000_s3104" name="" r:id="rId5" imgW="1269365" imgH="824865" progId="Equation.3">
                  <p:embed/>
                </p:oleObj>
              </mc:Choice>
              <mc:Fallback>
                <p:oleObj name="" r:id="rId5" imgW="1269365" imgH="824865" progId="Equation.3">
                  <p:embed/>
                  <p:pic>
                    <p:nvPicPr>
                      <p:cNvPr id="0" name="图片 3103"/>
                      <p:cNvPicPr/>
                      <p:nvPr/>
                    </p:nvPicPr>
                    <p:blipFill>
                      <a:blip r:embed="rId6"/>
                      <a:stretch>
                        <a:fillRect/>
                      </a:stretch>
                    </p:blipFill>
                    <p:spPr>
                      <a:xfrm>
                        <a:off x="1676400" y="5181600"/>
                        <a:ext cx="1270000" cy="825500"/>
                      </a:xfrm>
                      <a:prstGeom prst="rect">
                        <a:avLst/>
                      </a:prstGeom>
                      <a:noFill/>
                      <a:ln w="38100">
                        <a:noFill/>
                        <a:miter/>
                      </a:ln>
                    </p:spPr>
                  </p:pic>
                </p:oleObj>
              </mc:Fallback>
            </mc:AlternateContent>
          </a:graphicData>
        </a:graphic>
      </p:graphicFrame>
      <p:graphicFrame>
        <p:nvGraphicFramePr>
          <p:cNvPr id="57350" name="对象 57349"/>
          <p:cNvGraphicFramePr/>
          <p:nvPr/>
        </p:nvGraphicFramePr>
        <p:xfrm>
          <a:off x="3448050" y="5181600"/>
          <a:ext cx="1308100" cy="825500"/>
        </p:xfrm>
        <a:graphic>
          <a:graphicData uri="http://schemas.openxmlformats.org/presentationml/2006/ole">
            <mc:AlternateContent xmlns:mc="http://schemas.openxmlformats.org/markup-compatibility/2006">
              <mc:Choice xmlns:v="urn:schemas-microsoft-com:vml" Requires="v">
                <p:oleObj spid="_x0000_s3112" name="" r:id="rId7" imgW="1308100" imgH="825500" progId="Equation.3">
                  <p:embed/>
                </p:oleObj>
              </mc:Choice>
              <mc:Fallback>
                <p:oleObj name="" r:id="rId7" imgW="1308100" imgH="825500" progId="Equation.3">
                  <p:embed/>
                  <p:pic>
                    <p:nvPicPr>
                      <p:cNvPr id="0" name="图片 3111"/>
                      <p:cNvPicPr/>
                      <p:nvPr/>
                    </p:nvPicPr>
                    <p:blipFill>
                      <a:blip r:embed="rId8"/>
                      <a:stretch>
                        <a:fillRect/>
                      </a:stretch>
                    </p:blipFill>
                    <p:spPr>
                      <a:xfrm>
                        <a:off x="3448050" y="5181600"/>
                        <a:ext cx="1308100" cy="825500"/>
                      </a:xfrm>
                      <a:prstGeom prst="rect">
                        <a:avLst/>
                      </a:prstGeom>
                      <a:noFill/>
                      <a:ln w="38100">
                        <a:noFill/>
                        <a:miter/>
                      </a:ln>
                    </p:spPr>
                  </p:pic>
                </p:oleObj>
              </mc:Fallback>
            </mc:AlternateContent>
          </a:graphicData>
        </a:graphic>
      </p:graphicFrame>
      <p:graphicFrame>
        <p:nvGraphicFramePr>
          <p:cNvPr id="57351" name="对象 57350"/>
          <p:cNvGraphicFramePr/>
          <p:nvPr/>
        </p:nvGraphicFramePr>
        <p:xfrm>
          <a:off x="5410200" y="5181600"/>
          <a:ext cx="1295400" cy="825500"/>
        </p:xfrm>
        <a:graphic>
          <a:graphicData uri="http://schemas.openxmlformats.org/presentationml/2006/ole">
            <mc:AlternateContent xmlns:mc="http://schemas.openxmlformats.org/markup-compatibility/2006">
              <mc:Choice xmlns:v="urn:schemas-microsoft-com:vml" Requires="v">
                <p:oleObj spid="_x0000_s3109" name="" r:id="rId9" imgW="1295400" imgH="825500" progId="Equation.3">
                  <p:embed/>
                </p:oleObj>
              </mc:Choice>
              <mc:Fallback>
                <p:oleObj name="" r:id="rId9" imgW="1295400" imgH="825500" progId="Equation.3">
                  <p:embed/>
                  <p:pic>
                    <p:nvPicPr>
                      <p:cNvPr id="0" name="图片 3108"/>
                      <p:cNvPicPr/>
                      <p:nvPr/>
                    </p:nvPicPr>
                    <p:blipFill>
                      <a:blip r:embed="rId10"/>
                      <a:stretch>
                        <a:fillRect/>
                      </a:stretch>
                    </p:blipFill>
                    <p:spPr>
                      <a:xfrm>
                        <a:off x="5410200" y="5181600"/>
                        <a:ext cx="1295400" cy="825500"/>
                      </a:xfrm>
                      <a:prstGeom prst="rect">
                        <a:avLst/>
                      </a:prstGeom>
                      <a:noFill/>
                      <a:ln w="38100">
                        <a:noFill/>
                        <a:miter/>
                      </a:ln>
                    </p:spPr>
                  </p:pic>
                </p:oleObj>
              </mc:Fallback>
            </mc:AlternateContent>
          </a:graphicData>
        </a:graphic>
      </p:graphicFrame>
      <p:graphicFrame>
        <p:nvGraphicFramePr>
          <p:cNvPr id="57352" name="对象 57351"/>
          <p:cNvGraphicFramePr/>
          <p:nvPr/>
        </p:nvGraphicFramePr>
        <p:xfrm>
          <a:off x="1676400" y="914400"/>
          <a:ext cx="2705100" cy="1536700"/>
        </p:xfrm>
        <a:graphic>
          <a:graphicData uri="http://schemas.openxmlformats.org/presentationml/2006/ole">
            <mc:AlternateContent xmlns:mc="http://schemas.openxmlformats.org/markup-compatibility/2006">
              <mc:Choice xmlns:v="urn:schemas-microsoft-com:vml" Requires="v">
                <p:oleObj spid="_x0000_s3105" name="" r:id="rId11" imgW="2705100" imgH="1536700" progId="Equation.3">
                  <p:embed/>
                </p:oleObj>
              </mc:Choice>
              <mc:Fallback>
                <p:oleObj name="" r:id="rId11" imgW="2705100" imgH="1536700" progId="Equation.3">
                  <p:embed/>
                  <p:pic>
                    <p:nvPicPr>
                      <p:cNvPr id="0" name="图片 3104"/>
                      <p:cNvPicPr/>
                      <p:nvPr/>
                    </p:nvPicPr>
                    <p:blipFill>
                      <a:blip r:embed="rId12"/>
                      <a:stretch>
                        <a:fillRect/>
                      </a:stretch>
                    </p:blipFill>
                    <p:spPr>
                      <a:xfrm>
                        <a:off x="1676400" y="914400"/>
                        <a:ext cx="2705100" cy="1536700"/>
                      </a:xfrm>
                      <a:prstGeom prst="rect">
                        <a:avLst/>
                      </a:prstGeom>
                      <a:noFill/>
                      <a:ln w="38100">
                        <a:noFill/>
                        <a:miter/>
                      </a:ln>
                    </p:spPr>
                  </p:pic>
                </p:oleObj>
              </mc:Fallback>
            </mc:AlternateContent>
          </a:graphicData>
        </a:graphic>
      </p:graphicFrame>
      <p:graphicFrame>
        <p:nvGraphicFramePr>
          <p:cNvPr id="57353" name="对象 57352"/>
          <p:cNvGraphicFramePr/>
          <p:nvPr/>
        </p:nvGraphicFramePr>
        <p:xfrm>
          <a:off x="4800600" y="990600"/>
          <a:ext cx="2781300" cy="1536700"/>
        </p:xfrm>
        <a:graphic>
          <a:graphicData uri="http://schemas.openxmlformats.org/presentationml/2006/ole">
            <mc:AlternateContent xmlns:mc="http://schemas.openxmlformats.org/markup-compatibility/2006">
              <mc:Choice xmlns:v="urn:schemas-microsoft-com:vml" Requires="v">
                <p:oleObj spid="_x0000_s3100" name="" r:id="rId13" imgW="2781300" imgH="1536700" progId="Equation.3">
                  <p:embed/>
                </p:oleObj>
              </mc:Choice>
              <mc:Fallback>
                <p:oleObj name="" r:id="rId13" imgW="2781300" imgH="1536700" progId="Equation.3">
                  <p:embed/>
                  <p:pic>
                    <p:nvPicPr>
                      <p:cNvPr id="0" name="图片 3099"/>
                      <p:cNvPicPr/>
                      <p:nvPr/>
                    </p:nvPicPr>
                    <p:blipFill>
                      <a:blip r:embed="rId14"/>
                      <a:stretch>
                        <a:fillRect/>
                      </a:stretch>
                    </p:blipFill>
                    <p:spPr>
                      <a:xfrm>
                        <a:off x="4800600" y="990600"/>
                        <a:ext cx="2781300" cy="15367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57348"/>
                                        </p:tgtEl>
                                        <p:attrNameLst>
                                          <p:attrName>style.visibility</p:attrName>
                                        </p:attrNameLst>
                                      </p:cBhvr>
                                      <p:to>
                                        <p:strVal val="visible"/>
                                      </p:to>
                                    </p:set>
                                    <p:animEffect transition="in" filter="wipe(left)">
                                      <p:cBhvr>
                                        <p:cTn id="7" dur="75"/>
                                        <p:tgtEl>
                                          <p:spTgt spid="573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7349"/>
                                        </p:tgtEl>
                                        <p:attrNameLst>
                                          <p:attrName>style.visibility</p:attrName>
                                        </p:attrNameLst>
                                      </p:cBhvr>
                                      <p:to>
                                        <p:strVal val="visible"/>
                                      </p:to>
                                    </p:set>
                                    <p:animEffect transition="in" filter="wipe(left)">
                                      <p:cBhvr>
                                        <p:cTn id="12" dur="500"/>
                                        <p:tgtEl>
                                          <p:spTgt spid="573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7350"/>
                                        </p:tgtEl>
                                        <p:attrNameLst>
                                          <p:attrName>style.visibility</p:attrName>
                                        </p:attrNameLst>
                                      </p:cBhvr>
                                      <p:to>
                                        <p:strVal val="visible"/>
                                      </p:to>
                                    </p:set>
                                    <p:animEffect transition="in" filter="wipe(left)">
                                      <p:cBhvr>
                                        <p:cTn id="17" dur="500"/>
                                        <p:tgtEl>
                                          <p:spTgt spid="573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7351"/>
                                        </p:tgtEl>
                                        <p:attrNameLst>
                                          <p:attrName>style.visibility</p:attrName>
                                        </p:attrNameLst>
                                      </p:cBhvr>
                                      <p:to>
                                        <p:strVal val="visible"/>
                                      </p:to>
                                    </p:set>
                                    <p:animEffect transition="in" filter="wipe(left)">
                                      <p:cBhvr>
                                        <p:cTn id="22" dur="500"/>
                                        <p:tgtEl>
                                          <p:spTgt spid="57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3" name="文本框 58372"/>
          <p:cNvSpPr txBox="1"/>
          <p:nvPr/>
        </p:nvSpPr>
        <p:spPr>
          <a:xfrm>
            <a:off x="838200" y="2590800"/>
            <a:ext cx="838200" cy="519113"/>
          </a:xfrm>
          <a:prstGeom prst="rect">
            <a:avLst/>
          </a:prstGeom>
          <a:noFill/>
          <a:ln w="9525">
            <a:noFill/>
          </a:ln>
        </p:spPr>
        <p:txBody>
          <a:bodyPr>
            <a:spAutoFit/>
          </a:bodyPr>
          <a:p>
            <a:pPr>
              <a:spcBef>
                <a:spcPct val="50000"/>
              </a:spcBef>
            </a:pPr>
            <a:r>
              <a:rPr lang="en-US" altLang="zh-CN" dirty="0">
                <a:effectLst>
                  <a:outerShdw blurRad="38100" dist="38100" dir="2700000">
                    <a:srgbClr val="FFFFFF"/>
                  </a:outerShdw>
                </a:effectLst>
                <a:latin typeface="Times New Roman" panose="02020603050405020304" pitchFamily="18" charset="0"/>
                <a:ea typeface="黑体" panose="02010609060101010101" pitchFamily="2" charset="-122"/>
              </a:rPr>
              <a:t> </a:t>
            </a:r>
            <a:r>
              <a:rPr lang="zh-CN" altLang="en-US" dirty="0">
                <a:effectLst>
                  <a:outerShdw blurRad="38100" dist="38100" dir="2700000">
                    <a:srgbClr val="FFFFFF"/>
                  </a:outerShdw>
                </a:effectLst>
                <a:latin typeface="Times New Roman" panose="02020603050405020304" pitchFamily="18" charset="0"/>
                <a:ea typeface="黑体" panose="02010609060101010101" pitchFamily="2" charset="-122"/>
              </a:rPr>
              <a:t>解</a:t>
            </a:r>
            <a:endParaRPr lang="zh-CN" altLang="en-US">
              <a:effectLst>
                <a:outerShdw blurRad="38100" dist="38100" dir="2700000">
                  <a:srgbClr val="FFFFFF"/>
                </a:outerShdw>
              </a:effectLst>
              <a:latin typeface="Times New Roman" panose="02020603050405020304" pitchFamily="18" charset="0"/>
              <a:ea typeface="黑体" panose="02010609060101010101" pitchFamily="2" charset="-122"/>
            </a:endParaRPr>
          </a:p>
        </p:txBody>
      </p:sp>
      <p:sp>
        <p:nvSpPr>
          <p:cNvPr id="58374" name="文本框 58373"/>
          <p:cNvSpPr txBox="1"/>
          <p:nvPr/>
        </p:nvSpPr>
        <p:spPr>
          <a:xfrm>
            <a:off x="1676400" y="2550795"/>
            <a:ext cx="3276600" cy="559435"/>
          </a:xfrm>
          <a:prstGeom prst="rect">
            <a:avLst/>
          </a:prstGeom>
          <a:noFill/>
          <a:ln w="9525">
            <a:noFill/>
          </a:ln>
        </p:spPr>
        <p:txBody>
          <a:bodyPr>
            <a:noAutofit/>
          </a:bodyPr>
          <a:p>
            <a:pPr>
              <a:spcBef>
                <a:spcPct val="50000"/>
              </a:spcBef>
            </a:pPr>
            <a:r>
              <a:rPr lang="zh-CN" altLang="en-US">
                <a:latin typeface="Times New Roman" panose="02020603050405020304" pitchFamily="18" charset="0"/>
              </a:rPr>
              <a:t>按</a:t>
            </a:r>
            <a:r>
              <a:rPr lang="zh-CN" altLang="en-US" dirty="0">
                <a:latin typeface="Times New Roman" panose="02020603050405020304" pitchFamily="18" charset="0"/>
              </a:rPr>
              <a:t>对角线法则，有</a:t>
            </a:r>
            <a:endParaRPr lang="zh-CN" altLang="en-US">
              <a:latin typeface="Times New Roman" panose="02020603050405020304" pitchFamily="18" charset="0"/>
            </a:endParaRPr>
          </a:p>
        </p:txBody>
      </p:sp>
      <p:graphicFrame>
        <p:nvGraphicFramePr>
          <p:cNvPr id="58375" name="对象 58374"/>
          <p:cNvGraphicFramePr/>
          <p:nvPr/>
        </p:nvGraphicFramePr>
        <p:xfrm>
          <a:off x="988695" y="3540760"/>
          <a:ext cx="669925" cy="396875"/>
        </p:xfrm>
        <a:graphic>
          <a:graphicData uri="http://schemas.openxmlformats.org/presentationml/2006/ole">
            <mc:AlternateContent xmlns:mc="http://schemas.openxmlformats.org/markup-compatibility/2006">
              <mc:Choice xmlns:v="urn:schemas-microsoft-com:vml" Requires="v">
                <p:oleObj spid="_x0000_s3110" name="" r:id="rId1" imgW="609600" imgH="292100" progId="Equation.3">
                  <p:embed/>
                </p:oleObj>
              </mc:Choice>
              <mc:Fallback>
                <p:oleObj name="" r:id="rId1" imgW="609600" imgH="292100" progId="Equation.3">
                  <p:embed/>
                  <p:pic>
                    <p:nvPicPr>
                      <p:cNvPr id="0" name="图片 3109"/>
                      <p:cNvPicPr/>
                      <p:nvPr/>
                    </p:nvPicPr>
                    <p:blipFill>
                      <a:blip r:embed="rId2"/>
                      <a:stretch>
                        <a:fillRect/>
                      </a:stretch>
                    </p:blipFill>
                    <p:spPr>
                      <a:xfrm>
                        <a:off x="988695" y="3540760"/>
                        <a:ext cx="669925" cy="396875"/>
                      </a:xfrm>
                      <a:prstGeom prst="rect">
                        <a:avLst/>
                      </a:prstGeom>
                      <a:noFill/>
                      <a:ln w="38100">
                        <a:noFill/>
                        <a:miter/>
                      </a:ln>
                    </p:spPr>
                  </p:pic>
                </p:oleObj>
              </mc:Fallback>
            </mc:AlternateContent>
          </a:graphicData>
        </a:graphic>
      </p:graphicFrame>
      <p:grpSp>
        <p:nvGrpSpPr>
          <p:cNvPr id="2" name="组合 1"/>
          <p:cNvGrpSpPr/>
          <p:nvPr/>
        </p:nvGrpSpPr>
        <p:grpSpPr>
          <a:xfrm>
            <a:off x="838200" y="638175"/>
            <a:ext cx="6395720" cy="1546860"/>
            <a:chOff x="1320" y="1005"/>
            <a:chExt cx="10072" cy="2436"/>
          </a:xfrm>
        </p:grpSpPr>
        <p:sp>
          <p:nvSpPr>
            <p:cNvPr id="58372" name="文本框 58371"/>
            <p:cNvSpPr txBox="1"/>
            <p:nvPr/>
          </p:nvSpPr>
          <p:spPr>
            <a:xfrm>
              <a:off x="1320" y="1812"/>
              <a:ext cx="7441" cy="822"/>
            </a:xfrm>
            <a:prstGeom prst="rect">
              <a:avLst/>
            </a:prstGeom>
            <a:noFill/>
            <a:ln w="9525">
              <a:noFill/>
            </a:ln>
          </p:spPr>
          <p:txBody>
            <a:bodyPr wrap="square">
              <a:spAutoFit/>
            </a:bodyPr>
            <a:p>
              <a:pPr>
                <a:spcBef>
                  <a:spcPct val="50000"/>
                </a:spcBef>
              </a:pPr>
              <a:r>
                <a:rPr lang="zh-CN" altLang="en-US">
                  <a:solidFill>
                    <a:srgbClr val="FF3300"/>
                  </a:solidFill>
                  <a:effectLst/>
                  <a:latin typeface="+mn-ea"/>
                  <a:ea typeface="+mn-ea"/>
                  <a:cs typeface="+mn-ea"/>
                </a:rPr>
                <a:t>例</a:t>
              </a:r>
              <a:r>
                <a:rPr lang="en-US" altLang="zh-CN">
                  <a:solidFill>
                    <a:srgbClr val="FF3300"/>
                  </a:solidFill>
                  <a:effectLst/>
                  <a:latin typeface="+mn-ea"/>
                  <a:ea typeface="+mn-ea"/>
                  <a:cs typeface="+mn-ea"/>
                </a:rPr>
                <a:t>1.1.2 </a:t>
              </a:r>
              <a:r>
                <a:rPr lang="zh-CN" altLang="en-US">
                  <a:effectLst/>
                  <a:latin typeface="+mn-ea"/>
                  <a:ea typeface="+mn-ea"/>
                  <a:cs typeface="+mn-ea"/>
                </a:rPr>
                <a:t>计算三阶行列式</a:t>
              </a:r>
              <a:endParaRPr lang="zh-CN" altLang="en-US">
                <a:effectLst/>
                <a:latin typeface="+mn-ea"/>
                <a:ea typeface="+mn-ea"/>
                <a:cs typeface="+mn-ea"/>
              </a:endParaRPr>
            </a:p>
          </p:txBody>
        </p:sp>
        <p:graphicFrame>
          <p:nvGraphicFramePr>
            <p:cNvPr id="3" name="对象 -2147474262"/>
            <p:cNvGraphicFramePr>
              <a:graphicFrameLocks noChangeAspect="1"/>
            </p:cNvGraphicFramePr>
            <p:nvPr/>
          </p:nvGraphicFramePr>
          <p:xfrm>
            <a:off x="7994" y="1005"/>
            <a:ext cx="3399" cy="2437"/>
          </p:xfrm>
          <a:graphic>
            <a:graphicData uri="http://schemas.openxmlformats.org/presentationml/2006/ole">
              <mc:AlternateContent xmlns:mc="http://schemas.openxmlformats.org/markup-compatibility/2006">
                <mc:Choice xmlns:v="urn:schemas-microsoft-com:vml" Requires="v">
                  <p:oleObj spid="_x0000_s3076" name="" r:id="rId3" imgW="990600" imgH="711200" progId="Equation.DSMT4">
                    <p:embed/>
                  </p:oleObj>
                </mc:Choice>
                <mc:Fallback>
                  <p:oleObj name="" r:id="rId3" imgW="990600" imgH="711200" progId="Equation.DSMT4">
                    <p:embed/>
                    <p:pic>
                      <p:nvPicPr>
                        <p:cNvPr id="0" name="图片 3075"/>
                        <p:cNvPicPr/>
                        <p:nvPr/>
                      </p:nvPicPr>
                      <p:blipFill>
                        <a:blip r:embed="rId4"/>
                        <a:stretch>
                          <a:fillRect/>
                        </a:stretch>
                      </p:blipFill>
                      <p:spPr>
                        <a:xfrm>
                          <a:off x="7994" y="1005"/>
                          <a:ext cx="3399" cy="2437"/>
                        </a:xfrm>
                        <a:prstGeom prst="rect">
                          <a:avLst/>
                        </a:prstGeom>
                        <a:noFill/>
                        <a:ln w="38100">
                          <a:noFill/>
                          <a:miter/>
                        </a:ln>
                      </p:spPr>
                    </p:pic>
                  </p:oleObj>
                </mc:Fallback>
              </mc:AlternateContent>
            </a:graphicData>
          </a:graphic>
        </p:graphicFrame>
      </p:grpSp>
      <p:graphicFrame>
        <p:nvGraphicFramePr>
          <p:cNvPr id="6" name="对象 5"/>
          <p:cNvGraphicFramePr/>
          <p:nvPr/>
        </p:nvGraphicFramePr>
        <p:xfrm>
          <a:off x="1837055" y="3467735"/>
          <a:ext cx="5704205" cy="692150"/>
        </p:xfrm>
        <a:graphic>
          <a:graphicData uri="http://schemas.openxmlformats.org/presentationml/2006/ole">
            <mc:AlternateContent xmlns:mc="http://schemas.openxmlformats.org/markup-compatibility/2006">
              <mc:Choice xmlns:v="urn:schemas-microsoft-com:vml" Requires="v">
                <p:oleObj spid="_x0000_s7" name="" r:id="rId5" imgW="1841500" imgH="203200" progId="Equation.DSMT4">
                  <p:embed/>
                </p:oleObj>
              </mc:Choice>
              <mc:Fallback>
                <p:oleObj name="" r:id="rId5" imgW="1841500" imgH="203200" progId="Equation.DSMT4">
                  <p:embed/>
                  <p:pic>
                    <p:nvPicPr>
                      <p:cNvPr id="0" name="图片 6"/>
                      <p:cNvPicPr/>
                      <p:nvPr/>
                    </p:nvPicPr>
                    <p:blipFill>
                      <a:blip r:embed="rId6"/>
                      <a:stretch>
                        <a:fillRect/>
                      </a:stretch>
                    </p:blipFill>
                    <p:spPr>
                      <a:xfrm>
                        <a:off x="1837055" y="3467735"/>
                        <a:ext cx="5704205" cy="692150"/>
                      </a:xfrm>
                      <a:prstGeom prst="rect">
                        <a:avLst/>
                      </a:prstGeom>
                    </p:spPr>
                  </p:pic>
                </p:oleObj>
              </mc:Fallback>
            </mc:AlternateContent>
          </a:graphicData>
        </a:graphic>
      </p:graphicFrame>
      <p:graphicFrame>
        <p:nvGraphicFramePr>
          <p:cNvPr id="8" name="对象 7"/>
          <p:cNvGraphicFramePr/>
          <p:nvPr/>
        </p:nvGraphicFramePr>
        <p:xfrm>
          <a:off x="1619250" y="4114800"/>
          <a:ext cx="5921375" cy="703580"/>
        </p:xfrm>
        <a:graphic>
          <a:graphicData uri="http://schemas.openxmlformats.org/presentationml/2006/ole">
            <mc:AlternateContent xmlns:mc="http://schemas.openxmlformats.org/markup-compatibility/2006">
              <mc:Choice xmlns:v="urn:schemas-microsoft-com:vml" Requires="v">
                <p:oleObj spid="_x0000_s9" name="" r:id="rId7" imgW="4183380" imgH="514985" progId="Equation.DSMT4">
                  <p:embed/>
                </p:oleObj>
              </mc:Choice>
              <mc:Fallback>
                <p:oleObj name="" r:id="rId7" imgW="4183380" imgH="514985" progId="Equation.DSMT4">
                  <p:embed/>
                  <p:pic>
                    <p:nvPicPr>
                      <p:cNvPr id="0" name="图片 8"/>
                      <p:cNvPicPr/>
                      <p:nvPr/>
                    </p:nvPicPr>
                    <p:blipFill>
                      <a:blip r:embed="rId8"/>
                      <a:stretch>
                        <a:fillRect/>
                      </a:stretch>
                    </p:blipFill>
                    <p:spPr>
                      <a:xfrm>
                        <a:off x="1619250" y="4114800"/>
                        <a:ext cx="5921375" cy="703580"/>
                      </a:xfrm>
                      <a:prstGeom prst="rect">
                        <a:avLst/>
                      </a:prstGeom>
                    </p:spPr>
                  </p:pic>
                </p:oleObj>
              </mc:Fallback>
            </mc:AlternateContent>
          </a:graphicData>
        </a:graphic>
      </p:graphicFrame>
      <p:graphicFrame>
        <p:nvGraphicFramePr>
          <p:cNvPr id="10" name="对象 9"/>
          <p:cNvGraphicFramePr/>
          <p:nvPr/>
        </p:nvGraphicFramePr>
        <p:xfrm>
          <a:off x="680085" y="5074285"/>
          <a:ext cx="6813550" cy="695325"/>
        </p:xfrm>
        <a:graphic>
          <a:graphicData uri="http://schemas.openxmlformats.org/presentationml/2006/ole">
            <mc:AlternateContent xmlns:mc="http://schemas.openxmlformats.org/markup-compatibility/2006">
              <mc:Choice xmlns:v="urn:schemas-microsoft-com:vml" Requires="v">
                <p:oleObj spid="_x0000_s11" name="" r:id="rId9" imgW="4493260" imgH="504190" progId="Equation.DSMT4">
                  <p:embed/>
                </p:oleObj>
              </mc:Choice>
              <mc:Fallback>
                <p:oleObj name="" r:id="rId9" imgW="4493260" imgH="504190" progId="Equation.DSMT4">
                  <p:embed/>
                  <p:pic>
                    <p:nvPicPr>
                      <p:cNvPr id="0" name="图片 10"/>
                      <p:cNvPicPr/>
                      <p:nvPr/>
                    </p:nvPicPr>
                    <p:blipFill>
                      <a:blip r:embed="rId10"/>
                      <a:stretch>
                        <a:fillRect/>
                      </a:stretch>
                    </p:blipFill>
                    <p:spPr>
                      <a:xfrm>
                        <a:off x="680085" y="5074285"/>
                        <a:ext cx="6813550" cy="695325"/>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3"/>
                                        </p:tgtEl>
                                        <p:attrNameLst>
                                          <p:attrName>style.visibility</p:attrName>
                                        </p:attrNameLst>
                                      </p:cBhvr>
                                      <p:to>
                                        <p:strVal val="visible"/>
                                      </p:to>
                                    </p:set>
                                    <p:animEffect transition="in" filter="wipe(left)">
                                      <p:cBhvr>
                                        <p:cTn id="7" dur="500"/>
                                        <p:tgtEl>
                                          <p:spTgt spid="583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74"/>
                                        </p:tgtEl>
                                        <p:attrNameLst>
                                          <p:attrName>style.visibility</p:attrName>
                                        </p:attrNameLst>
                                      </p:cBhvr>
                                      <p:to>
                                        <p:strVal val="visible"/>
                                      </p:to>
                                    </p:set>
                                    <p:animEffect transition="in" filter="wipe(left)">
                                      <p:cBhvr>
                                        <p:cTn id="12" dur="500"/>
                                        <p:tgtEl>
                                          <p:spTgt spid="583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8375"/>
                                        </p:tgtEl>
                                        <p:attrNameLst>
                                          <p:attrName>style.visibility</p:attrName>
                                        </p:attrNameLst>
                                      </p:cBhvr>
                                      <p:to>
                                        <p:strVal val="visible"/>
                                      </p:to>
                                    </p:set>
                                    <p:animEffect transition="in" filter="wipe(left)">
                                      <p:cBhvr>
                                        <p:cTn id="17" dur="500"/>
                                        <p:tgtEl>
                                          <p:spTgt spid="583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P spid="5837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5" name="文本框 59394"/>
          <p:cNvSpPr txBox="1"/>
          <p:nvPr/>
        </p:nvSpPr>
        <p:spPr>
          <a:xfrm>
            <a:off x="286385" y="1352550"/>
            <a:ext cx="3855085" cy="521970"/>
          </a:xfrm>
          <a:prstGeom prst="rect">
            <a:avLst/>
          </a:prstGeom>
          <a:noFill/>
          <a:ln w="9525">
            <a:noFill/>
          </a:ln>
        </p:spPr>
        <p:txBody>
          <a:bodyPr wrap="square">
            <a:spAutoFit/>
          </a:bodyPr>
          <a:p>
            <a:pPr>
              <a:spcBef>
                <a:spcPct val="50000"/>
              </a:spcBef>
            </a:pPr>
            <a:r>
              <a:rPr lang="zh-CN" altLang="en-US">
                <a:solidFill>
                  <a:srgbClr val="FF3300"/>
                </a:solidFill>
                <a:latin typeface="黑体" panose="02010609060101010101" pitchFamily="2" charset="-122"/>
                <a:ea typeface="黑体" panose="02010609060101010101" pitchFamily="2" charset="-122"/>
              </a:rPr>
              <a:t>例</a:t>
            </a:r>
            <a:r>
              <a:rPr lang="en-US" altLang="zh-CN">
                <a:solidFill>
                  <a:srgbClr val="FF3300"/>
                </a:solidFill>
                <a:latin typeface="黑体" panose="02010609060101010101" pitchFamily="2" charset="-122"/>
                <a:ea typeface="黑体" panose="02010609060101010101" pitchFamily="2" charset="-122"/>
              </a:rPr>
              <a:t>1.1.3  </a:t>
            </a:r>
            <a:r>
              <a:rPr lang="zh-CN" altLang="en-US">
                <a:latin typeface="+mn-ea"/>
                <a:ea typeface="+mn-ea"/>
              </a:rPr>
              <a:t>求解方程</a:t>
            </a:r>
            <a:endParaRPr lang="zh-CN" altLang="en-US">
              <a:latin typeface="+mn-ea"/>
              <a:ea typeface="+mn-ea"/>
            </a:endParaRPr>
          </a:p>
        </p:txBody>
      </p:sp>
      <p:sp>
        <p:nvSpPr>
          <p:cNvPr id="59396" name="文本框 59395"/>
          <p:cNvSpPr txBox="1"/>
          <p:nvPr/>
        </p:nvSpPr>
        <p:spPr>
          <a:xfrm>
            <a:off x="914400" y="2590800"/>
            <a:ext cx="838200" cy="519113"/>
          </a:xfrm>
          <a:prstGeom prst="rect">
            <a:avLst/>
          </a:prstGeom>
          <a:noFill/>
          <a:ln w="9525">
            <a:noFill/>
          </a:ln>
        </p:spPr>
        <p:txBody>
          <a:bodyPr>
            <a:spAutoFit/>
          </a:bodyPr>
          <a:p>
            <a:pPr>
              <a:spcBef>
                <a:spcPct val="50000"/>
              </a:spcBef>
            </a:pPr>
            <a:r>
              <a:rPr lang="zh-CN" altLang="en-US">
                <a:effectLst>
                  <a:outerShdw blurRad="38100" dist="38100" dir="2700000">
                    <a:srgbClr val="FFFFFF"/>
                  </a:outerShdw>
                </a:effectLst>
                <a:latin typeface="Times New Roman" panose="02020603050405020304" pitchFamily="18" charset="0"/>
                <a:ea typeface="黑体" panose="02010609060101010101" pitchFamily="2" charset="-122"/>
              </a:rPr>
              <a:t>解</a:t>
            </a:r>
            <a:endParaRPr lang="zh-CN" altLang="en-US">
              <a:effectLst>
                <a:outerShdw blurRad="38100" dist="38100" dir="2700000">
                  <a:srgbClr val="FFFFFF"/>
                </a:outerShdw>
              </a:effectLst>
              <a:latin typeface="Times New Roman" panose="02020603050405020304" pitchFamily="18" charset="0"/>
              <a:ea typeface="黑体" panose="02010609060101010101" pitchFamily="2" charset="-122"/>
            </a:endParaRPr>
          </a:p>
        </p:txBody>
      </p:sp>
      <p:sp>
        <p:nvSpPr>
          <p:cNvPr id="59397" name="文本框 59396"/>
          <p:cNvSpPr txBox="1"/>
          <p:nvPr/>
        </p:nvSpPr>
        <p:spPr>
          <a:xfrm>
            <a:off x="1676400" y="2590800"/>
            <a:ext cx="4058285" cy="521970"/>
          </a:xfrm>
          <a:prstGeom prst="rect">
            <a:avLst/>
          </a:prstGeom>
          <a:noFill/>
          <a:ln w="9525">
            <a:noFill/>
          </a:ln>
        </p:spPr>
        <p:txBody>
          <a:bodyPr wrap="square">
            <a:spAutoFit/>
          </a:bodyPr>
          <a:p>
            <a:pPr>
              <a:spcBef>
                <a:spcPct val="50000"/>
              </a:spcBef>
            </a:pPr>
            <a:r>
              <a:rPr lang="zh-CN" altLang="en-US">
                <a:latin typeface="Times New Roman" panose="02020603050405020304" pitchFamily="18" charset="0"/>
              </a:rPr>
              <a:t>由三阶行列式定义得</a:t>
            </a:r>
            <a:endParaRPr lang="zh-CN" altLang="en-US">
              <a:latin typeface="Times New Roman" panose="02020603050405020304" pitchFamily="18" charset="0"/>
            </a:endParaRPr>
          </a:p>
        </p:txBody>
      </p:sp>
      <p:graphicFrame>
        <p:nvGraphicFramePr>
          <p:cNvPr id="2" name="对象 -2147482586"/>
          <p:cNvGraphicFramePr>
            <a:graphicFrameLocks noChangeAspect="1"/>
          </p:cNvGraphicFramePr>
          <p:nvPr/>
        </p:nvGraphicFramePr>
        <p:xfrm>
          <a:off x="3564255" y="944880"/>
          <a:ext cx="2170430" cy="1318895"/>
        </p:xfrm>
        <a:graphic>
          <a:graphicData uri="http://schemas.openxmlformats.org/presentationml/2006/ole">
            <mc:AlternateContent xmlns:mc="http://schemas.openxmlformats.org/markup-compatibility/2006">
              <mc:Choice xmlns:v="urn:schemas-microsoft-com:vml" Requires="v">
                <p:oleObj spid="_x0000_s3076" name="" r:id="rId1" imgW="1168400" imgH="711200" progId="Equation.DSMT4">
                  <p:embed/>
                </p:oleObj>
              </mc:Choice>
              <mc:Fallback>
                <p:oleObj name="" r:id="rId1" imgW="1168400" imgH="711200" progId="Equation.DSMT4">
                  <p:embed/>
                  <p:pic>
                    <p:nvPicPr>
                      <p:cNvPr id="0" name="图片 3075"/>
                      <p:cNvPicPr/>
                      <p:nvPr/>
                    </p:nvPicPr>
                    <p:blipFill>
                      <a:blip r:embed="rId2"/>
                      <a:stretch>
                        <a:fillRect/>
                      </a:stretch>
                    </p:blipFill>
                    <p:spPr>
                      <a:xfrm>
                        <a:off x="3564255" y="944880"/>
                        <a:ext cx="2170430" cy="1318895"/>
                      </a:xfrm>
                      <a:prstGeom prst="rect">
                        <a:avLst/>
                      </a:prstGeom>
                      <a:noFill/>
                      <a:ln w="38100">
                        <a:noFill/>
                        <a:miter/>
                      </a:ln>
                    </p:spPr>
                  </p:pic>
                </p:oleObj>
              </mc:Fallback>
            </mc:AlternateContent>
          </a:graphicData>
        </a:graphic>
      </p:graphicFrame>
      <p:graphicFrame>
        <p:nvGraphicFramePr>
          <p:cNvPr id="3" name="对象 -2147482585"/>
          <p:cNvGraphicFramePr>
            <a:graphicFrameLocks noChangeAspect="1"/>
          </p:cNvGraphicFramePr>
          <p:nvPr/>
        </p:nvGraphicFramePr>
        <p:xfrm>
          <a:off x="2339658" y="3356610"/>
          <a:ext cx="4043680" cy="481965"/>
        </p:xfrm>
        <a:graphic>
          <a:graphicData uri="http://schemas.openxmlformats.org/presentationml/2006/ole">
            <mc:AlternateContent xmlns:mc="http://schemas.openxmlformats.org/markup-compatibility/2006">
              <mc:Choice xmlns:v="urn:schemas-microsoft-com:vml" Requires="v">
                <p:oleObj spid="_x0000_s4" name="" r:id="rId3" imgW="1701800" imgH="203200" progId="Equation.DSMT4">
                  <p:embed/>
                </p:oleObj>
              </mc:Choice>
              <mc:Fallback>
                <p:oleObj name="" r:id="rId3" imgW="1701800" imgH="203200" progId="Equation.DSMT4">
                  <p:embed/>
                  <p:pic>
                    <p:nvPicPr>
                      <p:cNvPr id="0" name="图片 1"/>
                      <p:cNvPicPr/>
                      <p:nvPr/>
                    </p:nvPicPr>
                    <p:blipFill>
                      <a:blip r:embed="rId4"/>
                      <a:stretch>
                        <a:fillRect/>
                      </a:stretch>
                    </p:blipFill>
                    <p:spPr>
                      <a:xfrm>
                        <a:off x="2339658" y="3356610"/>
                        <a:ext cx="4043680" cy="481965"/>
                      </a:xfrm>
                      <a:prstGeom prst="rect">
                        <a:avLst/>
                      </a:prstGeom>
                      <a:noFill/>
                      <a:ln w="38100">
                        <a:noFill/>
                        <a:miter/>
                      </a:ln>
                    </p:spPr>
                  </p:pic>
                </p:oleObj>
              </mc:Fallback>
            </mc:AlternateContent>
          </a:graphicData>
        </a:graphic>
      </p:graphicFrame>
      <p:graphicFrame>
        <p:nvGraphicFramePr>
          <p:cNvPr id="5" name="对象 4"/>
          <p:cNvGraphicFramePr/>
          <p:nvPr/>
        </p:nvGraphicFramePr>
        <p:xfrm>
          <a:off x="2627630" y="3932555"/>
          <a:ext cx="3261995" cy="498475"/>
        </p:xfrm>
        <a:graphic>
          <a:graphicData uri="http://schemas.openxmlformats.org/presentationml/2006/ole">
            <mc:AlternateContent xmlns:mc="http://schemas.openxmlformats.org/markup-compatibility/2006">
              <mc:Choice xmlns:v="urn:schemas-microsoft-com:vml" Requires="v">
                <p:oleObj spid="_x0000_s6" name="" r:id="rId5" imgW="2760980" imgH="488950" progId="Equation.DSMT4">
                  <p:embed/>
                </p:oleObj>
              </mc:Choice>
              <mc:Fallback>
                <p:oleObj name="" r:id="rId5" imgW="2760980" imgH="488950" progId="Equation.DSMT4">
                  <p:embed/>
                  <p:pic>
                    <p:nvPicPr>
                      <p:cNvPr id="0" name="图片 3"/>
                      <p:cNvPicPr/>
                      <p:nvPr/>
                    </p:nvPicPr>
                    <p:blipFill>
                      <a:blip r:embed="rId6"/>
                      <a:stretch>
                        <a:fillRect/>
                      </a:stretch>
                    </p:blipFill>
                    <p:spPr>
                      <a:xfrm>
                        <a:off x="2627630" y="3932555"/>
                        <a:ext cx="3261995" cy="498475"/>
                      </a:xfrm>
                      <a:prstGeom prst="rect">
                        <a:avLst/>
                      </a:prstGeom>
                    </p:spPr>
                  </p:pic>
                </p:oleObj>
              </mc:Fallback>
            </mc:AlternateContent>
          </a:graphicData>
        </a:graphic>
      </p:graphicFrame>
      <p:grpSp>
        <p:nvGrpSpPr>
          <p:cNvPr id="11" name="组合 10"/>
          <p:cNvGrpSpPr/>
          <p:nvPr/>
        </p:nvGrpSpPr>
        <p:grpSpPr>
          <a:xfrm>
            <a:off x="1907540" y="4652645"/>
            <a:ext cx="3902710" cy="523875"/>
            <a:chOff x="3004" y="7327"/>
            <a:chExt cx="6146" cy="825"/>
          </a:xfrm>
        </p:grpSpPr>
        <p:graphicFrame>
          <p:nvGraphicFramePr>
            <p:cNvPr id="7" name="对象 -2147482584"/>
            <p:cNvGraphicFramePr>
              <a:graphicFrameLocks noChangeAspect="1"/>
            </p:cNvGraphicFramePr>
            <p:nvPr/>
          </p:nvGraphicFramePr>
          <p:xfrm>
            <a:off x="4252" y="7327"/>
            <a:ext cx="4899" cy="815"/>
          </p:xfrm>
          <a:graphic>
            <a:graphicData uri="http://schemas.openxmlformats.org/presentationml/2006/ole">
              <mc:AlternateContent xmlns:mc="http://schemas.openxmlformats.org/markup-compatibility/2006">
                <mc:Choice xmlns:v="urn:schemas-microsoft-com:vml" Requires="v">
                  <p:oleObj spid="_x0000_s8" name="" r:id="rId7" imgW="1130300" imgH="203200" progId="Equation.DSMT4">
                    <p:embed/>
                  </p:oleObj>
                </mc:Choice>
                <mc:Fallback>
                  <p:oleObj name="" r:id="rId7" imgW="1130300" imgH="203200" progId="Equation.DSMT4">
                    <p:embed/>
                    <p:pic>
                      <p:nvPicPr>
                        <p:cNvPr id="0" name="图片 4"/>
                        <p:cNvPicPr/>
                        <p:nvPr/>
                      </p:nvPicPr>
                      <p:blipFill>
                        <a:blip r:embed="rId8"/>
                        <a:stretch>
                          <a:fillRect/>
                        </a:stretch>
                      </p:blipFill>
                      <p:spPr>
                        <a:xfrm>
                          <a:off x="4252" y="7327"/>
                          <a:ext cx="4899" cy="815"/>
                        </a:xfrm>
                        <a:prstGeom prst="rect">
                          <a:avLst/>
                        </a:prstGeom>
                        <a:noFill/>
                        <a:ln w="38100">
                          <a:noFill/>
                          <a:miter/>
                        </a:ln>
                      </p:spPr>
                    </p:pic>
                  </p:oleObj>
                </mc:Fallback>
              </mc:AlternateContent>
            </a:graphicData>
          </a:graphic>
        </p:graphicFrame>
        <p:sp>
          <p:nvSpPr>
            <p:cNvPr id="9" name="文本框 8"/>
            <p:cNvSpPr txBox="1"/>
            <p:nvPr/>
          </p:nvSpPr>
          <p:spPr>
            <a:xfrm>
              <a:off x="3004" y="7330"/>
              <a:ext cx="1285" cy="822"/>
            </a:xfrm>
            <a:prstGeom prst="rect">
              <a:avLst/>
            </a:prstGeom>
            <a:noFill/>
          </p:spPr>
          <p:txBody>
            <a:bodyPr wrap="square" rtlCol="0" anchor="t">
              <a:spAutoFit/>
            </a:bodyPr>
            <a:p>
              <a:r>
                <a:rPr lang="zh-CN" altLang="en-US">
                  <a:sym typeface="+mn-ea"/>
                </a:rPr>
                <a:t>即</a:t>
              </a:r>
              <a:endParaRPr lang="zh-CN" altLang="en-US">
                <a:sym typeface="+mn-ea"/>
              </a:endParaRPr>
            </a:p>
          </p:txBody>
        </p:sp>
      </p:grpSp>
      <p:grpSp>
        <p:nvGrpSpPr>
          <p:cNvPr id="10" name="组合 9"/>
          <p:cNvGrpSpPr/>
          <p:nvPr/>
        </p:nvGrpSpPr>
        <p:grpSpPr>
          <a:xfrm>
            <a:off x="1259840" y="5445125"/>
            <a:ext cx="4608830" cy="544830"/>
            <a:chOff x="1984" y="8575"/>
            <a:chExt cx="7258" cy="858"/>
          </a:xfrm>
        </p:grpSpPr>
        <p:sp>
          <p:nvSpPr>
            <p:cNvPr id="12" name="文本框 11"/>
            <p:cNvSpPr txBox="1"/>
            <p:nvPr/>
          </p:nvSpPr>
          <p:spPr>
            <a:xfrm>
              <a:off x="1984" y="8575"/>
              <a:ext cx="4389" cy="822"/>
            </a:xfrm>
            <a:prstGeom prst="rect">
              <a:avLst/>
            </a:prstGeom>
          </p:spPr>
          <p:txBody>
            <a:bodyPr wrap="square">
              <a:spAutoFit/>
            </a:bodyPr>
            <a:p>
              <a:pPr algn="just" defTabSz="266700"/>
              <a:r>
                <a:rPr lang="zh-CN" altLang="en-US">
                  <a:solidFill>
                    <a:srgbClr val="000000"/>
                  </a:solidFill>
                  <a:latin typeface="Times New Roman" panose="02020603050405020304"/>
                  <a:ea typeface="宋体" panose="02010600030101010101" pitchFamily="2" charset="-122"/>
                </a:rPr>
                <a:t>解得方程的解为</a:t>
              </a:r>
              <a:endParaRPr lang="zh-CN" altLang="en-US">
                <a:solidFill>
                  <a:srgbClr val="000000"/>
                </a:solidFill>
                <a:latin typeface="Times New Roman" panose="02020603050405020304"/>
                <a:ea typeface="宋体" panose="02010600030101010101" pitchFamily="2" charset="-122"/>
              </a:endParaRPr>
            </a:p>
          </p:txBody>
        </p:sp>
        <p:graphicFrame>
          <p:nvGraphicFramePr>
            <p:cNvPr id="13" name="对象 -2147482583"/>
            <p:cNvGraphicFramePr>
              <a:graphicFrameLocks noChangeAspect="1"/>
            </p:cNvGraphicFramePr>
            <p:nvPr/>
          </p:nvGraphicFramePr>
          <p:xfrm>
            <a:off x="6180" y="8575"/>
            <a:ext cx="3063" cy="859"/>
          </p:xfrm>
          <a:graphic>
            <a:graphicData uri="http://schemas.openxmlformats.org/presentationml/2006/ole">
              <mc:AlternateContent xmlns:mc="http://schemas.openxmlformats.org/markup-compatibility/2006">
                <mc:Choice xmlns:v="urn:schemas-microsoft-com:vml" Requires="v">
                  <p:oleObj spid="_x0000_s14" name="" r:id="rId9" imgW="812800" imgH="228600" progId="Equation.DSMT4">
                    <p:embed/>
                  </p:oleObj>
                </mc:Choice>
                <mc:Fallback>
                  <p:oleObj name="" r:id="rId9" imgW="812800" imgH="228600" progId="Equation.DSMT4">
                    <p:embed/>
                    <p:pic>
                      <p:nvPicPr>
                        <p:cNvPr id="0" name="图片 8"/>
                        <p:cNvPicPr/>
                        <p:nvPr/>
                      </p:nvPicPr>
                      <p:blipFill>
                        <a:blip r:embed="rId10"/>
                        <a:stretch>
                          <a:fillRect/>
                        </a:stretch>
                      </p:blipFill>
                      <p:spPr>
                        <a:xfrm>
                          <a:off x="6180" y="8575"/>
                          <a:ext cx="3063" cy="859"/>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wipe(left)">
                                      <p:cBhvr>
                                        <p:cTn id="7" dur="500"/>
                                        <p:tgtEl>
                                          <p:spTgt spid="593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397"/>
                                        </p:tgtEl>
                                        <p:attrNameLst>
                                          <p:attrName>style.visibility</p:attrName>
                                        </p:attrNameLst>
                                      </p:cBhvr>
                                      <p:to>
                                        <p:strVal val="visible"/>
                                      </p:to>
                                    </p:set>
                                    <p:animEffect transition="in" filter="wipe(left)">
                                      <p:cBhvr>
                                        <p:cTn id="12" dur="500"/>
                                        <p:tgtEl>
                                          <p:spTgt spid="5939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p:bldP spid="5939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矩形 62465"/>
          <p:cNvSpPr/>
          <p:nvPr/>
        </p:nvSpPr>
        <p:spPr>
          <a:xfrm>
            <a:off x="827405" y="1473200"/>
            <a:ext cx="7704455" cy="1042670"/>
          </a:xfrm>
          <a:prstGeom prst="rect">
            <a:avLst/>
          </a:prstGeom>
          <a:noFill/>
          <a:ln w="9525">
            <a:noFill/>
          </a:ln>
        </p:spPr>
        <p:txBody>
          <a:bodyPr wrap="none" anchor="t" anchorCtr="0">
            <a:noAutofit/>
          </a:bodyPr>
          <a:p>
            <a:r>
              <a:rPr lang="en-US" altLang="zh-CN" dirty="0">
                <a:solidFill>
                  <a:schemeClr val="bg2"/>
                </a:solidFill>
                <a:latin typeface="Times New Roman" panose="02020603050405020304" pitchFamily="18" charset="0"/>
              </a:rPr>
              <a:t>        </a:t>
            </a:r>
            <a:r>
              <a:rPr lang="zh-CN" altLang="en-US" dirty="0">
                <a:latin typeface="Times New Roman" panose="02020603050405020304" pitchFamily="18" charset="0"/>
              </a:rPr>
              <a:t>二阶和三阶行列式是由解二元和三元线性方</a:t>
            </a:r>
            <a:endParaRPr lang="zh-CN" altLang="en-US" dirty="0">
              <a:latin typeface="Times New Roman" panose="02020603050405020304" pitchFamily="18" charset="0"/>
            </a:endParaRPr>
          </a:p>
          <a:p>
            <a:r>
              <a:rPr lang="zh-CN" altLang="en-US" dirty="0">
                <a:latin typeface="Times New Roman" panose="02020603050405020304" pitchFamily="18" charset="0"/>
              </a:rPr>
              <a:t>程组引入的</a:t>
            </a:r>
            <a:r>
              <a:rPr lang="en-US" altLang="zh-CN">
                <a:latin typeface="Times New Roman" panose="02020603050405020304" pitchFamily="18" charset="0"/>
              </a:rPr>
              <a:t>.</a:t>
            </a:r>
            <a:endParaRPr lang="en-US" altLang="zh-CN">
              <a:latin typeface="Times New Roman" panose="02020603050405020304" pitchFamily="18" charset="0"/>
            </a:endParaRPr>
          </a:p>
        </p:txBody>
      </p:sp>
      <p:grpSp>
        <p:nvGrpSpPr>
          <p:cNvPr id="62467" name="组合 62466"/>
          <p:cNvGrpSpPr/>
          <p:nvPr/>
        </p:nvGrpSpPr>
        <p:grpSpPr>
          <a:xfrm>
            <a:off x="1475740" y="2421255"/>
            <a:ext cx="6702425" cy="519113"/>
            <a:chOff x="1056" y="1632"/>
            <a:chExt cx="4222" cy="327"/>
          </a:xfrm>
        </p:grpSpPr>
        <p:sp>
          <p:nvSpPr>
            <p:cNvPr id="62468" name="矩形 62467"/>
            <p:cNvSpPr/>
            <p:nvPr/>
          </p:nvSpPr>
          <p:spPr>
            <a:xfrm>
              <a:off x="4032" y="1632"/>
              <a:ext cx="1246" cy="327"/>
            </a:xfrm>
            <a:prstGeom prst="rect">
              <a:avLst/>
            </a:prstGeom>
            <a:noFill/>
            <a:ln w="9525">
              <a:noFill/>
            </a:ln>
          </p:spPr>
          <p:txBody>
            <a:bodyPr wrap="none" anchor="t" anchorCtr="0">
              <a:spAutoFit/>
            </a:bodyPr>
            <a:p>
              <a:r>
                <a:rPr lang="zh-CN" altLang="en-US" dirty="0">
                  <a:latin typeface="Times New Roman" panose="02020603050405020304" pitchFamily="18" charset="0"/>
                </a:rPr>
                <a:t>对角线法则</a:t>
              </a:r>
              <a:endParaRPr lang="zh-CN" altLang="en-US" dirty="0">
                <a:latin typeface="Times New Roman" panose="02020603050405020304" pitchFamily="18" charset="0"/>
              </a:endParaRPr>
            </a:p>
          </p:txBody>
        </p:sp>
        <p:sp>
          <p:nvSpPr>
            <p:cNvPr id="62469" name="矩形 62468"/>
            <p:cNvSpPr/>
            <p:nvPr/>
          </p:nvSpPr>
          <p:spPr>
            <a:xfrm>
              <a:off x="1056" y="1632"/>
              <a:ext cx="2602" cy="327"/>
            </a:xfrm>
            <a:prstGeom prst="rect">
              <a:avLst/>
            </a:prstGeom>
            <a:noFill/>
            <a:ln w="9525">
              <a:noFill/>
            </a:ln>
          </p:spPr>
          <p:txBody>
            <a:bodyPr wrap="none" anchor="t" anchorCtr="0">
              <a:spAutoFit/>
            </a:bodyPr>
            <a:p>
              <a:r>
                <a:rPr lang="zh-CN" altLang="en-US" dirty="0">
                  <a:latin typeface="Times New Roman" panose="02020603050405020304" pitchFamily="18" charset="0"/>
                </a:rPr>
                <a:t>二阶与三阶行列式的计算</a:t>
              </a:r>
              <a:endParaRPr lang="zh-CN" altLang="en-US" dirty="0">
                <a:latin typeface="Times New Roman" panose="02020603050405020304" pitchFamily="18" charset="0"/>
              </a:endParaRPr>
            </a:p>
          </p:txBody>
        </p:sp>
        <p:sp>
          <p:nvSpPr>
            <p:cNvPr id="62470" name="直接连接符 62469"/>
            <p:cNvSpPr/>
            <p:nvPr/>
          </p:nvSpPr>
          <p:spPr>
            <a:xfrm>
              <a:off x="3648" y="1824"/>
              <a:ext cx="432" cy="0"/>
            </a:xfrm>
            <a:prstGeom prst="line">
              <a:avLst/>
            </a:prstGeom>
            <a:ln w="38100" cap="flat" cmpd="sng">
              <a:solidFill>
                <a:srgbClr val="0000FF"/>
              </a:solidFill>
              <a:prstDash val="solid"/>
              <a:headEnd type="none" w="med" len="med"/>
              <a:tailEnd type="none" w="med" len="med"/>
            </a:ln>
          </p:spPr>
        </p:sp>
      </p:grpSp>
      <p:graphicFrame>
        <p:nvGraphicFramePr>
          <p:cNvPr id="62471" name="对象 62470"/>
          <p:cNvGraphicFramePr/>
          <p:nvPr/>
        </p:nvGraphicFramePr>
        <p:xfrm>
          <a:off x="1259840" y="3213100"/>
          <a:ext cx="3759200" cy="977900"/>
        </p:xfrm>
        <a:graphic>
          <a:graphicData uri="http://schemas.openxmlformats.org/presentationml/2006/ole">
            <mc:AlternateContent xmlns:mc="http://schemas.openxmlformats.org/markup-compatibility/2006">
              <mc:Choice xmlns:v="urn:schemas-microsoft-com:vml" Requires="v">
                <p:oleObj spid="_x0000_s3137" name="" r:id="rId1" imgW="3759200" imgH="977900" progId="Equation.3">
                  <p:embed/>
                </p:oleObj>
              </mc:Choice>
              <mc:Fallback>
                <p:oleObj name="" r:id="rId1" imgW="3759200" imgH="977900" progId="Equation.3">
                  <p:embed/>
                  <p:pic>
                    <p:nvPicPr>
                      <p:cNvPr id="0" name="图片 3136"/>
                      <p:cNvPicPr/>
                      <p:nvPr/>
                    </p:nvPicPr>
                    <p:blipFill>
                      <a:blip r:embed="rId2"/>
                      <a:stretch>
                        <a:fillRect/>
                      </a:stretch>
                    </p:blipFill>
                    <p:spPr>
                      <a:xfrm>
                        <a:off x="1259840" y="3213100"/>
                        <a:ext cx="3759200" cy="977900"/>
                      </a:xfrm>
                      <a:prstGeom prst="rect">
                        <a:avLst/>
                      </a:prstGeom>
                      <a:noFill/>
                      <a:ln w="38100">
                        <a:noFill/>
                        <a:miter/>
                      </a:ln>
                    </p:spPr>
                  </p:pic>
                </p:oleObj>
              </mc:Fallback>
            </mc:AlternateContent>
          </a:graphicData>
        </a:graphic>
      </p:graphicFrame>
      <p:graphicFrame>
        <p:nvGraphicFramePr>
          <p:cNvPr id="62472" name="对象 62471"/>
          <p:cNvGraphicFramePr/>
          <p:nvPr/>
        </p:nvGraphicFramePr>
        <p:xfrm>
          <a:off x="3359150" y="4913630"/>
          <a:ext cx="5121910" cy="1176655"/>
        </p:xfrm>
        <a:graphic>
          <a:graphicData uri="http://schemas.openxmlformats.org/presentationml/2006/ole">
            <mc:AlternateContent xmlns:mc="http://schemas.openxmlformats.org/markup-compatibility/2006">
              <mc:Choice xmlns:v="urn:schemas-microsoft-com:vml" Requires="v">
                <p:oleObj spid="_x0000_s3135" name="" r:id="rId3" imgW="2120900" imgH="457200" progId="Equation.3">
                  <p:embed/>
                </p:oleObj>
              </mc:Choice>
              <mc:Fallback>
                <p:oleObj name="" r:id="rId3" imgW="2120900" imgH="457200" progId="Equation.3">
                  <p:embed/>
                  <p:pic>
                    <p:nvPicPr>
                      <p:cNvPr id="0" name="图片 3134"/>
                      <p:cNvPicPr/>
                      <p:nvPr/>
                    </p:nvPicPr>
                    <p:blipFill>
                      <a:blip r:embed="rId4"/>
                      <a:stretch>
                        <a:fillRect/>
                      </a:stretch>
                    </p:blipFill>
                    <p:spPr>
                      <a:xfrm>
                        <a:off x="3359150" y="4913630"/>
                        <a:ext cx="5121910" cy="1176655"/>
                      </a:xfrm>
                      <a:prstGeom prst="rect">
                        <a:avLst/>
                      </a:prstGeom>
                      <a:noFill/>
                      <a:ln w="38100">
                        <a:noFill/>
                        <a:miter/>
                      </a:ln>
                    </p:spPr>
                  </p:pic>
                </p:oleObj>
              </mc:Fallback>
            </mc:AlternateContent>
          </a:graphicData>
        </a:graphic>
      </p:graphicFrame>
      <p:graphicFrame>
        <p:nvGraphicFramePr>
          <p:cNvPr id="62473" name="对象 62472"/>
          <p:cNvGraphicFramePr/>
          <p:nvPr/>
        </p:nvGraphicFramePr>
        <p:xfrm>
          <a:off x="1219200" y="4491990"/>
          <a:ext cx="2057400" cy="1536700"/>
        </p:xfrm>
        <a:graphic>
          <a:graphicData uri="http://schemas.openxmlformats.org/presentationml/2006/ole">
            <mc:AlternateContent xmlns:mc="http://schemas.openxmlformats.org/markup-compatibility/2006">
              <mc:Choice xmlns:v="urn:schemas-microsoft-com:vml" Requires="v">
                <p:oleObj spid="_x0000_s3139" name="" r:id="rId5" imgW="2057400" imgH="1536700" progId="Equation.3">
                  <p:embed/>
                </p:oleObj>
              </mc:Choice>
              <mc:Fallback>
                <p:oleObj name="" r:id="rId5" imgW="2057400" imgH="1536700" progId="Equation.3">
                  <p:embed/>
                  <p:pic>
                    <p:nvPicPr>
                      <p:cNvPr id="0" name="图片 3138"/>
                      <p:cNvPicPr/>
                      <p:nvPr/>
                    </p:nvPicPr>
                    <p:blipFill>
                      <a:blip r:embed="rId6"/>
                      <a:stretch>
                        <a:fillRect/>
                      </a:stretch>
                    </p:blipFill>
                    <p:spPr>
                      <a:xfrm>
                        <a:off x="1219200" y="4491990"/>
                        <a:ext cx="2057400" cy="1536700"/>
                      </a:xfrm>
                      <a:prstGeom prst="rect">
                        <a:avLst/>
                      </a:prstGeom>
                      <a:noFill/>
                      <a:ln w="38100">
                        <a:noFill/>
                        <a:miter/>
                      </a:ln>
                    </p:spPr>
                  </p:pic>
                </p:oleObj>
              </mc:Fallback>
            </mc:AlternateContent>
          </a:graphicData>
        </a:graphic>
      </p:graphicFrame>
      <p:sp>
        <p:nvSpPr>
          <p:cNvPr id="62474" name="标题 62473"/>
          <p:cNvSpPr>
            <a:spLocks noGrp="1"/>
          </p:cNvSpPr>
          <p:nvPr>
            <p:ph type="title"/>
          </p:nvPr>
        </p:nvSpPr>
        <p:spPr>
          <a:xfrm>
            <a:off x="685800" y="467360"/>
            <a:ext cx="7772400" cy="1005840"/>
          </a:xfrm>
        </p:spPr>
        <p:txBody>
          <a:bodyPr anchor="ctr" anchorCtr="0"/>
          <a:p>
            <a:pPr algn="l"/>
            <a:r>
              <a:rPr lang="zh-CN" altLang="en-US" dirty="0">
                <a:solidFill>
                  <a:srgbClr val="0000FF"/>
                </a:solidFill>
              </a:rPr>
              <a:t>三、小结</a:t>
            </a:r>
            <a:endParaRPr lang="zh-CN" altLang="en-US">
              <a:solidFill>
                <a:srgbClr val="0000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wipe(left)">
                                      <p:cBhvr>
                                        <p:cTn id="7" dur="500"/>
                                        <p:tgtEl>
                                          <p:spTgt spid="62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2467"/>
                                        </p:tgtEl>
                                        <p:attrNameLst>
                                          <p:attrName>style.visibility</p:attrName>
                                        </p:attrNameLst>
                                      </p:cBhvr>
                                      <p:to>
                                        <p:strVal val="visible"/>
                                      </p:to>
                                    </p:set>
                                    <p:animEffect transition="in" filter="wipe(left)">
                                      <p:cBhvr>
                                        <p:cTn id="12" dur="500"/>
                                        <p:tgtEl>
                                          <p:spTgt spid="624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2471"/>
                                        </p:tgtEl>
                                        <p:attrNameLst>
                                          <p:attrName>style.visibility</p:attrName>
                                        </p:attrNameLst>
                                      </p:cBhvr>
                                      <p:to>
                                        <p:strVal val="visible"/>
                                      </p:to>
                                    </p:set>
                                    <p:animEffect transition="in" filter="wipe(left)">
                                      <p:cBhvr>
                                        <p:cTn id="17" dur="500"/>
                                        <p:tgtEl>
                                          <p:spTgt spid="624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2473"/>
                                        </p:tgtEl>
                                        <p:attrNameLst>
                                          <p:attrName>style.visibility</p:attrName>
                                        </p:attrNameLst>
                                      </p:cBhvr>
                                      <p:to>
                                        <p:strVal val="visible"/>
                                      </p:to>
                                    </p:set>
                                    <p:animEffect transition="in" filter="wipe(left)">
                                      <p:cBhvr>
                                        <p:cTn id="22" dur="500"/>
                                        <p:tgtEl>
                                          <p:spTgt spid="6247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2472"/>
                                        </p:tgtEl>
                                        <p:attrNameLst>
                                          <p:attrName>style.visibility</p:attrName>
                                        </p:attrNameLst>
                                      </p:cBhvr>
                                      <p:to>
                                        <p:strVal val="visible"/>
                                      </p:to>
                                    </p:set>
                                    <p:animEffect transition="in" filter="wipe(left)">
                                      <p:cBhvr>
                                        <p:cTn id="27" dur="500"/>
                                        <p:tgtEl>
                                          <p:spTgt spid="62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矩形 12289"/>
          <p:cNvSpPr/>
          <p:nvPr/>
        </p:nvSpPr>
        <p:spPr>
          <a:xfrm>
            <a:off x="1905000" y="304800"/>
            <a:ext cx="3243580" cy="706755"/>
          </a:xfrm>
          <a:prstGeom prst="rect">
            <a:avLst/>
          </a:prstGeom>
          <a:noFill/>
          <a:ln w="9525">
            <a:noFill/>
          </a:ln>
        </p:spPr>
        <p:txBody>
          <a:bodyPr wrap="none" anchor="t" anchorCtr="0">
            <a:spAutoFit/>
          </a:bodyPr>
          <a:p>
            <a:r>
              <a:rPr lang="en-US" altLang="zh-CN" sz="4000">
                <a:solidFill>
                  <a:srgbClr val="FF3300"/>
                </a:solidFill>
                <a:latin typeface="Times New Roman" panose="02020603050405020304" pitchFamily="18" charset="0"/>
                <a:ea typeface="黑体" panose="02010609060101010101" pitchFamily="2" charset="-122"/>
              </a:rPr>
              <a:t>2  </a:t>
            </a:r>
            <a:r>
              <a:rPr lang="zh-CN" altLang="en-US" sz="4000" dirty="0">
                <a:solidFill>
                  <a:srgbClr val="FF3300"/>
                </a:solidFill>
                <a:latin typeface="Times New Roman" panose="02020603050405020304" pitchFamily="18" charset="0"/>
                <a:ea typeface="黑体" panose="02010609060101010101" pitchFamily="2" charset="-122"/>
              </a:rPr>
              <a:t>排列及对换</a:t>
            </a:r>
            <a:endParaRPr lang="zh-CN" altLang="en-US" sz="4000" dirty="0">
              <a:solidFill>
                <a:srgbClr val="FF3300"/>
              </a:solidFill>
              <a:latin typeface="Times New Roman" panose="02020603050405020304" pitchFamily="18" charset="0"/>
              <a:ea typeface="黑体" panose="02010609060101010101" pitchFamily="2" charset="-122"/>
            </a:endParaRPr>
          </a:p>
        </p:txBody>
      </p:sp>
      <p:sp>
        <p:nvSpPr>
          <p:cNvPr id="12300" name="文本框 12299"/>
          <p:cNvSpPr txBox="1"/>
          <p:nvPr/>
        </p:nvSpPr>
        <p:spPr>
          <a:xfrm>
            <a:off x="395605" y="1772920"/>
            <a:ext cx="8380095" cy="2460625"/>
          </a:xfrm>
          <a:prstGeom prst="rect">
            <a:avLst/>
          </a:prstGeom>
          <a:noFill/>
          <a:ln w="9525">
            <a:noFill/>
          </a:ln>
        </p:spPr>
        <p:txBody>
          <a:bodyPr wrap="square">
            <a:spAutoFit/>
          </a:bodyPr>
          <a:p>
            <a:pPr>
              <a:lnSpc>
                <a:spcPct val="110000"/>
              </a:lnSpc>
            </a:pPr>
            <a:r>
              <a:rPr lang="en-US" altLang="zh-CN" dirty="0">
                <a:solidFill>
                  <a:srgbClr val="0606FA"/>
                </a:solidFill>
                <a:latin typeface="Times New Roman" panose="02020603050405020304" pitchFamily="18" charset="0"/>
                <a:ea typeface="黑体" panose="02010609060101010101" pitchFamily="2" charset="-122"/>
              </a:rPr>
              <a:t>      </a:t>
            </a:r>
            <a:r>
              <a:rPr lang="zh-CN" altLang="en-US" dirty="0">
                <a:solidFill>
                  <a:srgbClr val="FF3300"/>
                </a:solidFill>
                <a:latin typeface="Times New Roman" panose="02020603050405020304" pitchFamily="18" charset="0"/>
                <a:ea typeface="黑体" panose="02010609060101010101" pitchFamily="2" charset="-122"/>
              </a:rPr>
              <a:t>定义</a:t>
            </a:r>
            <a:r>
              <a:rPr lang="en-US" altLang="zh-CN">
                <a:solidFill>
                  <a:srgbClr val="FF3300"/>
                </a:solidFill>
                <a:latin typeface="Times New Roman" panose="02020603050405020304" pitchFamily="18" charset="0"/>
                <a:ea typeface="黑体" panose="02010609060101010101" pitchFamily="2" charset="-122"/>
              </a:rPr>
              <a:t>:</a:t>
            </a:r>
            <a:r>
              <a:rPr lang="en-US" altLang="zh-CN">
                <a:solidFill>
                  <a:srgbClr val="0606FA"/>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把自然数</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i="1">
                <a:sym typeface="+mn-ea"/>
              </a:rPr>
              <a:t>n </a:t>
            </a:r>
            <a:r>
              <a:rPr lang="zh-CN" altLang="en-US" dirty="0">
                <a:latin typeface="Times New Roman" panose="02020603050405020304" pitchFamily="18" charset="0"/>
              </a:rPr>
              <a:t>按一定的顺序排成一个数组，称为一个</a:t>
            </a:r>
            <a:r>
              <a:rPr lang="en-US" altLang="zh-CN" i="1">
                <a:sym typeface="+mn-ea"/>
              </a:rPr>
              <a:t>n </a:t>
            </a:r>
            <a:r>
              <a:rPr lang="zh-CN" altLang="en-US" dirty="0">
                <a:latin typeface="Times New Roman" panose="02020603050405020304" pitchFamily="18" charset="0"/>
              </a:rPr>
              <a:t>级排列，简称为</a:t>
            </a:r>
            <a:r>
              <a:rPr lang="zh-CN" altLang="en-US" dirty="0">
                <a:solidFill>
                  <a:srgbClr val="FF0000"/>
                </a:solidFill>
                <a:latin typeface="Times New Roman" panose="02020603050405020304" pitchFamily="18" charset="0"/>
              </a:rPr>
              <a:t>排列</a:t>
            </a:r>
            <a:r>
              <a:rPr lang="zh-CN" altLang="en-US" dirty="0">
                <a:latin typeface="Times New Roman" panose="02020603050405020304" pitchFamily="18" charset="0"/>
              </a:rPr>
              <a:t>，并把这个排列记为</a:t>
            </a:r>
            <a:r>
              <a:rPr lang="en-US" altLang="zh-CN" dirty="0">
                <a:latin typeface="Times New Roman" panose="02020603050405020304" pitchFamily="18" charset="0"/>
              </a:rPr>
              <a:t>              </a:t>
            </a:r>
            <a:r>
              <a:rPr lang="en-US" altLang="zh-CN">
                <a:latin typeface="Times New Roman" panose="02020603050405020304" pitchFamily="18" charset="0"/>
              </a:rPr>
              <a:t>.</a:t>
            </a:r>
            <a:endParaRPr lang="en-US" altLang="zh-CN">
              <a:latin typeface="Times New Roman" panose="02020603050405020304" pitchFamily="18" charset="0"/>
            </a:endParaRPr>
          </a:p>
          <a:p>
            <a:pPr>
              <a:lnSpc>
                <a:spcPct val="110000"/>
              </a:lnSpc>
            </a:pPr>
            <a:r>
              <a:rPr lang="en-US" altLang="zh-CN">
                <a:solidFill>
                  <a:srgbClr val="FF0000"/>
                </a:solidFill>
                <a:latin typeface="Times New Roman" panose="02020603050405020304" pitchFamily="18" charset="0"/>
              </a:rPr>
              <a:t>     </a:t>
            </a:r>
            <a:r>
              <a:rPr lang="zh-CN" altLang="en-US">
                <a:solidFill>
                  <a:srgbClr val="FF0000"/>
                </a:solidFill>
                <a:latin typeface="Times New Roman" panose="02020603050405020304" pitchFamily="18" charset="0"/>
              </a:rPr>
              <a:t>例如</a:t>
            </a:r>
            <a:r>
              <a:rPr lang="zh-CN" altLang="en-US">
                <a:latin typeface="Times New Roman" panose="02020603050405020304" pitchFamily="18" charset="0"/>
              </a:rPr>
              <a:t>，</a:t>
            </a:r>
            <a:r>
              <a:rPr lang="en-US" altLang="zh-CN">
                <a:latin typeface="Times New Roman" panose="02020603050405020304" pitchFamily="18" charset="0"/>
              </a:rPr>
              <a:t>132</a:t>
            </a:r>
            <a:r>
              <a:rPr lang="zh-CN" altLang="en-US">
                <a:latin typeface="Times New Roman" panose="02020603050405020304" pitchFamily="18" charset="0"/>
              </a:rPr>
              <a:t>和</a:t>
            </a:r>
            <a:r>
              <a:rPr lang="en-US" altLang="zh-CN">
                <a:latin typeface="Times New Roman" panose="02020603050405020304" pitchFamily="18" charset="0"/>
              </a:rPr>
              <a:t>321</a:t>
            </a:r>
            <a:r>
              <a:rPr lang="zh-CN" altLang="en-US">
                <a:latin typeface="Times New Roman" panose="02020603050405020304" pitchFamily="18" charset="0"/>
              </a:rPr>
              <a:t>是</a:t>
            </a:r>
            <a:r>
              <a:rPr lang="en-US" altLang="zh-CN">
                <a:latin typeface="Times New Roman" panose="02020603050405020304" pitchFamily="18" charset="0"/>
              </a:rPr>
              <a:t>3</a:t>
            </a:r>
            <a:r>
              <a:rPr lang="zh-CN" altLang="en-US">
                <a:latin typeface="Times New Roman" panose="02020603050405020304" pitchFamily="18" charset="0"/>
              </a:rPr>
              <a:t>级排列，</a:t>
            </a:r>
            <a:r>
              <a:rPr lang="en-US" altLang="zh-CN">
                <a:latin typeface="Times New Roman" panose="02020603050405020304" pitchFamily="18" charset="0"/>
              </a:rPr>
              <a:t>613524</a:t>
            </a:r>
            <a:r>
              <a:rPr lang="zh-CN" altLang="en-US">
                <a:latin typeface="Times New Roman" panose="02020603050405020304" pitchFamily="18" charset="0"/>
              </a:rPr>
              <a:t>是一个</a:t>
            </a:r>
            <a:r>
              <a:rPr lang="en-US" altLang="zh-CN">
                <a:latin typeface="Times New Roman" panose="02020603050405020304" pitchFamily="18" charset="0"/>
              </a:rPr>
              <a:t>6</a:t>
            </a:r>
            <a:r>
              <a:rPr lang="zh-CN" altLang="en-US">
                <a:latin typeface="Times New Roman" panose="02020603050405020304" pitchFamily="18" charset="0"/>
              </a:rPr>
              <a:t>级排列．</a:t>
            </a:r>
            <a:endParaRPr lang="zh-CN" altLang="en-US">
              <a:latin typeface="Times New Roman" panose="02020603050405020304" pitchFamily="18" charset="0"/>
            </a:endParaRPr>
          </a:p>
        </p:txBody>
      </p:sp>
      <p:sp>
        <p:nvSpPr>
          <p:cNvPr id="12308" name="矩形 12307"/>
          <p:cNvSpPr/>
          <p:nvPr/>
        </p:nvSpPr>
        <p:spPr>
          <a:xfrm>
            <a:off x="1079500" y="914400"/>
            <a:ext cx="2225040" cy="706755"/>
          </a:xfrm>
          <a:prstGeom prst="rect">
            <a:avLst/>
          </a:prstGeom>
          <a:noFill/>
          <a:ln w="9525">
            <a:noFill/>
          </a:ln>
        </p:spPr>
        <p:txBody>
          <a:bodyPr wrap="none" anchor="t" anchorCtr="0">
            <a:spAutoFit/>
          </a:bodyPr>
          <a:p>
            <a:r>
              <a:rPr lang="zh-CN" altLang="en-US" sz="4000" dirty="0">
                <a:solidFill>
                  <a:srgbClr val="0000FF"/>
                </a:solidFill>
                <a:latin typeface="Times New Roman" panose="02020603050405020304" pitchFamily="18" charset="0"/>
                <a:ea typeface="黑体" panose="02010609060101010101" pitchFamily="2" charset="-122"/>
              </a:rPr>
              <a:t>一、排列</a:t>
            </a:r>
            <a:endParaRPr lang="zh-CN" altLang="en-US" sz="4000" dirty="0">
              <a:solidFill>
                <a:srgbClr val="0000FF"/>
              </a:solidFill>
              <a:latin typeface="Times New Roman" panose="02020603050405020304" pitchFamily="18" charset="0"/>
              <a:ea typeface="黑体" panose="02010609060101010101" pitchFamily="2" charset="-122"/>
            </a:endParaRPr>
          </a:p>
        </p:txBody>
      </p:sp>
      <p:graphicFrame>
        <p:nvGraphicFramePr>
          <p:cNvPr id="2" name="对象 -2147482579"/>
          <p:cNvGraphicFramePr>
            <a:graphicFrameLocks noChangeAspect="1"/>
          </p:cNvGraphicFramePr>
          <p:nvPr/>
        </p:nvGraphicFramePr>
        <p:xfrm>
          <a:off x="2339340" y="2816225"/>
          <a:ext cx="1377950" cy="551180"/>
        </p:xfrm>
        <a:graphic>
          <a:graphicData uri="http://schemas.openxmlformats.org/presentationml/2006/ole">
            <mc:AlternateContent xmlns:mc="http://schemas.openxmlformats.org/markup-compatibility/2006">
              <mc:Choice xmlns:v="urn:schemas-microsoft-com:vml" Requires="v">
                <p:oleObj spid="_x0000_s3076" name="" r:id="rId1" imgW="571500" imgH="228600" progId="Equation.DSMT4">
                  <p:embed/>
                </p:oleObj>
              </mc:Choice>
              <mc:Fallback>
                <p:oleObj name="" r:id="rId1" imgW="571500" imgH="228600" progId="Equation.DSMT4">
                  <p:embed/>
                  <p:pic>
                    <p:nvPicPr>
                      <p:cNvPr id="0" name="图片 3075"/>
                      <p:cNvPicPr/>
                      <p:nvPr/>
                    </p:nvPicPr>
                    <p:blipFill>
                      <a:blip r:embed="rId2"/>
                      <a:stretch>
                        <a:fillRect/>
                      </a:stretch>
                    </p:blipFill>
                    <p:spPr>
                      <a:xfrm>
                        <a:off x="2339340" y="2816225"/>
                        <a:ext cx="1377950" cy="551180"/>
                      </a:xfrm>
                      <a:prstGeom prst="rect">
                        <a:avLst/>
                      </a:prstGeom>
                      <a:noFill/>
                      <a:ln w="38100">
                        <a:noFill/>
                        <a:miter/>
                      </a:ln>
                    </p:spPr>
                  </p:pic>
                </p:oleObj>
              </mc:Fallback>
            </mc:AlternateContent>
          </a:graphicData>
        </a:graphic>
      </p:graphicFrame>
      <p:sp>
        <p:nvSpPr>
          <p:cNvPr id="18" name="文本框 17"/>
          <p:cNvSpPr txBox="1"/>
          <p:nvPr/>
        </p:nvSpPr>
        <p:spPr>
          <a:xfrm>
            <a:off x="539115" y="4336415"/>
            <a:ext cx="8225790" cy="1383665"/>
          </a:xfrm>
          <a:prstGeom prst="rect">
            <a:avLst/>
          </a:prstGeom>
          <a:noFill/>
        </p:spPr>
        <p:txBody>
          <a:bodyPr wrap="square" rtlCol="0" anchor="t">
            <a:spAutoFit/>
          </a:bodyPr>
          <a:p>
            <a:r>
              <a:rPr lang="zh-CN" altLang="en-US" dirty="0">
                <a:sym typeface="+mn-ea"/>
              </a:rPr>
              <a:t>自然数</a:t>
            </a:r>
            <a:r>
              <a:rPr lang="en-US" altLang="zh-CN" dirty="0">
                <a:sym typeface="+mn-ea"/>
              </a:rPr>
              <a:t>1</a:t>
            </a:r>
            <a:r>
              <a:rPr lang="zh-CN" altLang="en-US" dirty="0">
                <a:sym typeface="+mn-ea"/>
              </a:rPr>
              <a:t>，</a:t>
            </a:r>
            <a:r>
              <a:rPr lang="en-US" altLang="zh-CN" dirty="0">
                <a:sym typeface="+mn-ea"/>
              </a:rPr>
              <a:t>2</a:t>
            </a:r>
            <a:r>
              <a:rPr lang="zh-CN" altLang="en-US" dirty="0">
                <a:sym typeface="+mn-ea"/>
              </a:rPr>
              <a:t>，</a:t>
            </a:r>
            <a:r>
              <a:rPr lang="en-US" altLang="zh-CN" dirty="0">
                <a:sym typeface="+mn-ea"/>
              </a:rPr>
              <a:t>…</a:t>
            </a:r>
            <a:r>
              <a:rPr lang="zh-CN" altLang="en-US" dirty="0">
                <a:sym typeface="+mn-ea"/>
              </a:rPr>
              <a:t>，</a:t>
            </a:r>
            <a:r>
              <a:rPr lang="en-US" altLang="zh-CN" i="1">
                <a:sym typeface="+mn-ea"/>
              </a:rPr>
              <a:t>n </a:t>
            </a:r>
            <a:r>
              <a:rPr lang="zh-CN" altLang="en-US" dirty="0">
                <a:sym typeface="+mn-ea"/>
              </a:rPr>
              <a:t>可组成</a:t>
            </a:r>
            <a:r>
              <a:rPr lang="en-US" altLang="zh-CN">
                <a:sym typeface="Symbol" panose="05050102010706020507" pitchFamily="18" charset="2"/>
              </a:rPr>
              <a:t> </a:t>
            </a:r>
            <a:r>
              <a:rPr lang="en-US" altLang="zh-CN" i="1">
                <a:sym typeface="+mn-ea"/>
              </a:rPr>
              <a:t>n</a:t>
            </a:r>
            <a:r>
              <a:rPr lang="en-US" altLang="zh-CN">
                <a:sym typeface="Symbol" panose="05050102010706020507" pitchFamily="18" charset="2"/>
              </a:rPr>
              <a:t>! </a:t>
            </a:r>
            <a:r>
              <a:rPr lang="zh-CN" altLang="en-US">
                <a:sym typeface="Symbol" panose="05050102010706020507" pitchFamily="18" charset="2"/>
              </a:rPr>
              <a:t>个</a:t>
            </a:r>
            <a:r>
              <a:rPr lang="en-US" altLang="zh-CN" i="1">
                <a:sym typeface="+mn-ea"/>
              </a:rPr>
              <a:t>n </a:t>
            </a:r>
            <a:r>
              <a:rPr lang="zh-CN" altLang="en-US" dirty="0">
                <a:sym typeface="+mn-ea"/>
              </a:rPr>
              <a:t>级排列，即</a:t>
            </a:r>
            <a:r>
              <a:rPr lang="en-US" altLang="zh-CN" i="1">
                <a:sym typeface="+mn-ea"/>
              </a:rPr>
              <a:t>n </a:t>
            </a:r>
            <a:r>
              <a:rPr lang="zh-CN" altLang="en-US" dirty="0">
                <a:sym typeface="+mn-ea"/>
              </a:rPr>
              <a:t>级排列总数为</a:t>
            </a:r>
            <a:r>
              <a:rPr lang="en-US" altLang="zh-CN" i="1">
                <a:sym typeface="+mn-ea"/>
              </a:rPr>
              <a:t>n</a:t>
            </a:r>
            <a:r>
              <a:rPr lang="en-US" altLang="zh-CN">
                <a:sym typeface="Symbol" panose="05050102010706020507" pitchFamily="18" charset="2"/>
              </a:rPr>
              <a:t>! </a:t>
            </a:r>
            <a:r>
              <a:rPr lang="zh-CN" altLang="en-US">
                <a:sym typeface="Symbol" panose="05050102010706020507" pitchFamily="18" charset="2"/>
              </a:rPr>
              <a:t>个。</a:t>
            </a:r>
            <a:r>
              <a:rPr lang="zh-CN" altLang="en-US" dirty="0">
                <a:sym typeface="Symbol" panose="05050102010706020507" pitchFamily="18" charset="2"/>
              </a:rPr>
              <a:t>排列</a:t>
            </a:r>
            <a:r>
              <a:rPr lang="en-US" altLang="zh-CN" dirty="0">
                <a:sym typeface="+mn-ea"/>
              </a:rPr>
              <a:t>12…</a:t>
            </a:r>
            <a:r>
              <a:rPr lang="en-US" altLang="zh-CN" i="1">
                <a:sym typeface="+mn-ea"/>
              </a:rPr>
              <a:t>n</a:t>
            </a:r>
            <a:r>
              <a:rPr lang="zh-CN" altLang="en-US" dirty="0">
                <a:sym typeface="Symbol" panose="05050102010706020507" pitchFamily="18" charset="2"/>
              </a:rPr>
              <a:t>按自然顺序排列称为</a:t>
            </a:r>
            <a:r>
              <a:rPr lang="zh-CN" altLang="en-US" dirty="0">
                <a:solidFill>
                  <a:srgbClr val="FF0000"/>
                </a:solidFill>
                <a:sym typeface="Symbol" panose="05050102010706020507" pitchFamily="18" charset="2"/>
              </a:rPr>
              <a:t>自然排列（或称标准排序）</a:t>
            </a:r>
            <a:r>
              <a:rPr lang="en-US" altLang="zh-CN" dirty="0">
                <a:sym typeface="Symbol" panose="05050102010706020507" pitchFamily="18" charset="2"/>
              </a:rPr>
              <a:t>.</a:t>
            </a:r>
            <a:endParaRPr lang="en-US" altLang="zh-CN"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308">
                                            <p:txEl>
                                              <p:charRg st="0" end="6"/>
                                            </p:txEl>
                                          </p:spTgt>
                                        </p:tgtEl>
                                        <p:attrNameLst>
                                          <p:attrName>style.visibility</p:attrName>
                                        </p:attrNameLst>
                                      </p:cBhvr>
                                      <p:to>
                                        <p:strVal val="visible"/>
                                      </p:to>
                                    </p:set>
                                    <p:animEffect transition="in" filter="box(out)">
                                      <p:cBhvr>
                                        <p:cTn id="7" dur="500"/>
                                        <p:tgtEl>
                                          <p:spTgt spid="12308">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2300">
                                            <p:txEl>
                                              <p:charRg st="0" end="48"/>
                                            </p:txEl>
                                          </p:spTgt>
                                        </p:tgtEl>
                                        <p:attrNameLst>
                                          <p:attrName>style.visibility</p:attrName>
                                        </p:attrNameLst>
                                      </p:cBhvr>
                                      <p:to>
                                        <p:strVal val="visible"/>
                                      </p:to>
                                    </p:set>
                                    <p:animEffect transition="in" filter="box(out)">
                                      <p:cBhvr>
                                        <p:cTn id="12" dur="500"/>
                                        <p:tgtEl>
                                          <p:spTgt spid="12300">
                                            <p:txEl>
                                              <p:charRg st="0" end="4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2300">
                                            <p:txEl>
                                              <p:charRg st="48" end="92"/>
                                            </p:txEl>
                                          </p:spTgt>
                                        </p:tgtEl>
                                        <p:attrNameLst>
                                          <p:attrName>style.visibility</p:attrName>
                                        </p:attrNameLst>
                                      </p:cBhvr>
                                      <p:to>
                                        <p:strVal val="visible"/>
                                      </p:to>
                                    </p:set>
                                    <p:animEffect transition="in" filter="box(out)">
                                      <p:cBhvr>
                                        <p:cTn id="22" dur="500"/>
                                        <p:tgtEl>
                                          <p:spTgt spid="12300">
                                            <p:txEl>
                                              <p:charRg st="48" end="9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horizontal)">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0" grpId="0" uiExpand="1" build="p"/>
      <p:bldP spid="12308" grpId="0" build="p"/>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矩形 13313"/>
          <p:cNvSpPr/>
          <p:nvPr/>
        </p:nvSpPr>
        <p:spPr>
          <a:xfrm>
            <a:off x="1079500" y="381000"/>
            <a:ext cx="4260850" cy="701675"/>
          </a:xfrm>
          <a:prstGeom prst="rect">
            <a:avLst/>
          </a:prstGeom>
          <a:noFill/>
          <a:ln w="9525">
            <a:noFill/>
          </a:ln>
        </p:spPr>
        <p:txBody>
          <a:bodyPr wrap="none" anchor="t" anchorCtr="0">
            <a:spAutoFit/>
          </a:bodyPr>
          <a:p>
            <a:r>
              <a:rPr lang="zh-CN" altLang="en-US" sz="4000" dirty="0">
                <a:solidFill>
                  <a:srgbClr val="0000FF"/>
                </a:solidFill>
                <a:latin typeface="Times New Roman" panose="02020603050405020304" pitchFamily="18" charset="0"/>
                <a:ea typeface="黑体" panose="02010609060101010101" pitchFamily="2" charset="-122"/>
              </a:rPr>
              <a:t>二、排列的逆序数</a:t>
            </a:r>
            <a:endParaRPr lang="zh-CN" altLang="en-US" sz="4000" dirty="0">
              <a:solidFill>
                <a:srgbClr val="0000FF"/>
              </a:solidFill>
              <a:latin typeface="Times New Roman" panose="02020603050405020304" pitchFamily="18" charset="0"/>
              <a:ea typeface="黑体" panose="02010609060101010101" pitchFamily="2" charset="-122"/>
            </a:endParaRPr>
          </a:p>
        </p:txBody>
      </p:sp>
      <p:sp>
        <p:nvSpPr>
          <p:cNvPr id="13316" name="矩形 13315"/>
          <p:cNvSpPr/>
          <p:nvPr/>
        </p:nvSpPr>
        <p:spPr>
          <a:xfrm>
            <a:off x="395605" y="1443355"/>
            <a:ext cx="8456613" cy="1512570"/>
          </a:xfrm>
          <a:prstGeom prst="rect">
            <a:avLst/>
          </a:prstGeom>
          <a:noFill/>
          <a:ln w="9525">
            <a:noFill/>
          </a:ln>
        </p:spPr>
        <p:txBody>
          <a:bodyPr>
            <a:spAutoFit/>
          </a:bodyPr>
          <a:p>
            <a:pPr>
              <a:lnSpc>
                <a:spcPct val="110000"/>
              </a:lnSpc>
            </a:pPr>
            <a:r>
              <a:rPr lang="en-US" altLang="zh-CN" dirty="0">
                <a:solidFill>
                  <a:srgbClr val="0606FA"/>
                </a:solidFill>
                <a:latin typeface="Times New Roman" panose="02020603050405020304" pitchFamily="18" charset="0"/>
                <a:ea typeface="黑体" panose="02010609060101010101" pitchFamily="2" charset="-122"/>
              </a:rPr>
              <a:t>        </a:t>
            </a:r>
            <a:r>
              <a:rPr lang="zh-CN" altLang="en-US" dirty="0">
                <a:solidFill>
                  <a:srgbClr val="FF3300"/>
                </a:solidFill>
                <a:latin typeface="Times New Roman" panose="02020603050405020304" pitchFamily="18" charset="0"/>
                <a:ea typeface="黑体" panose="02010609060101010101" pitchFamily="2" charset="-122"/>
              </a:rPr>
              <a:t>定义</a:t>
            </a:r>
            <a:r>
              <a:rPr lang="en-US" altLang="zh-CN">
                <a:solidFill>
                  <a:srgbClr val="FF3300"/>
                </a:solidFill>
                <a:latin typeface="Times New Roman" panose="02020603050405020304" pitchFamily="18" charset="0"/>
                <a:ea typeface="黑体" panose="02010609060101010101" pitchFamily="2" charset="-122"/>
              </a:rPr>
              <a:t>:</a:t>
            </a:r>
            <a:r>
              <a:rPr lang="en-US" altLang="zh-CN">
                <a:solidFill>
                  <a:srgbClr val="0606FA"/>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在一个排列  </a:t>
            </a:r>
            <a:r>
              <a:rPr lang="en-US" altLang="zh-CN" i="1">
                <a:latin typeface="Times New Roman" panose="02020603050405020304" pitchFamily="18" charset="0"/>
              </a:rPr>
              <a:t>k</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k</a:t>
            </a:r>
            <a:r>
              <a:rPr lang="en-US" altLang="zh-CN" baseline="-25000">
                <a:latin typeface="Times New Roman" panose="02020603050405020304" pitchFamily="18" charset="0"/>
              </a:rPr>
              <a:t>2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k</a:t>
            </a:r>
            <a:r>
              <a:rPr lang="en-US" altLang="zh-CN" i="1" baseline="-25000">
                <a:latin typeface="Times New Roman" panose="02020603050405020304" pitchFamily="18" charset="0"/>
              </a:rPr>
              <a:t>s</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k</a:t>
            </a:r>
            <a:r>
              <a:rPr lang="en-US" altLang="zh-CN" i="1" baseline="-25000">
                <a:latin typeface="Times New Roman" panose="02020603050405020304" pitchFamily="18" charset="0"/>
              </a:rPr>
              <a:t>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k</a:t>
            </a:r>
            <a:r>
              <a:rPr lang="en-US" altLang="zh-CN" i="1" baseline="-25000">
                <a:latin typeface="Times New Roman" panose="02020603050405020304" pitchFamily="18" charset="0"/>
              </a:rPr>
              <a:t>n</a:t>
            </a:r>
            <a:r>
              <a:rPr lang="en-US" altLang="zh-CN">
                <a:latin typeface="Times New Roman" panose="02020603050405020304" pitchFamily="18" charset="0"/>
              </a:rPr>
              <a:t> </a:t>
            </a:r>
            <a:r>
              <a:rPr lang="zh-CN" altLang="en-US" dirty="0">
                <a:latin typeface="Times New Roman" panose="02020603050405020304" pitchFamily="18" charset="0"/>
              </a:rPr>
              <a:t>中</a:t>
            </a:r>
            <a:r>
              <a:rPr lang="en-US" altLang="zh-CN">
                <a:latin typeface="Times New Roman" panose="02020603050405020304" pitchFamily="18" charset="0"/>
              </a:rPr>
              <a:t>, </a:t>
            </a:r>
            <a:r>
              <a:rPr lang="zh-CN" altLang="en-US" dirty="0">
                <a:latin typeface="Times New Roman" panose="02020603050405020304" pitchFamily="18" charset="0"/>
              </a:rPr>
              <a:t>若数 </a:t>
            </a:r>
            <a:r>
              <a:rPr lang="en-US" altLang="zh-CN" i="1">
                <a:solidFill>
                  <a:srgbClr val="FF3300"/>
                </a:solidFill>
                <a:latin typeface="Times New Roman" panose="02020603050405020304" pitchFamily="18" charset="0"/>
              </a:rPr>
              <a:t>k</a:t>
            </a:r>
            <a:r>
              <a:rPr lang="en-US" altLang="zh-CN" i="1" baseline="-25000">
                <a:solidFill>
                  <a:srgbClr val="FF3300"/>
                </a:solidFill>
                <a:latin typeface="Times New Roman" panose="02020603050405020304" pitchFamily="18" charset="0"/>
              </a:rPr>
              <a:t>s</a:t>
            </a:r>
            <a:r>
              <a:rPr lang="en-US" altLang="zh-CN">
                <a:solidFill>
                  <a:srgbClr val="FF3300"/>
                </a:solidFill>
                <a:latin typeface="Times New Roman" panose="02020603050405020304" pitchFamily="18" charset="0"/>
              </a:rPr>
              <a:t>&gt;</a:t>
            </a:r>
            <a:r>
              <a:rPr lang="en-US" altLang="zh-CN" i="1">
                <a:solidFill>
                  <a:srgbClr val="FF3300"/>
                </a:solidFill>
                <a:latin typeface="Times New Roman" panose="02020603050405020304" pitchFamily="18" charset="0"/>
              </a:rPr>
              <a:t>k</a:t>
            </a:r>
            <a:r>
              <a:rPr lang="en-US" altLang="zh-CN" i="1" baseline="-25000">
                <a:solidFill>
                  <a:srgbClr val="FF3300"/>
                </a:solidFill>
                <a:latin typeface="Times New Roman" panose="02020603050405020304" pitchFamily="18" charset="0"/>
              </a:rPr>
              <a:t>t</a:t>
            </a:r>
            <a:r>
              <a:rPr lang="en-US" altLang="zh-CN">
                <a:solidFill>
                  <a:srgbClr val="FF3300"/>
                </a:solidFill>
                <a:latin typeface="Times New Roman" panose="02020603050405020304" pitchFamily="18" charset="0"/>
              </a:rPr>
              <a:t>,</a:t>
            </a:r>
            <a:r>
              <a:rPr lang="zh-CN" altLang="en-US" dirty="0">
                <a:latin typeface="Times New Roman" panose="02020603050405020304" pitchFamily="18" charset="0"/>
              </a:rPr>
              <a:t>则称这两个数组成一个</a:t>
            </a:r>
            <a:r>
              <a:rPr lang="zh-CN" altLang="en-US" dirty="0">
                <a:solidFill>
                  <a:srgbClr val="FF3300"/>
                </a:solidFill>
                <a:latin typeface="Times New Roman" panose="02020603050405020304" pitchFamily="18" charset="0"/>
              </a:rPr>
              <a:t>逆序</a:t>
            </a:r>
            <a:r>
              <a:rPr lang="en-US" altLang="zh-CN">
                <a:latin typeface="Times New Roman" panose="02020603050405020304" pitchFamily="18" charset="0"/>
              </a:rPr>
              <a:t>.</a:t>
            </a:r>
            <a:r>
              <a:rPr lang="en-US" altLang="zh-CN">
                <a:solidFill>
                  <a:schemeClr val="tx2"/>
                </a:solidFill>
                <a:ea typeface="黑体" panose="02010609060101010101" pitchFamily="2" charset="-122"/>
                <a:sym typeface="+mn-ea"/>
              </a:rPr>
              <a:t> </a:t>
            </a:r>
            <a:r>
              <a:rPr lang="zh-CN" altLang="en-US" dirty="0">
                <a:sym typeface="+mn-ea"/>
              </a:rPr>
              <a:t>一个排列中所有</a:t>
            </a:r>
            <a:r>
              <a:rPr lang="zh-CN" altLang="en-US" dirty="0">
                <a:solidFill>
                  <a:srgbClr val="FF3300"/>
                </a:solidFill>
                <a:sym typeface="+mn-ea"/>
              </a:rPr>
              <a:t>逆序</a:t>
            </a:r>
            <a:r>
              <a:rPr lang="zh-CN" altLang="en-US" dirty="0">
                <a:sym typeface="+mn-ea"/>
              </a:rPr>
              <a:t>的总数称为此</a:t>
            </a:r>
            <a:r>
              <a:rPr lang="zh-CN" altLang="en-US" dirty="0">
                <a:solidFill>
                  <a:srgbClr val="FF3300"/>
                </a:solidFill>
                <a:sym typeface="+mn-ea"/>
              </a:rPr>
              <a:t>排列的</a:t>
            </a:r>
            <a:r>
              <a:rPr lang="zh-CN" altLang="en-US" dirty="0">
                <a:solidFill>
                  <a:srgbClr val="FF3300"/>
                </a:solidFill>
                <a:ea typeface="黑体" panose="02010609060101010101" pitchFamily="2" charset="-122"/>
                <a:sym typeface="+mn-ea"/>
              </a:rPr>
              <a:t>逆序数</a:t>
            </a:r>
            <a:r>
              <a:rPr lang="zh-CN" altLang="en-US" dirty="0">
                <a:sym typeface="+mn-ea"/>
              </a:rPr>
              <a:t>.</a:t>
            </a:r>
            <a:r>
              <a:rPr lang="en-US" altLang="zh-CN" dirty="0">
                <a:sym typeface="+mn-ea"/>
              </a:rPr>
              <a:t> </a:t>
            </a:r>
            <a:r>
              <a:rPr lang="zh-CN" altLang="en-US" dirty="0">
                <a:sym typeface="+mn-ea"/>
              </a:rPr>
              <a:t>记作</a:t>
            </a:r>
            <a:endParaRPr lang="en-US" altLang="zh-CN">
              <a:latin typeface="Times New Roman" panose="02020603050405020304" pitchFamily="18" charset="0"/>
            </a:endParaRPr>
          </a:p>
        </p:txBody>
      </p:sp>
      <p:sp>
        <p:nvSpPr>
          <p:cNvPr id="13319" name="文本框 13318"/>
          <p:cNvSpPr txBox="1"/>
          <p:nvPr/>
        </p:nvSpPr>
        <p:spPr>
          <a:xfrm>
            <a:off x="922655" y="3112770"/>
            <a:ext cx="3505200" cy="519113"/>
          </a:xfrm>
          <a:prstGeom prst="rect">
            <a:avLst/>
          </a:prstGeom>
          <a:noFill/>
          <a:ln w="9525">
            <a:noFill/>
          </a:ln>
        </p:spPr>
        <p:txBody>
          <a:bodyPr>
            <a:spAutoFit/>
          </a:bodyPr>
          <a:p>
            <a:r>
              <a:rPr lang="zh-CN" altLang="en-US" dirty="0">
                <a:solidFill>
                  <a:srgbClr val="3333FF"/>
                </a:solidFill>
                <a:latin typeface="Times New Roman" panose="02020603050405020304" pitchFamily="18" charset="0"/>
                <a:ea typeface="黑体" panose="02010609060101010101" pitchFamily="2" charset="-122"/>
              </a:rPr>
              <a:t>例如</a:t>
            </a:r>
            <a:r>
              <a:rPr lang="en-US" altLang="zh-CN">
                <a:solidFill>
                  <a:srgbClr val="3333FF"/>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rPr>
              <a:t> </a:t>
            </a:r>
            <a:r>
              <a:rPr lang="zh-CN" altLang="en-US" dirty="0">
                <a:latin typeface="Times New Roman" panose="02020603050405020304" pitchFamily="18" charset="0"/>
              </a:rPr>
              <a:t>排列</a:t>
            </a:r>
            <a:r>
              <a:rPr lang="en-US" altLang="zh-CN">
                <a:latin typeface="Times New Roman" panose="02020603050405020304" pitchFamily="18" charset="0"/>
              </a:rPr>
              <a:t>32514 </a:t>
            </a:r>
            <a:r>
              <a:rPr lang="zh-CN" altLang="en-US" dirty="0">
                <a:latin typeface="Times New Roman" panose="02020603050405020304" pitchFamily="18" charset="0"/>
              </a:rPr>
              <a:t>中</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3322" name="文本框 13321"/>
          <p:cNvSpPr txBox="1"/>
          <p:nvPr/>
        </p:nvSpPr>
        <p:spPr>
          <a:xfrm>
            <a:off x="3563620" y="3915728"/>
            <a:ext cx="2139950" cy="519112"/>
          </a:xfrm>
          <a:prstGeom prst="rect">
            <a:avLst/>
          </a:prstGeom>
          <a:noFill/>
          <a:ln w="9525">
            <a:noFill/>
          </a:ln>
        </p:spPr>
        <p:txBody>
          <a:bodyPr wrap="none" anchor="t" anchorCtr="0">
            <a:spAutoFit/>
          </a:bodyPr>
          <a:p>
            <a:r>
              <a:rPr lang="en-US" altLang="zh-CN">
                <a:latin typeface="Times New Roman" panose="02020603050405020304" pitchFamily="18" charset="0"/>
                <a:ea typeface="黑体" panose="02010609060101010101" pitchFamily="2" charset="-122"/>
              </a:rPr>
              <a:t>3   2   5   1   4</a:t>
            </a:r>
            <a:endParaRPr lang="en-US" altLang="zh-CN">
              <a:latin typeface="Times New Roman" panose="02020603050405020304" pitchFamily="18" charset="0"/>
              <a:ea typeface="黑体" panose="02010609060101010101" pitchFamily="2" charset="-122"/>
            </a:endParaRPr>
          </a:p>
        </p:txBody>
      </p:sp>
      <p:grpSp>
        <p:nvGrpSpPr>
          <p:cNvPr id="13323" name="组合 13322"/>
          <p:cNvGrpSpPr/>
          <p:nvPr/>
        </p:nvGrpSpPr>
        <p:grpSpPr>
          <a:xfrm>
            <a:off x="3492500" y="4292600"/>
            <a:ext cx="898525" cy="823913"/>
            <a:chOff x="1776" y="3321"/>
            <a:chExt cx="566" cy="519"/>
          </a:xfrm>
        </p:grpSpPr>
        <p:grpSp>
          <p:nvGrpSpPr>
            <p:cNvPr id="13324" name="组合 13323"/>
            <p:cNvGrpSpPr/>
            <p:nvPr/>
          </p:nvGrpSpPr>
          <p:grpSpPr>
            <a:xfrm>
              <a:off x="1872" y="3321"/>
              <a:ext cx="336" cy="196"/>
              <a:chOff x="1344" y="3024"/>
              <a:chExt cx="336" cy="196"/>
            </a:xfrm>
          </p:grpSpPr>
          <p:sp>
            <p:nvSpPr>
              <p:cNvPr id="13325" name="直接连接符 13324"/>
              <p:cNvSpPr/>
              <p:nvPr/>
            </p:nvSpPr>
            <p:spPr>
              <a:xfrm>
                <a:off x="1344" y="3024"/>
                <a:ext cx="192" cy="192"/>
              </a:xfrm>
              <a:prstGeom prst="line">
                <a:avLst/>
              </a:prstGeom>
              <a:ln w="28575" cap="flat" cmpd="sng">
                <a:solidFill>
                  <a:srgbClr val="FF0000"/>
                </a:solidFill>
                <a:prstDash val="solid"/>
                <a:headEnd type="none" w="med" len="med"/>
                <a:tailEnd type="none" w="med" len="med"/>
              </a:ln>
            </p:spPr>
          </p:sp>
          <p:sp>
            <p:nvSpPr>
              <p:cNvPr id="13326" name="直接连接符 13325"/>
              <p:cNvSpPr/>
              <p:nvPr/>
            </p:nvSpPr>
            <p:spPr>
              <a:xfrm flipH="1">
                <a:off x="1532" y="3024"/>
                <a:ext cx="148" cy="196"/>
              </a:xfrm>
              <a:prstGeom prst="line">
                <a:avLst/>
              </a:prstGeom>
              <a:ln w="28575" cap="flat" cmpd="sng">
                <a:solidFill>
                  <a:srgbClr val="FF0000"/>
                </a:solidFill>
                <a:prstDash val="solid"/>
                <a:headEnd type="none" w="med" len="med"/>
                <a:tailEnd type="none" w="med" len="med"/>
              </a:ln>
            </p:spPr>
          </p:sp>
        </p:grpSp>
        <p:sp>
          <p:nvSpPr>
            <p:cNvPr id="13327" name="矩形 13326"/>
            <p:cNvSpPr/>
            <p:nvPr/>
          </p:nvSpPr>
          <p:spPr>
            <a:xfrm>
              <a:off x="1776" y="3513"/>
              <a:ext cx="566" cy="327"/>
            </a:xfrm>
            <a:prstGeom prst="rect">
              <a:avLst/>
            </a:prstGeom>
            <a:noFill/>
            <a:ln w="9525">
              <a:noFill/>
            </a:ln>
          </p:spPr>
          <p:txBody>
            <a:bodyPr wrap="none" anchor="t" anchorCtr="0">
              <a:spAutoFit/>
            </a:bodyPr>
            <a:p>
              <a:r>
                <a:rPr lang="zh-CN" altLang="en-US" dirty="0">
                  <a:solidFill>
                    <a:schemeClr val="tx2"/>
                  </a:solidFill>
                  <a:latin typeface="Times New Roman" panose="02020603050405020304" pitchFamily="18" charset="0"/>
                </a:rPr>
                <a:t>逆序</a:t>
              </a:r>
              <a:endParaRPr lang="zh-CN" altLang="en-US" dirty="0">
                <a:solidFill>
                  <a:schemeClr val="tx2"/>
                </a:solidFill>
                <a:latin typeface="Times New Roman" panose="02020603050405020304" pitchFamily="18" charset="0"/>
              </a:endParaRPr>
            </a:p>
          </p:txBody>
        </p:sp>
      </p:grpSp>
      <p:grpSp>
        <p:nvGrpSpPr>
          <p:cNvPr id="13328" name="组合 13327"/>
          <p:cNvGrpSpPr/>
          <p:nvPr/>
        </p:nvGrpSpPr>
        <p:grpSpPr>
          <a:xfrm>
            <a:off x="3752751" y="2846388"/>
            <a:ext cx="1958889" cy="1201202"/>
            <a:chOff x="2231" y="2431"/>
            <a:chExt cx="962" cy="757"/>
          </a:xfrm>
        </p:grpSpPr>
        <p:grpSp>
          <p:nvGrpSpPr>
            <p:cNvPr id="13329" name="组合 13328"/>
            <p:cNvGrpSpPr/>
            <p:nvPr/>
          </p:nvGrpSpPr>
          <p:grpSpPr>
            <a:xfrm rot="-10769307">
              <a:off x="2231" y="2624"/>
              <a:ext cx="695" cy="564"/>
              <a:chOff x="1203" y="3004"/>
              <a:chExt cx="695" cy="564"/>
            </a:xfrm>
          </p:grpSpPr>
          <p:sp>
            <p:nvSpPr>
              <p:cNvPr id="13330" name="直接连接符 13329"/>
              <p:cNvSpPr/>
              <p:nvPr/>
            </p:nvSpPr>
            <p:spPr>
              <a:xfrm>
                <a:off x="1203" y="3004"/>
                <a:ext cx="116" cy="513"/>
              </a:xfrm>
              <a:prstGeom prst="line">
                <a:avLst/>
              </a:prstGeom>
              <a:ln w="28575" cap="flat" cmpd="sng">
                <a:solidFill>
                  <a:srgbClr val="FF0000"/>
                </a:solidFill>
                <a:prstDash val="solid"/>
                <a:headEnd type="none" w="med" len="med"/>
                <a:tailEnd type="none" w="med" len="med"/>
              </a:ln>
            </p:spPr>
          </p:sp>
          <p:sp>
            <p:nvSpPr>
              <p:cNvPr id="13331" name="直接连接符 13330"/>
              <p:cNvSpPr/>
              <p:nvPr/>
            </p:nvSpPr>
            <p:spPr>
              <a:xfrm flipH="1">
                <a:off x="1569" y="3034"/>
                <a:ext cx="329" cy="534"/>
              </a:xfrm>
              <a:prstGeom prst="line">
                <a:avLst/>
              </a:prstGeom>
              <a:ln w="28575" cap="flat" cmpd="sng">
                <a:solidFill>
                  <a:srgbClr val="FF0000"/>
                </a:solidFill>
                <a:prstDash val="solid"/>
                <a:headEnd type="none" w="med" len="med"/>
                <a:tailEnd type="none" w="med" len="med"/>
              </a:ln>
            </p:spPr>
          </p:sp>
        </p:grpSp>
        <p:sp>
          <p:nvSpPr>
            <p:cNvPr id="13332" name="矩形 13331"/>
            <p:cNvSpPr/>
            <p:nvPr/>
          </p:nvSpPr>
          <p:spPr>
            <a:xfrm>
              <a:off x="2526" y="2431"/>
              <a:ext cx="667" cy="489"/>
            </a:xfrm>
            <a:prstGeom prst="rect">
              <a:avLst/>
            </a:prstGeom>
            <a:noFill/>
            <a:ln w="9525">
              <a:noFill/>
            </a:ln>
          </p:spPr>
          <p:txBody>
            <a:bodyPr wrap="square" anchor="t" anchorCtr="0">
              <a:noAutofit/>
            </a:bodyPr>
            <a:p>
              <a:r>
                <a:rPr lang="zh-CN" altLang="en-US" dirty="0">
                  <a:solidFill>
                    <a:schemeClr val="tx2"/>
                  </a:solidFill>
                  <a:latin typeface="Times New Roman" panose="02020603050405020304" pitchFamily="18" charset="0"/>
                </a:rPr>
                <a:t>逆序</a:t>
              </a:r>
              <a:endParaRPr lang="zh-CN" altLang="en-US" dirty="0">
                <a:solidFill>
                  <a:schemeClr val="tx2"/>
                </a:solidFill>
                <a:latin typeface="Times New Roman" panose="02020603050405020304" pitchFamily="18" charset="0"/>
              </a:endParaRPr>
            </a:p>
          </p:txBody>
        </p:sp>
      </p:grpSp>
      <p:grpSp>
        <p:nvGrpSpPr>
          <p:cNvPr id="13333" name="组合 13332"/>
          <p:cNvGrpSpPr/>
          <p:nvPr/>
        </p:nvGrpSpPr>
        <p:grpSpPr>
          <a:xfrm>
            <a:off x="4493895" y="4331229"/>
            <a:ext cx="1129030" cy="1671426"/>
            <a:chOff x="2457" y="3219"/>
            <a:chExt cx="746" cy="704"/>
          </a:xfrm>
        </p:grpSpPr>
        <p:grpSp>
          <p:nvGrpSpPr>
            <p:cNvPr id="13334" name="组合 13333"/>
            <p:cNvGrpSpPr/>
            <p:nvPr/>
          </p:nvGrpSpPr>
          <p:grpSpPr>
            <a:xfrm>
              <a:off x="2488" y="3219"/>
              <a:ext cx="690" cy="548"/>
              <a:chOff x="1364" y="2931"/>
              <a:chExt cx="345" cy="548"/>
            </a:xfrm>
          </p:grpSpPr>
          <p:sp>
            <p:nvSpPr>
              <p:cNvPr id="13335" name="直接连接符 13334"/>
              <p:cNvSpPr/>
              <p:nvPr/>
            </p:nvSpPr>
            <p:spPr>
              <a:xfrm>
                <a:off x="1364" y="2931"/>
                <a:ext cx="69" cy="541"/>
              </a:xfrm>
              <a:prstGeom prst="line">
                <a:avLst/>
              </a:prstGeom>
              <a:ln w="28575" cap="flat" cmpd="sng">
                <a:solidFill>
                  <a:srgbClr val="FF0000"/>
                </a:solidFill>
                <a:prstDash val="solid"/>
                <a:headEnd type="none" w="med" len="med"/>
                <a:tailEnd type="none" w="med" len="med"/>
              </a:ln>
            </p:spPr>
          </p:sp>
          <p:sp>
            <p:nvSpPr>
              <p:cNvPr id="13336" name="直接连接符 13335"/>
              <p:cNvSpPr/>
              <p:nvPr/>
            </p:nvSpPr>
            <p:spPr>
              <a:xfrm flipH="1">
                <a:off x="1530" y="2961"/>
                <a:ext cx="179" cy="518"/>
              </a:xfrm>
              <a:prstGeom prst="line">
                <a:avLst/>
              </a:prstGeom>
              <a:ln w="28575" cap="flat" cmpd="sng">
                <a:solidFill>
                  <a:srgbClr val="FF0000"/>
                </a:solidFill>
                <a:prstDash val="solid"/>
                <a:headEnd type="none" w="med" len="med"/>
                <a:tailEnd type="none" w="med" len="med"/>
              </a:ln>
            </p:spPr>
          </p:sp>
        </p:grpSp>
        <p:sp>
          <p:nvSpPr>
            <p:cNvPr id="13337" name="矩形 13336"/>
            <p:cNvSpPr/>
            <p:nvPr/>
          </p:nvSpPr>
          <p:spPr>
            <a:xfrm>
              <a:off x="2457" y="3779"/>
              <a:ext cx="746" cy="144"/>
            </a:xfrm>
            <a:prstGeom prst="rect">
              <a:avLst/>
            </a:prstGeom>
            <a:noFill/>
            <a:ln w="9525">
              <a:noFill/>
            </a:ln>
          </p:spPr>
          <p:txBody>
            <a:bodyPr wrap="none" anchor="t" anchorCtr="0">
              <a:noAutofit/>
            </a:bodyPr>
            <a:p>
              <a:r>
                <a:rPr lang="zh-CN" altLang="en-US" dirty="0">
                  <a:solidFill>
                    <a:schemeClr val="tx2"/>
                  </a:solidFill>
                  <a:latin typeface="Times New Roman" panose="02020603050405020304" pitchFamily="18" charset="0"/>
                </a:rPr>
                <a:t>逆序</a:t>
              </a:r>
              <a:endParaRPr lang="zh-CN" altLang="en-US" dirty="0">
                <a:solidFill>
                  <a:schemeClr val="tx2"/>
                </a:solidFill>
                <a:latin typeface="Times New Roman" panose="02020603050405020304" pitchFamily="18" charset="0"/>
              </a:endParaRPr>
            </a:p>
          </p:txBody>
        </p:sp>
      </p:grpSp>
      <p:sp>
        <p:nvSpPr>
          <p:cNvPr id="13339" name="圆角矩形标注 13338"/>
          <p:cNvSpPr/>
          <p:nvPr/>
        </p:nvSpPr>
        <p:spPr>
          <a:xfrm>
            <a:off x="179388" y="4050983"/>
            <a:ext cx="2411412" cy="1152525"/>
          </a:xfrm>
          <a:prstGeom prst="wedgeRoundRectCallout">
            <a:avLst>
              <a:gd name="adj1" fmla="val -24786"/>
              <a:gd name="adj2" fmla="val -202975"/>
              <a:gd name="adj3" fmla="val 16667"/>
            </a:avLst>
          </a:prstGeom>
          <a:solidFill>
            <a:schemeClr val="bg1"/>
          </a:solidFill>
          <a:ln w="9525" cap="flat" cmpd="sng">
            <a:solidFill>
              <a:schemeClr val="tx1"/>
            </a:solidFill>
            <a:prstDash val="solid"/>
            <a:miter/>
            <a:headEnd type="none" w="med" len="med"/>
            <a:tailEnd type="none" w="med" len="med"/>
          </a:ln>
        </p:spPr>
        <p:txBody>
          <a:bodyPr/>
          <a:p>
            <a:pPr algn="ctr"/>
            <a:r>
              <a:rPr lang="zh-CN" altLang="en-US" dirty="0">
                <a:solidFill>
                  <a:schemeClr val="accent1"/>
                </a:solidFill>
                <a:latin typeface="Times New Roman" panose="02020603050405020304" pitchFamily="18" charset="0"/>
                <a:ea typeface="楷体_GB2312" pitchFamily="49" charset="-122"/>
              </a:rPr>
              <a:t>前面的数比后面的数大</a:t>
            </a:r>
            <a:endParaRPr lang="zh-CN" altLang="en-US" dirty="0">
              <a:solidFill>
                <a:schemeClr val="accent1"/>
              </a:solidFill>
              <a:latin typeface="Times New Roman" panose="02020603050405020304" pitchFamily="18" charset="0"/>
              <a:ea typeface="楷体_GB2312" pitchFamily="49" charset="-122"/>
            </a:endParaRPr>
          </a:p>
        </p:txBody>
      </p:sp>
      <p:graphicFrame>
        <p:nvGraphicFramePr>
          <p:cNvPr id="2" name="对象 -2147482564"/>
          <p:cNvGraphicFramePr>
            <a:graphicFrameLocks noChangeAspect="1"/>
          </p:cNvGraphicFramePr>
          <p:nvPr/>
        </p:nvGraphicFramePr>
        <p:xfrm>
          <a:off x="6025198" y="2367280"/>
          <a:ext cx="1831340" cy="588645"/>
        </p:xfrm>
        <a:graphic>
          <a:graphicData uri="http://schemas.openxmlformats.org/presentationml/2006/ole">
            <mc:AlternateContent xmlns:mc="http://schemas.openxmlformats.org/markup-compatibility/2006">
              <mc:Choice xmlns:v="urn:schemas-microsoft-com:vml" Requires="v">
                <p:oleObj spid="_x0000_s3076" name="" r:id="rId1" imgW="800100" imgH="254000" progId="Equation.DSMT4">
                  <p:embed/>
                </p:oleObj>
              </mc:Choice>
              <mc:Fallback>
                <p:oleObj name="" r:id="rId1" imgW="800100" imgH="254000" progId="Equation.DSMT4">
                  <p:embed/>
                  <p:pic>
                    <p:nvPicPr>
                      <p:cNvPr id="0" name="图片 3075"/>
                      <p:cNvPicPr/>
                      <p:nvPr/>
                    </p:nvPicPr>
                    <p:blipFill>
                      <a:blip r:embed="rId2"/>
                      <a:stretch>
                        <a:fillRect/>
                      </a:stretch>
                    </p:blipFill>
                    <p:spPr>
                      <a:xfrm>
                        <a:off x="6025198" y="2367280"/>
                        <a:ext cx="1831340" cy="588645"/>
                      </a:xfrm>
                      <a:prstGeom prst="rect">
                        <a:avLst/>
                      </a:prstGeom>
                      <a:noFill/>
                      <a:ln w="38100">
                        <a:noFill/>
                        <a:miter/>
                      </a:ln>
                    </p:spPr>
                  </p:pic>
                </p:oleObj>
              </mc:Fallback>
            </mc:AlternateContent>
          </a:graphicData>
        </a:graphic>
      </p:graphicFrame>
      <p:grpSp>
        <p:nvGrpSpPr>
          <p:cNvPr id="18" name="组合 17"/>
          <p:cNvGrpSpPr/>
          <p:nvPr/>
        </p:nvGrpSpPr>
        <p:grpSpPr>
          <a:xfrm>
            <a:off x="4578985" y="4331970"/>
            <a:ext cx="1025408" cy="497838"/>
            <a:chOff x="1724" y="-2141"/>
            <a:chExt cx="1026" cy="37599"/>
          </a:xfrm>
        </p:grpSpPr>
        <p:grpSp>
          <p:nvGrpSpPr>
            <p:cNvPr id="19" name="组合 18"/>
            <p:cNvGrpSpPr/>
            <p:nvPr/>
          </p:nvGrpSpPr>
          <p:grpSpPr>
            <a:xfrm>
              <a:off x="1749" y="-2141"/>
              <a:ext cx="391" cy="8612"/>
              <a:chOff x="1221" y="-2438"/>
              <a:chExt cx="391" cy="8612"/>
            </a:xfrm>
          </p:grpSpPr>
          <p:sp>
            <p:nvSpPr>
              <p:cNvPr id="20" name="直接连接符 19"/>
              <p:cNvSpPr/>
              <p:nvPr/>
            </p:nvSpPr>
            <p:spPr>
              <a:xfrm>
                <a:off x="1221" y="-2438"/>
                <a:ext cx="173" cy="8612"/>
              </a:xfrm>
              <a:prstGeom prst="line">
                <a:avLst/>
              </a:prstGeom>
              <a:ln w="28575" cap="flat" cmpd="sng">
                <a:solidFill>
                  <a:srgbClr val="FF0000"/>
                </a:solidFill>
                <a:prstDash val="solid"/>
                <a:headEnd type="none" w="med" len="med"/>
                <a:tailEnd type="none" w="med" len="med"/>
              </a:ln>
            </p:spPr>
          </p:sp>
          <p:sp>
            <p:nvSpPr>
              <p:cNvPr id="21" name="直接连接符 20"/>
              <p:cNvSpPr/>
              <p:nvPr/>
            </p:nvSpPr>
            <p:spPr>
              <a:xfrm rot="20460000" flipH="1">
                <a:off x="1415" y="-616"/>
                <a:ext cx="197" cy="3501"/>
              </a:xfrm>
              <a:prstGeom prst="line">
                <a:avLst/>
              </a:prstGeom>
              <a:ln w="28575" cap="flat" cmpd="sng">
                <a:solidFill>
                  <a:srgbClr val="FF0000"/>
                </a:solidFill>
                <a:prstDash val="solid"/>
                <a:headEnd type="none" w="med" len="med"/>
                <a:tailEnd type="none" w="med" len="med"/>
              </a:ln>
            </p:spPr>
          </p:sp>
        </p:grpSp>
        <p:sp>
          <p:nvSpPr>
            <p:cNvPr id="22" name="矩形 21"/>
            <p:cNvSpPr/>
            <p:nvPr/>
          </p:nvSpPr>
          <p:spPr>
            <a:xfrm>
              <a:off x="1724" y="7355"/>
              <a:ext cx="1026" cy="28103"/>
            </a:xfrm>
            <a:prstGeom prst="rect">
              <a:avLst/>
            </a:prstGeom>
            <a:noFill/>
            <a:ln w="9525">
              <a:noFill/>
            </a:ln>
          </p:spPr>
          <p:txBody>
            <a:bodyPr wrap="square" anchor="t" anchorCtr="0">
              <a:noAutofit/>
            </a:bodyPr>
            <a:p>
              <a:r>
                <a:rPr lang="zh-CN" altLang="en-US" dirty="0">
                  <a:solidFill>
                    <a:schemeClr val="tx2"/>
                  </a:solidFill>
                  <a:latin typeface="Times New Roman" panose="02020603050405020304" pitchFamily="18" charset="0"/>
                </a:rPr>
                <a:t>逆序</a:t>
              </a:r>
              <a:endParaRPr lang="zh-CN" altLang="en-US" dirty="0">
                <a:solidFill>
                  <a:schemeClr val="tx2"/>
                </a:solidFill>
                <a:latin typeface="Times New Roman" panose="02020603050405020304" pitchFamily="18" charset="0"/>
              </a:endParaRPr>
            </a:p>
          </p:txBody>
        </p:sp>
      </p:grpSp>
      <p:grpSp>
        <p:nvGrpSpPr>
          <p:cNvPr id="30" name="组合 29"/>
          <p:cNvGrpSpPr/>
          <p:nvPr/>
        </p:nvGrpSpPr>
        <p:grpSpPr>
          <a:xfrm flipH="1">
            <a:off x="4189990" y="3428945"/>
            <a:ext cx="1150395" cy="640334"/>
            <a:chOff x="-2278" y="-1752"/>
            <a:chExt cx="3499" cy="12176"/>
          </a:xfrm>
        </p:grpSpPr>
        <p:grpSp>
          <p:nvGrpSpPr>
            <p:cNvPr id="31" name="组合 30"/>
            <p:cNvGrpSpPr/>
            <p:nvPr/>
          </p:nvGrpSpPr>
          <p:grpSpPr>
            <a:xfrm>
              <a:off x="-1268" y="4870"/>
              <a:ext cx="2489" cy="5554"/>
              <a:chOff x="-1796" y="4573"/>
              <a:chExt cx="2489" cy="5554"/>
            </a:xfrm>
          </p:grpSpPr>
          <p:sp>
            <p:nvSpPr>
              <p:cNvPr id="32" name="直接连接符 31"/>
              <p:cNvSpPr/>
              <p:nvPr/>
            </p:nvSpPr>
            <p:spPr>
              <a:xfrm flipH="1">
                <a:off x="-1796" y="4959"/>
                <a:ext cx="2264" cy="5168"/>
              </a:xfrm>
              <a:prstGeom prst="line">
                <a:avLst/>
              </a:prstGeom>
              <a:ln w="28575" cap="flat" cmpd="sng">
                <a:solidFill>
                  <a:srgbClr val="FF0000"/>
                </a:solidFill>
                <a:prstDash val="solid"/>
                <a:headEnd type="none" w="med" len="med"/>
                <a:tailEnd type="none" w="med" len="med"/>
              </a:ln>
            </p:spPr>
          </p:sp>
          <p:sp>
            <p:nvSpPr>
              <p:cNvPr id="33" name="直接连接符 32"/>
              <p:cNvSpPr/>
              <p:nvPr/>
            </p:nvSpPr>
            <p:spPr>
              <a:xfrm flipH="1" flipV="1">
                <a:off x="419" y="4573"/>
                <a:ext cx="274" cy="4588"/>
              </a:xfrm>
              <a:prstGeom prst="line">
                <a:avLst/>
              </a:prstGeom>
              <a:ln w="28575" cap="flat" cmpd="sng">
                <a:solidFill>
                  <a:srgbClr val="FF0000"/>
                </a:solidFill>
                <a:prstDash val="solid"/>
                <a:headEnd type="none" w="med" len="med"/>
                <a:tailEnd type="none" w="med" len="med"/>
              </a:ln>
            </p:spPr>
          </p:sp>
        </p:grpSp>
        <p:sp>
          <p:nvSpPr>
            <p:cNvPr id="34" name="矩形 33"/>
            <p:cNvSpPr/>
            <p:nvPr/>
          </p:nvSpPr>
          <p:spPr>
            <a:xfrm>
              <a:off x="-2278" y="-1752"/>
              <a:ext cx="3380" cy="6593"/>
            </a:xfrm>
            <a:prstGeom prst="rect">
              <a:avLst/>
            </a:prstGeom>
            <a:noFill/>
            <a:ln w="9525">
              <a:noFill/>
            </a:ln>
          </p:spPr>
          <p:txBody>
            <a:bodyPr wrap="square" anchor="t" anchorCtr="0">
              <a:noAutofit/>
            </a:bodyPr>
            <a:p>
              <a:r>
                <a:rPr lang="zh-CN" altLang="en-US" dirty="0">
                  <a:solidFill>
                    <a:schemeClr val="tx2"/>
                  </a:solidFill>
                  <a:latin typeface="Times New Roman" panose="02020603050405020304" pitchFamily="18" charset="0"/>
                </a:rPr>
                <a:t>逆序</a:t>
              </a:r>
              <a:endParaRPr lang="zh-CN" altLang="en-US" dirty="0">
                <a:solidFill>
                  <a:schemeClr val="tx2"/>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3316">
                                            <p:txEl>
                                              <p:charRg st="0" end="59"/>
                                            </p:txEl>
                                          </p:spTgt>
                                        </p:tgtEl>
                                        <p:attrNameLst>
                                          <p:attrName>style.visibility</p:attrName>
                                        </p:attrNameLst>
                                      </p:cBhvr>
                                      <p:to>
                                        <p:strVal val="visible"/>
                                      </p:to>
                                    </p:set>
                                    <p:animEffect transition="in" filter="box(out)">
                                      <p:cBhvr>
                                        <p:cTn id="7" dur="500"/>
                                        <p:tgtEl>
                                          <p:spTgt spid="13316">
                                            <p:txEl>
                                              <p:charRg st="0" end="5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3339"/>
                                        </p:tgtEl>
                                        <p:attrNameLst>
                                          <p:attrName>style.visibility</p:attrName>
                                        </p:attrNameLst>
                                      </p:cBhvr>
                                      <p:to>
                                        <p:strVal val="visible"/>
                                      </p:to>
                                    </p:set>
                                    <p:anim calcmode="lin" valueType="num">
                                      <p:cBhvr additive="base">
                                        <p:cTn id="12" dur="500" fill="hold"/>
                                        <p:tgtEl>
                                          <p:spTgt spid="13339"/>
                                        </p:tgtEl>
                                        <p:attrNameLst>
                                          <p:attrName>ppt_x</p:attrName>
                                        </p:attrNameLst>
                                      </p:cBhvr>
                                      <p:tavLst>
                                        <p:tav tm="0">
                                          <p:val>
                                            <p:strVal val="#ppt_x"/>
                                          </p:val>
                                        </p:tav>
                                        <p:tav tm="100000">
                                          <p:val>
                                            <p:strVal val="#ppt_x"/>
                                          </p:val>
                                        </p:tav>
                                      </p:tavLst>
                                    </p:anim>
                                    <p:anim calcmode="lin" valueType="num">
                                      <p:cBhvr additive="base">
                                        <p:cTn id="13" dur="500" fill="hold"/>
                                        <p:tgtEl>
                                          <p:spTgt spid="1333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3319">
                                            <p:txEl>
                                              <p:charRg st="0" end="15"/>
                                            </p:txEl>
                                          </p:spTgt>
                                        </p:tgtEl>
                                        <p:attrNameLst>
                                          <p:attrName>style.visibility</p:attrName>
                                        </p:attrNameLst>
                                      </p:cBhvr>
                                      <p:to>
                                        <p:strVal val="visible"/>
                                      </p:to>
                                    </p:set>
                                    <p:animEffect transition="in" filter="box(out)">
                                      <p:cBhvr>
                                        <p:cTn id="23" dur="500"/>
                                        <p:tgtEl>
                                          <p:spTgt spid="13319">
                                            <p:txEl>
                                              <p:charRg st="0" end="15"/>
                                            </p:txEl>
                                          </p:spTgt>
                                        </p:tgtEl>
                                      </p:cBhvr>
                                    </p:animEffect>
                                  </p:childTnLst>
                                </p:cTn>
                              </p:par>
                            </p:childTnLst>
                          </p:cTn>
                        </p:par>
                        <p:par>
                          <p:cTn id="24" fill="hold">
                            <p:stCondLst>
                              <p:cond delay="500"/>
                            </p:stCondLst>
                            <p:childTnLst>
                              <p:par>
                                <p:cTn id="25" presetID="4" presetClass="entr" presetSubtype="32" fill="hold" grpId="0" nodeType="afterEffect">
                                  <p:stCondLst>
                                    <p:cond delay="0"/>
                                  </p:stCondLst>
                                  <p:childTnLst>
                                    <p:set>
                                      <p:cBhvr>
                                        <p:cTn id="26" dur="1" fill="hold">
                                          <p:stCondLst>
                                            <p:cond delay="0"/>
                                          </p:stCondLst>
                                        </p:cTn>
                                        <p:tgtEl>
                                          <p:spTgt spid="13322">
                                            <p:txEl>
                                              <p:charRg st="0" end="18"/>
                                            </p:txEl>
                                          </p:spTgt>
                                        </p:tgtEl>
                                        <p:attrNameLst>
                                          <p:attrName>style.visibility</p:attrName>
                                        </p:attrNameLst>
                                      </p:cBhvr>
                                      <p:to>
                                        <p:strVal val="visible"/>
                                      </p:to>
                                    </p:set>
                                    <p:animEffect transition="in" filter="box(out)">
                                      <p:cBhvr>
                                        <p:cTn id="27" dur="500"/>
                                        <p:tgtEl>
                                          <p:spTgt spid="13322">
                                            <p:txEl>
                                              <p:charRg st="0" end="1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3323"/>
                                        </p:tgtEl>
                                        <p:attrNameLst>
                                          <p:attrName>style.visibility</p:attrName>
                                        </p:attrNameLst>
                                      </p:cBhvr>
                                      <p:to>
                                        <p:strVal val="visible"/>
                                      </p:to>
                                    </p:set>
                                    <p:animEffect transition="in" filter="box(out)">
                                      <p:cBhvr>
                                        <p:cTn id="32" dur="500"/>
                                        <p:tgtEl>
                                          <p:spTgt spid="13323"/>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13328"/>
                                        </p:tgtEl>
                                        <p:attrNameLst>
                                          <p:attrName>style.visibility</p:attrName>
                                        </p:attrNameLst>
                                      </p:cBhvr>
                                      <p:to>
                                        <p:strVal val="visible"/>
                                      </p:to>
                                    </p:set>
                                    <p:animEffect transition="in" filter="box(out)">
                                      <p:cBhvr>
                                        <p:cTn id="37" dur="500"/>
                                        <p:tgtEl>
                                          <p:spTgt spid="13328"/>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box(out)">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13333"/>
                                        </p:tgtEl>
                                        <p:attrNameLst>
                                          <p:attrName>style.visibility</p:attrName>
                                        </p:attrNameLst>
                                      </p:cBhvr>
                                      <p:to>
                                        <p:strVal val="visible"/>
                                      </p:to>
                                    </p:set>
                                    <p:animEffect transition="in" filter="box(out)">
                                      <p:cBhvr>
                                        <p:cTn id="47" dur="500"/>
                                        <p:tgtEl>
                                          <p:spTgt spid="13333"/>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box(out)">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build="p"/>
      <p:bldP spid="13319" grpId="0" build="p"/>
      <p:bldP spid="13322" grpId="0" advAuto="1000" build="p"/>
      <p:bldP spid="13339"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文本框 14337"/>
          <p:cNvSpPr txBox="1"/>
          <p:nvPr/>
        </p:nvSpPr>
        <p:spPr>
          <a:xfrm>
            <a:off x="2895600" y="1524000"/>
            <a:ext cx="2139950" cy="519113"/>
          </a:xfrm>
          <a:prstGeom prst="rect">
            <a:avLst/>
          </a:prstGeom>
          <a:noFill/>
          <a:ln w="9525">
            <a:noFill/>
          </a:ln>
        </p:spPr>
        <p:txBody>
          <a:bodyPr wrap="none" anchor="t" anchorCtr="0">
            <a:spAutoFit/>
          </a:bodyPr>
          <a:p>
            <a:r>
              <a:rPr lang="en-US" altLang="zh-CN">
                <a:latin typeface="Times New Roman" panose="02020603050405020304" pitchFamily="18" charset="0"/>
                <a:ea typeface="黑体" panose="02010609060101010101" pitchFamily="2" charset="-122"/>
              </a:rPr>
              <a:t>3   2   5   1   4</a:t>
            </a:r>
            <a:endParaRPr lang="en-US" altLang="zh-CN">
              <a:latin typeface="Times New Roman" panose="02020603050405020304" pitchFamily="18" charset="0"/>
              <a:ea typeface="黑体" panose="02010609060101010101" pitchFamily="2" charset="-122"/>
            </a:endParaRPr>
          </a:p>
        </p:txBody>
      </p:sp>
      <p:sp>
        <p:nvSpPr>
          <p:cNvPr id="14341" name="椭圆 14340"/>
          <p:cNvSpPr/>
          <p:nvPr/>
        </p:nvSpPr>
        <p:spPr>
          <a:xfrm>
            <a:off x="3352800" y="1524000"/>
            <a:ext cx="381000" cy="457200"/>
          </a:xfrm>
          <a:prstGeom prst="ellipse">
            <a:avLst/>
          </a:prstGeom>
          <a:noFill/>
          <a:ln w="19050" cap="flat" cmpd="sng">
            <a:solidFill>
              <a:srgbClr val="0606FA"/>
            </a:solidFill>
            <a:prstDash val="solid"/>
            <a:headEnd type="none" w="med" len="med"/>
            <a:tailEnd type="none" w="med" len="med"/>
          </a:ln>
        </p:spPr>
        <p:txBody>
          <a:bodyPr/>
          <a:p>
            <a:endParaRPr lang="zh-CN" altLang="en-US"/>
          </a:p>
        </p:txBody>
      </p:sp>
      <p:sp>
        <p:nvSpPr>
          <p:cNvPr id="14342" name="直接连接符 14341"/>
          <p:cNvSpPr/>
          <p:nvPr/>
        </p:nvSpPr>
        <p:spPr>
          <a:xfrm>
            <a:off x="4454525" y="1981200"/>
            <a:ext cx="0" cy="304800"/>
          </a:xfrm>
          <a:prstGeom prst="line">
            <a:avLst/>
          </a:prstGeom>
          <a:ln w="28575" cap="flat" cmpd="sng">
            <a:solidFill>
              <a:srgbClr val="FF0000"/>
            </a:solidFill>
            <a:prstDash val="solid"/>
            <a:headEnd type="none" w="med" len="med"/>
            <a:tailEnd type="triangle" w="med" len="med"/>
          </a:ln>
        </p:spPr>
      </p:sp>
      <p:sp>
        <p:nvSpPr>
          <p:cNvPr id="14343" name="矩形 14342"/>
          <p:cNvSpPr/>
          <p:nvPr/>
        </p:nvSpPr>
        <p:spPr>
          <a:xfrm>
            <a:off x="4286885" y="2286000"/>
            <a:ext cx="335280" cy="460375"/>
          </a:xfrm>
          <a:prstGeom prst="rect">
            <a:avLst/>
          </a:prstGeom>
          <a:noFill/>
          <a:ln w="9525">
            <a:noFill/>
          </a:ln>
        </p:spPr>
        <p:txBody>
          <a:bodyPr wrap="none" anchor="t" anchorCtr="0">
            <a:spAutoFit/>
          </a:bodyPr>
          <a:p>
            <a:r>
              <a:rPr lang="en-US" altLang="zh-CN" sz="2400">
                <a:solidFill>
                  <a:srgbClr val="0606FA"/>
                </a:solidFill>
                <a:latin typeface="Times New Roman" panose="02020603050405020304" pitchFamily="18" charset="0"/>
                <a:ea typeface="黑体" panose="02010609060101010101" pitchFamily="2" charset="-122"/>
              </a:rPr>
              <a:t>0</a:t>
            </a:r>
            <a:endParaRPr lang="en-US" altLang="zh-CN" sz="2400">
              <a:solidFill>
                <a:srgbClr val="0606FA"/>
              </a:solidFill>
              <a:latin typeface="Times New Roman" panose="02020603050405020304" pitchFamily="18" charset="0"/>
              <a:ea typeface="黑体" panose="02010609060101010101" pitchFamily="2" charset="-122"/>
            </a:endParaRPr>
          </a:p>
        </p:txBody>
      </p:sp>
      <p:sp>
        <p:nvSpPr>
          <p:cNvPr id="14345" name="直接连接符 14344"/>
          <p:cNvSpPr/>
          <p:nvPr/>
        </p:nvSpPr>
        <p:spPr>
          <a:xfrm>
            <a:off x="3546475" y="2022475"/>
            <a:ext cx="0" cy="304800"/>
          </a:xfrm>
          <a:prstGeom prst="line">
            <a:avLst/>
          </a:prstGeom>
          <a:ln w="28575" cap="flat" cmpd="sng">
            <a:solidFill>
              <a:srgbClr val="FF0000"/>
            </a:solidFill>
            <a:prstDash val="solid"/>
            <a:headEnd type="none" w="med" len="med"/>
            <a:tailEnd type="triangle" w="med" len="med"/>
          </a:ln>
        </p:spPr>
      </p:sp>
      <p:sp>
        <p:nvSpPr>
          <p:cNvPr id="14346" name="矩形 14345"/>
          <p:cNvSpPr/>
          <p:nvPr/>
        </p:nvSpPr>
        <p:spPr>
          <a:xfrm>
            <a:off x="3429000" y="2289175"/>
            <a:ext cx="336550" cy="457200"/>
          </a:xfrm>
          <a:prstGeom prst="rect">
            <a:avLst/>
          </a:prstGeom>
          <a:noFill/>
          <a:ln w="9525">
            <a:noFill/>
          </a:ln>
        </p:spPr>
        <p:txBody>
          <a:bodyPr wrap="none" anchor="t" anchorCtr="0">
            <a:spAutoFit/>
          </a:bodyPr>
          <a:p>
            <a:r>
              <a:rPr lang="en-US" altLang="zh-CN" sz="2400">
                <a:solidFill>
                  <a:srgbClr val="0606FA"/>
                </a:solidFill>
                <a:latin typeface="Times New Roman" panose="02020603050405020304" pitchFamily="18" charset="0"/>
                <a:ea typeface="黑体" panose="02010609060101010101" pitchFamily="2" charset="-122"/>
              </a:rPr>
              <a:t>1</a:t>
            </a:r>
            <a:endParaRPr lang="en-US" altLang="zh-CN" sz="2400">
              <a:solidFill>
                <a:srgbClr val="0606FA"/>
              </a:solidFill>
              <a:latin typeface="Times New Roman" panose="02020603050405020304" pitchFamily="18" charset="0"/>
              <a:ea typeface="黑体" panose="02010609060101010101" pitchFamily="2" charset="-122"/>
            </a:endParaRPr>
          </a:p>
        </p:txBody>
      </p:sp>
      <p:sp>
        <p:nvSpPr>
          <p:cNvPr id="14347" name="直接连接符 14346"/>
          <p:cNvSpPr/>
          <p:nvPr/>
        </p:nvSpPr>
        <p:spPr>
          <a:xfrm flipV="1">
            <a:off x="3089275" y="1143000"/>
            <a:ext cx="0" cy="381000"/>
          </a:xfrm>
          <a:prstGeom prst="line">
            <a:avLst/>
          </a:prstGeom>
          <a:ln w="28575" cap="flat" cmpd="sng">
            <a:solidFill>
              <a:srgbClr val="FF0000"/>
            </a:solidFill>
            <a:prstDash val="solid"/>
            <a:headEnd type="none" w="med" len="med"/>
            <a:tailEnd type="triangle" w="med" len="med"/>
          </a:ln>
        </p:spPr>
      </p:sp>
      <p:graphicFrame>
        <p:nvGraphicFramePr>
          <p:cNvPr id="14348" name="对象 14347"/>
          <p:cNvGraphicFramePr/>
          <p:nvPr/>
        </p:nvGraphicFramePr>
        <p:xfrm>
          <a:off x="2952115" y="824865"/>
          <a:ext cx="229235" cy="330835"/>
        </p:xfrm>
        <a:graphic>
          <a:graphicData uri="http://schemas.openxmlformats.org/presentationml/2006/ole">
            <mc:AlternateContent xmlns:mc="http://schemas.openxmlformats.org/markup-compatibility/2006">
              <mc:Choice xmlns:v="urn:schemas-microsoft-com:vml" Requires="v">
                <p:oleObj spid="_x0000_s3187" name="" r:id="rId1" imgW="127000" imgH="165100" progId="Equation.3">
                  <p:embed/>
                </p:oleObj>
              </mc:Choice>
              <mc:Fallback>
                <p:oleObj name="" r:id="rId1" imgW="127000" imgH="165100" progId="Equation.3">
                  <p:embed/>
                  <p:pic>
                    <p:nvPicPr>
                      <p:cNvPr id="0" name="图片 3186"/>
                      <p:cNvPicPr/>
                      <p:nvPr/>
                    </p:nvPicPr>
                    <p:blipFill>
                      <a:blip r:embed="rId2"/>
                      <a:stretch>
                        <a:fillRect/>
                      </a:stretch>
                    </p:blipFill>
                    <p:spPr>
                      <a:xfrm>
                        <a:off x="2952115" y="824865"/>
                        <a:ext cx="229235" cy="330835"/>
                      </a:xfrm>
                      <a:prstGeom prst="rect">
                        <a:avLst/>
                      </a:prstGeom>
                      <a:noFill/>
                      <a:ln w="38100">
                        <a:noFill/>
                        <a:miter/>
                      </a:ln>
                    </p:spPr>
                  </p:pic>
                </p:oleObj>
              </mc:Fallback>
            </mc:AlternateContent>
          </a:graphicData>
        </a:graphic>
      </p:graphicFrame>
      <p:sp>
        <p:nvSpPr>
          <p:cNvPr id="14350" name="直接连接符 14349"/>
          <p:cNvSpPr/>
          <p:nvPr/>
        </p:nvSpPr>
        <p:spPr>
          <a:xfrm flipV="1">
            <a:off x="4876800" y="1219200"/>
            <a:ext cx="0" cy="381000"/>
          </a:xfrm>
          <a:prstGeom prst="line">
            <a:avLst/>
          </a:prstGeom>
          <a:ln w="28575" cap="flat" cmpd="sng">
            <a:solidFill>
              <a:srgbClr val="FF0000"/>
            </a:solidFill>
            <a:prstDash val="solid"/>
            <a:headEnd type="none" w="med" len="med"/>
            <a:tailEnd type="triangle" w="med" len="med"/>
          </a:ln>
        </p:spPr>
      </p:sp>
      <p:graphicFrame>
        <p:nvGraphicFramePr>
          <p:cNvPr id="14351" name="对象 14350"/>
          <p:cNvGraphicFramePr/>
          <p:nvPr/>
        </p:nvGraphicFramePr>
        <p:xfrm>
          <a:off x="4749800" y="784860"/>
          <a:ext cx="332105" cy="371475"/>
        </p:xfrm>
        <a:graphic>
          <a:graphicData uri="http://schemas.openxmlformats.org/presentationml/2006/ole">
            <mc:AlternateContent xmlns:mc="http://schemas.openxmlformats.org/markup-compatibility/2006">
              <mc:Choice xmlns:v="urn:schemas-microsoft-com:vml" Requires="v">
                <p:oleObj spid="_x0000_s3185" name="" r:id="rId3" imgW="127000" imgH="177165" progId="Equation.3">
                  <p:embed/>
                </p:oleObj>
              </mc:Choice>
              <mc:Fallback>
                <p:oleObj name="" r:id="rId3" imgW="127000" imgH="177165" progId="Equation.3">
                  <p:embed/>
                  <p:pic>
                    <p:nvPicPr>
                      <p:cNvPr id="0" name="图片 3184"/>
                      <p:cNvPicPr/>
                      <p:nvPr/>
                    </p:nvPicPr>
                    <p:blipFill>
                      <a:blip r:embed="rId4"/>
                      <a:stretch>
                        <a:fillRect/>
                      </a:stretch>
                    </p:blipFill>
                    <p:spPr>
                      <a:xfrm>
                        <a:off x="4749800" y="784860"/>
                        <a:ext cx="332105" cy="371475"/>
                      </a:xfrm>
                      <a:prstGeom prst="rect">
                        <a:avLst/>
                      </a:prstGeom>
                      <a:noFill/>
                      <a:ln w="38100">
                        <a:noFill/>
                        <a:miter/>
                      </a:ln>
                    </p:spPr>
                  </p:pic>
                </p:oleObj>
              </mc:Fallback>
            </mc:AlternateContent>
          </a:graphicData>
        </a:graphic>
      </p:graphicFrame>
      <p:sp>
        <p:nvSpPr>
          <p:cNvPr id="14352" name="直接连接符 14351"/>
          <p:cNvSpPr/>
          <p:nvPr/>
        </p:nvSpPr>
        <p:spPr>
          <a:xfrm flipV="1">
            <a:off x="3962400" y="1143000"/>
            <a:ext cx="0" cy="381000"/>
          </a:xfrm>
          <a:prstGeom prst="line">
            <a:avLst/>
          </a:prstGeom>
          <a:ln w="28575" cap="flat" cmpd="sng">
            <a:solidFill>
              <a:srgbClr val="FF0000"/>
            </a:solidFill>
            <a:prstDash val="solid"/>
            <a:headEnd type="none" w="med" len="med"/>
            <a:tailEnd type="triangle" w="med" len="med"/>
          </a:ln>
        </p:spPr>
      </p:sp>
      <p:graphicFrame>
        <p:nvGraphicFramePr>
          <p:cNvPr id="14353" name="对象 14352"/>
          <p:cNvGraphicFramePr/>
          <p:nvPr/>
        </p:nvGraphicFramePr>
        <p:xfrm>
          <a:off x="3858895" y="784860"/>
          <a:ext cx="217170" cy="345440"/>
        </p:xfrm>
        <a:graphic>
          <a:graphicData uri="http://schemas.openxmlformats.org/presentationml/2006/ole">
            <mc:AlternateContent xmlns:mc="http://schemas.openxmlformats.org/markup-compatibility/2006">
              <mc:Choice xmlns:v="urn:schemas-microsoft-com:vml" Requires="v">
                <p:oleObj spid="_x0000_s3186" name="" r:id="rId5" imgW="127000" imgH="165100" progId="Equation.3">
                  <p:embed/>
                </p:oleObj>
              </mc:Choice>
              <mc:Fallback>
                <p:oleObj name="" r:id="rId5" imgW="127000" imgH="165100" progId="Equation.3">
                  <p:embed/>
                  <p:pic>
                    <p:nvPicPr>
                      <p:cNvPr id="0" name="图片 3185"/>
                      <p:cNvPicPr/>
                      <p:nvPr/>
                    </p:nvPicPr>
                    <p:blipFill>
                      <a:blip r:embed="rId6"/>
                      <a:stretch>
                        <a:fillRect/>
                      </a:stretch>
                    </p:blipFill>
                    <p:spPr>
                      <a:xfrm>
                        <a:off x="3858895" y="784860"/>
                        <a:ext cx="217170" cy="345440"/>
                      </a:xfrm>
                      <a:prstGeom prst="rect">
                        <a:avLst/>
                      </a:prstGeom>
                      <a:noFill/>
                      <a:ln w="38100">
                        <a:noFill/>
                        <a:miter/>
                      </a:ln>
                    </p:spPr>
                  </p:pic>
                </p:oleObj>
              </mc:Fallback>
            </mc:AlternateContent>
          </a:graphicData>
        </a:graphic>
      </p:graphicFrame>
      <p:sp>
        <p:nvSpPr>
          <p:cNvPr id="14354" name="矩形 14353"/>
          <p:cNvSpPr/>
          <p:nvPr/>
        </p:nvSpPr>
        <p:spPr>
          <a:xfrm>
            <a:off x="358775" y="2743200"/>
            <a:ext cx="5949315" cy="521970"/>
          </a:xfrm>
          <a:prstGeom prst="rect">
            <a:avLst/>
          </a:prstGeom>
          <a:noFill/>
          <a:ln w="9525">
            <a:noFill/>
          </a:ln>
        </p:spPr>
        <p:txBody>
          <a:bodyPr wrap="none" anchor="t" anchorCtr="0">
            <a:spAutoFit/>
          </a:bodyPr>
          <a:p>
            <a:r>
              <a:rPr lang="zh-CN" altLang="en-US" dirty="0">
                <a:latin typeface="Times New Roman" panose="02020603050405020304" pitchFamily="18" charset="0"/>
              </a:rPr>
              <a:t>故此排列的逆序数为</a:t>
            </a:r>
            <a:r>
              <a:rPr lang="en-US" altLang="zh-CN">
                <a:latin typeface="Times New Roman" panose="02020603050405020304" pitchFamily="18" charset="0"/>
              </a:rPr>
              <a:t>: 2+1+2+0+0</a:t>
            </a:r>
            <a:r>
              <a:rPr lang="en-US" altLang="zh-CN" baseline="-25000">
                <a:latin typeface="Times New Roman" panose="02020603050405020304" pitchFamily="18" charset="0"/>
              </a:rPr>
              <a:t>  </a:t>
            </a:r>
            <a:r>
              <a:rPr lang="en-US" altLang="zh-CN">
                <a:latin typeface="Times New Roman" panose="02020603050405020304" pitchFamily="18" charset="0"/>
              </a:rPr>
              <a:t>=</a:t>
            </a:r>
            <a:r>
              <a:rPr lang="en-US" altLang="zh-CN" baseline="-25000">
                <a:latin typeface="Times New Roman" panose="02020603050405020304" pitchFamily="18" charset="0"/>
              </a:rPr>
              <a:t> </a:t>
            </a:r>
            <a:r>
              <a:rPr lang="en-US" altLang="zh-CN">
                <a:latin typeface="Times New Roman" panose="02020603050405020304" pitchFamily="18" charset="0"/>
              </a:rPr>
              <a:t>5.</a:t>
            </a:r>
            <a:endParaRPr lang="en-US" altLang="zh-CN">
              <a:latin typeface="Times New Roman" panose="02020603050405020304" pitchFamily="18" charset="0"/>
            </a:endParaRPr>
          </a:p>
        </p:txBody>
      </p:sp>
      <p:sp>
        <p:nvSpPr>
          <p:cNvPr id="14355" name="文本框 14354"/>
          <p:cNvSpPr txBox="1"/>
          <p:nvPr/>
        </p:nvSpPr>
        <p:spPr>
          <a:xfrm>
            <a:off x="990600" y="304800"/>
            <a:ext cx="3505200" cy="519113"/>
          </a:xfrm>
          <a:prstGeom prst="rect">
            <a:avLst/>
          </a:prstGeom>
          <a:noFill/>
          <a:ln w="9525">
            <a:noFill/>
          </a:ln>
        </p:spPr>
        <p:txBody>
          <a:bodyPr>
            <a:spAutoFit/>
          </a:bodyPr>
          <a:p>
            <a:r>
              <a:rPr lang="zh-CN" altLang="en-US" dirty="0">
                <a:solidFill>
                  <a:srgbClr val="3333FF"/>
                </a:solidFill>
                <a:latin typeface="Times New Roman" panose="02020603050405020304" pitchFamily="18" charset="0"/>
                <a:ea typeface="黑体" panose="02010609060101010101" pitchFamily="2" charset="-122"/>
              </a:rPr>
              <a:t>例如</a:t>
            </a:r>
            <a:r>
              <a:rPr lang="en-US" altLang="zh-CN">
                <a:solidFill>
                  <a:srgbClr val="3333FF"/>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rPr>
              <a:t> </a:t>
            </a:r>
            <a:r>
              <a:rPr lang="zh-CN" altLang="en-US" dirty="0">
                <a:latin typeface="Times New Roman" panose="02020603050405020304" pitchFamily="18" charset="0"/>
              </a:rPr>
              <a:t>排列</a:t>
            </a:r>
            <a:r>
              <a:rPr lang="en-US" altLang="zh-CN">
                <a:latin typeface="Times New Roman" panose="02020603050405020304" pitchFamily="18" charset="0"/>
              </a:rPr>
              <a:t>32514 </a:t>
            </a:r>
            <a:r>
              <a:rPr lang="zh-CN" altLang="en-US" dirty="0">
                <a:latin typeface="Times New Roman" panose="02020603050405020304" pitchFamily="18" charset="0"/>
              </a:rPr>
              <a:t>中</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4356" name="矩形 14355"/>
          <p:cNvSpPr/>
          <p:nvPr/>
        </p:nvSpPr>
        <p:spPr>
          <a:xfrm>
            <a:off x="1079500" y="4191000"/>
            <a:ext cx="3756025" cy="519113"/>
          </a:xfrm>
          <a:prstGeom prst="rect">
            <a:avLst/>
          </a:prstGeom>
          <a:noFill/>
          <a:ln w="9525">
            <a:noFill/>
          </a:ln>
        </p:spPr>
        <p:txBody>
          <a:bodyPr wrap="none" anchor="t" anchorCtr="0">
            <a:spAutoFit/>
          </a:bodyPr>
          <a:p>
            <a:r>
              <a:rPr lang="zh-CN" altLang="en-US" dirty="0">
                <a:latin typeface="Times New Roman" panose="02020603050405020304" pitchFamily="18" charset="0"/>
              </a:rPr>
              <a:t>计算排列逆序数的方法</a:t>
            </a:r>
            <a:endParaRPr lang="zh-CN" altLang="en-US" dirty="0">
              <a:latin typeface="Times New Roman" panose="02020603050405020304" pitchFamily="18" charset="0"/>
            </a:endParaRPr>
          </a:p>
        </p:txBody>
      </p:sp>
      <p:sp>
        <p:nvSpPr>
          <p:cNvPr id="14358" name="矩形 14357"/>
          <p:cNvSpPr/>
          <p:nvPr/>
        </p:nvSpPr>
        <p:spPr>
          <a:xfrm>
            <a:off x="1079500" y="3213100"/>
            <a:ext cx="5902960" cy="1081405"/>
          </a:xfrm>
          <a:prstGeom prst="rect">
            <a:avLst/>
          </a:prstGeom>
          <a:noFill/>
          <a:ln w="9525">
            <a:noFill/>
          </a:ln>
        </p:spPr>
        <p:txBody>
          <a:bodyPr wrap="none" anchor="t" anchorCtr="0">
            <a:spAutoFit/>
          </a:bodyPr>
          <a:p>
            <a:pPr algn="l">
              <a:lnSpc>
                <a:spcPct val="115000"/>
              </a:lnSpc>
            </a:pPr>
            <a:r>
              <a:rPr lang="zh-CN" altLang="en-US">
                <a:solidFill>
                  <a:schemeClr val="tx1"/>
                </a:solidFill>
                <a:latin typeface="Times New Roman" panose="02020603050405020304" pitchFamily="18" charset="0"/>
              </a:rPr>
              <a:t>若排列的逆序数为偶数称为</a:t>
            </a:r>
            <a:r>
              <a:rPr lang="zh-CN" altLang="en-US">
                <a:solidFill>
                  <a:srgbClr val="FF0000"/>
                </a:solidFill>
                <a:latin typeface="Times New Roman" panose="02020603050405020304" pitchFamily="18" charset="0"/>
              </a:rPr>
              <a:t>偶排列</a:t>
            </a:r>
            <a:r>
              <a:rPr lang="zh-CN" altLang="en-US">
                <a:solidFill>
                  <a:schemeClr val="tx1"/>
                </a:solidFill>
                <a:latin typeface="Times New Roman" panose="02020603050405020304" pitchFamily="18" charset="0"/>
              </a:rPr>
              <a:t>；</a:t>
            </a:r>
            <a:endParaRPr lang="zh-CN" altLang="en-US">
              <a:solidFill>
                <a:schemeClr val="tx1"/>
              </a:solidFill>
              <a:latin typeface="Times New Roman" panose="02020603050405020304" pitchFamily="18" charset="0"/>
            </a:endParaRPr>
          </a:p>
          <a:p>
            <a:pPr algn="l">
              <a:lnSpc>
                <a:spcPct val="115000"/>
              </a:lnSpc>
            </a:pPr>
            <a:r>
              <a:rPr lang="zh-CN" altLang="en-US">
                <a:solidFill>
                  <a:schemeClr val="tx1"/>
                </a:solidFill>
                <a:latin typeface="Times New Roman" panose="02020603050405020304" pitchFamily="18" charset="0"/>
              </a:rPr>
              <a:t>若其逆序数为奇数称为</a:t>
            </a:r>
            <a:r>
              <a:rPr lang="zh-CN" altLang="en-US">
                <a:solidFill>
                  <a:srgbClr val="FF0000"/>
                </a:solidFill>
                <a:latin typeface="Times New Roman" panose="02020603050405020304" pitchFamily="18" charset="0"/>
              </a:rPr>
              <a:t>奇排列</a:t>
            </a:r>
            <a:r>
              <a:rPr lang="en-US" altLang="zh-CN">
                <a:solidFill>
                  <a:schemeClr val="tx1"/>
                </a:solidFill>
                <a:latin typeface="Times New Roman" panose="02020603050405020304" pitchFamily="18" charset="0"/>
              </a:rPr>
              <a:t>.</a:t>
            </a:r>
            <a:endParaRPr lang="en-US" altLang="zh-CN">
              <a:solidFill>
                <a:schemeClr val="tx1"/>
              </a:solidFill>
              <a:latin typeface="Times New Roman" panose="02020603050405020304" pitchFamily="18" charset="0"/>
            </a:endParaRPr>
          </a:p>
        </p:txBody>
      </p:sp>
      <p:sp>
        <p:nvSpPr>
          <p:cNvPr id="14361" name="文本框 14360"/>
          <p:cNvSpPr txBox="1"/>
          <p:nvPr/>
        </p:nvSpPr>
        <p:spPr>
          <a:xfrm>
            <a:off x="358775" y="4648200"/>
            <a:ext cx="8456613" cy="1986280"/>
          </a:xfrm>
          <a:prstGeom prst="rect">
            <a:avLst/>
          </a:prstGeom>
          <a:noFill/>
          <a:ln w="9525">
            <a:noFill/>
          </a:ln>
        </p:spPr>
        <p:txBody>
          <a:bodyPr anchor="t" anchorCtr="0">
            <a:spAutoFit/>
          </a:bodyPr>
          <a:p>
            <a:pPr>
              <a:lnSpc>
                <a:spcPct val="110000"/>
              </a:lnSpc>
            </a:pPr>
            <a:r>
              <a:rPr lang="en-US" altLang="zh-CN" dirty="0">
                <a:solidFill>
                  <a:srgbClr val="FF0000"/>
                </a:solidFill>
                <a:latin typeface="Times New Roman" panose="02020603050405020304" pitchFamily="18" charset="0"/>
                <a:ea typeface="黑体" panose="02010609060101010101" pitchFamily="2" charset="-122"/>
              </a:rPr>
              <a:t>        </a:t>
            </a:r>
            <a:r>
              <a:rPr lang="zh-CN" altLang="en-US" dirty="0">
                <a:solidFill>
                  <a:srgbClr val="FF0000"/>
                </a:solidFill>
                <a:latin typeface="Times New Roman" panose="02020603050405020304" pitchFamily="18" charset="0"/>
                <a:ea typeface="黑体" panose="02010609060101010101" pitchFamily="2" charset="-122"/>
              </a:rPr>
              <a:t>方法</a:t>
            </a:r>
            <a:r>
              <a:rPr lang="en-US" altLang="zh-CN">
                <a:solidFill>
                  <a:srgbClr val="FF0000"/>
                </a:solidFill>
                <a:latin typeface="Times New Roman" panose="02020603050405020304" pitchFamily="18" charset="0"/>
                <a:ea typeface="黑体" panose="02010609060101010101" pitchFamily="2" charset="-122"/>
              </a:rPr>
              <a:t>1: </a:t>
            </a:r>
            <a:r>
              <a:rPr lang="zh-CN" altLang="en-US" dirty="0">
                <a:latin typeface="Times New Roman" panose="02020603050405020304" pitchFamily="18" charset="0"/>
              </a:rPr>
              <a:t>分别计算出排在</a:t>
            </a:r>
            <a:r>
              <a:rPr lang="en-US" altLang="zh-CN">
                <a:latin typeface="Times New Roman" panose="02020603050405020304" pitchFamily="18" charset="0"/>
              </a:rPr>
              <a:t>1,2,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n </a:t>
            </a:r>
            <a:r>
              <a:rPr lang="zh-CN" altLang="en-US">
                <a:latin typeface="Times New Roman" panose="02020603050405020304" pitchFamily="18" charset="0"/>
              </a:rPr>
              <a:t>后</a:t>
            </a:r>
            <a:r>
              <a:rPr lang="zh-CN" altLang="en-US" dirty="0">
                <a:latin typeface="Times New Roman" panose="02020603050405020304" pitchFamily="18" charset="0"/>
              </a:rPr>
              <a:t>面比它小的数码的个数并求和</a:t>
            </a:r>
            <a:r>
              <a:rPr lang="en-US" altLang="zh-CN">
                <a:latin typeface="Times New Roman" panose="02020603050405020304" pitchFamily="18" charset="0"/>
              </a:rPr>
              <a:t>, </a:t>
            </a:r>
            <a:r>
              <a:rPr lang="zh-CN" altLang="en-US" dirty="0">
                <a:latin typeface="Times New Roman" panose="02020603050405020304" pitchFamily="18" charset="0"/>
              </a:rPr>
              <a:t>即先分别算出 </a:t>
            </a:r>
            <a:r>
              <a:rPr lang="en-US" altLang="zh-CN">
                <a:latin typeface="Times New Roman" panose="02020603050405020304" pitchFamily="18" charset="0"/>
              </a:rPr>
              <a:t>1,2,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n </a:t>
            </a:r>
            <a:r>
              <a:rPr lang="zh-CN" altLang="en-US" dirty="0">
                <a:latin typeface="Times New Roman" panose="02020603050405020304" pitchFamily="18" charset="0"/>
              </a:rPr>
              <a:t>这 </a:t>
            </a:r>
            <a:r>
              <a:rPr lang="en-US" altLang="zh-CN" i="1">
                <a:latin typeface="Times New Roman" panose="02020603050405020304" pitchFamily="18" charset="0"/>
              </a:rPr>
              <a:t>n </a:t>
            </a:r>
            <a:r>
              <a:rPr lang="zh-CN" altLang="en-US" dirty="0">
                <a:latin typeface="Times New Roman" panose="02020603050405020304" pitchFamily="18" charset="0"/>
              </a:rPr>
              <a:t>个元素的逆序数</a:t>
            </a:r>
            <a:r>
              <a:rPr lang="en-US" altLang="zh-CN">
                <a:latin typeface="Times New Roman" panose="02020603050405020304" pitchFamily="18" charset="0"/>
              </a:rPr>
              <a:t>, </a:t>
            </a:r>
            <a:r>
              <a:rPr lang="zh-CN" altLang="en-US" dirty="0">
                <a:latin typeface="Times New Roman" panose="02020603050405020304" pitchFamily="18" charset="0"/>
              </a:rPr>
              <a:t>则所有元素的逆序数的总和即为所求排列的逆序数</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4365" name="椭圆 14364"/>
          <p:cNvSpPr/>
          <p:nvPr/>
        </p:nvSpPr>
        <p:spPr>
          <a:xfrm>
            <a:off x="4211955" y="1555115"/>
            <a:ext cx="381000" cy="457200"/>
          </a:xfrm>
          <a:prstGeom prst="ellipse">
            <a:avLst/>
          </a:prstGeom>
          <a:noFill/>
          <a:ln w="19050" cap="flat" cmpd="sng">
            <a:solidFill>
              <a:srgbClr val="0606FA"/>
            </a:solidFill>
            <a:prstDash val="solid"/>
            <a:headEnd type="none" w="med" len="med"/>
            <a:tailEnd type="none" w="med" len="med"/>
          </a:ln>
        </p:spPr>
        <p:txBody>
          <a:bodyPr/>
          <a:p>
            <a:endParaRPr lang="zh-CN" altLang="en-US"/>
          </a:p>
        </p:txBody>
      </p:sp>
      <p:sp>
        <p:nvSpPr>
          <p:cNvPr id="14366" name="椭圆 14365"/>
          <p:cNvSpPr/>
          <p:nvPr/>
        </p:nvSpPr>
        <p:spPr>
          <a:xfrm>
            <a:off x="4693920" y="1586230"/>
            <a:ext cx="381000" cy="457200"/>
          </a:xfrm>
          <a:prstGeom prst="ellipse">
            <a:avLst/>
          </a:prstGeom>
          <a:noFill/>
          <a:ln w="19050" cap="flat" cmpd="sng">
            <a:solidFill>
              <a:schemeClr val="accent2">
                <a:lumMod val="75000"/>
              </a:schemeClr>
            </a:solidFill>
            <a:prstDash val="solid"/>
            <a:headEnd type="none" w="med" len="med"/>
            <a:tailEnd type="none" w="med" len="med"/>
          </a:ln>
        </p:spPr>
        <p:txBody>
          <a:bodyPr/>
          <a:p>
            <a:endParaRPr lang="zh-CN" altLang="en-US"/>
          </a:p>
        </p:txBody>
      </p:sp>
      <p:sp>
        <p:nvSpPr>
          <p:cNvPr id="14368" name="椭圆 14367"/>
          <p:cNvSpPr/>
          <p:nvPr/>
        </p:nvSpPr>
        <p:spPr>
          <a:xfrm>
            <a:off x="4211955" y="1555115"/>
            <a:ext cx="381000" cy="457200"/>
          </a:xfrm>
          <a:prstGeom prst="ellipse">
            <a:avLst/>
          </a:prstGeom>
          <a:noFill/>
          <a:ln w="19050" cap="flat" cmpd="sng">
            <a:solidFill>
              <a:srgbClr val="FF3300"/>
            </a:solidFill>
            <a:prstDash val="solid"/>
            <a:headEnd type="none" w="med" len="med"/>
            <a:tailEnd type="none" w="med" len="med"/>
          </a:ln>
        </p:spPr>
        <p:txBody>
          <a:bodyPr/>
          <a:p>
            <a:endParaRPr lang="zh-CN" altLang="en-US"/>
          </a:p>
        </p:txBody>
      </p:sp>
      <p:sp>
        <p:nvSpPr>
          <p:cNvPr id="14369" name="椭圆 14368"/>
          <p:cNvSpPr/>
          <p:nvPr/>
        </p:nvSpPr>
        <p:spPr>
          <a:xfrm>
            <a:off x="4211955" y="1565275"/>
            <a:ext cx="381000" cy="457200"/>
          </a:xfrm>
          <a:prstGeom prst="ellipse">
            <a:avLst/>
          </a:prstGeom>
          <a:noFill/>
          <a:ln w="19050" cap="flat" cmpd="sng">
            <a:solidFill>
              <a:schemeClr val="accent2"/>
            </a:solidFill>
            <a:prstDash val="solid"/>
            <a:headEnd type="none" w="med" len="med"/>
            <a:tailEnd type="none" w="med" len="med"/>
          </a:ln>
        </p:spPr>
        <p:txBody>
          <a:bodyPr wrap="none" anchor="ctr" anchorCtr="0"/>
          <a:p>
            <a:pPr algn="ctr"/>
            <a:endParaRPr dirty="0">
              <a:solidFill>
                <a:schemeClr val="accent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4355">
                                            <p:txEl>
                                              <p:charRg st="0" end="15"/>
                                            </p:txEl>
                                          </p:spTgt>
                                        </p:tgtEl>
                                        <p:attrNameLst>
                                          <p:attrName>style.visibility</p:attrName>
                                        </p:attrNameLst>
                                      </p:cBhvr>
                                      <p:to>
                                        <p:strVal val="visible"/>
                                      </p:to>
                                    </p:set>
                                    <p:animEffect transition="in" filter="box(out)">
                                      <p:cBhvr>
                                        <p:cTn id="7" dur="500"/>
                                        <p:tgtEl>
                                          <p:spTgt spid="14355">
                                            <p:txEl>
                                              <p:charRg st="0" end="15"/>
                                            </p:txEl>
                                          </p:spTgt>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4338">
                                            <p:txEl>
                                              <p:charRg st="0" end="18"/>
                                            </p:txEl>
                                          </p:spTgt>
                                        </p:tgtEl>
                                        <p:attrNameLst>
                                          <p:attrName>style.visibility</p:attrName>
                                        </p:attrNameLst>
                                      </p:cBhvr>
                                      <p:to>
                                        <p:strVal val="visible"/>
                                      </p:to>
                                    </p:set>
                                    <p:animEffect transition="in" filter="box(out)">
                                      <p:cBhvr>
                                        <p:cTn id="11" dur="500"/>
                                        <p:tgtEl>
                                          <p:spTgt spid="14338">
                                            <p:txEl>
                                              <p:charRg st="0" end="18"/>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14347"/>
                                        </p:tgtEl>
                                        <p:attrNameLst>
                                          <p:attrName>style.visibility</p:attrName>
                                        </p:attrNameLst>
                                      </p:cBhvr>
                                      <p:to>
                                        <p:strVal val="visible"/>
                                      </p:to>
                                    </p:set>
                                    <p:animEffect transition="in" filter="box(out)">
                                      <p:cBhvr>
                                        <p:cTn id="16" dur="500"/>
                                        <p:tgtEl>
                                          <p:spTgt spid="14347"/>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14341"/>
                                        </p:tgtEl>
                                        <p:attrNameLst>
                                          <p:attrName>style.visibility</p:attrName>
                                        </p:attrNameLst>
                                      </p:cBhvr>
                                      <p:to>
                                        <p:strVal val="visible"/>
                                      </p:to>
                                    </p:set>
                                    <p:animEffect transition="in" filter="box(out)">
                                      <p:cBhvr>
                                        <p:cTn id="21" dur="500"/>
                                        <p:tgtEl>
                                          <p:spTgt spid="14341"/>
                                        </p:tgtEl>
                                      </p:cBhvr>
                                    </p:animEffect>
                                  </p:childTnLst>
                                  <p:subTnLst>
                                    <p:set>
                                      <p:cBhvr override="childStyle">
                                        <p:cTn dur="1" fill="hold" display="0" masterRel="nextClick" afterEffect="1"/>
                                        <p:tgtEl>
                                          <p:spTgt spid="14341"/>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14365"/>
                                        </p:tgtEl>
                                        <p:attrNameLst>
                                          <p:attrName>style.visibility</p:attrName>
                                        </p:attrNameLst>
                                      </p:cBhvr>
                                      <p:to>
                                        <p:strVal val="visible"/>
                                      </p:to>
                                    </p:set>
                                    <p:animEffect transition="in" filter="box(out)">
                                      <p:cBhvr>
                                        <p:cTn id="26" dur="500"/>
                                        <p:tgtEl>
                                          <p:spTgt spid="14365"/>
                                        </p:tgtEl>
                                      </p:cBhvr>
                                    </p:animEffect>
                                  </p:childTnLst>
                                  <p:subTnLst>
                                    <p:set>
                                      <p:cBhvr override="childStyle">
                                        <p:cTn dur="1" fill="hold" display="0" masterRel="nextClick" afterEffect="1"/>
                                        <p:tgtEl>
                                          <p:spTgt spid="14365"/>
                                        </p:tgtEl>
                                        <p:attrNameLst>
                                          <p:attrName>style.visibility</p:attrName>
                                        </p:attrNameLst>
                                      </p:cBhvr>
                                      <p:to>
                                        <p:strVal val="hidden"/>
                                      </p:to>
                                    </p:set>
                                  </p:subTnLst>
                                </p:cTn>
                              </p:par>
                            </p:childTnLst>
                          </p:cTn>
                        </p:par>
                        <p:par>
                          <p:cTn id="27" fill="hold">
                            <p:stCondLst>
                              <p:cond delay="500"/>
                            </p:stCondLst>
                            <p:childTnLst>
                              <p:par>
                                <p:cTn id="28" presetID="4" presetClass="entr" presetSubtype="32" fill="hold" nodeType="afterEffect">
                                  <p:stCondLst>
                                    <p:cond delay="0"/>
                                  </p:stCondLst>
                                  <p:childTnLst>
                                    <p:set>
                                      <p:cBhvr>
                                        <p:cTn id="29" dur="1" fill="hold">
                                          <p:stCondLst>
                                            <p:cond delay="0"/>
                                          </p:stCondLst>
                                        </p:cTn>
                                        <p:tgtEl>
                                          <p:spTgt spid="14348"/>
                                        </p:tgtEl>
                                        <p:attrNameLst>
                                          <p:attrName>style.visibility</p:attrName>
                                        </p:attrNameLst>
                                      </p:cBhvr>
                                      <p:to>
                                        <p:strVal val="visible"/>
                                      </p:to>
                                    </p:set>
                                    <p:animEffect transition="in" filter="box(out)">
                                      <p:cBhvr>
                                        <p:cTn id="30" dur="500"/>
                                        <p:tgtEl>
                                          <p:spTgt spid="14348"/>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4345"/>
                                        </p:tgtEl>
                                        <p:attrNameLst>
                                          <p:attrName>style.visibility</p:attrName>
                                        </p:attrNameLst>
                                      </p:cBhvr>
                                      <p:to>
                                        <p:strVal val="visible"/>
                                      </p:to>
                                    </p:set>
                                    <p:animEffect transition="in" filter="box(out)">
                                      <p:cBhvr>
                                        <p:cTn id="35" dur="500"/>
                                        <p:tgtEl>
                                          <p:spTgt spid="14345"/>
                                        </p:tgtEl>
                                      </p:cBhvr>
                                    </p:animEffect>
                                  </p:childTnLst>
                                </p:cTn>
                              </p:par>
                            </p:childTnLst>
                          </p:cTn>
                        </p:par>
                        <p:par>
                          <p:cTn id="36" fill="hold">
                            <p:stCondLst>
                              <p:cond delay="500"/>
                            </p:stCondLst>
                            <p:childTnLst>
                              <p:par>
                                <p:cTn id="37" presetID="4" presetClass="entr" presetSubtype="32" fill="hold" nodeType="afterEffect">
                                  <p:stCondLst>
                                    <p:cond delay="0"/>
                                  </p:stCondLst>
                                  <p:childTnLst>
                                    <p:set>
                                      <p:cBhvr>
                                        <p:cTn id="38" dur="1" fill="hold">
                                          <p:stCondLst>
                                            <p:cond delay="0"/>
                                          </p:stCondLst>
                                        </p:cTn>
                                        <p:tgtEl>
                                          <p:spTgt spid="14368"/>
                                        </p:tgtEl>
                                        <p:attrNameLst>
                                          <p:attrName>style.visibility</p:attrName>
                                        </p:attrNameLst>
                                      </p:cBhvr>
                                      <p:to>
                                        <p:strVal val="visible"/>
                                      </p:to>
                                    </p:set>
                                    <p:animEffect transition="in" filter="box(out)">
                                      <p:cBhvr>
                                        <p:cTn id="39" dur="500"/>
                                        <p:tgtEl>
                                          <p:spTgt spid="14368"/>
                                        </p:tgtEl>
                                      </p:cBhvr>
                                    </p:animEffect>
                                  </p:childTnLst>
                                  <p:subTnLst>
                                    <p:set>
                                      <p:cBhvr override="childStyle">
                                        <p:cTn dur="1" fill="hold" display="0" masterRel="nextClick" afterEffect="1"/>
                                        <p:tgtEl>
                                          <p:spTgt spid="14368"/>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14346">
                                            <p:txEl>
                                              <p:charRg st="0" end="2"/>
                                            </p:txEl>
                                          </p:spTgt>
                                        </p:tgtEl>
                                        <p:attrNameLst>
                                          <p:attrName>style.visibility</p:attrName>
                                        </p:attrNameLst>
                                      </p:cBhvr>
                                      <p:to>
                                        <p:strVal val="visible"/>
                                      </p:to>
                                    </p:set>
                                    <p:animEffect transition="in" filter="box(out)">
                                      <p:cBhvr>
                                        <p:cTn id="44" dur="500"/>
                                        <p:tgtEl>
                                          <p:spTgt spid="14346">
                                            <p:txEl>
                                              <p:charRg st="0"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nodeType="clickEffect">
                                  <p:stCondLst>
                                    <p:cond delay="0"/>
                                  </p:stCondLst>
                                  <p:childTnLst>
                                    <p:set>
                                      <p:cBhvr>
                                        <p:cTn id="48" dur="1" fill="hold">
                                          <p:stCondLst>
                                            <p:cond delay="0"/>
                                          </p:stCondLst>
                                        </p:cTn>
                                        <p:tgtEl>
                                          <p:spTgt spid="14352"/>
                                        </p:tgtEl>
                                        <p:attrNameLst>
                                          <p:attrName>style.visibility</p:attrName>
                                        </p:attrNameLst>
                                      </p:cBhvr>
                                      <p:to>
                                        <p:strVal val="visible"/>
                                      </p:to>
                                    </p:set>
                                    <p:animEffect transition="in" filter="box(out)">
                                      <p:cBhvr>
                                        <p:cTn id="49" dur="500"/>
                                        <p:tgtEl>
                                          <p:spTgt spid="14352"/>
                                        </p:tgtEl>
                                      </p:cBhvr>
                                    </p:animEffect>
                                  </p:childTnLst>
                                </p:cTn>
                              </p:par>
                            </p:childTnLst>
                          </p:cTn>
                        </p:par>
                        <p:par>
                          <p:cTn id="50" fill="hold">
                            <p:stCondLst>
                              <p:cond delay="500"/>
                            </p:stCondLst>
                            <p:childTnLst>
                              <p:par>
                                <p:cTn id="51" presetID="4" presetClass="entr" presetSubtype="32" fill="hold" grpId="0" nodeType="afterEffect">
                                  <p:stCondLst>
                                    <p:cond delay="0"/>
                                  </p:stCondLst>
                                  <p:childTnLst>
                                    <p:set>
                                      <p:cBhvr>
                                        <p:cTn id="52" dur="1" fill="hold">
                                          <p:stCondLst>
                                            <p:cond delay="0"/>
                                          </p:stCondLst>
                                        </p:cTn>
                                        <p:tgtEl>
                                          <p:spTgt spid="14369"/>
                                        </p:tgtEl>
                                        <p:attrNameLst>
                                          <p:attrName>style.visibility</p:attrName>
                                        </p:attrNameLst>
                                      </p:cBhvr>
                                      <p:to>
                                        <p:strVal val="visible"/>
                                      </p:to>
                                    </p:set>
                                    <p:animEffect transition="in" filter="box(out)">
                                      <p:cBhvr>
                                        <p:cTn id="53" dur="500"/>
                                        <p:tgtEl>
                                          <p:spTgt spid="14369"/>
                                        </p:tgtEl>
                                      </p:cBhvr>
                                    </p:animEffect>
                                  </p:childTnLst>
                                  <p:subTnLst>
                                    <p:set>
                                      <p:cBhvr override="childStyle">
                                        <p:cTn dur="1" fill="hold" display="0" masterRel="nextClick" afterEffect="1"/>
                                        <p:tgtEl>
                                          <p:spTgt spid="14369"/>
                                        </p:tgtEl>
                                        <p:attrNameLst>
                                          <p:attrName>style.visibility</p:attrName>
                                        </p:attrNameLst>
                                      </p:cBhvr>
                                      <p:to>
                                        <p:strVal val="hidden"/>
                                      </p:to>
                                    </p:set>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nodeType="clickEffect">
                                  <p:stCondLst>
                                    <p:cond delay="0"/>
                                  </p:stCondLst>
                                  <p:childTnLst>
                                    <p:set>
                                      <p:cBhvr>
                                        <p:cTn id="57" dur="1" fill="hold">
                                          <p:stCondLst>
                                            <p:cond delay="0"/>
                                          </p:stCondLst>
                                        </p:cTn>
                                        <p:tgtEl>
                                          <p:spTgt spid="14366"/>
                                        </p:tgtEl>
                                        <p:attrNameLst>
                                          <p:attrName>style.visibility</p:attrName>
                                        </p:attrNameLst>
                                      </p:cBhvr>
                                      <p:to>
                                        <p:strVal val="visible"/>
                                      </p:to>
                                    </p:set>
                                    <p:animEffect transition="in" filter="box(out)">
                                      <p:cBhvr>
                                        <p:cTn id="58" dur="500"/>
                                        <p:tgtEl>
                                          <p:spTgt spid="14366"/>
                                        </p:tgtEl>
                                      </p:cBhvr>
                                    </p:animEffect>
                                  </p:childTnLst>
                                  <p:subTnLst>
                                    <p:set>
                                      <p:cBhvr override="childStyle">
                                        <p:cTn dur="1" fill="hold" display="0" masterRel="nextClick" afterEffect="1"/>
                                        <p:tgtEl>
                                          <p:spTgt spid="14366"/>
                                        </p:tgtEl>
                                        <p:attrNameLst>
                                          <p:attrName>style.visibility</p:attrName>
                                        </p:attrNameLst>
                                      </p:cBhvr>
                                      <p:to>
                                        <p:strVal val="hidden"/>
                                      </p:to>
                                    </p:set>
                                  </p:subTnLst>
                                </p:cTn>
                              </p:par>
                            </p:childTnLst>
                          </p:cTn>
                        </p:par>
                        <p:par>
                          <p:cTn id="59" fill="hold">
                            <p:stCondLst>
                              <p:cond delay="500"/>
                            </p:stCondLst>
                            <p:childTnLst>
                              <p:par>
                                <p:cTn id="60" presetID="4" presetClass="entr" presetSubtype="32" fill="hold" nodeType="afterEffect">
                                  <p:stCondLst>
                                    <p:cond delay="0"/>
                                  </p:stCondLst>
                                  <p:childTnLst>
                                    <p:set>
                                      <p:cBhvr>
                                        <p:cTn id="61" dur="1" fill="hold">
                                          <p:stCondLst>
                                            <p:cond delay="0"/>
                                          </p:stCondLst>
                                        </p:cTn>
                                        <p:tgtEl>
                                          <p:spTgt spid="14353"/>
                                        </p:tgtEl>
                                        <p:attrNameLst>
                                          <p:attrName>style.visibility</p:attrName>
                                        </p:attrNameLst>
                                      </p:cBhvr>
                                      <p:to>
                                        <p:strVal val="visible"/>
                                      </p:to>
                                    </p:set>
                                    <p:animEffect transition="in" filter="box(out)">
                                      <p:cBhvr>
                                        <p:cTn id="62" dur="500"/>
                                        <p:tgtEl>
                                          <p:spTgt spid="14353"/>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14342"/>
                                        </p:tgtEl>
                                        <p:attrNameLst>
                                          <p:attrName>style.visibility</p:attrName>
                                        </p:attrNameLst>
                                      </p:cBhvr>
                                      <p:to>
                                        <p:strVal val="visible"/>
                                      </p:to>
                                    </p:set>
                                    <p:animEffect transition="in" filter="box(out)">
                                      <p:cBhvr>
                                        <p:cTn id="67" dur="500"/>
                                        <p:tgtEl>
                                          <p:spTgt spid="14342"/>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14343">
                                            <p:txEl>
                                              <p:charRg st="0" end="6"/>
                                            </p:txEl>
                                          </p:spTgt>
                                        </p:tgtEl>
                                        <p:attrNameLst>
                                          <p:attrName>style.visibility</p:attrName>
                                        </p:attrNameLst>
                                      </p:cBhvr>
                                      <p:to>
                                        <p:strVal val="visible"/>
                                      </p:to>
                                    </p:set>
                                    <p:animEffect transition="in" filter="box(out)">
                                      <p:cBhvr>
                                        <p:cTn id="72" dur="500"/>
                                        <p:tgtEl>
                                          <p:spTgt spid="14343">
                                            <p:txEl>
                                              <p:charRg st="0" end="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32" fill="hold" nodeType="clickEffect">
                                  <p:stCondLst>
                                    <p:cond delay="0"/>
                                  </p:stCondLst>
                                  <p:childTnLst>
                                    <p:set>
                                      <p:cBhvr>
                                        <p:cTn id="76" dur="1" fill="hold">
                                          <p:stCondLst>
                                            <p:cond delay="0"/>
                                          </p:stCondLst>
                                        </p:cTn>
                                        <p:tgtEl>
                                          <p:spTgt spid="14350"/>
                                        </p:tgtEl>
                                        <p:attrNameLst>
                                          <p:attrName>style.visibility</p:attrName>
                                        </p:attrNameLst>
                                      </p:cBhvr>
                                      <p:to>
                                        <p:strVal val="visible"/>
                                      </p:to>
                                    </p:set>
                                    <p:animEffect transition="in" filter="box(out)">
                                      <p:cBhvr>
                                        <p:cTn id="77" dur="500"/>
                                        <p:tgtEl>
                                          <p:spTgt spid="14350"/>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32" fill="hold" nodeType="clickEffect">
                                  <p:stCondLst>
                                    <p:cond delay="0"/>
                                  </p:stCondLst>
                                  <p:childTnLst>
                                    <p:set>
                                      <p:cBhvr>
                                        <p:cTn id="81" dur="1" fill="hold">
                                          <p:stCondLst>
                                            <p:cond delay="0"/>
                                          </p:stCondLst>
                                        </p:cTn>
                                        <p:tgtEl>
                                          <p:spTgt spid="14351"/>
                                        </p:tgtEl>
                                        <p:attrNameLst>
                                          <p:attrName>style.visibility</p:attrName>
                                        </p:attrNameLst>
                                      </p:cBhvr>
                                      <p:to>
                                        <p:strVal val="visible"/>
                                      </p:to>
                                    </p:set>
                                    <p:animEffect transition="in" filter="box(out)">
                                      <p:cBhvr>
                                        <p:cTn id="82" dur="500"/>
                                        <p:tgtEl>
                                          <p:spTgt spid="14351"/>
                                        </p:tgtEl>
                                      </p:cBhvr>
                                    </p:animEffect>
                                  </p:childTnLst>
                                </p:cTn>
                              </p:par>
                            </p:childTnLst>
                          </p:cTn>
                        </p:par>
                        <p:par>
                          <p:cTn id="83" fill="hold">
                            <p:stCondLst>
                              <p:cond delay="500"/>
                            </p:stCondLst>
                            <p:childTnLst>
                              <p:par>
                                <p:cTn id="84" presetID="4" presetClass="entr" presetSubtype="32" fill="hold" grpId="0" nodeType="afterEffect">
                                  <p:stCondLst>
                                    <p:cond delay="0"/>
                                  </p:stCondLst>
                                  <p:childTnLst>
                                    <p:set>
                                      <p:cBhvr>
                                        <p:cTn id="85" dur="1" fill="hold">
                                          <p:stCondLst>
                                            <p:cond delay="0"/>
                                          </p:stCondLst>
                                        </p:cTn>
                                        <p:tgtEl>
                                          <p:spTgt spid="14354">
                                            <p:txEl>
                                              <p:charRg st="0" end="38"/>
                                            </p:txEl>
                                          </p:spTgt>
                                        </p:tgtEl>
                                        <p:attrNameLst>
                                          <p:attrName>style.visibility</p:attrName>
                                        </p:attrNameLst>
                                      </p:cBhvr>
                                      <p:to>
                                        <p:strVal val="visible"/>
                                      </p:to>
                                    </p:set>
                                    <p:animEffect transition="in" filter="box(out)">
                                      <p:cBhvr>
                                        <p:cTn id="86" dur="500"/>
                                        <p:tgtEl>
                                          <p:spTgt spid="14354">
                                            <p:txEl>
                                              <p:charRg st="0" end="38"/>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1" nodeType="clickEffect">
                                  <p:stCondLst>
                                    <p:cond delay="0"/>
                                  </p:stCondLst>
                                  <p:childTnLst>
                                    <p:set>
                                      <p:cBhvr>
                                        <p:cTn id="90" dur="1" fill="hold">
                                          <p:stCondLst>
                                            <p:cond delay="0"/>
                                          </p:stCondLst>
                                        </p:cTn>
                                        <p:tgtEl>
                                          <p:spTgt spid="14358">
                                            <p:txEl>
                                              <p:pRg st="0" end="0"/>
                                            </p:txEl>
                                          </p:spTgt>
                                        </p:tgtEl>
                                        <p:attrNameLst>
                                          <p:attrName>style.visibility</p:attrName>
                                        </p:attrNameLst>
                                      </p:cBhvr>
                                      <p:to>
                                        <p:strVal val="visible"/>
                                      </p:to>
                                    </p:set>
                                    <p:animEffect transition="in" filter="blinds(horizontal)">
                                      <p:cBhvr>
                                        <p:cTn id="91" dur="500"/>
                                        <p:tgtEl>
                                          <p:spTgt spid="14358">
                                            <p:txEl>
                                              <p:pRg st="0" end="0"/>
                                            </p:txEl>
                                          </p:spTgt>
                                        </p:tgtEl>
                                      </p:cBhvr>
                                    </p:animEffect>
                                  </p:childTnLst>
                                </p:cTn>
                              </p:par>
                              <p:par>
                                <p:cTn id="92" presetID="3" presetClass="entr" presetSubtype="10" fill="hold" grpId="1" nodeType="withEffect">
                                  <p:stCondLst>
                                    <p:cond delay="0"/>
                                  </p:stCondLst>
                                  <p:childTnLst>
                                    <p:set>
                                      <p:cBhvr>
                                        <p:cTn id="93" dur="1" fill="hold">
                                          <p:stCondLst>
                                            <p:cond delay="0"/>
                                          </p:stCondLst>
                                        </p:cTn>
                                        <p:tgtEl>
                                          <p:spTgt spid="14358">
                                            <p:txEl>
                                              <p:pRg st="1" end="1"/>
                                            </p:txEl>
                                          </p:spTgt>
                                        </p:tgtEl>
                                        <p:attrNameLst>
                                          <p:attrName>style.visibility</p:attrName>
                                        </p:attrNameLst>
                                      </p:cBhvr>
                                      <p:to>
                                        <p:strVal val="visible"/>
                                      </p:to>
                                    </p:set>
                                    <p:animEffect transition="in" filter="blinds(horizontal)">
                                      <p:cBhvr>
                                        <p:cTn id="94" dur="500"/>
                                        <p:tgtEl>
                                          <p:spTgt spid="14358">
                                            <p:txEl>
                                              <p:pRg st="1" end="1"/>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4" presetClass="entr" presetSubtype="32" fill="hold" grpId="0" nodeType="clickEffect">
                                  <p:stCondLst>
                                    <p:cond delay="0"/>
                                  </p:stCondLst>
                                  <p:childTnLst>
                                    <p:set>
                                      <p:cBhvr>
                                        <p:cTn id="98" dur="1" fill="hold">
                                          <p:stCondLst>
                                            <p:cond delay="0"/>
                                          </p:stCondLst>
                                        </p:cTn>
                                        <p:tgtEl>
                                          <p:spTgt spid="14356">
                                            <p:txEl>
                                              <p:charRg st="0" end="11"/>
                                            </p:txEl>
                                          </p:spTgt>
                                        </p:tgtEl>
                                        <p:attrNameLst>
                                          <p:attrName>style.visibility</p:attrName>
                                        </p:attrNameLst>
                                      </p:cBhvr>
                                      <p:to>
                                        <p:strVal val="visible"/>
                                      </p:to>
                                    </p:set>
                                    <p:animEffect transition="in" filter="box(out)">
                                      <p:cBhvr>
                                        <p:cTn id="99" dur="500"/>
                                        <p:tgtEl>
                                          <p:spTgt spid="14356">
                                            <p:txEl>
                                              <p:charRg st="0" end="11"/>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4" presetClass="entr" presetSubtype="32" fill="hold" grpId="0" nodeType="clickEffect">
                                  <p:stCondLst>
                                    <p:cond delay="0"/>
                                  </p:stCondLst>
                                  <p:childTnLst>
                                    <p:set>
                                      <p:cBhvr>
                                        <p:cTn id="103" dur="1" fill="hold">
                                          <p:stCondLst>
                                            <p:cond delay="0"/>
                                          </p:stCondLst>
                                        </p:cTn>
                                        <p:tgtEl>
                                          <p:spTgt spid="14361">
                                            <p:txEl>
                                              <p:charRg st="0" end="104"/>
                                            </p:txEl>
                                          </p:spTgt>
                                        </p:tgtEl>
                                        <p:attrNameLst>
                                          <p:attrName>style.visibility</p:attrName>
                                        </p:attrNameLst>
                                      </p:cBhvr>
                                      <p:to>
                                        <p:strVal val="visible"/>
                                      </p:to>
                                    </p:set>
                                    <p:animEffect transition="in" filter="box(out)">
                                      <p:cBhvr>
                                        <p:cTn id="104" dur="500"/>
                                        <p:tgtEl>
                                          <p:spTgt spid="14361">
                                            <p:txEl>
                                              <p:charRg st="0" end="10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dvAuto="1000" build="p"/>
      <p:bldP spid="14343" grpId="0" build="p"/>
      <p:bldP spid="14346" grpId="0" build="p"/>
      <p:bldP spid="14354" grpId="0" advAuto="1000" build="p"/>
      <p:bldP spid="14355" grpId="0" advAuto="1000" build="p"/>
      <p:bldP spid="14356" grpId="0" build="p"/>
      <p:bldP spid="14358" grpId="0" build="p"/>
      <p:bldP spid="14361" grpId="0" build="p"/>
      <p:bldP spid="14369" grpId="0" bldLvl="0" animBg="1"/>
      <p:bldP spid="14358" grpId="1" bldLvl="0" build="allAtOnce"/>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8" name="矩形 67587"/>
          <p:cNvSpPr/>
          <p:nvPr/>
        </p:nvSpPr>
        <p:spPr>
          <a:xfrm>
            <a:off x="1043305" y="1796415"/>
            <a:ext cx="5116830" cy="684530"/>
          </a:xfrm>
          <a:prstGeom prst="rect">
            <a:avLst/>
          </a:prstGeom>
          <a:noFill/>
          <a:ln w="9525">
            <a:noFill/>
          </a:ln>
        </p:spPr>
        <p:txBody>
          <a:bodyPr wrap="none" anchor="t" anchorCtr="0">
            <a:noAutofit/>
          </a:bodyPr>
          <a:p>
            <a:r>
              <a:rPr lang="zh-CN" altLang="en-US" dirty="0">
                <a:solidFill>
                  <a:srgbClr val="FF0000"/>
                </a:solidFill>
                <a:latin typeface="Times New Roman" panose="02020603050405020304" pitchFamily="18" charset="0"/>
                <a:ea typeface="黑体" panose="02010609060101010101" pitchFamily="2" charset="-122"/>
              </a:rPr>
              <a:t>例</a:t>
            </a:r>
            <a:r>
              <a:rPr lang="en-US" altLang="zh-CN">
                <a:solidFill>
                  <a:srgbClr val="FF0000"/>
                </a:solidFill>
                <a:latin typeface="Times New Roman" panose="02020603050405020304" pitchFamily="18" charset="0"/>
                <a:ea typeface="黑体" panose="02010609060101010101" pitchFamily="2" charset="-122"/>
              </a:rPr>
              <a:t>1.1.4</a:t>
            </a:r>
            <a:r>
              <a:rPr lang="en-US" altLang="zh-CN">
                <a:solidFill>
                  <a:srgbClr val="3333FF"/>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rPr>
              <a:t> </a:t>
            </a:r>
            <a:r>
              <a:rPr lang="zh-CN" altLang="en-US" dirty="0">
                <a:latin typeface="Times New Roman" panose="02020603050405020304" pitchFamily="18" charset="0"/>
              </a:rPr>
              <a:t>求排列</a:t>
            </a:r>
            <a:r>
              <a:rPr lang="en-US" altLang="zh-CN" dirty="0">
                <a:latin typeface="Times New Roman" panose="02020603050405020304" pitchFamily="18" charset="0"/>
              </a:rPr>
              <a:t>6</a:t>
            </a:r>
            <a:r>
              <a:rPr lang="en-US" altLang="zh-CN">
                <a:latin typeface="Times New Roman" panose="02020603050405020304" pitchFamily="18" charset="0"/>
              </a:rPr>
              <a:t>25341</a:t>
            </a:r>
            <a:r>
              <a:rPr lang="zh-CN" altLang="en-US" dirty="0">
                <a:latin typeface="Times New Roman" panose="02020603050405020304" pitchFamily="18" charset="0"/>
              </a:rPr>
              <a:t>的逆序数</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67589" name="矩形 67588"/>
          <p:cNvSpPr/>
          <p:nvPr/>
        </p:nvSpPr>
        <p:spPr>
          <a:xfrm>
            <a:off x="499110" y="2317750"/>
            <a:ext cx="8345170" cy="2688590"/>
          </a:xfrm>
          <a:prstGeom prst="rect">
            <a:avLst/>
          </a:prstGeom>
          <a:noFill/>
          <a:ln w="9525">
            <a:noFill/>
          </a:ln>
        </p:spPr>
        <p:txBody>
          <a:bodyPr wrap="square" anchor="t" anchorCtr="0">
            <a:noAutofit/>
          </a:bodyPr>
          <a:p>
            <a:pPr algn="l"/>
            <a:r>
              <a:rPr lang="en-US" altLang="zh-CN" dirty="0">
                <a:solidFill>
                  <a:srgbClr val="3333FF"/>
                </a:solidFill>
                <a:latin typeface="Times New Roman" panose="02020603050405020304" pitchFamily="18" charset="0"/>
                <a:ea typeface="黑体" panose="02010609060101010101" pitchFamily="2" charset="-122"/>
              </a:rPr>
              <a:t>     </a:t>
            </a:r>
            <a:r>
              <a:rPr lang="zh-CN" altLang="en-US" dirty="0">
                <a:solidFill>
                  <a:srgbClr val="3333FF"/>
                </a:solidFill>
                <a:latin typeface="Times New Roman" panose="02020603050405020304" pitchFamily="18" charset="0"/>
                <a:ea typeface="黑体" panose="02010609060101010101" pitchFamily="2" charset="-122"/>
              </a:rPr>
              <a:t>解</a:t>
            </a:r>
            <a:r>
              <a:rPr lang="en-US" altLang="zh-CN">
                <a:solidFill>
                  <a:srgbClr val="3333FF"/>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在排列</a:t>
            </a:r>
            <a:r>
              <a:rPr lang="en-US" altLang="zh-CN" dirty="0">
                <a:sym typeface="+mn-ea"/>
              </a:rPr>
              <a:t>6</a:t>
            </a:r>
            <a:r>
              <a:rPr lang="en-US" altLang="zh-CN">
                <a:sym typeface="+mn-ea"/>
              </a:rPr>
              <a:t>25341</a:t>
            </a:r>
            <a:r>
              <a:rPr lang="zh-CN" altLang="en-US" dirty="0">
                <a:latin typeface="Times New Roman" panose="02020603050405020304" pitchFamily="18" charset="0"/>
              </a:rPr>
              <a:t>中</a:t>
            </a:r>
            <a:r>
              <a:rPr lang="en-US" altLang="zh-CN">
                <a:latin typeface="Times New Roman" panose="02020603050405020304" pitchFamily="18" charset="0"/>
              </a:rPr>
              <a:t>,</a:t>
            </a:r>
            <a:r>
              <a:rPr lang="en-US" altLang="zh-CN">
                <a:sym typeface="+mn-ea"/>
              </a:rPr>
              <a:t>6</a:t>
            </a:r>
            <a:r>
              <a:rPr lang="zh-CN" altLang="en-US" dirty="0">
                <a:sym typeface="+mn-ea"/>
              </a:rPr>
              <a:t>排在首位</a:t>
            </a:r>
            <a:r>
              <a:rPr lang="en-US" altLang="zh-CN">
                <a:sym typeface="+mn-ea"/>
              </a:rPr>
              <a:t>, </a:t>
            </a:r>
            <a:r>
              <a:rPr lang="zh-CN" altLang="en-US" dirty="0">
                <a:sym typeface="+mn-ea"/>
              </a:rPr>
              <a:t>其后比它小的数的个数为</a:t>
            </a:r>
            <a:r>
              <a:rPr lang="en-US" altLang="zh-CN">
                <a:solidFill>
                  <a:srgbClr val="FF3300"/>
                </a:solidFill>
                <a:sym typeface="+mn-ea"/>
              </a:rPr>
              <a:t>5</a:t>
            </a:r>
            <a:r>
              <a:rPr lang="zh-CN" altLang="en-US">
                <a:solidFill>
                  <a:srgbClr val="FF3300"/>
                </a:solidFill>
                <a:sym typeface="+mn-ea"/>
              </a:rPr>
              <a:t>，</a:t>
            </a:r>
            <a:r>
              <a:rPr lang="zh-CN" altLang="en-US" dirty="0">
                <a:sym typeface="+mn-ea"/>
              </a:rPr>
              <a:t>则</a:t>
            </a:r>
            <a:r>
              <a:rPr lang="en-US" altLang="zh-CN">
                <a:sym typeface="+mn-ea"/>
              </a:rPr>
              <a:t>6</a:t>
            </a:r>
            <a:r>
              <a:rPr lang="zh-CN" altLang="en-US" dirty="0">
                <a:sym typeface="+mn-ea"/>
              </a:rPr>
              <a:t>的逆序为</a:t>
            </a:r>
            <a:r>
              <a:rPr lang="en-US" altLang="zh-CN">
                <a:solidFill>
                  <a:srgbClr val="FF3300"/>
                </a:solidFill>
                <a:sym typeface="+mn-ea"/>
              </a:rPr>
              <a:t>5</a:t>
            </a:r>
            <a:r>
              <a:rPr lang="en-US" altLang="zh-CN">
                <a:sym typeface="+mn-ea"/>
              </a:rPr>
              <a:t>; 2</a:t>
            </a:r>
            <a:r>
              <a:rPr lang="zh-CN" altLang="en-US" dirty="0">
                <a:sym typeface="+mn-ea"/>
              </a:rPr>
              <a:t>的后面比</a:t>
            </a:r>
            <a:r>
              <a:rPr lang="en-US" altLang="zh-CN">
                <a:sym typeface="+mn-ea"/>
              </a:rPr>
              <a:t>2</a:t>
            </a:r>
            <a:r>
              <a:rPr lang="zh-CN" altLang="en-US">
                <a:sym typeface="+mn-ea"/>
              </a:rPr>
              <a:t>小</a:t>
            </a:r>
            <a:r>
              <a:rPr lang="zh-CN" altLang="en-US" dirty="0">
                <a:sym typeface="+mn-ea"/>
              </a:rPr>
              <a:t>的数只有一个</a:t>
            </a:r>
            <a:r>
              <a:rPr lang="en-US" altLang="zh-CN">
                <a:sym typeface="+mn-ea"/>
              </a:rPr>
              <a:t>1, </a:t>
            </a:r>
            <a:r>
              <a:rPr lang="zh-CN" altLang="en-US" dirty="0">
                <a:sym typeface="+mn-ea"/>
              </a:rPr>
              <a:t>故</a:t>
            </a:r>
            <a:r>
              <a:rPr lang="en-US" altLang="zh-CN">
                <a:sym typeface="+mn-ea"/>
              </a:rPr>
              <a:t>2</a:t>
            </a:r>
            <a:r>
              <a:rPr lang="zh-CN" altLang="en-US" dirty="0">
                <a:sym typeface="+mn-ea"/>
              </a:rPr>
              <a:t>的逆序为</a:t>
            </a:r>
            <a:r>
              <a:rPr lang="en-US" altLang="zh-CN">
                <a:solidFill>
                  <a:srgbClr val="FF3300"/>
                </a:solidFill>
                <a:sym typeface="+mn-ea"/>
              </a:rPr>
              <a:t>1</a:t>
            </a:r>
            <a:r>
              <a:rPr lang="en-US" altLang="zh-CN">
                <a:sym typeface="+mn-ea"/>
              </a:rPr>
              <a:t>; 5</a:t>
            </a:r>
            <a:r>
              <a:rPr lang="zh-CN" altLang="en-US" dirty="0">
                <a:sym typeface="+mn-ea"/>
              </a:rPr>
              <a:t>的后面比它小的数有</a:t>
            </a:r>
            <a:r>
              <a:rPr lang="en-US" altLang="zh-CN">
                <a:solidFill>
                  <a:srgbClr val="FF3300"/>
                </a:solidFill>
                <a:sym typeface="+mn-ea"/>
              </a:rPr>
              <a:t>3</a:t>
            </a:r>
            <a:r>
              <a:rPr lang="zh-CN" altLang="en-US">
                <a:solidFill>
                  <a:srgbClr val="FF3300"/>
                </a:solidFill>
                <a:sym typeface="+mn-ea"/>
              </a:rPr>
              <a:t>，</a:t>
            </a:r>
            <a:r>
              <a:rPr lang="zh-CN" altLang="en-US" dirty="0">
                <a:sym typeface="+mn-ea"/>
              </a:rPr>
              <a:t>故其逆序为</a:t>
            </a:r>
            <a:r>
              <a:rPr lang="en-US" altLang="zh-CN">
                <a:solidFill>
                  <a:srgbClr val="FF3300"/>
                </a:solidFill>
                <a:sym typeface="+mn-ea"/>
              </a:rPr>
              <a:t>3</a:t>
            </a:r>
            <a:r>
              <a:rPr lang="en-US" altLang="zh-CN">
                <a:sym typeface="+mn-ea"/>
              </a:rPr>
              <a:t>;</a:t>
            </a:r>
            <a:r>
              <a:rPr lang="en-US" altLang="zh-CN">
                <a:sym typeface="+mn-ea"/>
              </a:rPr>
              <a:t>3</a:t>
            </a:r>
            <a:r>
              <a:rPr lang="zh-CN" altLang="en-US" dirty="0">
                <a:sym typeface="+mn-ea"/>
              </a:rPr>
              <a:t>的后面比</a:t>
            </a:r>
            <a:r>
              <a:rPr lang="en-US" altLang="zh-CN">
                <a:sym typeface="+mn-ea"/>
              </a:rPr>
              <a:t>3</a:t>
            </a:r>
            <a:r>
              <a:rPr lang="zh-CN" altLang="en-US">
                <a:sym typeface="+mn-ea"/>
              </a:rPr>
              <a:t>小</a:t>
            </a:r>
            <a:r>
              <a:rPr lang="zh-CN" altLang="en-US" dirty="0">
                <a:sym typeface="+mn-ea"/>
              </a:rPr>
              <a:t>的数有</a:t>
            </a:r>
            <a:r>
              <a:rPr lang="en-US" altLang="zh-CN">
                <a:sym typeface="+mn-ea"/>
              </a:rPr>
              <a:t>1</a:t>
            </a:r>
            <a:r>
              <a:rPr lang="zh-CN" altLang="en-US" dirty="0">
                <a:sym typeface="+mn-ea"/>
              </a:rPr>
              <a:t>个</a:t>
            </a:r>
            <a:r>
              <a:rPr lang="en-US" altLang="zh-CN">
                <a:sym typeface="+mn-ea"/>
              </a:rPr>
              <a:t>, </a:t>
            </a:r>
            <a:r>
              <a:rPr lang="zh-CN" altLang="en-US" dirty="0">
                <a:sym typeface="+mn-ea"/>
              </a:rPr>
              <a:t>故逆序为</a:t>
            </a:r>
            <a:r>
              <a:rPr lang="en-US" altLang="zh-CN">
                <a:solidFill>
                  <a:srgbClr val="FF3300"/>
                </a:solidFill>
                <a:sym typeface="+mn-ea"/>
              </a:rPr>
              <a:t>1</a:t>
            </a:r>
            <a:r>
              <a:rPr lang="zh-CN" altLang="en-US">
                <a:sym typeface="+mn-ea"/>
              </a:rPr>
              <a:t>；</a:t>
            </a:r>
            <a:r>
              <a:rPr lang="en-US" altLang="zh-CN">
                <a:sym typeface="+mn-ea"/>
              </a:rPr>
              <a:t>4</a:t>
            </a:r>
            <a:r>
              <a:rPr lang="zh-CN" altLang="en-US" dirty="0">
                <a:sym typeface="+mn-ea"/>
              </a:rPr>
              <a:t>的后面比</a:t>
            </a:r>
            <a:r>
              <a:rPr lang="en-US" altLang="zh-CN">
                <a:sym typeface="+mn-ea"/>
              </a:rPr>
              <a:t>4</a:t>
            </a:r>
            <a:r>
              <a:rPr lang="zh-CN" altLang="en-US">
                <a:sym typeface="+mn-ea"/>
              </a:rPr>
              <a:t>小</a:t>
            </a:r>
            <a:r>
              <a:rPr lang="zh-CN" altLang="en-US" dirty="0">
                <a:sym typeface="+mn-ea"/>
              </a:rPr>
              <a:t>的数有</a:t>
            </a:r>
            <a:r>
              <a:rPr lang="en-US" altLang="zh-CN">
                <a:sym typeface="+mn-ea"/>
              </a:rPr>
              <a:t>1</a:t>
            </a:r>
            <a:r>
              <a:rPr lang="zh-CN" altLang="en-US" dirty="0">
                <a:sym typeface="+mn-ea"/>
              </a:rPr>
              <a:t>个</a:t>
            </a:r>
            <a:r>
              <a:rPr lang="en-US" altLang="zh-CN">
                <a:sym typeface="+mn-ea"/>
              </a:rPr>
              <a:t>, </a:t>
            </a:r>
            <a:r>
              <a:rPr lang="zh-CN" altLang="en-US" dirty="0">
                <a:sym typeface="+mn-ea"/>
              </a:rPr>
              <a:t>故逆序为</a:t>
            </a:r>
            <a:r>
              <a:rPr lang="en-US" altLang="zh-CN">
                <a:solidFill>
                  <a:srgbClr val="FF3300"/>
                </a:solidFill>
                <a:sym typeface="+mn-ea"/>
              </a:rPr>
              <a:t>1</a:t>
            </a:r>
            <a:r>
              <a:rPr lang="en-US" altLang="zh-CN">
                <a:sym typeface="+mn-ea"/>
              </a:rPr>
              <a:t>.</a:t>
            </a:r>
            <a:endParaRPr lang="zh-CN" altLang="en-US">
              <a:solidFill>
                <a:srgbClr val="FF3300"/>
              </a:solidFill>
              <a:latin typeface="Times New Roman" panose="02020603050405020304" pitchFamily="18" charset="0"/>
              <a:sym typeface="+mn-ea"/>
            </a:endParaRPr>
          </a:p>
        </p:txBody>
      </p:sp>
      <p:sp>
        <p:nvSpPr>
          <p:cNvPr id="67592" name="矩形 67591"/>
          <p:cNvSpPr/>
          <p:nvPr/>
        </p:nvSpPr>
        <p:spPr>
          <a:xfrm>
            <a:off x="3240405" y="4970145"/>
            <a:ext cx="2138680" cy="521970"/>
          </a:xfrm>
          <a:prstGeom prst="rect">
            <a:avLst/>
          </a:prstGeom>
          <a:noFill/>
          <a:ln w="9525">
            <a:noFill/>
          </a:ln>
        </p:spPr>
        <p:txBody>
          <a:bodyPr wrap="none" anchor="t" anchorCtr="0">
            <a:spAutoFit/>
          </a:bodyPr>
          <a:p>
            <a:r>
              <a:rPr lang="en-US" altLang="zh-CN">
                <a:latin typeface="Times New Roman" panose="02020603050405020304" pitchFamily="18" charset="0"/>
              </a:rPr>
              <a:t>6  2  5  3  4  1</a:t>
            </a:r>
            <a:endParaRPr lang="en-US" altLang="zh-CN">
              <a:latin typeface="Times New Roman" panose="02020603050405020304" pitchFamily="18" charset="0"/>
            </a:endParaRPr>
          </a:p>
        </p:txBody>
      </p:sp>
      <p:graphicFrame>
        <p:nvGraphicFramePr>
          <p:cNvPr id="67593" name="对象 67592"/>
          <p:cNvGraphicFramePr/>
          <p:nvPr/>
        </p:nvGraphicFramePr>
        <p:xfrm>
          <a:off x="3240405" y="5619115"/>
          <a:ext cx="401955" cy="377190"/>
        </p:xfrm>
        <a:graphic>
          <a:graphicData uri="http://schemas.openxmlformats.org/presentationml/2006/ole">
            <mc:AlternateContent xmlns:mc="http://schemas.openxmlformats.org/markup-compatibility/2006">
              <mc:Choice xmlns:v="urn:schemas-microsoft-com:vml" Requires="v">
                <p:oleObj spid="_x0000_s3191" name="" r:id="rId1" imgW="114300" imgH="177165" progId="Equation.3">
                  <p:embed/>
                </p:oleObj>
              </mc:Choice>
              <mc:Fallback>
                <p:oleObj name="" r:id="rId1" imgW="114300" imgH="177165" progId="Equation.3">
                  <p:embed/>
                  <p:pic>
                    <p:nvPicPr>
                      <p:cNvPr id="0" name="图片 3190"/>
                      <p:cNvPicPr/>
                      <p:nvPr/>
                    </p:nvPicPr>
                    <p:blipFill>
                      <a:blip r:embed="rId2"/>
                      <a:stretch>
                        <a:fillRect/>
                      </a:stretch>
                    </p:blipFill>
                    <p:spPr>
                      <a:xfrm>
                        <a:off x="3240405" y="5619115"/>
                        <a:ext cx="401955" cy="377190"/>
                      </a:xfrm>
                      <a:prstGeom prst="rect">
                        <a:avLst/>
                      </a:prstGeom>
                      <a:noFill/>
                      <a:ln w="38100">
                        <a:noFill/>
                        <a:miter/>
                      </a:ln>
                    </p:spPr>
                  </p:pic>
                </p:oleObj>
              </mc:Fallback>
            </mc:AlternateContent>
          </a:graphicData>
        </a:graphic>
      </p:graphicFrame>
      <p:sp>
        <p:nvSpPr>
          <p:cNvPr id="67594" name="直接连接符 67593"/>
          <p:cNvSpPr/>
          <p:nvPr/>
        </p:nvSpPr>
        <p:spPr>
          <a:xfrm>
            <a:off x="3773805" y="5351145"/>
            <a:ext cx="0" cy="228600"/>
          </a:xfrm>
          <a:prstGeom prst="line">
            <a:avLst/>
          </a:prstGeom>
          <a:ln w="9525" cap="flat" cmpd="sng">
            <a:solidFill>
              <a:srgbClr val="0606FA"/>
            </a:solidFill>
            <a:prstDash val="solid"/>
            <a:headEnd type="none" w="med" len="med"/>
            <a:tailEnd type="triangle" w="med" len="med"/>
          </a:ln>
        </p:spPr>
      </p:sp>
      <p:sp>
        <p:nvSpPr>
          <p:cNvPr id="67596" name="直接连接符 67595"/>
          <p:cNvSpPr/>
          <p:nvPr/>
        </p:nvSpPr>
        <p:spPr>
          <a:xfrm>
            <a:off x="4154805" y="5351145"/>
            <a:ext cx="0" cy="228600"/>
          </a:xfrm>
          <a:prstGeom prst="line">
            <a:avLst/>
          </a:prstGeom>
          <a:ln w="9525" cap="flat" cmpd="sng">
            <a:solidFill>
              <a:srgbClr val="0606FA"/>
            </a:solidFill>
            <a:prstDash val="solid"/>
            <a:headEnd type="none" w="med" len="med"/>
            <a:tailEnd type="triangle" w="med" len="med"/>
          </a:ln>
        </p:spPr>
      </p:sp>
      <p:graphicFrame>
        <p:nvGraphicFramePr>
          <p:cNvPr id="67597" name="对象 67596"/>
          <p:cNvGraphicFramePr/>
          <p:nvPr/>
        </p:nvGraphicFramePr>
        <p:xfrm>
          <a:off x="4021455" y="5621020"/>
          <a:ext cx="251460" cy="370205"/>
        </p:xfrm>
        <a:graphic>
          <a:graphicData uri="http://schemas.openxmlformats.org/presentationml/2006/ole">
            <mc:AlternateContent xmlns:mc="http://schemas.openxmlformats.org/markup-compatibility/2006">
              <mc:Choice xmlns:v="urn:schemas-microsoft-com:vml" Requires="v">
                <p:oleObj spid="_x0000_s3192" name="" r:id="rId3" imgW="114300" imgH="177165" progId="Equation.3">
                  <p:embed/>
                </p:oleObj>
              </mc:Choice>
              <mc:Fallback>
                <p:oleObj name="" r:id="rId3" imgW="114300" imgH="177165" progId="Equation.3">
                  <p:embed/>
                  <p:pic>
                    <p:nvPicPr>
                      <p:cNvPr id="0" name="图片 3191"/>
                      <p:cNvPicPr/>
                      <p:nvPr/>
                    </p:nvPicPr>
                    <p:blipFill>
                      <a:blip r:embed="rId4"/>
                      <a:stretch>
                        <a:fillRect/>
                      </a:stretch>
                    </p:blipFill>
                    <p:spPr>
                      <a:xfrm>
                        <a:off x="4021455" y="5621020"/>
                        <a:ext cx="251460" cy="370205"/>
                      </a:xfrm>
                      <a:prstGeom prst="rect">
                        <a:avLst/>
                      </a:prstGeom>
                      <a:noFill/>
                      <a:ln w="38100">
                        <a:noFill/>
                        <a:miter/>
                      </a:ln>
                    </p:spPr>
                  </p:pic>
                </p:oleObj>
              </mc:Fallback>
            </mc:AlternateContent>
          </a:graphicData>
        </a:graphic>
      </p:graphicFrame>
      <p:sp>
        <p:nvSpPr>
          <p:cNvPr id="67598" name="直接连接符 67597"/>
          <p:cNvSpPr/>
          <p:nvPr/>
        </p:nvSpPr>
        <p:spPr>
          <a:xfrm>
            <a:off x="4535805" y="5351145"/>
            <a:ext cx="0" cy="228600"/>
          </a:xfrm>
          <a:prstGeom prst="line">
            <a:avLst/>
          </a:prstGeom>
          <a:ln w="9525" cap="flat" cmpd="sng">
            <a:solidFill>
              <a:srgbClr val="0606FA"/>
            </a:solidFill>
            <a:prstDash val="solid"/>
            <a:headEnd type="none" w="med" len="med"/>
            <a:tailEnd type="triangle" w="med" len="med"/>
          </a:ln>
        </p:spPr>
      </p:sp>
      <p:graphicFrame>
        <p:nvGraphicFramePr>
          <p:cNvPr id="67599" name="对象 67598"/>
          <p:cNvGraphicFramePr/>
          <p:nvPr/>
        </p:nvGraphicFramePr>
        <p:xfrm>
          <a:off x="4405630" y="5622925"/>
          <a:ext cx="295910" cy="339725"/>
        </p:xfrm>
        <a:graphic>
          <a:graphicData uri="http://schemas.openxmlformats.org/presentationml/2006/ole">
            <mc:AlternateContent xmlns:mc="http://schemas.openxmlformats.org/markup-compatibility/2006">
              <mc:Choice xmlns:v="urn:schemas-microsoft-com:vml" Requires="v">
                <p:oleObj spid="_x0000_s3189" name="" r:id="rId5" imgW="88265" imgH="165100" progId="Equation.3">
                  <p:embed/>
                </p:oleObj>
              </mc:Choice>
              <mc:Fallback>
                <p:oleObj name="" r:id="rId5" imgW="88265" imgH="165100" progId="Equation.3">
                  <p:embed/>
                  <p:pic>
                    <p:nvPicPr>
                      <p:cNvPr id="0" name="图片 3188"/>
                      <p:cNvPicPr/>
                      <p:nvPr/>
                    </p:nvPicPr>
                    <p:blipFill>
                      <a:blip r:embed="rId6"/>
                      <a:stretch>
                        <a:fillRect/>
                      </a:stretch>
                    </p:blipFill>
                    <p:spPr>
                      <a:xfrm>
                        <a:off x="4405630" y="5622925"/>
                        <a:ext cx="295910" cy="339725"/>
                      </a:xfrm>
                      <a:prstGeom prst="rect">
                        <a:avLst/>
                      </a:prstGeom>
                      <a:noFill/>
                      <a:ln w="38100">
                        <a:noFill/>
                        <a:miter/>
                      </a:ln>
                    </p:spPr>
                  </p:pic>
                </p:oleObj>
              </mc:Fallback>
            </mc:AlternateContent>
          </a:graphicData>
        </a:graphic>
      </p:graphicFrame>
      <p:sp>
        <p:nvSpPr>
          <p:cNvPr id="67600" name="直接连接符 67599"/>
          <p:cNvSpPr/>
          <p:nvPr/>
        </p:nvSpPr>
        <p:spPr>
          <a:xfrm>
            <a:off x="4916805" y="5351145"/>
            <a:ext cx="0" cy="228600"/>
          </a:xfrm>
          <a:prstGeom prst="line">
            <a:avLst/>
          </a:prstGeom>
          <a:ln w="9525" cap="flat" cmpd="sng">
            <a:solidFill>
              <a:srgbClr val="0606FA"/>
            </a:solidFill>
            <a:prstDash val="solid"/>
            <a:headEnd type="none" w="med" len="med"/>
            <a:tailEnd type="triangle" w="med" len="med"/>
          </a:ln>
        </p:spPr>
      </p:sp>
      <p:graphicFrame>
        <p:nvGraphicFramePr>
          <p:cNvPr id="67601" name="对象 67600"/>
          <p:cNvGraphicFramePr/>
          <p:nvPr/>
        </p:nvGraphicFramePr>
        <p:xfrm>
          <a:off x="4780915" y="5637530"/>
          <a:ext cx="222885" cy="340995"/>
        </p:xfrm>
        <a:graphic>
          <a:graphicData uri="http://schemas.openxmlformats.org/presentationml/2006/ole">
            <mc:AlternateContent xmlns:mc="http://schemas.openxmlformats.org/markup-compatibility/2006">
              <mc:Choice xmlns:v="urn:schemas-microsoft-com:vml" Requires="v">
                <p:oleObj spid="_x0000_s3190" name="" r:id="rId7" imgW="88265" imgH="165100" progId="Equation.3">
                  <p:embed/>
                </p:oleObj>
              </mc:Choice>
              <mc:Fallback>
                <p:oleObj name="" r:id="rId7" imgW="88265" imgH="165100" progId="Equation.3">
                  <p:embed/>
                  <p:pic>
                    <p:nvPicPr>
                      <p:cNvPr id="0" name="图片 3189"/>
                      <p:cNvPicPr/>
                      <p:nvPr/>
                    </p:nvPicPr>
                    <p:blipFill>
                      <a:blip r:embed="rId8"/>
                      <a:stretch>
                        <a:fillRect/>
                      </a:stretch>
                    </p:blipFill>
                    <p:spPr>
                      <a:xfrm>
                        <a:off x="4780915" y="5637530"/>
                        <a:ext cx="222885" cy="340995"/>
                      </a:xfrm>
                      <a:prstGeom prst="rect">
                        <a:avLst/>
                      </a:prstGeom>
                      <a:noFill/>
                      <a:ln w="38100">
                        <a:noFill/>
                        <a:miter/>
                      </a:ln>
                    </p:spPr>
                  </p:pic>
                </p:oleObj>
              </mc:Fallback>
            </mc:AlternateContent>
          </a:graphicData>
        </a:graphic>
      </p:graphicFrame>
      <p:sp>
        <p:nvSpPr>
          <p:cNvPr id="67602" name="直接连接符 67601"/>
          <p:cNvSpPr/>
          <p:nvPr/>
        </p:nvSpPr>
        <p:spPr>
          <a:xfrm>
            <a:off x="3392805" y="5351145"/>
            <a:ext cx="0" cy="228600"/>
          </a:xfrm>
          <a:prstGeom prst="line">
            <a:avLst/>
          </a:prstGeom>
          <a:ln w="9525" cap="flat" cmpd="sng">
            <a:solidFill>
              <a:srgbClr val="0606FA"/>
            </a:solidFill>
            <a:prstDash val="solid"/>
            <a:headEnd type="none" w="med" len="med"/>
            <a:tailEnd type="triangle" w="med" len="med"/>
          </a:ln>
        </p:spPr>
      </p:sp>
      <p:sp>
        <p:nvSpPr>
          <p:cNvPr id="67608" name="文本框 67607"/>
          <p:cNvSpPr txBox="1"/>
          <p:nvPr/>
        </p:nvSpPr>
        <p:spPr>
          <a:xfrm>
            <a:off x="1259205" y="4969828"/>
            <a:ext cx="541338" cy="519112"/>
          </a:xfrm>
          <a:prstGeom prst="rect">
            <a:avLst/>
          </a:prstGeom>
          <a:noFill/>
          <a:ln w="9525">
            <a:noFill/>
          </a:ln>
        </p:spPr>
        <p:txBody>
          <a:bodyPr wrap="none" anchor="t" anchorCtr="0">
            <a:spAutoFit/>
          </a:bodyPr>
          <a:p>
            <a:r>
              <a:rPr lang="zh-CN" altLang="en-US">
                <a:latin typeface="Times New Roman" panose="02020603050405020304" pitchFamily="18" charset="0"/>
              </a:rPr>
              <a:t>即</a:t>
            </a:r>
            <a:endParaRPr lang="zh-CN" altLang="en-US">
              <a:latin typeface="Times New Roman" panose="02020603050405020304" pitchFamily="18" charset="0"/>
            </a:endParaRPr>
          </a:p>
        </p:txBody>
      </p:sp>
      <p:sp>
        <p:nvSpPr>
          <p:cNvPr id="67609" name="矩形 67608"/>
          <p:cNvSpPr/>
          <p:nvPr/>
        </p:nvSpPr>
        <p:spPr>
          <a:xfrm>
            <a:off x="1043305" y="4509135"/>
            <a:ext cx="7651750" cy="558800"/>
          </a:xfrm>
          <a:prstGeom prst="rect">
            <a:avLst/>
          </a:prstGeom>
          <a:noFill/>
          <a:ln w="9525">
            <a:noFill/>
          </a:ln>
        </p:spPr>
        <p:txBody>
          <a:bodyPr wrap="none" anchor="t" anchorCtr="0">
            <a:noAutofit/>
          </a:bodyPr>
          <a:p>
            <a:pPr algn="l"/>
            <a:r>
              <a:rPr lang="zh-CN" altLang="en-US" dirty="0">
                <a:latin typeface="Times New Roman" panose="02020603050405020304" pitchFamily="18" charset="0"/>
              </a:rPr>
              <a:t>于是排列</a:t>
            </a:r>
            <a:r>
              <a:rPr lang="en-US" altLang="zh-CN" dirty="0">
                <a:sym typeface="+mn-ea"/>
              </a:rPr>
              <a:t>6</a:t>
            </a:r>
            <a:r>
              <a:rPr lang="en-US" altLang="zh-CN">
                <a:sym typeface="+mn-ea"/>
              </a:rPr>
              <a:t>25341</a:t>
            </a:r>
            <a:r>
              <a:rPr lang="zh-CN" altLang="en-US" dirty="0">
                <a:latin typeface="Times New Roman" panose="02020603050405020304" pitchFamily="18" charset="0"/>
              </a:rPr>
              <a:t>的逆序数为</a:t>
            </a:r>
            <a:r>
              <a:rPr lang="en-US" altLang="zh-CN" dirty="0">
                <a:latin typeface="Times New Roman" panose="02020603050405020304" pitchFamily="18" charset="0"/>
              </a:rPr>
              <a:t>                         </a:t>
            </a:r>
            <a:r>
              <a:rPr lang="zh-CN" altLang="en-US" dirty="0">
                <a:latin typeface="Times New Roman" panose="02020603050405020304" pitchFamily="18" charset="0"/>
              </a:rPr>
              <a:t> </a:t>
            </a:r>
            <a:r>
              <a:rPr lang="en-US" altLang="zh-CN" dirty="0">
                <a:latin typeface="Times New Roman" panose="02020603050405020304" pitchFamily="18" charset="0"/>
              </a:rPr>
              <a:t>                    </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2" name="对象 1"/>
          <p:cNvGraphicFramePr/>
          <p:nvPr/>
        </p:nvGraphicFramePr>
        <p:xfrm>
          <a:off x="3637280" y="5632450"/>
          <a:ext cx="263525" cy="351790"/>
        </p:xfrm>
        <a:graphic>
          <a:graphicData uri="http://schemas.openxmlformats.org/presentationml/2006/ole">
            <mc:AlternateContent xmlns:mc="http://schemas.openxmlformats.org/markup-compatibility/2006">
              <mc:Choice xmlns:v="urn:schemas-microsoft-com:vml" Requires="v">
                <p:oleObj spid="_x0000_s3" name="" r:id="rId9" imgW="88265" imgH="165100" progId="Equation.3">
                  <p:embed/>
                </p:oleObj>
              </mc:Choice>
              <mc:Fallback>
                <p:oleObj name="" r:id="rId9" imgW="88265" imgH="165100" progId="Equation.3">
                  <p:embed/>
                  <p:pic>
                    <p:nvPicPr>
                      <p:cNvPr id="0" name="图片 3190"/>
                      <p:cNvPicPr/>
                      <p:nvPr/>
                    </p:nvPicPr>
                    <p:blipFill>
                      <a:blip r:embed="rId10"/>
                      <a:stretch>
                        <a:fillRect/>
                      </a:stretch>
                    </p:blipFill>
                    <p:spPr>
                      <a:xfrm>
                        <a:off x="3637280" y="5632450"/>
                        <a:ext cx="263525" cy="351790"/>
                      </a:xfrm>
                      <a:prstGeom prst="rect">
                        <a:avLst/>
                      </a:prstGeom>
                      <a:noFill/>
                      <a:ln w="38100">
                        <a:noFill/>
                        <a:miter/>
                      </a:ln>
                    </p:spPr>
                  </p:pic>
                </p:oleObj>
              </mc:Fallback>
            </mc:AlternateContent>
          </a:graphicData>
        </a:graphic>
      </p:graphicFrame>
      <p:sp>
        <p:nvSpPr>
          <p:cNvPr id="4" name="直接连接符 3"/>
          <p:cNvSpPr/>
          <p:nvPr/>
        </p:nvSpPr>
        <p:spPr>
          <a:xfrm>
            <a:off x="5219700" y="5351145"/>
            <a:ext cx="0" cy="228600"/>
          </a:xfrm>
          <a:prstGeom prst="line">
            <a:avLst/>
          </a:prstGeom>
          <a:ln w="9525" cap="flat" cmpd="sng">
            <a:solidFill>
              <a:srgbClr val="0606FA"/>
            </a:solidFill>
            <a:prstDash val="solid"/>
            <a:headEnd type="none" w="med" len="med"/>
            <a:tailEnd type="triangle" w="med" len="med"/>
          </a:ln>
        </p:spPr>
      </p:sp>
      <p:graphicFrame>
        <p:nvGraphicFramePr>
          <p:cNvPr id="5" name="对象 4"/>
          <p:cNvGraphicFramePr/>
          <p:nvPr/>
        </p:nvGraphicFramePr>
        <p:xfrm>
          <a:off x="5083175" y="5643880"/>
          <a:ext cx="256540" cy="365125"/>
        </p:xfrm>
        <a:graphic>
          <a:graphicData uri="http://schemas.openxmlformats.org/presentationml/2006/ole">
            <mc:AlternateContent xmlns:mc="http://schemas.openxmlformats.org/markup-compatibility/2006">
              <mc:Choice xmlns:v="urn:schemas-microsoft-com:vml" Requires="v">
                <p:oleObj spid="_x0000_s6" name="" r:id="rId11" imgW="127000" imgH="177165" progId="Equation.3">
                  <p:embed/>
                </p:oleObj>
              </mc:Choice>
              <mc:Fallback>
                <p:oleObj name="" r:id="rId11" imgW="127000" imgH="177165" progId="Equation.3">
                  <p:embed/>
                  <p:pic>
                    <p:nvPicPr>
                      <p:cNvPr id="0" name="图片 3188"/>
                      <p:cNvPicPr/>
                      <p:nvPr/>
                    </p:nvPicPr>
                    <p:blipFill>
                      <a:blip r:embed="rId12"/>
                      <a:stretch>
                        <a:fillRect/>
                      </a:stretch>
                    </p:blipFill>
                    <p:spPr>
                      <a:xfrm>
                        <a:off x="5083175" y="5643880"/>
                        <a:ext cx="256540" cy="365125"/>
                      </a:xfrm>
                      <a:prstGeom prst="rect">
                        <a:avLst/>
                      </a:prstGeom>
                      <a:noFill/>
                      <a:ln w="38100">
                        <a:noFill/>
                        <a:miter/>
                      </a:ln>
                    </p:spPr>
                  </p:pic>
                </p:oleObj>
              </mc:Fallback>
            </mc:AlternateContent>
          </a:graphicData>
        </a:graphic>
      </p:graphicFrame>
      <p:graphicFrame>
        <p:nvGraphicFramePr>
          <p:cNvPr id="7" name="对象 -2147482553"/>
          <p:cNvGraphicFramePr>
            <a:graphicFrameLocks noChangeAspect="1"/>
          </p:cNvGraphicFramePr>
          <p:nvPr/>
        </p:nvGraphicFramePr>
        <p:xfrm>
          <a:off x="2231390" y="6006465"/>
          <a:ext cx="5874385" cy="569595"/>
        </p:xfrm>
        <a:graphic>
          <a:graphicData uri="http://schemas.openxmlformats.org/presentationml/2006/ole">
            <mc:AlternateContent xmlns:mc="http://schemas.openxmlformats.org/markup-compatibility/2006">
              <mc:Choice xmlns:v="urn:schemas-microsoft-com:vml" Requires="v">
                <p:oleObj spid="_x0000_s3076" name="" r:id="rId13" imgW="1917065" imgH="203200" progId="Equation.DSMT4">
                  <p:embed/>
                </p:oleObj>
              </mc:Choice>
              <mc:Fallback>
                <p:oleObj name="" r:id="rId13" imgW="1917065" imgH="203200" progId="Equation.DSMT4">
                  <p:embed/>
                  <p:pic>
                    <p:nvPicPr>
                      <p:cNvPr id="0" name="图片 3075"/>
                      <p:cNvPicPr/>
                      <p:nvPr/>
                    </p:nvPicPr>
                    <p:blipFill>
                      <a:blip r:embed="rId14"/>
                      <a:stretch>
                        <a:fillRect/>
                      </a:stretch>
                    </p:blipFill>
                    <p:spPr>
                      <a:xfrm>
                        <a:off x="2231390" y="6006465"/>
                        <a:ext cx="5874385" cy="569595"/>
                      </a:xfrm>
                      <a:prstGeom prst="rect">
                        <a:avLst/>
                      </a:prstGeom>
                      <a:noFill/>
                      <a:ln w="38100">
                        <a:noFill/>
                        <a:miter/>
                      </a:ln>
                    </p:spPr>
                  </p:pic>
                </p:oleObj>
              </mc:Fallback>
            </mc:AlternateContent>
          </a:graphicData>
        </a:graphic>
      </p:graphicFrame>
      <p:sp>
        <p:nvSpPr>
          <p:cNvPr id="8" name="文本框 7"/>
          <p:cNvSpPr txBox="1"/>
          <p:nvPr/>
        </p:nvSpPr>
        <p:spPr>
          <a:xfrm>
            <a:off x="471805" y="300990"/>
            <a:ext cx="8239760" cy="1579245"/>
          </a:xfrm>
          <a:prstGeom prst="rect">
            <a:avLst/>
          </a:prstGeom>
          <a:noFill/>
        </p:spPr>
        <p:txBody>
          <a:bodyPr wrap="square" rtlCol="0">
            <a:noAutofit/>
          </a:bodyPr>
          <a:p>
            <a:pPr>
              <a:lnSpc>
                <a:spcPct val="110000"/>
              </a:lnSpc>
            </a:pPr>
            <a:r>
              <a:rPr lang="en-US" altLang="zh-CN" dirty="0">
                <a:solidFill>
                  <a:srgbClr val="FF0000"/>
                </a:solidFill>
                <a:ea typeface="黑体" panose="02010609060101010101" pitchFamily="2" charset="-122"/>
                <a:sym typeface="+mn-ea"/>
              </a:rPr>
              <a:t>    </a:t>
            </a:r>
            <a:r>
              <a:rPr lang="zh-CN" altLang="en-US" dirty="0">
                <a:solidFill>
                  <a:srgbClr val="FF0000"/>
                </a:solidFill>
                <a:ea typeface="黑体" panose="02010609060101010101" pitchFamily="2" charset="-122"/>
                <a:sym typeface="+mn-ea"/>
              </a:rPr>
              <a:t>方法</a:t>
            </a:r>
            <a:r>
              <a:rPr lang="en-US" altLang="zh-CN">
                <a:solidFill>
                  <a:srgbClr val="FF0000"/>
                </a:solidFill>
                <a:ea typeface="黑体" panose="02010609060101010101" pitchFamily="2" charset="-122"/>
                <a:sym typeface="+mn-ea"/>
              </a:rPr>
              <a:t>2: </a:t>
            </a:r>
            <a:r>
              <a:rPr lang="zh-CN" altLang="en-US" dirty="0">
                <a:sym typeface="+mn-ea"/>
              </a:rPr>
              <a:t>依次计算出排列中每个元素</a:t>
            </a:r>
            <a:r>
              <a:rPr lang="zh-CN" altLang="en-US" dirty="0">
                <a:solidFill>
                  <a:srgbClr val="3333FF"/>
                </a:solidFill>
                <a:sym typeface="+mn-ea"/>
              </a:rPr>
              <a:t>后面比它小</a:t>
            </a:r>
            <a:r>
              <a:rPr lang="zh-CN" altLang="en-US" dirty="0">
                <a:sym typeface="+mn-ea"/>
              </a:rPr>
              <a:t>的数码的个数并求和</a:t>
            </a:r>
            <a:r>
              <a:rPr lang="en-US" altLang="zh-CN">
                <a:sym typeface="+mn-ea"/>
              </a:rPr>
              <a:t>, </a:t>
            </a:r>
            <a:r>
              <a:rPr lang="zh-CN" altLang="en-US" dirty="0">
                <a:sym typeface="+mn-ea"/>
              </a:rPr>
              <a:t>即算出排列中每个元素的逆序数</a:t>
            </a:r>
            <a:r>
              <a:rPr lang="en-US" altLang="zh-CN">
                <a:sym typeface="+mn-ea"/>
              </a:rPr>
              <a:t>, </a:t>
            </a:r>
            <a:r>
              <a:rPr lang="zh-CN" altLang="en-US" dirty="0">
                <a:sym typeface="+mn-ea"/>
              </a:rPr>
              <a:t>则所有元素的逆序数之总和即为所求排列的逆序数</a:t>
            </a:r>
            <a:r>
              <a:rPr lang="en-US" altLang="zh-CN">
                <a:sym typeface="+mn-ea"/>
              </a:rPr>
              <a:t>.</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7588">
                                            <p:txEl>
                                              <p:charRg st="0" end="18"/>
                                            </p:txEl>
                                          </p:spTgt>
                                        </p:tgtEl>
                                        <p:attrNameLst>
                                          <p:attrName>style.visibility</p:attrName>
                                        </p:attrNameLst>
                                      </p:cBhvr>
                                      <p:to>
                                        <p:strVal val="visible"/>
                                      </p:to>
                                    </p:set>
                                    <p:animEffect transition="in" filter="box(out)">
                                      <p:cBhvr>
                                        <p:cTn id="7" dur="500"/>
                                        <p:tgtEl>
                                          <p:spTgt spid="67588">
                                            <p:txEl>
                                              <p:char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7589">
                                            <p:txEl>
                                              <p:charRg st="0" end="14"/>
                                            </p:txEl>
                                          </p:spTgt>
                                        </p:tgtEl>
                                        <p:attrNameLst>
                                          <p:attrName>style.visibility</p:attrName>
                                        </p:attrNameLst>
                                      </p:cBhvr>
                                      <p:to>
                                        <p:strVal val="visible"/>
                                      </p:to>
                                    </p:set>
                                    <p:animEffect transition="in" filter="box(out)">
                                      <p:cBhvr>
                                        <p:cTn id="12" dur="500"/>
                                        <p:tgtEl>
                                          <p:spTgt spid="67589">
                                            <p:txEl>
                                              <p:charRg st="0" end="1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67609">
                                            <p:txEl>
                                              <p:charRg st="0" end="34"/>
                                            </p:txEl>
                                          </p:spTgt>
                                        </p:tgtEl>
                                        <p:attrNameLst>
                                          <p:attrName>style.visibility</p:attrName>
                                        </p:attrNameLst>
                                      </p:cBhvr>
                                      <p:to>
                                        <p:strVal val="visible"/>
                                      </p:to>
                                    </p:set>
                                    <p:animEffect transition="in" filter="box(out)">
                                      <p:cBhvr>
                                        <p:cTn id="17" dur="500"/>
                                        <p:tgtEl>
                                          <p:spTgt spid="67609">
                                            <p:txEl>
                                              <p:charRg st="0" end="3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67608">
                                            <p:txEl>
                                              <p:charRg st="0" end="2"/>
                                            </p:txEl>
                                          </p:spTgt>
                                        </p:tgtEl>
                                        <p:attrNameLst>
                                          <p:attrName>style.visibility</p:attrName>
                                        </p:attrNameLst>
                                      </p:cBhvr>
                                      <p:to>
                                        <p:strVal val="visible"/>
                                      </p:to>
                                    </p:set>
                                    <p:animEffect transition="in" filter="box(out)">
                                      <p:cBhvr>
                                        <p:cTn id="22" dur="500"/>
                                        <p:tgtEl>
                                          <p:spTgt spid="67608">
                                            <p:txEl>
                                              <p:charRg st="0" end="2"/>
                                            </p:txEl>
                                          </p:spTgt>
                                        </p:tgtEl>
                                      </p:cBhvr>
                                    </p:animEffect>
                                  </p:childTnLst>
                                </p:cTn>
                              </p:par>
                            </p:childTnLst>
                          </p:cTn>
                        </p:par>
                        <p:par>
                          <p:cTn id="23" fill="hold">
                            <p:stCondLst>
                              <p:cond delay="500"/>
                            </p:stCondLst>
                            <p:childTnLst>
                              <p:par>
                                <p:cTn id="24" presetID="4" presetClass="entr" presetSubtype="32" fill="hold" grpId="0" nodeType="afterEffect">
                                  <p:stCondLst>
                                    <p:cond delay="0"/>
                                  </p:stCondLst>
                                  <p:childTnLst>
                                    <p:set>
                                      <p:cBhvr>
                                        <p:cTn id="25" dur="1" fill="hold">
                                          <p:stCondLst>
                                            <p:cond delay="0"/>
                                          </p:stCondLst>
                                        </p:cTn>
                                        <p:tgtEl>
                                          <p:spTgt spid="67592">
                                            <p:txEl>
                                              <p:charRg st="0" end="14"/>
                                            </p:txEl>
                                          </p:spTgt>
                                        </p:tgtEl>
                                        <p:attrNameLst>
                                          <p:attrName>style.visibility</p:attrName>
                                        </p:attrNameLst>
                                      </p:cBhvr>
                                      <p:to>
                                        <p:strVal val="visible"/>
                                      </p:to>
                                    </p:set>
                                    <p:animEffect transition="in" filter="box(out)">
                                      <p:cBhvr>
                                        <p:cTn id="26" dur="500"/>
                                        <p:tgtEl>
                                          <p:spTgt spid="67592">
                                            <p:txEl>
                                              <p:charRg st="0" end="1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67602"/>
                                        </p:tgtEl>
                                        <p:attrNameLst>
                                          <p:attrName>style.visibility</p:attrName>
                                        </p:attrNameLst>
                                      </p:cBhvr>
                                      <p:to>
                                        <p:strVal val="visible"/>
                                      </p:to>
                                    </p:set>
                                    <p:animEffect transition="in" filter="box(out)">
                                      <p:cBhvr>
                                        <p:cTn id="31" dur="500"/>
                                        <p:tgtEl>
                                          <p:spTgt spid="67602"/>
                                        </p:tgtEl>
                                      </p:cBhvr>
                                    </p:animEffect>
                                  </p:childTnLst>
                                </p:cTn>
                              </p:par>
                            </p:childTnLst>
                          </p:cTn>
                        </p:par>
                        <p:par>
                          <p:cTn id="32" fill="hold">
                            <p:stCondLst>
                              <p:cond delay="500"/>
                            </p:stCondLst>
                            <p:childTnLst>
                              <p:par>
                                <p:cTn id="33" presetID="4" presetClass="entr" presetSubtype="32" fill="hold" nodeType="afterEffect">
                                  <p:stCondLst>
                                    <p:cond delay="0"/>
                                  </p:stCondLst>
                                  <p:childTnLst>
                                    <p:set>
                                      <p:cBhvr>
                                        <p:cTn id="34" dur="1" fill="hold">
                                          <p:stCondLst>
                                            <p:cond delay="0"/>
                                          </p:stCondLst>
                                        </p:cTn>
                                        <p:tgtEl>
                                          <p:spTgt spid="67593"/>
                                        </p:tgtEl>
                                        <p:attrNameLst>
                                          <p:attrName>style.visibility</p:attrName>
                                        </p:attrNameLst>
                                      </p:cBhvr>
                                      <p:to>
                                        <p:strVal val="visible"/>
                                      </p:to>
                                    </p:set>
                                    <p:animEffect transition="in" filter="box(out)">
                                      <p:cBhvr>
                                        <p:cTn id="35" dur="500"/>
                                        <p:tgtEl>
                                          <p:spTgt spid="67593"/>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nodeType="clickEffect">
                                  <p:stCondLst>
                                    <p:cond delay="0"/>
                                  </p:stCondLst>
                                  <p:childTnLst>
                                    <p:set>
                                      <p:cBhvr>
                                        <p:cTn id="39" dur="1" fill="hold">
                                          <p:stCondLst>
                                            <p:cond delay="0"/>
                                          </p:stCondLst>
                                        </p:cTn>
                                        <p:tgtEl>
                                          <p:spTgt spid="67594"/>
                                        </p:tgtEl>
                                        <p:attrNameLst>
                                          <p:attrName>style.visibility</p:attrName>
                                        </p:attrNameLst>
                                      </p:cBhvr>
                                      <p:to>
                                        <p:strVal val="visible"/>
                                      </p:to>
                                    </p:set>
                                    <p:animEffect transition="in" filter="box(out)">
                                      <p:cBhvr>
                                        <p:cTn id="40" dur="500"/>
                                        <p:tgtEl>
                                          <p:spTgt spid="67594"/>
                                        </p:tgtEl>
                                      </p:cBhvr>
                                    </p:animEffect>
                                  </p:childTnLst>
                                </p:cTn>
                              </p:par>
                            </p:childTnLst>
                          </p:cTn>
                        </p:par>
                        <p:par>
                          <p:cTn id="41" fill="hold">
                            <p:stCondLst>
                              <p:cond delay="500"/>
                            </p:stCondLst>
                            <p:childTnLst>
                              <p:par>
                                <p:cTn id="42" presetID="4" presetClass="entr" presetSubtype="32" fill="hold" nodeType="after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box(out)">
                                      <p:cBhvr>
                                        <p:cTn id="44" dur="500"/>
                                        <p:tgtEl>
                                          <p:spTgt spid="2"/>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nodeType="clickEffect">
                                  <p:stCondLst>
                                    <p:cond delay="0"/>
                                  </p:stCondLst>
                                  <p:childTnLst>
                                    <p:set>
                                      <p:cBhvr>
                                        <p:cTn id="48" dur="1" fill="hold">
                                          <p:stCondLst>
                                            <p:cond delay="0"/>
                                          </p:stCondLst>
                                        </p:cTn>
                                        <p:tgtEl>
                                          <p:spTgt spid="67596"/>
                                        </p:tgtEl>
                                        <p:attrNameLst>
                                          <p:attrName>style.visibility</p:attrName>
                                        </p:attrNameLst>
                                      </p:cBhvr>
                                      <p:to>
                                        <p:strVal val="visible"/>
                                      </p:to>
                                    </p:set>
                                    <p:animEffect transition="in" filter="box(out)">
                                      <p:cBhvr>
                                        <p:cTn id="49" dur="500"/>
                                        <p:tgtEl>
                                          <p:spTgt spid="67596"/>
                                        </p:tgtEl>
                                      </p:cBhvr>
                                    </p:animEffect>
                                  </p:childTnLst>
                                </p:cTn>
                              </p:par>
                            </p:childTnLst>
                          </p:cTn>
                        </p:par>
                        <p:par>
                          <p:cTn id="50" fill="hold">
                            <p:stCondLst>
                              <p:cond delay="500"/>
                            </p:stCondLst>
                            <p:childTnLst>
                              <p:par>
                                <p:cTn id="51" presetID="4" presetClass="entr" presetSubtype="32" fill="hold" nodeType="afterEffect">
                                  <p:stCondLst>
                                    <p:cond delay="0"/>
                                  </p:stCondLst>
                                  <p:childTnLst>
                                    <p:set>
                                      <p:cBhvr>
                                        <p:cTn id="52" dur="1" fill="hold">
                                          <p:stCondLst>
                                            <p:cond delay="0"/>
                                          </p:stCondLst>
                                        </p:cTn>
                                        <p:tgtEl>
                                          <p:spTgt spid="67597"/>
                                        </p:tgtEl>
                                        <p:attrNameLst>
                                          <p:attrName>style.visibility</p:attrName>
                                        </p:attrNameLst>
                                      </p:cBhvr>
                                      <p:to>
                                        <p:strVal val="visible"/>
                                      </p:to>
                                    </p:set>
                                    <p:animEffect transition="in" filter="box(out)">
                                      <p:cBhvr>
                                        <p:cTn id="53" dur="500"/>
                                        <p:tgtEl>
                                          <p:spTgt spid="67597"/>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32" fill="hold" nodeType="clickEffect">
                                  <p:stCondLst>
                                    <p:cond delay="0"/>
                                  </p:stCondLst>
                                  <p:childTnLst>
                                    <p:set>
                                      <p:cBhvr>
                                        <p:cTn id="57" dur="1" fill="hold">
                                          <p:stCondLst>
                                            <p:cond delay="0"/>
                                          </p:stCondLst>
                                        </p:cTn>
                                        <p:tgtEl>
                                          <p:spTgt spid="67598"/>
                                        </p:tgtEl>
                                        <p:attrNameLst>
                                          <p:attrName>style.visibility</p:attrName>
                                        </p:attrNameLst>
                                      </p:cBhvr>
                                      <p:to>
                                        <p:strVal val="visible"/>
                                      </p:to>
                                    </p:set>
                                    <p:animEffect transition="in" filter="box(out)">
                                      <p:cBhvr>
                                        <p:cTn id="58" dur="500"/>
                                        <p:tgtEl>
                                          <p:spTgt spid="67598"/>
                                        </p:tgtEl>
                                      </p:cBhvr>
                                    </p:animEffect>
                                  </p:childTnLst>
                                </p:cTn>
                              </p:par>
                            </p:childTnLst>
                          </p:cTn>
                        </p:par>
                        <p:par>
                          <p:cTn id="59" fill="hold">
                            <p:stCondLst>
                              <p:cond delay="500"/>
                            </p:stCondLst>
                            <p:childTnLst>
                              <p:par>
                                <p:cTn id="60" presetID="4" presetClass="entr" presetSubtype="32" fill="hold" nodeType="afterEffect">
                                  <p:stCondLst>
                                    <p:cond delay="0"/>
                                  </p:stCondLst>
                                  <p:childTnLst>
                                    <p:set>
                                      <p:cBhvr>
                                        <p:cTn id="61" dur="1" fill="hold">
                                          <p:stCondLst>
                                            <p:cond delay="0"/>
                                          </p:stCondLst>
                                        </p:cTn>
                                        <p:tgtEl>
                                          <p:spTgt spid="67599"/>
                                        </p:tgtEl>
                                        <p:attrNameLst>
                                          <p:attrName>style.visibility</p:attrName>
                                        </p:attrNameLst>
                                      </p:cBhvr>
                                      <p:to>
                                        <p:strVal val="visible"/>
                                      </p:to>
                                    </p:set>
                                    <p:animEffect transition="in" filter="box(out)">
                                      <p:cBhvr>
                                        <p:cTn id="62" dur="500"/>
                                        <p:tgtEl>
                                          <p:spTgt spid="67599"/>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67600"/>
                                        </p:tgtEl>
                                        <p:attrNameLst>
                                          <p:attrName>style.visibility</p:attrName>
                                        </p:attrNameLst>
                                      </p:cBhvr>
                                      <p:to>
                                        <p:strVal val="visible"/>
                                      </p:to>
                                    </p:set>
                                    <p:animEffect transition="in" filter="box(out)">
                                      <p:cBhvr>
                                        <p:cTn id="67" dur="500"/>
                                        <p:tgtEl>
                                          <p:spTgt spid="67600"/>
                                        </p:tgtEl>
                                      </p:cBhvr>
                                    </p:animEffect>
                                  </p:childTnLst>
                                </p:cTn>
                              </p:par>
                            </p:childTnLst>
                          </p:cTn>
                        </p:par>
                        <p:par>
                          <p:cTn id="68" fill="hold">
                            <p:stCondLst>
                              <p:cond delay="500"/>
                            </p:stCondLst>
                            <p:childTnLst>
                              <p:par>
                                <p:cTn id="69" presetID="4" presetClass="entr" presetSubtype="32" fill="hold" nodeType="afterEffect">
                                  <p:stCondLst>
                                    <p:cond delay="0"/>
                                  </p:stCondLst>
                                  <p:childTnLst>
                                    <p:set>
                                      <p:cBhvr>
                                        <p:cTn id="70" dur="1" fill="hold">
                                          <p:stCondLst>
                                            <p:cond delay="0"/>
                                          </p:stCondLst>
                                        </p:cTn>
                                        <p:tgtEl>
                                          <p:spTgt spid="67601"/>
                                        </p:tgtEl>
                                        <p:attrNameLst>
                                          <p:attrName>style.visibility</p:attrName>
                                        </p:attrNameLst>
                                      </p:cBhvr>
                                      <p:to>
                                        <p:strVal val="visible"/>
                                      </p:to>
                                    </p:set>
                                    <p:animEffect transition="in" filter="box(out)">
                                      <p:cBhvr>
                                        <p:cTn id="71" dur="500"/>
                                        <p:tgtEl>
                                          <p:spTgt spid="67601"/>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32" fill="hold" nodeType="clickEffect">
                                  <p:stCondLst>
                                    <p:cond delay="0"/>
                                  </p:stCondLst>
                                  <p:childTnLst>
                                    <p:set>
                                      <p:cBhvr>
                                        <p:cTn id="75" dur="1" fill="hold">
                                          <p:stCondLst>
                                            <p:cond delay="0"/>
                                          </p:stCondLst>
                                        </p:cTn>
                                        <p:tgtEl>
                                          <p:spTgt spid="4"/>
                                        </p:tgtEl>
                                        <p:attrNameLst>
                                          <p:attrName>style.visibility</p:attrName>
                                        </p:attrNameLst>
                                      </p:cBhvr>
                                      <p:to>
                                        <p:strVal val="visible"/>
                                      </p:to>
                                    </p:set>
                                    <p:animEffect transition="in" filter="box(out)">
                                      <p:cBhvr>
                                        <p:cTn id="76" dur="500"/>
                                        <p:tgtEl>
                                          <p:spTgt spid="4"/>
                                        </p:tgtEl>
                                      </p:cBhvr>
                                    </p:animEffect>
                                  </p:childTnLst>
                                </p:cTn>
                              </p:par>
                            </p:childTnLst>
                          </p:cTn>
                        </p:par>
                        <p:par>
                          <p:cTn id="77" fill="hold">
                            <p:stCondLst>
                              <p:cond delay="500"/>
                            </p:stCondLst>
                            <p:childTnLst>
                              <p:par>
                                <p:cTn id="78" presetID="4" presetClass="entr" presetSubtype="32" fill="hold" nodeType="afterEffect">
                                  <p:stCondLst>
                                    <p:cond delay="0"/>
                                  </p:stCondLst>
                                  <p:childTnLst>
                                    <p:set>
                                      <p:cBhvr>
                                        <p:cTn id="79" dur="1" fill="hold">
                                          <p:stCondLst>
                                            <p:cond delay="0"/>
                                          </p:stCondLst>
                                        </p:cTn>
                                        <p:tgtEl>
                                          <p:spTgt spid="5"/>
                                        </p:tgtEl>
                                        <p:attrNameLst>
                                          <p:attrName>style.visibility</p:attrName>
                                        </p:attrNameLst>
                                      </p:cBhvr>
                                      <p:to>
                                        <p:strVal val="visible"/>
                                      </p:to>
                                    </p:set>
                                    <p:animEffect transition="in" filter="box(out)">
                                      <p:cBhvr>
                                        <p:cTn id="80" dur="500"/>
                                        <p:tgtEl>
                                          <p:spTgt spid="5"/>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build="p"/>
      <p:bldP spid="67589" grpId="0" build="p"/>
      <p:bldP spid="67592" grpId="0" advAuto="1000" build="p"/>
      <p:bldP spid="67608" grpId="0" build="p"/>
      <p:bldP spid="6760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8" name="文本框 16387"/>
          <p:cNvSpPr txBox="1"/>
          <p:nvPr/>
        </p:nvSpPr>
        <p:spPr>
          <a:xfrm>
            <a:off x="1079500" y="1233488"/>
            <a:ext cx="660400" cy="519112"/>
          </a:xfrm>
          <a:prstGeom prst="rect">
            <a:avLst/>
          </a:prstGeom>
          <a:noFill/>
          <a:ln w="9525">
            <a:noFill/>
          </a:ln>
        </p:spPr>
        <p:txBody>
          <a:bodyPr wrap="none" anchor="t" anchorCtr="0">
            <a:spAutoFit/>
          </a:bodyPr>
          <a:p>
            <a:r>
              <a:rPr lang="zh-CN" altLang="en-US" dirty="0">
                <a:solidFill>
                  <a:srgbClr val="3333FF"/>
                </a:solidFill>
                <a:latin typeface="Times New Roman" panose="02020603050405020304" pitchFamily="18" charset="0"/>
                <a:ea typeface="黑体" panose="02010609060101010101" pitchFamily="2" charset="-122"/>
              </a:rPr>
              <a:t>解</a:t>
            </a:r>
            <a:r>
              <a:rPr lang="en-US" altLang="zh-CN">
                <a:solidFill>
                  <a:srgbClr val="3333FF"/>
                </a:solidFill>
                <a:latin typeface="Times New Roman" panose="02020603050405020304" pitchFamily="18" charset="0"/>
                <a:ea typeface="黑体" panose="02010609060101010101" pitchFamily="2" charset="-122"/>
              </a:rPr>
              <a:t>:</a:t>
            </a:r>
            <a:endParaRPr lang="en-US" altLang="zh-CN" sz="2400">
              <a:solidFill>
                <a:srgbClr val="3333FF"/>
              </a:solidFill>
              <a:latin typeface="Times New Roman" panose="02020603050405020304" pitchFamily="18" charset="0"/>
              <a:ea typeface="黑体" panose="02010609060101010101" pitchFamily="2" charset="-122"/>
            </a:endParaRPr>
          </a:p>
        </p:txBody>
      </p:sp>
      <p:sp>
        <p:nvSpPr>
          <p:cNvPr id="16420" name="矩形 16419"/>
          <p:cNvSpPr/>
          <p:nvPr/>
        </p:nvSpPr>
        <p:spPr>
          <a:xfrm>
            <a:off x="358775" y="3367088"/>
            <a:ext cx="2773363" cy="519112"/>
          </a:xfrm>
          <a:prstGeom prst="rect">
            <a:avLst/>
          </a:prstGeom>
          <a:noFill/>
          <a:ln w="9525">
            <a:noFill/>
          </a:ln>
        </p:spPr>
        <p:txBody>
          <a:bodyPr wrap="none" anchor="t" anchorCtr="0">
            <a:spAutoFit/>
          </a:bodyPr>
          <a:p>
            <a:r>
              <a:rPr lang="zh-CN" altLang="en-US" dirty="0">
                <a:latin typeface="Times New Roman" panose="02020603050405020304" pitchFamily="18" charset="0"/>
              </a:rPr>
              <a:t>此排列为</a:t>
            </a:r>
            <a:r>
              <a:rPr lang="zh-CN" altLang="en-US" dirty="0">
                <a:solidFill>
                  <a:srgbClr val="0000FF"/>
                </a:solidFill>
                <a:latin typeface="Times New Roman" panose="02020603050405020304" pitchFamily="18" charset="0"/>
              </a:rPr>
              <a:t>偶排列</a:t>
            </a:r>
            <a:r>
              <a:rPr lang="en-US" altLang="zh-CN">
                <a:solidFill>
                  <a:srgbClr val="0000FF"/>
                </a:solidFill>
                <a:latin typeface="Times New Roman" panose="02020603050405020304" pitchFamily="18" charset="0"/>
              </a:rPr>
              <a:t>.</a:t>
            </a:r>
            <a:endParaRPr lang="en-US" altLang="zh-CN">
              <a:solidFill>
                <a:srgbClr val="0000FF"/>
              </a:solidFill>
              <a:latin typeface="Times New Roman" panose="02020603050405020304" pitchFamily="18" charset="0"/>
            </a:endParaRPr>
          </a:p>
        </p:txBody>
      </p:sp>
      <p:sp>
        <p:nvSpPr>
          <p:cNvPr id="16435" name="矩形 16434"/>
          <p:cNvSpPr/>
          <p:nvPr/>
        </p:nvSpPr>
        <p:spPr>
          <a:xfrm>
            <a:off x="1079500" y="322263"/>
            <a:ext cx="7802880" cy="521970"/>
          </a:xfrm>
          <a:prstGeom prst="rect">
            <a:avLst/>
          </a:prstGeom>
          <a:noFill/>
          <a:ln w="9525">
            <a:noFill/>
          </a:ln>
        </p:spPr>
        <p:txBody>
          <a:bodyPr wrap="none" anchor="t" anchorCtr="0">
            <a:spAutoFit/>
          </a:bodyPr>
          <a:p>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1.1.5</a:t>
            </a:r>
            <a:r>
              <a:rPr lang="en-US" altLang="zh-CN">
                <a:solidFill>
                  <a:srgbClr val="3333FF"/>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rPr>
              <a:t> </a:t>
            </a:r>
            <a:r>
              <a:rPr lang="zh-CN" altLang="en-US" dirty="0">
                <a:latin typeface="Times New Roman" panose="02020603050405020304" pitchFamily="18" charset="0"/>
              </a:rPr>
              <a:t>计算下列排列的逆序数</a:t>
            </a:r>
            <a:r>
              <a:rPr lang="en-US" altLang="zh-CN">
                <a:latin typeface="Times New Roman" panose="02020603050405020304" pitchFamily="18" charset="0"/>
              </a:rPr>
              <a:t>, </a:t>
            </a:r>
            <a:r>
              <a:rPr lang="zh-CN" altLang="en-US" dirty="0">
                <a:latin typeface="Times New Roman" panose="02020603050405020304" pitchFamily="18" charset="0"/>
              </a:rPr>
              <a:t>并讨论其奇偶性</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6436" name="文本框 16435"/>
          <p:cNvSpPr txBox="1"/>
          <p:nvPr/>
        </p:nvSpPr>
        <p:spPr>
          <a:xfrm>
            <a:off x="1079500" y="762000"/>
            <a:ext cx="2466975" cy="519113"/>
          </a:xfrm>
          <a:prstGeom prst="rect">
            <a:avLst/>
          </a:prstGeom>
          <a:noFill/>
          <a:ln w="9525">
            <a:noFill/>
          </a:ln>
        </p:spPr>
        <p:txBody>
          <a:bodyPr wrap="none" anchor="t" anchorCtr="0">
            <a:spAutoFit/>
          </a:bodyPr>
          <a:p>
            <a:r>
              <a:rPr lang="en-US" altLang="zh-CN">
                <a:latin typeface="Times New Roman" panose="02020603050405020304" pitchFamily="18" charset="0"/>
              </a:rPr>
              <a:t>(1)  217986354.</a:t>
            </a:r>
            <a:endParaRPr lang="en-US" altLang="zh-CN">
              <a:latin typeface="Times New Roman" panose="02020603050405020304" pitchFamily="18" charset="0"/>
            </a:endParaRPr>
          </a:p>
        </p:txBody>
      </p:sp>
      <p:sp>
        <p:nvSpPr>
          <p:cNvPr id="16437" name="矩形 16436"/>
          <p:cNvSpPr/>
          <p:nvPr/>
        </p:nvSpPr>
        <p:spPr>
          <a:xfrm>
            <a:off x="2057400" y="1233488"/>
            <a:ext cx="2495550" cy="519112"/>
          </a:xfrm>
          <a:prstGeom prst="rect">
            <a:avLst/>
          </a:prstGeom>
          <a:noFill/>
          <a:ln w="9525">
            <a:noFill/>
          </a:ln>
        </p:spPr>
        <p:txBody>
          <a:bodyPr wrap="none" anchor="t" anchorCtr="0">
            <a:spAutoFit/>
          </a:bodyPr>
          <a:p>
            <a:r>
              <a:rPr lang="en-US" altLang="zh-CN">
                <a:latin typeface="Times New Roman" panose="02020603050405020304" pitchFamily="18" charset="0"/>
              </a:rPr>
              <a:t>2 1 7 9 8 6 3 5 4</a:t>
            </a:r>
            <a:endParaRPr lang="en-US" altLang="zh-CN">
              <a:latin typeface="Times New Roman" panose="02020603050405020304" pitchFamily="18" charset="0"/>
            </a:endParaRPr>
          </a:p>
        </p:txBody>
      </p:sp>
      <p:sp>
        <p:nvSpPr>
          <p:cNvPr id="16438" name="直接连接符 16437"/>
          <p:cNvSpPr/>
          <p:nvPr/>
        </p:nvSpPr>
        <p:spPr>
          <a:xfrm>
            <a:off x="2230438" y="1692275"/>
            <a:ext cx="0" cy="304800"/>
          </a:xfrm>
          <a:prstGeom prst="line">
            <a:avLst/>
          </a:prstGeom>
          <a:ln w="28575" cap="flat" cmpd="sng">
            <a:solidFill>
              <a:srgbClr val="FF3300"/>
            </a:solidFill>
            <a:prstDash val="solid"/>
            <a:headEnd type="none" w="med" len="med"/>
            <a:tailEnd type="triangle" w="med" len="med"/>
          </a:ln>
        </p:spPr>
      </p:sp>
      <p:sp>
        <p:nvSpPr>
          <p:cNvPr id="16439" name="直接连接符 16438"/>
          <p:cNvSpPr/>
          <p:nvPr/>
        </p:nvSpPr>
        <p:spPr>
          <a:xfrm>
            <a:off x="2517775" y="1692275"/>
            <a:ext cx="0" cy="304800"/>
          </a:xfrm>
          <a:prstGeom prst="line">
            <a:avLst/>
          </a:prstGeom>
          <a:ln w="28575" cap="flat" cmpd="sng">
            <a:solidFill>
              <a:srgbClr val="FF3300"/>
            </a:solidFill>
            <a:prstDash val="solid"/>
            <a:headEnd type="none" w="med" len="med"/>
            <a:tailEnd type="triangle" w="med" len="med"/>
          </a:ln>
        </p:spPr>
      </p:sp>
      <p:sp>
        <p:nvSpPr>
          <p:cNvPr id="16440" name="直接连接符 16439"/>
          <p:cNvSpPr/>
          <p:nvPr/>
        </p:nvSpPr>
        <p:spPr>
          <a:xfrm>
            <a:off x="2789238" y="1692275"/>
            <a:ext cx="0" cy="304800"/>
          </a:xfrm>
          <a:prstGeom prst="line">
            <a:avLst/>
          </a:prstGeom>
          <a:ln w="28575" cap="flat" cmpd="sng">
            <a:solidFill>
              <a:srgbClr val="FF3300"/>
            </a:solidFill>
            <a:prstDash val="solid"/>
            <a:headEnd type="none" w="med" len="med"/>
            <a:tailEnd type="triangle" w="med" len="med"/>
          </a:ln>
        </p:spPr>
      </p:sp>
      <p:sp>
        <p:nvSpPr>
          <p:cNvPr id="16441" name="直接连接符 16440"/>
          <p:cNvSpPr/>
          <p:nvPr/>
        </p:nvSpPr>
        <p:spPr>
          <a:xfrm>
            <a:off x="3048000" y="1692275"/>
            <a:ext cx="0" cy="304800"/>
          </a:xfrm>
          <a:prstGeom prst="line">
            <a:avLst/>
          </a:prstGeom>
          <a:ln w="28575" cap="flat" cmpd="sng">
            <a:solidFill>
              <a:srgbClr val="FF3300"/>
            </a:solidFill>
            <a:prstDash val="solid"/>
            <a:headEnd type="none" w="med" len="med"/>
            <a:tailEnd type="triangle" w="med" len="med"/>
          </a:ln>
        </p:spPr>
      </p:sp>
      <p:sp>
        <p:nvSpPr>
          <p:cNvPr id="16442" name="直接连接符 16441"/>
          <p:cNvSpPr/>
          <p:nvPr/>
        </p:nvSpPr>
        <p:spPr>
          <a:xfrm>
            <a:off x="3311525" y="1692275"/>
            <a:ext cx="0" cy="304800"/>
          </a:xfrm>
          <a:prstGeom prst="line">
            <a:avLst/>
          </a:prstGeom>
          <a:ln w="28575" cap="flat" cmpd="sng">
            <a:solidFill>
              <a:srgbClr val="FF3300"/>
            </a:solidFill>
            <a:prstDash val="solid"/>
            <a:headEnd type="none" w="med" len="med"/>
            <a:tailEnd type="triangle" w="med" len="med"/>
          </a:ln>
        </p:spPr>
      </p:sp>
      <p:sp>
        <p:nvSpPr>
          <p:cNvPr id="16443" name="直接连接符 16442"/>
          <p:cNvSpPr/>
          <p:nvPr/>
        </p:nvSpPr>
        <p:spPr>
          <a:xfrm>
            <a:off x="3581400" y="1692275"/>
            <a:ext cx="0" cy="304800"/>
          </a:xfrm>
          <a:prstGeom prst="line">
            <a:avLst/>
          </a:prstGeom>
          <a:ln w="28575" cap="flat" cmpd="sng">
            <a:solidFill>
              <a:srgbClr val="FF3300"/>
            </a:solidFill>
            <a:prstDash val="solid"/>
            <a:headEnd type="none" w="med" len="med"/>
            <a:tailEnd type="triangle" w="med" len="med"/>
          </a:ln>
        </p:spPr>
      </p:sp>
      <p:sp>
        <p:nvSpPr>
          <p:cNvPr id="16444" name="直接连接符 16443"/>
          <p:cNvSpPr/>
          <p:nvPr/>
        </p:nvSpPr>
        <p:spPr>
          <a:xfrm>
            <a:off x="3862388" y="1692275"/>
            <a:ext cx="0" cy="304800"/>
          </a:xfrm>
          <a:prstGeom prst="line">
            <a:avLst/>
          </a:prstGeom>
          <a:ln w="28575" cap="flat" cmpd="sng">
            <a:solidFill>
              <a:srgbClr val="FF3300"/>
            </a:solidFill>
            <a:prstDash val="solid"/>
            <a:headEnd type="none" w="med" len="med"/>
            <a:tailEnd type="triangle" w="med" len="med"/>
          </a:ln>
        </p:spPr>
      </p:sp>
      <p:sp>
        <p:nvSpPr>
          <p:cNvPr id="16445" name="直接连接符 16444"/>
          <p:cNvSpPr/>
          <p:nvPr/>
        </p:nvSpPr>
        <p:spPr>
          <a:xfrm>
            <a:off x="4114800" y="1692275"/>
            <a:ext cx="0" cy="304800"/>
          </a:xfrm>
          <a:prstGeom prst="line">
            <a:avLst/>
          </a:prstGeom>
          <a:ln w="28575" cap="flat" cmpd="sng">
            <a:solidFill>
              <a:srgbClr val="FF3300"/>
            </a:solidFill>
            <a:prstDash val="solid"/>
            <a:headEnd type="none" w="med" len="med"/>
            <a:tailEnd type="triangle" w="med" len="med"/>
          </a:ln>
        </p:spPr>
      </p:sp>
      <p:sp>
        <p:nvSpPr>
          <p:cNvPr id="16446" name="直接连接符 16445"/>
          <p:cNvSpPr/>
          <p:nvPr/>
        </p:nvSpPr>
        <p:spPr>
          <a:xfrm>
            <a:off x="2057400" y="4724400"/>
            <a:ext cx="0" cy="304800"/>
          </a:xfrm>
          <a:prstGeom prst="line">
            <a:avLst/>
          </a:prstGeom>
          <a:ln w="28575" cap="flat" cmpd="sng">
            <a:solidFill>
              <a:srgbClr val="FF3300"/>
            </a:solidFill>
            <a:prstDash val="solid"/>
            <a:headEnd type="none" w="med" len="med"/>
            <a:tailEnd type="triangle" w="med" len="med"/>
          </a:ln>
        </p:spPr>
      </p:sp>
      <p:sp>
        <p:nvSpPr>
          <p:cNvPr id="16447" name="文本框 16446"/>
          <p:cNvSpPr txBox="1"/>
          <p:nvPr/>
        </p:nvSpPr>
        <p:spPr>
          <a:xfrm>
            <a:off x="2057400" y="1943100"/>
            <a:ext cx="360680" cy="521970"/>
          </a:xfrm>
          <a:prstGeom prst="rect">
            <a:avLst/>
          </a:prstGeom>
          <a:noFill/>
          <a:ln w="9525">
            <a:noFill/>
          </a:ln>
        </p:spPr>
        <p:txBody>
          <a:bodyPr wrap="none" anchor="t" anchorCtr="0">
            <a:spAutoFit/>
          </a:bodyPr>
          <a:p>
            <a:r>
              <a:rPr lang="en-US" altLang="zh-CN">
                <a:latin typeface="Times New Roman" panose="02020603050405020304" pitchFamily="18" charset="0"/>
              </a:rPr>
              <a:t>1</a:t>
            </a:r>
            <a:endParaRPr lang="en-US" altLang="zh-CN">
              <a:latin typeface="Times New Roman" panose="02020603050405020304" pitchFamily="18" charset="0"/>
            </a:endParaRPr>
          </a:p>
        </p:txBody>
      </p:sp>
      <p:sp>
        <p:nvSpPr>
          <p:cNvPr id="16448" name="文本框 16447"/>
          <p:cNvSpPr txBox="1"/>
          <p:nvPr/>
        </p:nvSpPr>
        <p:spPr>
          <a:xfrm>
            <a:off x="2344738" y="1931988"/>
            <a:ext cx="360680" cy="521970"/>
          </a:xfrm>
          <a:prstGeom prst="rect">
            <a:avLst/>
          </a:prstGeom>
          <a:noFill/>
          <a:ln w="9525">
            <a:noFill/>
          </a:ln>
        </p:spPr>
        <p:txBody>
          <a:bodyPr wrap="none" anchor="t" anchorCtr="0">
            <a:spAutoFit/>
          </a:bodyPr>
          <a:p>
            <a:r>
              <a:rPr lang="en-US" altLang="zh-CN">
                <a:latin typeface="Times New Roman" panose="02020603050405020304" pitchFamily="18" charset="0"/>
              </a:rPr>
              <a:t>0</a:t>
            </a:r>
            <a:endParaRPr lang="en-US" altLang="zh-CN">
              <a:latin typeface="Times New Roman" panose="02020603050405020304" pitchFamily="18" charset="0"/>
            </a:endParaRPr>
          </a:p>
        </p:txBody>
      </p:sp>
      <p:sp>
        <p:nvSpPr>
          <p:cNvPr id="16449" name="文本框 16448"/>
          <p:cNvSpPr txBox="1"/>
          <p:nvPr/>
        </p:nvSpPr>
        <p:spPr>
          <a:xfrm>
            <a:off x="2632075" y="1943100"/>
            <a:ext cx="360680" cy="521970"/>
          </a:xfrm>
          <a:prstGeom prst="rect">
            <a:avLst/>
          </a:prstGeom>
          <a:noFill/>
          <a:ln w="9525">
            <a:noFill/>
          </a:ln>
        </p:spPr>
        <p:txBody>
          <a:bodyPr wrap="none" anchor="t" anchorCtr="0">
            <a:spAutoFit/>
          </a:bodyPr>
          <a:p>
            <a:r>
              <a:rPr lang="en-US" altLang="zh-CN">
                <a:latin typeface="Times New Roman" panose="02020603050405020304" pitchFamily="18" charset="0"/>
              </a:rPr>
              <a:t>4</a:t>
            </a:r>
            <a:endParaRPr lang="en-US" altLang="zh-CN">
              <a:latin typeface="Times New Roman" panose="02020603050405020304" pitchFamily="18" charset="0"/>
            </a:endParaRPr>
          </a:p>
        </p:txBody>
      </p:sp>
      <p:sp>
        <p:nvSpPr>
          <p:cNvPr id="16450" name="文本框 16449"/>
          <p:cNvSpPr txBox="1"/>
          <p:nvPr/>
        </p:nvSpPr>
        <p:spPr>
          <a:xfrm>
            <a:off x="2901950" y="1943100"/>
            <a:ext cx="360680" cy="521970"/>
          </a:xfrm>
          <a:prstGeom prst="rect">
            <a:avLst/>
          </a:prstGeom>
          <a:noFill/>
          <a:ln w="9525">
            <a:noFill/>
          </a:ln>
        </p:spPr>
        <p:txBody>
          <a:bodyPr wrap="none" anchor="t" anchorCtr="0">
            <a:spAutoFit/>
          </a:bodyPr>
          <a:p>
            <a:r>
              <a:rPr lang="en-US" altLang="zh-CN">
                <a:latin typeface="Times New Roman" panose="02020603050405020304" pitchFamily="18" charset="0"/>
              </a:rPr>
              <a:t>5</a:t>
            </a:r>
            <a:endParaRPr lang="en-US" altLang="zh-CN">
              <a:latin typeface="Times New Roman" panose="02020603050405020304" pitchFamily="18" charset="0"/>
            </a:endParaRPr>
          </a:p>
        </p:txBody>
      </p:sp>
      <p:sp>
        <p:nvSpPr>
          <p:cNvPr id="16451" name="文本框 16450"/>
          <p:cNvSpPr txBox="1"/>
          <p:nvPr/>
        </p:nvSpPr>
        <p:spPr>
          <a:xfrm>
            <a:off x="3171825" y="1925638"/>
            <a:ext cx="360680" cy="521970"/>
          </a:xfrm>
          <a:prstGeom prst="rect">
            <a:avLst/>
          </a:prstGeom>
          <a:noFill/>
          <a:ln w="9525">
            <a:noFill/>
          </a:ln>
        </p:spPr>
        <p:txBody>
          <a:bodyPr wrap="none" anchor="t" anchorCtr="0">
            <a:spAutoFit/>
          </a:bodyPr>
          <a:p>
            <a:r>
              <a:rPr lang="en-US" altLang="zh-CN">
                <a:latin typeface="Times New Roman" panose="02020603050405020304" pitchFamily="18" charset="0"/>
              </a:rPr>
              <a:t>4</a:t>
            </a:r>
            <a:endParaRPr lang="en-US" altLang="zh-CN">
              <a:latin typeface="Times New Roman" panose="02020603050405020304" pitchFamily="18" charset="0"/>
            </a:endParaRPr>
          </a:p>
        </p:txBody>
      </p:sp>
      <p:sp>
        <p:nvSpPr>
          <p:cNvPr id="16452" name="文本框 16451"/>
          <p:cNvSpPr txBox="1"/>
          <p:nvPr/>
        </p:nvSpPr>
        <p:spPr>
          <a:xfrm>
            <a:off x="3452813" y="1936750"/>
            <a:ext cx="361950" cy="519113"/>
          </a:xfrm>
          <a:prstGeom prst="rect">
            <a:avLst/>
          </a:prstGeom>
          <a:noFill/>
          <a:ln w="9525">
            <a:noFill/>
          </a:ln>
        </p:spPr>
        <p:txBody>
          <a:bodyPr wrap="none" anchor="t" anchorCtr="0">
            <a:spAutoFit/>
          </a:bodyPr>
          <a:p>
            <a:r>
              <a:rPr lang="en-US" altLang="zh-CN">
                <a:latin typeface="Times New Roman" panose="02020603050405020304" pitchFamily="18" charset="0"/>
              </a:rPr>
              <a:t>3</a:t>
            </a:r>
            <a:endParaRPr lang="en-US" altLang="zh-CN">
              <a:latin typeface="Times New Roman" panose="02020603050405020304" pitchFamily="18" charset="0"/>
            </a:endParaRPr>
          </a:p>
        </p:txBody>
      </p:sp>
      <p:sp>
        <p:nvSpPr>
          <p:cNvPr id="16453" name="文本框 16452"/>
          <p:cNvSpPr txBox="1"/>
          <p:nvPr/>
        </p:nvSpPr>
        <p:spPr>
          <a:xfrm>
            <a:off x="3705225" y="1936750"/>
            <a:ext cx="360680" cy="521970"/>
          </a:xfrm>
          <a:prstGeom prst="rect">
            <a:avLst/>
          </a:prstGeom>
          <a:noFill/>
          <a:ln w="9525">
            <a:noFill/>
          </a:ln>
        </p:spPr>
        <p:txBody>
          <a:bodyPr wrap="none" anchor="t" anchorCtr="0">
            <a:spAutoFit/>
          </a:bodyPr>
          <a:p>
            <a:r>
              <a:rPr lang="en-US" altLang="zh-CN">
                <a:latin typeface="Times New Roman" panose="02020603050405020304" pitchFamily="18" charset="0"/>
              </a:rPr>
              <a:t>0</a:t>
            </a:r>
            <a:endParaRPr lang="en-US" altLang="zh-CN">
              <a:latin typeface="Times New Roman" panose="02020603050405020304" pitchFamily="18" charset="0"/>
            </a:endParaRPr>
          </a:p>
        </p:txBody>
      </p:sp>
      <p:sp>
        <p:nvSpPr>
          <p:cNvPr id="16454" name="文本框 16453"/>
          <p:cNvSpPr txBox="1"/>
          <p:nvPr/>
        </p:nvSpPr>
        <p:spPr>
          <a:xfrm>
            <a:off x="3992563" y="1933575"/>
            <a:ext cx="360680" cy="521970"/>
          </a:xfrm>
          <a:prstGeom prst="rect">
            <a:avLst/>
          </a:prstGeom>
          <a:noFill/>
          <a:ln w="9525">
            <a:noFill/>
          </a:ln>
        </p:spPr>
        <p:txBody>
          <a:bodyPr wrap="none" anchor="t" anchorCtr="0">
            <a:spAutoFit/>
          </a:bodyPr>
          <a:p>
            <a:r>
              <a:rPr lang="en-US" altLang="zh-CN">
                <a:latin typeface="Times New Roman" panose="02020603050405020304" pitchFamily="18" charset="0"/>
              </a:rPr>
              <a:t>1</a:t>
            </a:r>
            <a:endParaRPr lang="en-US" altLang="zh-CN">
              <a:latin typeface="Times New Roman" panose="02020603050405020304" pitchFamily="18" charset="0"/>
            </a:endParaRPr>
          </a:p>
        </p:txBody>
      </p:sp>
      <p:sp>
        <p:nvSpPr>
          <p:cNvPr id="16455" name="文本框 16454"/>
          <p:cNvSpPr txBox="1"/>
          <p:nvPr/>
        </p:nvSpPr>
        <p:spPr>
          <a:xfrm>
            <a:off x="4291013" y="1936750"/>
            <a:ext cx="360680" cy="521970"/>
          </a:xfrm>
          <a:prstGeom prst="rect">
            <a:avLst/>
          </a:prstGeom>
          <a:noFill/>
          <a:ln w="9525">
            <a:noFill/>
          </a:ln>
        </p:spPr>
        <p:txBody>
          <a:bodyPr wrap="none" anchor="t" anchorCtr="0">
            <a:spAutoFit/>
          </a:bodyPr>
          <a:p>
            <a:r>
              <a:rPr lang="en-US" altLang="zh-CN">
                <a:latin typeface="Times New Roman" panose="02020603050405020304" pitchFamily="18" charset="0"/>
              </a:rPr>
              <a:t>0</a:t>
            </a:r>
            <a:endParaRPr lang="en-US" altLang="zh-CN">
              <a:latin typeface="Times New Roman" panose="02020603050405020304" pitchFamily="18" charset="0"/>
            </a:endParaRPr>
          </a:p>
        </p:txBody>
      </p:sp>
      <p:sp>
        <p:nvSpPr>
          <p:cNvPr id="16457" name="矩形 16456"/>
          <p:cNvSpPr/>
          <p:nvPr/>
        </p:nvSpPr>
        <p:spPr>
          <a:xfrm>
            <a:off x="358775" y="2376488"/>
            <a:ext cx="5118100" cy="519112"/>
          </a:xfrm>
          <a:prstGeom prst="rect">
            <a:avLst/>
          </a:prstGeom>
          <a:noFill/>
          <a:ln w="9525">
            <a:noFill/>
          </a:ln>
        </p:spPr>
        <p:txBody>
          <a:bodyPr wrap="none" anchor="t" anchorCtr="0">
            <a:spAutoFit/>
          </a:bodyPr>
          <a:p>
            <a:r>
              <a:rPr lang="zh-CN" altLang="en-US" dirty="0">
                <a:latin typeface="Times New Roman" panose="02020603050405020304" pitchFamily="18" charset="0"/>
              </a:rPr>
              <a:t>于是排列</a:t>
            </a:r>
            <a:r>
              <a:rPr lang="en-US" altLang="zh-CN">
                <a:latin typeface="Times New Roman" panose="02020603050405020304" pitchFamily="18" charset="0"/>
              </a:rPr>
              <a:t>217986354</a:t>
            </a:r>
            <a:r>
              <a:rPr lang="zh-CN" altLang="en-US" dirty="0">
                <a:latin typeface="Times New Roman" panose="02020603050405020304" pitchFamily="18" charset="0"/>
              </a:rPr>
              <a:t>的逆序数为</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6458" name="矩形 16457"/>
          <p:cNvSpPr/>
          <p:nvPr/>
        </p:nvSpPr>
        <p:spPr>
          <a:xfrm>
            <a:off x="2209800" y="2874963"/>
            <a:ext cx="4877435" cy="521970"/>
          </a:xfrm>
          <a:prstGeom prst="rect">
            <a:avLst/>
          </a:prstGeom>
          <a:noFill/>
          <a:ln w="9525">
            <a:noFill/>
          </a:ln>
        </p:spPr>
        <p:txBody>
          <a:bodyPr wrap="none" anchor="t" anchorCtr="0">
            <a:spAutoFit/>
          </a:bodyPr>
          <a:p>
            <a:r>
              <a:rPr lang="en-US" altLang="zh-CN" i="1">
                <a:latin typeface="仿宋" panose="02010609060101010101" charset="-122"/>
                <a:ea typeface="仿宋" panose="02010609060101010101" charset="-122"/>
              </a:rPr>
              <a:t>τ</a:t>
            </a:r>
            <a:r>
              <a:rPr lang="en-US" altLang="zh-CN">
                <a:latin typeface="Times New Roman" panose="02020603050405020304" pitchFamily="18" charset="0"/>
              </a:rPr>
              <a:t>= 1+0+4+5+4+3+0+1+0 = 18.</a:t>
            </a:r>
            <a:endParaRPr lang="en-US" altLang="zh-CN">
              <a:latin typeface="Times New Roman" panose="02020603050405020304" pitchFamily="18" charset="0"/>
            </a:endParaRPr>
          </a:p>
        </p:txBody>
      </p:sp>
      <p:sp>
        <p:nvSpPr>
          <p:cNvPr id="16459" name="文本框 16458"/>
          <p:cNvSpPr txBox="1"/>
          <p:nvPr/>
        </p:nvSpPr>
        <p:spPr>
          <a:xfrm>
            <a:off x="1355725" y="3800475"/>
            <a:ext cx="3360738" cy="519113"/>
          </a:xfrm>
          <a:prstGeom prst="rect">
            <a:avLst/>
          </a:prstGeom>
          <a:noFill/>
          <a:ln w="9525">
            <a:noFill/>
          </a:ln>
        </p:spPr>
        <p:txBody>
          <a:bodyPr wrap="none" anchor="t" anchorCtr="0">
            <a:spAutoFit/>
          </a:bodyPr>
          <a:p>
            <a:r>
              <a:rPr lang="en-US" altLang="zh-CN">
                <a:latin typeface="Times New Roman" panose="02020603050405020304" pitchFamily="18" charset="0"/>
              </a:rPr>
              <a:t>(2)  </a:t>
            </a:r>
            <a:r>
              <a:rPr lang="en-US" altLang="zh-CN" i="1">
                <a:latin typeface="Times New Roman" panose="02020603050405020304" pitchFamily="18" charset="0"/>
              </a:rPr>
              <a:t>n</a:t>
            </a:r>
            <a:r>
              <a:rPr lang="en-US" altLang="zh-CN">
                <a:latin typeface="Times New Roman" panose="02020603050405020304" pitchFamily="18" charset="0"/>
              </a:rPr>
              <a:t>(</a:t>
            </a:r>
            <a:r>
              <a:rPr lang="en-US" altLang="zh-CN" i="1">
                <a:latin typeface="Times New Roman" panose="02020603050405020304" pitchFamily="18" charset="0"/>
              </a:rPr>
              <a:t>n</a:t>
            </a:r>
            <a:r>
              <a:rPr lang="en-US" altLang="zh-CN">
                <a:latin typeface="Times New Roman" panose="02020603050405020304" pitchFamily="18" charset="0"/>
              </a:rPr>
              <a:t>–1)(</a:t>
            </a:r>
            <a:r>
              <a:rPr lang="en-US" altLang="zh-CN" i="1">
                <a:latin typeface="Times New Roman" panose="02020603050405020304" pitchFamily="18" charset="0"/>
              </a:rPr>
              <a:t>n</a:t>
            </a:r>
            <a:r>
              <a:rPr lang="en-US" altLang="zh-CN">
                <a:latin typeface="Times New Roman" panose="02020603050405020304" pitchFamily="18" charset="0"/>
              </a:rPr>
              <a:t>–2)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21</a:t>
            </a:r>
            <a:endParaRPr lang="en-US" altLang="zh-CN">
              <a:latin typeface="Times New Roman" panose="02020603050405020304" pitchFamily="18" charset="0"/>
            </a:endParaRPr>
          </a:p>
        </p:txBody>
      </p:sp>
      <p:sp>
        <p:nvSpPr>
          <p:cNvPr id="16460" name="文本框 16459"/>
          <p:cNvSpPr txBox="1"/>
          <p:nvPr/>
        </p:nvSpPr>
        <p:spPr>
          <a:xfrm>
            <a:off x="1079500" y="4267200"/>
            <a:ext cx="660400" cy="519113"/>
          </a:xfrm>
          <a:prstGeom prst="rect">
            <a:avLst/>
          </a:prstGeom>
          <a:noFill/>
          <a:ln w="9525">
            <a:noFill/>
          </a:ln>
        </p:spPr>
        <p:txBody>
          <a:bodyPr wrap="none" anchor="t" anchorCtr="0">
            <a:spAutoFit/>
          </a:bodyPr>
          <a:p>
            <a:r>
              <a:rPr lang="zh-CN" altLang="en-US" dirty="0">
                <a:solidFill>
                  <a:srgbClr val="3333FF"/>
                </a:solidFill>
                <a:latin typeface="Times New Roman" panose="02020603050405020304" pitchFamily="18" charset="0"/>
                <a:ea typeface="黑体" panose="02010609060101010101" pitchFamily="2" charset="-122"/>
              </a:rPr>
              <a:t>解</a:t>
            </a:r>
            <a:r>
              <a:rPr lang="en-US" altLang="zh-CN">
                <a:solidFill>
                  <a:srgbClr val="3333FF"/>
                </a:solidFill>
                <a:latin typeface="Times New Roman" panose="02020603050405020304" pitchFamily="18" charset="0"/>
                <a:ea typeface="黑体" panose="02010609060101010101" pitchFamily="2" charset="-122"/>
              </a:rPr>
              <a:t>:</a:t>
            </a:r>
            <a:endParaRPr lang="en-US" altLang="zh-CN" sz="2400">
              <a:solidFill>
                <a:srgbClr val="3333FF"/>
              </a:solidFill>
              <a:latin typeface="Times New Roman" panose="02020603050405020304" pitchFamily="18" charset="0"/>
              <a:ea typeface="黑体" panose="02010609060101010101" pitchFamily="2" charset="-122"/>
            </a:endParaRPr>
          </a:p>
        </p:txBody>
      </p:sp>
      <p:sp>
        <p:nvSpPr>
          <p:cNvPr id="16461" name="矩形 16460"/>
          <p:cNvSpPr/>
          <p:nvPr/>
        </p:nvSpPr>
        <p:spPr>
          <a:xfrm>
            <a:off x="1828800" y="4267200"/>
            <a:ext cx="3033713" cy="519113"/>
          </a:xfrm>
          <a:prstGeom prst="rect">
            <a:avLst/>
          </a:prstGeom>
          <a:noFill/>
          <a:ln w="9525">
            <a:noFill/>
          </a:ln>
        </p:spPr>
        <p:txBody>
          <a:bodyPr wrap="none" anchor="t" anchorCtr="0">
            <a:spAutoFit/>
          </a:bodyPr>
          <a:p>
            <a:r>
              <a:rPr lang="en-US" altLang="zh-CN" i="1">
                <a:latin typeface="Times New Roman" panose="02020603050405020304" pitchFamily="18" charset="0"/>
              </a:rPr>
              <a:t>n </a:t>
            </a:r>
            <a:r>
              <a:rPr lang="en-US" altLang="zh-CN">
                <a:latin typeface="Times New Roman" panose="02020603050405020304" pitchFamily="18" charset="0"/>
              </a:rPr>
              <a:t>(</a:t>
            </a:r>
            <a:r>
              <a:rPr lang="en-US" altLang="zh-CN" i="1">
                <a:latin typeface="Times New Roman" panose="02020603050405020304" pitchFamily="18" charset="0"/>
              </a:rPr>
              <a:t>n</a:t>
            </a:r>
            <a:r>
              <a:rPr lang="en-US" altLang="zh-CN">
                <a:latin typeface="Times New Roman" panose="02020603050405020304" pitchFamily="18" charset="0"/>
              </a:rPr>
              <a:t>–1) (</a:t>
            </a:r>
            <a:r>
              <a:rPr lang="en-US" altLang="zh-CN" i="1">
                <a:latin typeface="Times New Roman" panose="02020603050405020304" pitchFamily="18" charset="0"/>
              </a:rPr>
              <a:t>n</a:t>
            </a:r>
            <a:r>
              <a:rPr lang="en-US" altLang="zh-CN">
                <a:latin typeface="Times New Roman" panose="02020603050405020304" pitchFamily="18" charset="0"/>
              </a:rPr>
              <a:t>–2)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2 1</a:t>
            </a:r>
            <a:endParaRPr lang="en-US" altLang="zh-CN">
              <a:latin typeface="Times New Roman" panose="02020603050405020304" pitchFamily="18" charset="0"/>
            </a:endParaRPr>
          </a:p>
        </p:txBody>
      </p:sp>
      <p:sp>
        <p:nvSpPr>
          <p:cNvPr id="16462" name="直接连接符 16461"/>
          <p:cNvSpPr/>
          <p:nvPr/>
        </p:nvSpPr>
        <p:spPr>
          <a:xfrm>
            <a:off x="2590800" y="4724400"/>
            <a:ext cx="0" cy="304800"/>
          </a:xfrm>
          <a:prstGeom prst="line">
            <a:avLst/>
          </a:prstGeom>
          <a:ln w="28575" cap="flat" cmpd="sng">
            <a:solidFill>
              <a:srgbClr val="FF3300"/>
            </a:solidFill>
            <a:prstDash val="solid"/>
            <a:headEnd type="none" w="med" len="med"/>
            <a:tailEnd type="triangle" w="med" len="med"/>
          </a:ln>
        </p:spPr>
      </p:sp>
      <p:sp>
        <p:nvSpPr>
          <p:cNvPr id="16464" name="直接连接符 16463"/>
          <p:cNvSpPr/>
          <p:nvPr/>
        </p:nvSpPr>
        <p:spPr>
          <a:xfrm>
            <a:off x="3505200" y="4724400"/>
            <a:ext cx="0" cy="304800"/>
          </a:xfrm>
          <a:prstGeom prst="line">
            <a:avLst/>
          </a:prstGeom>
          <a:ln w="28575" cap="flat" cmpd="sng">
            <a:solidFill>
              <a:srgbClr val="FF3300"/>
            </a:solidFill>
            <a:prstDash val="solid"/>
            <a:headEnd type="none" w="med" len="med"/>
            <a:tailEnd type="triangle" w="med" len="med"/>
          </a:ln>
        </p:spPr>
      </p:sp>
      <p:sp>
        <p:nvSpPr>
          <p:cNvPr id="16465" name="直接连接符 16464"/>
          <p:cNvSpPr/>
          <p:nvPr/>
        </p:nvSpPr>
        <p:spPr>
          <a:xfrm>
            <a:off x="4419600" y="4724400"/>
            <a:ext cx="0" cy="304800"/>
          </a:xfrm>
          <a:prstGeom prst="line">
            <a:avLst/>
          </a:prstGeom>
          <a:ln w="28575" cap="flat" cmpd="sng">
            <a:solidFill>
              <a:srgbClr val="FF3300"/>
            </a:solidFill>
            <a:prstDash val="solid"/>
            <a:headEnd type="none" w="med" len="med"/>
            <a:tailEnd type="triangle" w="med" len="med"/>
          </a:ln>
        </p:spPr>
      </p:sp>
      <p:sp>
        <p:nvSpPr>
          <p:cNvPr id="16466" name="直接连接符 16465"/>
          <p:cNvSpPr/>
          <p:nvPr/>
        </p:nvSpPr>
        <p:spPr>
          <a:xfrm>
            <a:off x="4724400" y="4724400"/>
            <a:ext cx="0" cy="304800"/>
          </a:xfrm>
          <a:prstGeom prst="line">
            <a:avLst/>
          </a:prstGeom>
          <a:ln w="28575" cap="flat" cmpd="sng">
            <a:solidFill>
              <a:srgbClr val="FF3300"/>
            </a:solidFill>
            <a:prstDash val="solid"/>
            <a:headEnd type="none" w="med" len="med"/>
            <a:tailEnd type="triangle" w="med" len="med"/>
          </a:ln>
        </p:spPr>
      </p:sp>
      <p:sp>
        <p:nvSpPr>
          <p:cNvPr id="16467" name="文本框 16466"/>
          <p:cNvSpPr txBox="1"/>
          <p:nvPr/>
        </p:nvSpPr>
        <p:spPr>
          <a:xfrm>
            <a:off x="1331595" y="4894580"/>
            <a:ext cx="972185" cy="521970"/>
          </a:xfrm>
          <a:prstGeom prst="rect">
            <a:avLst/>
          </a:prstGeom>
          <a:noFill/>
          <a:ln w="9525">
            <a:noFill/>
          </a:ln>
        </p:spPr>
        <p:txBody>
          <a:bodyPr wrap="none" anchor="t" anchorCtr="0">
            <a:spAutoFit/>
          </a:bodyPr>
          <a:p>
            <a:pPr algn="l"/>
            <a:r>
              <a:rPr lang="en-US" altLang="zh-CN">
                <a:sym typeface="+mn-ea"/>
              </a:rPr>
              <a:t>(</a:t>
            </a:r>
            <a:r>
              <a:rPr lang="en-US" altLang="zh-CN" i="1">
                <a:sym typeface="+mn-ea"/>
              </a:rPr>
              <a:t>n</a:t>
            </a:r>
            <a:r>
              <a:rPr lang="en-US" altLang="zh-CN">
                <a:sym typeface="+mn-ea"/>
              </a:rPr>
              <a:t>–1)</a:t>
            </a:r>
            <a:endParaRPr lang="en-US" altLang="zh-CN">
              <a:latin typeface="Times New Roman" panose="02020603050405020304" pitchFamily="18" charset="0"/>
            </a:endParaRPr>
          </a:p>
        </p:txBody>
      </p:sp>
      <p:sp>
        <p:nvSpPr>
          <p:cNvPr id="16468" name="文本框 16467"/>
          <p:cNvSpPr txBox="1"/>
          <p:nvPr/>
        </p:nvSpPr>
        <p:spPr>
          <a:xfrm>
            <a:off x="2230755" y="4908550"/>
            <a:ext cx="972185" cy="521970"/>
          </a:xfrm>
          <a:prstGeom prst="rect">
            <a:avLst/>
          </a:prstGeom>
          <a:noFill/>
          <a:ln w="9525">
            <a:noFill/>
          </a:ln>
        </p:spPr>
        <p:txBody>
          <a:bodyPr wrap="none" anchor="t" anchorCtr="0">
            <a:spAutoFit/>
          </a:bodyPr>
          <a:p>
            <a:pPr algn="l"/>
            <a:r>
              <a:rPr lang="en-US" altLang="zh-CN">
                <a:sym typeface="+mn-ea"/>
              </a:rPr>
              <a:t>(</a:t>
            </a:r>
            <a:r>
              <a:rPr lang="en-US" altLang="zh-CN" i="1">
                <a:sym typeface="+mn-ea"/>
              </a:rPr>
              <a:t>n</a:t>
            </a:r>
            <a:r>
              <a:rPr lang="en-US" altLang="zh-CN">
                <a:sym typeface="+mn-ea"/>
              </a:rPr>
              <a:t>–2)</a:t>
            </a:r>
            <a:endParaRPr lang="en-US" altLang="zh-CN">
              <a:latin typeface="Times New Roman" panose="02020603050405020304" pitchFamily="18" charset="0"/>
            </a:endParaRPr>
          </a:p>
        </p:txBody>
      </p:sp>
      <p:sp>
        <p:nvSpPr>
          <p:cNvPr id="16469" name="文本框 16468"/>
          <p:cNvSpPr txBox="1"/>
          <p:nvPr/>
        </p:nvSpPr>
        <p:spPr>
          <a:xfrm>
            <a:off x="3060065" y="4940935"/>
            <a:ext cx="972185" cy="836930"/>
          </a:xfrm>
          <a:prstGeom prst="rect">
            <a:avLst/>
          </a:prstGeom>
          <a:noFill/>
          <a:ln w="9525">
            <a:noFill/>
          </a:ln>
        </p:spPr>
        <p:txBody>
          <a:bodyPr wrap="none" anchor="t" anchorCtr="0">
            <a:noAutofit/>
          </a:bodyPr>
          <a:p>
            <a:pPr algn="l"/>
            <a:r>
              <a:rPr lang="en-US" altLang="zh-CN">
                <a:sym typeface="+mn-ea"/>
              </a:rPr>
              <a:t>(</a:t>
            </a:r>
            <a:r>
              <a:rPr lang="en-US" altLang="zh-CN" i="1">
                <a:sym typeface="+mn-ea"/>
              </a:rPr>
              <a:t>n</a:t>
            </a:r>
            <a:r>
              <a:rPr lang="en-US" altLang="zh-CN">
                <a:sym typeface="+mn-ea"/>
              </a:rPr>
              <a:t>–3)</a:t>
            </a:r>
            <a:endParaRPr lang="en-US" altLang="zh-CN">
              <a:latin typeface="Times New Roman" panose="02020603050405020304" pitchFamily="18" charset="0"/>
            </a:endParaRPr>
          </a:p>
          <a:p>
            <a:endParaRPr lang="en-US" altLang="zh-CN">
              <a:latin typeface="Times New Roman" panose="02020603050405020304" pitchFamily="18" charset="0"/>
            </a:endParaRPr>
          </a:p>
        </p:txBody>
      </p:sp>
      <p:sp>
        <p:nvSpPr>
          <p:cNvPr id="16470" name="矩形 16469"/>
          <p:cNvSpPr/>
          <p:nvPr/>
        </p:nvSpPr>
        <p:spPr>
          <a:xfrm>
            <a:off x="4571683" y="4940935"/>
            <a:ext cx="360680" cy="521970"/>
          </a:xfrm>
          <a:prstGeom prst="rect">
            <a:avLst/>
          </a:prstGeom>
          <a:noFill/>
          <a:ln w="9525">
            <a:noFill/>
          </a:ln>
        </p:spPr>
        <p:txBody>
          <a:bodyPr wrap="none" anchor="t" anchorCtr="0">
            <a:spAutoFit/>
          </a:bodyPr>
          <a:p>
            <a:r>
              <a:rPr lang="en-US" altLang="zh-CN">
                <a:latin typeface="Times New Roman" panose="02020603050405020304" pitchFamily="18" charset="0"/>
              </a:rPr>
              <a:t>0</a:t>
            </a:r>
            <a:endParaRPr lang="en-US" altLang="zh-CN">
              <a:latin typeface="Times New Roman" panose="02020603050405020304" pitchFamily="18" charset="0"/>
            </a:endParaRPr>
          </a:p>
        </p:txBody>
      </p:sp>
      <p:sp>
        <p:nvSpPr>
          <p:cNvPr id="16471" name="矩形 16470"/>
          <p:cNvSpPr/>
          <p:nvPr/>
        </p:nvSpPr>
        <p:spPr>
          <a:xfrm>
            <a:off x="4238943" y="4940935"/>
            <a:ext cx="360680" cy="521970"/>
          </a:xfrm>
          <a:prstGeom prst="rect">
            <a:avLst/>
          </a:prstGeom>
          <a:noFill/>
          <a:ln w="9525">
            <a:noFill/>
          </a:ln>
        </p:spPr>
        <p:txBody>
          <a:bodyPr wrap="none" anchor="t" anchorCtr="0">
            <a:spAutoFit/>
          </a:bodyPr>
          <a:p>
            <a:r>
              <a:rPr lang="en-US" altLang="zh-CN">
                <a:latin typeface="Times New Roman" panose="02020603050405020304" pitchFamily="18" charset="0"/>
              </a:rPr>
              <a:t>1</a:t>
            </a:r>
            <a:endParaRPr lang="en-US" altLang="zh-CN">
              <a:latin typeface="Times New Roman" panose="02020603050405020304" pitchFamily="18" charset="0"/>
            </a:endParaRPr>
          </a:p>
        </p:txBody>
      </p:sp>
      <p:graphicFrame>
        <p:nvGraphicFramePr>
          <p:cNvPr id="16472" name="对象 16471"/>
          <p:cNvGraphicFramePr/>
          <p:nvPr/>
        </p:nvGraphicFramePr>
        <p:xfrm>
          <a:off x="5292090" y="5777865"/>
          <a:ext cx="1574800" cy="838200"/>
        </p:xfrm>
        <a:graphic>
          <a:graphicData uri="http://schemas.openxmlformats.org/presentationml/2006/ole">
            <mc:AlternateContent xmlns:mc="http://schemas.openxmlformats.org/markup-compatibility/2006">
              <mc:Choice xmlns:v="urn:schemas-microsoft-com:vml" Requires="v">
                <p:oleObj spid="_x0000_s3193" name="" r:id="rId1" imgW="1574800" imgH="838200" progId="Equation.3">
                  <p:embed/>
                </p:oleObj>
              </mc:Choice>
              <mc:Fallback>
                <p:oleObj name="" r:id="rId1" imgW="1574800" imgH="838200" progId="Equation.3">
                  <p:embed/>
                  <p:pic>
                    <p:nvPicPr>
                      <p:cNvPr id="0" name="图片 3192"/>
                      <p:cNvPicPr/>
                      <p:nvPr/>
                    </p:nvPicPr>
                    <p:blipFill>
                      <a:blip r:embed="rId2"/>
                      <a:stretch>
                        <a:fillRect/>
                      </a:stretch>
                    </p:blipFill>
                    <p:spPr>
                      <a:xfrm>
                        <a:off x="5292090" y="5777865"/>
                        <a:ext cx="1574800" cy="838200"/>
                      </a:xfrm>
                      <a:prstGeom prst="rect">
                        <a:avLst/>
                      </a:prstGeom>
                      <a:noFill/>
                      <a:ln w="38100">
                        <a:noFill/>
                        <a:miter/>
                      </a:ln>
                    </p:spPr>
                  </p:pic>
                </p:oleObj>
              </mc:Fallback>
            </mc:AlternateContent>
          </a:graphicData>
        </a:graphic>
      </p:graphicFrame>
      <p:sp>
        <p:nvSpPr>
          <p:cNvPr id="16473" name="矩形 16472"/>
          <p:cNvSpPr/>
          <p:nvPr/>
        </p:nvSpPr>
        <p:spPr>
          <a:xfrm>
            <a:off x="1371600" y="5943600"/>
            <a:ext cx="4021455" cy="521970"/>
          </a:xfrm>
          <a:prstGeom prst="rect">
            <a:avLst/>
          </a:prstGeom>
          <a:noFill/>
          <a:ln w="9525">
            <a:noFill/>
          </a:ln>
        </p:spPr>
        <p:txBody>
          <a:bodyPr wrap="none" anchor="t" anchorCtr="0">
            <a:spAutoFit/>
          </a:bodyPr>
          <a:p>
            <a:pPr algn="l"/>
            <a:r>
              <a:rPr lang="en-US" altLang="zh-CN" i="1">
                <a:latin typeface="仿宋" panose="02010609060101010101" charset="-122"/>
                <a:ea typeface="仿宋" panose="02010609060101010101" charset="-122"/>
                <a:sym typeface="+mn-ea"/>
              </a:rPr>
              <a:t>τ</a:t>
            </a:r>
            <a:r>
              <a:rPr lang="en-US" altLang="zh-CN">
                <a:latin typeface="Times New Roman" panose="02020603050405020304" pitchFamily="18" charset="0"/>
              </a:rPr>
              <a:t>= </a:t>
            </a:r>
            <a:r>
              <a:rPr lang="en-US" altLang="zh-CN">
                <a:sym typeface="+mn-ea"/>
              </a:rPr>
              <a:t>(</a:t>
            </a:r>
            <a:r>
              <a:rPr lang="en-US" altLang="zh-CN" i="1">
                <a:sym typeface="+mn-ea"/>
              </a:rPr>
              <a:t>n</a:t>
            </a:r>
            <a:r>
              <a:rPr lang="en-US" altLang="zh-CN">
                <a:sym typeface="+mn-ea"/>
              </a:rPr>
              <a:t>–1)+(</a:t>
            </a:r>
            <a:r>
              <a:rPr lang="en-US" altLang="zh-CN" i="1">
                <a:sym typeface="+mn-ea"/>
              </a:rPr>
              <a:t>n</a:t>
            </a:r>
            <a:r>
              <a:rPr lang="en-US" altLang="zh-CN">
                <a:sym typeface="+mn-ea"/>
              </a:rPr>
              <a:t>–2)+ </a:t>
            </a:r>
            <a:r>
              <a:rPr lang="en-US" altLang="zh-CN">
                <a:sym typeface="Symbol" panose="05050102010706020507" pitchFamily="18" charset="2"/>
              </a:rPr>
              <a:t>···</a:t>
            </a:r>
            <a:r>
              <a:rPr lang="en-US" altLang="zh-CN">
                <a:sym typeface="+mn-ea"/>
              </a:rPr>
              <a:t>+1+</a:t>
            </a:r>
            <a:r>
              <a:rPr lang="en-US" altLang="zh-CN">
                <a:latin typeface="Times New Roman" panose="02020603050405020304" pitchFamily="18" charset="0"/>
              </a:rPr>
              <a:t>0</a:t>
            </a:r>
            <a:endParaRPr lang="en-US" altLang="zh-CN">
              <a:latin typeface="Times New Roman" panose="02020603050405020304" pitchFamily="18" charset="0"/>
            </a:endParaRPr>
          </a:p>
        </p:txBody>
      </p:sp>
      <p:sp>
        <p:nvSpPr>
          <p:cNvPr id="16474" name="矩形 16473"/>
          <p:cNvSpPr/>
          <p:nvPr/>
        </p:nvSpPr>
        <p:spPr>
          <a:xfrm>
            <a:off x="358775" y="5334000"/>
            <a:ext cx="6100763" cy="519113"/>
          </a:xfrm>
          <a:prstGeom prst="rect">
            <a:avLst/>
          </a:prstGeom>
          <a:noFill/>
          <a:ln w="9525">
            <a:noFill/>
          </a:ln>
        </p:spPr>
        <p:txBody>
          <a:bodyPr wrap="none" anchor="t" anchorCtr="0">
            <a:spAutoFit/>
          </a:bodyPr>
          <a:p>
            <a:r>
              <a:rPr lang="zh-CN" altLang="en-US" dirty="0">
                <a:latin typeface="Times New Roman" panose="02020603050405020304" pitchFamily="18" charset="0"/>
              </a:rPr>
              <a:t>于是排列</a:t>
            </a:r>
            <a:r>
              <a:rPr lang="en-US" altLang="zh-CN" i="1">
                <a:latin typeface="Times New Roman" panose="02020603050405020304" pitchFamily="18" charset="0"/>
              </a:rPr>
              <a:t>n</a:t>
            </a:r>
            <a:r>
              <a:rPr lang="en-US" altLang="zh-CN">
                <a:latin typeface="Times New Roman" panose="02020603050405020304" pitchFamily="18" charset="0"/>
              </a:rPr>
              <a:t>(</a:t>
            </a:r>
            <a:r>
              <a:rPr lang="en-US" altLang="zh-CN" i="1">
                <a:latin typeface="Times New Roman" panose="02020603050405020304" pitchFamily="18" charset="0"/>
              </a:rPr>
              <a:t>n</a:t>
            </a:r>
            <a:r>
              <a:rPr lang="en-US" altLang="zh-CN">
                <a:latin typeface="Times New Roman" panose="02020603050405020304" pitchFamily="18" charset="0"/>
              </a:rPr>
              <a:t>–1)(</a:t>
            </a:r>
            <a:r>
              <a:rPr lang="en-US" altLang="zh-CN" i="1">
                <a:latin typeface="Times New Roman" panose="02020603050405020304" pitchFamily="18" charset="0"/>
              </a:rPr>
              <a:t>n</a:t>
            </a:r>
            <a:r>
              <a:rPr lang="en-US" altLang="zh-CN">
                <a:latin typeface="Times New Roman" panose="02020603050405020304" pitchFamily="18" charset="0"/>
              </a:rPr>
              <a:t>–2)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21</a:t>
            </a:r>
            <a:r>
              <a:rPr lang="zh-CN" altLang="en-US" dirty="0">
                <a:latin typeface="Times New Roman" panose="02020603050405020304" pitchFamily="18" charset="0"/>
              </a:rPr>
              <a:t>的逆序数为</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6475" name="直接连接符 16474"/>
          <p:cNvSpPr/>
          <p:nvPr/>
        </p:nvSpPr>
        <p:spPr>
          <a:xfrm>
            <a:off x="4402138" y="1682750"/>
            <a:ext cx="0" cy="304800"/>
          </a:xfrm>
          <a:prstGeom prst="line">
            <a:avLst/>
          </a:prstGeom>
          <a:ln w="28575" cap="flat" cmpd="sng">
            <a:solidFill>
              <a:srgbClr val="FF3300"/>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6435">
                                            <p:txEl>
                                              <p:charRg st="0" end="25"/>
                                            </p:txEl>
                                          </p:spTgt>
                                        </p:tgtEl>
                                        <p:attrNameLst>
                                          <p:attrName>style.visibility</p:attrName>
                                        </p:attrNameLst>
                                      </p:cBhvr>
                                      <p:to>
                                        <p:strVal val="visible"/>
                                      </p:to>
                                    </p:set>
                                    <p:animEffect transition="in" filter="box(out)">
                                      <p:cBhvr>
                                        <p:cTn id="7" dur="500"/>
                                        <p:tgtEl>
                                          <p:spTgt spid="16435">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6436">
                                            <p:txEl>
                                              <p:charRg st="0" end="16"/>
                                            </p:txEl>
                                          </p:spTgt>
                                        </p:tgtEl>
                                        <p:attrNameLst>
                                          <p:attrName>style.visibility</p:attrName>
                                        </p:attrNameLst>
                                      </p:cBhvr>
                                      <p:to>
                                        <p:strVal val="visible"/>
                                      </p:to>
                                    </p:set>
                                    <p:animEffect transition="in" filter="box(out)">
                                      <p:cBhvr>
                                        <p:cTn id="12" dur="500"/>
                                        <p:tgtEl>
                                          <p:spTgt spid="16436">
                                            <p:txEl>
                                              <p:charRg st="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6388">
                                            <p:txEl>
                                              <p:charRg st="0" end="3"/>
                                            </p:txEl>
                                          </p:spTgt>
                                        </p:tgtEl>
                                        <p:attrNameLst>
                                          <p:attrName>style.visibility</p:attrName>
                                        </p:attrNameLst>
                                      </p:cBhvr>
                                      <p:to>
                                        <p:strVal val="visible"/>
                                      </p:to>
                                    </p:set>
                                    <p:animEffect transition="in" filter="box(out)">
                                      <p:cBhvr>
                                        <p:cTn id="17" dur="500"/>
                                        <p:tgtEl>
                                          <p:spTgt spid="16388">
                                            <p:txEl>
                                              <p:charRg st="0" end="3"/>
                                            </p:txEl>
                                          </p:spTgt>
                                        </p:tgtEl>
                                      </p:cBhvr>
                                    </p:animEffect>
                                  </p:childTnLst>
                                </p:cTn>
                              </p:par>
                            </p:childTnLst>
                          </p:cTn>
                        </p:par>
                        <p:par>
                          <p:cTn id="18" fill="hold">
                            <p:stCondLst>
                              <p:cond delay="500"/>
                            </p:stCondLst>
                            <p:childTnLst>
                              <p:par>
                                <p:cTn id="19" presetID="4" presetClass="entr" presetSubtype="32" fill="hold" grpId="0" nodeType="afterEffect">
                                  <p:stCondLst>
                                    <p:cond delay="0"/>
                                  </p:stCondLst>
                                  <p:childTnLst>
                                    <p:set>
                                      <p:cBhvr>
                                        <p:cTn id="20" dur="1" fill="hold">
                                          <p:stCondLst>
                                            <p:cond delay="0"/>
                                          </p:stCondLst>
                                        </p:cTn>
                                        <p:tgtEl>
                                          <p:spTgt spid="16437">
                                            <p:txEl>
                                              <p:charRg st="0" end="18"/>
                                            </p:txEl>
                                          </p:spTgt>
                                        </p:tgtEl>
                                        <p:attrNameLst>
                                          <p:attrName>style.visibility</p:attrName>
                                        </p:attrNameLst>
                                      </p:cBhvr>
                                      <p:to>
                                        <p:strVal val="visible"/>
                                      </p:to>
                                    </p:set>
                                    <p:animEffect transition="in" filter="box(out)">
                                      <p:cBhvr>
                                        <p:cTn id="21" dur="500"/>
                                        <p:tgtEl>
                                          <p:spTgt spid="16437">
                                            <p:txEl>
                                              <p:charRg st="0" end="1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16438"/>
                                        </p:tgtEl>
                                        <p:attrNameLst>
                                          <p:attrName>style.visibility</p:attrName>
                                        </p:attrNameLst>
                                      </p:cBhvr>
                                      <p:to>
                                        <p:strVal val="visible"/>
                                      </p:to>
                                    </p:set>
                                    <p:animEffect transition="in" filter="box(out)">
                                      <p:cBhvr>
                                        <p:cTn id="26" dur="500"/>
                                        <p:tgtEl>
                                          <p:spTgt spid="16438"/>
                                        </p:tgtEl>
                                      </p:cBhvr>
                                    </p:animEffect>
                                  </p:childTnLst>
                                </p:cTn>
                              </p:par>
                            </p:childTnLst>
                          </p:cTn>
                        </p:par>
                        <p:par>
                          <p:cTn id="27" fill="hold">
                            <p:stCondLst>
                              <p:cond delay="500"/>
                            </p:stCondLst>
                            <p:childTnLst>
                              <p:par>
                                <p:cTn id="28" presetID="4" presetClass="entr" presetSubtype="32" fill="hold" grpId="0" nodeType="afterEffect">
                                  <p:stCondLst>
                                    <p:cond delay="0"/>
                                  </p:stCondLst>
                                  <p:childTnLst>
                                    <p:set>
                                      <p:cBhvr>
                                        <p:cTn id="29" dur="1" fill="hold">
                                          <p:stCondLst>
                                            <p:cond delay="0"/>
                                          </p:stCondLst>
                                        </p:cTn>
                                        <p:tgtEl>
                                          <p:spTgt spid="16447">
                                            <p:txEl>
                                              <p:charRg st="0" end="2"/>
                                            </p:txEl>
                                          </p:spTgt>
                                        </p:tgtEl>
                                        <p:attrNameLst>
                                          <p:attrName>style.visibility</p:attrName>
                                        </p:attrNameLst>
                                      </p:cBhvr>
                                      <p:to>
                                        <p:strVal val="visible"/>
                                      </p:to>
                                    </p:set>
                                    <p:animEffect transition="in" filter="box(out)">
                                      <p:cBhvr>
                                        <p:cTn id="30" dur="500"/>
                                        <p:tgtEl>
                                          <p:spTgt spid="16447">
                                            <p:txEl>
                                              <p:charRg st="0"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6439"/>
                                        </p:tgtEl>
                                        <p:attrNameLst>
                                          <p:attrName>style.visibility</p:attrName>
                                        </p:attrNameLst>
                                      </p:cBhvr>
                                      <p:to>
                                        <p:strVal val="visible"/>
                                      </p:to>
                                    </p:set>
                                    <p:animEffect transition="in" filter="box(out)">
                                      <p:cBhvr>
                                        <p:cTn id="35" dur="500"/>
                                        <p:tgtEl>
                                          <p:spTgt spid="16439"/>
                                        </p:tgtEl>
                                      </p:cBhvr>
                                    </p:animEffect>
                                  </p:childTnLst>
                                </p:cTn>
                              </p:par>
                            </p:childTnLst>
                          </p:cTn>
                        </p:par>
                        <p:par>
                          <p:cTn id="36" fill="hold">
                            <p:stCondLst>
                              <p:cond delay="500"/>
                            </p:stCondLst>
                            <p:childTnLst>
                              <p:par>
                                <p:cTn id="37" presetID="4" presetClass="entr" presetSubtype="32" fill="hold" grpId="0" nodeType="afterEffect">
                                  <p:stCondLst>
                                    <p:cond delay="0"/>
                                  </p:stCondLst>
                                  <p:childTnLst>
                                    <p:set>
                                      <p:cBhvr>
                                        <p:cTn id="38" dur="1" fill="hold">
                                          <p:stCondLst>
                                            <p:cond delay="0"/>
                                          </p:stCondLst>
                                        </p:cTn>
                                        <p:tgtEl>
                                          <p:spTgt spid="16448">
                                            <p:txEl>
                                              <p:charRg st="0" end="2"/>
                                            </p:txEl>
                                          </p:spTgt>
                                        </p:tgtEl>
                                        <p:attrNameLst>
                                          <p:attrName>style.visibility</p:attrName>
                                        </p:attrNameLst>
                                      </p:cBhvr>
                                      <p:to>
                                        <p:strVal val="visible"/>
                                      </p:to>
                                    </p:set>
                                    <p:animEffect transition="in" filter="box(out)">
                                      <p:cBhvr>
                                        <p:cTn id="39" dur="500"/>
                                        <p:tgtEl>
                                          <p:spTgt spid="16448">
                                            <p:txEl>
                                              <p:charRg st="0"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nodeType="clickEffect">
                                  <p:stCondLst>
                                    <p:cond delay="0"/>
                                  </p:stCondLst>
                                  <p:childTnLst>
                                    <p:set>
                                      <p:cBhvr>
                                        <p:cTn id="43" dur="1" fill="hold">
                                          <p:stCondLst>
                                            <p:cond delay="0"/>
                                          </p:stCondLst>
                                        </p:cTn>
                                        <p:tgtEl>
                                          <p:spTgt spid="16440"/>
                                        </p:tgtEl>
                                        <p:attrNameLst>
                                          <p:attrName>style.visibility</p:attrName>
                                        </p:attrNameLst>
                                      </p:cBhvr>
                                      <p:to>
                                        <p:strVal val="visible"/>
                                      </p:to>
                                    </p:set>
                                    <p:animEffect transition="in" filter="box(out)">
                                      <p:cBhvr>
                                        <p:cTn id="44" dur="500"/>
                                        <p:tgtEl>
                                          <p:spTgt spid="16440"/>
                                        </p:tgtEl>
                                      </p:cBhvr>
                                    </p:animEffect>
                                  </p:childTnLst>
                                </p:cTn>
                              </p:par>
                            </p:childTnLst>
                          </p:cTn>
                        </p:par>
                        <p:par>
                          <p:cTn id="45" fill="hold">
                            <p:stCondLst>
                              <p:cond delay="500"/>
                            </p:stCondLst>
                            <p:childTnLst>
                              <p:par>
                                <p:cTn id="46" presetID="4" presetClass="entr" presetSubtype="32" fill="hold" grpId="0" nodeType="afterEffect">
                                  <p:stCondLst>
                                    <p:cond delay="0"/>
                                  </p:stCondLst>
                                  <p:childTnLst>
                                    <p:set>
                                      <p:cBhvr>
                                        <p:cTn id="47" dur="1" fill="hold">
                                          <p:stCondLst>
                                            <p:cond delay="0"/>
                                          </p:stCondLst>
                                        </p:cTn>
                                        <p:tgtEl>
                                          <p:spTgt spid="16449">
                                            <p:txEl>
                                              <p:charRg st="0" end="2"/>
                                            </p:txEl>
                                          </p:spTgt>
                                        </p:tgtEl>
                                        <p:attrNameLst>
                                          <p:attrName>style.visibility</p:attrName>
                                        </p:attrNameLst>
                                      </p:cBhvr>
                                      <p:to>
                                        <p:strVal val="visible"/>
                                      </p:to>
                                    </p:set>
                                    <p:animEffect transition="in" filter="box(out)">
                                      <p:cBhvr>
                                        <p:cTn id="48" dur="500"/>
                                        <p:tgtEl>
                                          <p:spTgt spid="16449">
                                            <p:txEl>
                                              <p:charRg st="0"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32" fill="hold" nodeType="clickEffect">
                                  <p:stCondLst>
                                    <p:cond delay="0"/>
                                  </p:stCondLst>
                                  <p:childTnLst>
                                    <p:set>
                                      <p:cBhvr>
                                        <p:cTn id="52" dur="1" fill="hold">
                                          <p:stCondLst>
                                            <p:cond delay="0"/>
                                          </p:stCondLst>
                                        </p:cTn>
                                        <p:tgtEl>
                                          <p:spTgt spid="16441"/>
                                        </p:tgtEl>
                                        <p:attrNameLst>
                                          <p:attrName>style.visibility</p:attrName>
                                        </p:attrNameLst>
                                      </p:cBhvr>
                                      <p:to>
                                        <p:strVal val="visible"/>
                                      </p:to>
                                    </p:set>
                                    <p:animEffect transition="in" filter="box(out)">
                                      <p:cBhvr>
                                        <p:cTn id="53" dur="500"/>
                                        <p:tgtEl>
                                          <p:spTgt spid="16441"/>
                                        </p:tgtEl>
                                      </p:cBhvr>
                                    </p:animEffect>
                                  </p:childTnLst>
                                </p:cTn>
                              </p:par>
                            </p:childTnLst>
                          </p:cTn>
                        </p:par>
                        <p:par>
                          <p:cTn id="54" fill="hold">
                            <p:stCondLst>
                              <p:cond delay="500"/>
                            </p:stCondLst>
                            <p:childTnLst>
                              <p:par>
                                <p:cTn id="55" presetID="4" presetClass="entr" presetSubtype="32" fill="hold" grpId="0" nodeType="afterEffect">
                                  <p:stCondLst>
                                    <p:cond delay="0"/>
                                  </p:stCondLst>
                                  <p:childTnLst>
                                    <p:set>
                                      <p:cBhvr>
                                        <p:cTn id="56" dur="1" fill="hold">
                                          <p:stCondLst>
                                            <p:cond delay="0"/>
                                          </p:stCondLst>
                                        </p:cTn>
                                        <p:tgtEl>
                                          <p:spTgt spid="16450">
                                            <p:txEl>
                                              <p:charRg st="0" end="2"/>
                                            </p:txEl>
                                          </p:spTgt>
                                        </p:tgtEl>
                                        <p:attrNameLst>
                                          <p:attrName>style.visibility</p:attrName>
                                        </p:attrNameLst>
                                      </p:cBhvr>
                                      <p:to>
                                        <p:strVal val="visible"/>
                                      </p:to>
                                    </p:set>
                                    <p:animEffect transition="in" filter="box(out)">
                                      <p:cBhvr>
                                        <p:cTn id="57" dur="500"/>
                                        <p:tgtEl>
                                          <p:spTgt spid="16450">
                                            <p:txEl>
                                              <p:charRg st="0"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16442"/>
                                        </p:tgtEl>
                                        <p:attrNameLst>
                                          <p:attrName>style.visibility</p:attrName>
                                        </p:attrNameLst>
                                      </p:cBhvr>
                                      <p:to>
                                        <p:strVal val="visible"/>
                                      </p:to>
                                    </p:set>
                                    <p:animEffect transition="in" filter="box(out)">
                                      <p:cBhvr>
                                        <p:cTn id="62" dur="500"/>
                                        <p:tgtEl>
                                          <p:spTgt spid="16442"/>
                                        </p:tgtEl>
                                      </p:cBhvr>
                                    </p:animEffect>
                                  </p:childTnLst>
                                </p:cTn>
                              </p:par>
                            </p:childTnLst>
                          </p:cTn>
                        </p:par>
                        <p:par>
                          <p:cTn id="63" fill="hold">
                            <p:stCondLst>
                              <p:cond delay="500"/>
                            </p:stCondLst>
                            <p:childTnLst>
                              <p:par>
                                <p:cTn id="64" presetID="4" presetClass="entr" presetSubtype="32" fill="hold" grpId="0" nodeType="afterEffect">
                                  <p:stCondLst>
                                    <p:cond delay="0"/>
                                  </p:stCondLst>
                                  <p:childTnLst>
                                    <p:set>
                                      <p:cBhvr>
                                        <p:cTn id="65" dur="1" fill="hold">
                                          <p:stCondLst>
                                            <p:cond delay="0"/>
                                          </p:stCondLst>
                                        </p:cTn>
                                        <p:tgtEl>
                                          <p:spTgt spid="16451">
                                            <p:txEl>
                                              <p:charRg st="0" end="2"/>
                                            </p:txEl>
                                          </p:spTgt>
                                        </p:tgtEl>
                                        <p:attrNameLst>
                                          <p:attrName>style.visibility</p:attrName>
                                        </p:attrNameLst>
                                      </p:cBhvr>
                                      <p:to>
                                        <p:strVal val="visible"/>
                                      </p:to>
                                    </p:set>
                                    <p:animEffect transition="in" filter="box(out)">
                                      <p:cBhvr>
                                        <p:cTn id="66" dur="500"/>
                                        <p:tgtEl>
                                          <p:spTgt spid="16451">
                                            <p:txEl>
                                              <p:charRg st="0" end="2"/>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32" fill="hold" nodeType="clickEffect">
                                  <p:stCondLst>
                                    <p:cond delay="0"/>
                                  </p:stCondLst>
                                  <p:childTnLst>
                                    <p:set>
                                      <p:cBhvr>
                                        <p:cTn id="70" dur="1" fill="hold">
                                          <p:stCondLst>
                                            <p:cond delay="0"/>
                                          </p:stCondLst>
                                        </p:cTn>
                                        <p:tgtEl>
                                          <p:spTgt spid="16443"/>
                                        </p:tgtEl>
                                        <p:attrNameLst>
                                          <p:attrName>style.visibility</p:attrName>
                                        </p:attrNameLst>
                                      </p:cBhvr>
                                      <p:to>
                                        <p:strVal val="visible"/>
                                      </p:to>
                                    </p:set>
                                    <p:animEffect transition="in" filter="box(out)">
                                      <p:cBhvr>
                                        <p:cTn id="71" dur="500"/>
                                        <p:tgtEl>
                                          <p:spTgt spid="16443"/>
                                        </p:tgtEl>
                                      </p:cBhvr>
                                    </p:animEffect>
                                  </p:childTnLst>
                                </p:cTn>
                              </p:par>
                            </p:childTnLst>
                          </p:cTn>
                        </p:par>
                        <p:par>
                          <p:cTn id="72" fill="hold">
                            <p:stCondLst>
                              <p:cond delay="500"/>
                            </p:stCondLst>
                            <p:childTnLst>
                              <p:par>
                                <p:cTn id="73" presetID="4" presetClass="entr" presetSubtype="32" fill="hold" grpId="0" nodeType="afterEffect">
                                  <p:stCondLst>
                                    <p:cond delay="0"/>
                                  </p:stCondLst>
                                  <p:childTnLst>
                                    <p:set>
                                      <p:cBhvr>
                                        <p:cTn id="74" dur="1" fill="hold">
                                          <p:stCondLst>
                                            <p:cond delay="0"/>
                                          </p:stCondLst>
                                        </p:cTn>
                                        <p:tgtEl>
                                          <p:spTgt spid="16452">
                                            <p:txEl>
                                              <p:charRg st="0" end="2"/>
                                            </p:txEl>
                                          </p:spTgt>
                                        </p:tgtEl>
                                        <p:attrNameLst>
                                          <p:attrName>style.visibility</p:attrName>
                                        </p:attrNameLst>
                                      </p:cBhvr>
                                      <p:to>
                                        <p:strVal val="visible"/>
                                      </p:to>
                                    </p:set>
                                    <p:animEffect transition="in" filter="box(out)">
                                      <p:cBhvr>
                                        <p:cTn id="75" dur="500"/>
                                        <p:tgtEl>
                                          <p:spTgt spid="16452">
                                            <p:txEl>
                                              <p:charRg st="0" end="2"/>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4" presetClass="entr" presetSubtype="32" fill="hold" nodeType="clickEffect">
                                  <p:stCondLst>
                                    <p:cond delay="0"/>
                                  </p:stCondLst>
                                  <p:childTnLst>
                                    <p:set>
                                      <p:cBhvr>
                                        <p:cTn id="79" dur="1" fill="hold">
                                          <p:stCondLst>
                                            <p:cond delay="0"/>
                                          </p:stCondLst>
                                        </p:cTn>
                                        <p:tgtEl>
                                          <p:spTgt spid="16444"/>
                                        </p:tgtEl>
                                        <p:attrNameLst>
                                          <p:attrName>style.visibility</p:attrName>
                                        </p:attrNameLst>
                                      </p:cBhvr>
                                      <p:to>
                                        <p:strVal val="visible"/>
                                      </p:to>
                                    </p:set>
                                    <p:animEffect transition="in" filter="box(out)">
                                      <p:cBhvr>
                                        <p:cTn id="80" dur="500"/>
                                        <p:tgtEl>
                                          <p:spTgt spid="16444"/>
                                        </p:tgtEl>
                                      </p:cBhvr>
                                    </p:animEffect>
                                  </p:childTnLst>
                                </p:cTn>
                              </p:par>
                            </p:childTnLst>
                          </p:cTn>
                        </p:par>
                        <p:par>
                          <p:cTn id="81" fill="hold">
                            <p:stCondLst>
                              <p:cond delay="500"/>
                            </p:stCondLst>
                            <p:childTnLst>
                              <p:par>
                                <p:cTn id="82" presetID="4" presetClass="entr" presetSubtype="32" fill="hold" grpId="0" nodeType="afterEffect">
                                  <p:stCondLst>
                                    <p:cond delay="0"/>
                                  </p:stCondLst>
                                  <p:childTnLst>
                                    <p:set>
                                      <p:cBhvr>
                                        <p:cTn id="83" dur="1" fill="hold">
                                          <p:stCondLst>
                                            <p:cond delay="0"/>
                                          </p:stCondLst>
                                        </p:cTn>
                                        <p:tgtEl>
                                          <p:spTgt spid="16453">
                                            <p:txEl>
                                              <p:charRg st="0" end="2"/>
                                            </p:txEl>
                                          </p:spTgt>
                                        </p:tgtEl>
                                        <p:attrNameLst>
                                          <p:attrName>style.visibility</p:attrName>
                                        </p:attrNameLst>
                                      </p:cBhvr>
                                      <p:to>
                                        <p:strVal val="visible"/>
                                      </p:to>
                                    </p:set>
                                    <p:animEffect transition="in" filter="box(out)">
                                      <p:cBhvr>
                                        <p:cTn id="84" dur="500"/>
                                        <p:tgtEl>
                                          <p:spTgt spid="16453">
                                            <p:txEl>
                                              <p:charRg st="0" end="2"/>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4" presetClass="entr" presetSubtype="32" fill="hold" nodeType="clickEffect">
                                  <p:stCondLst>
                                    <p:cond delay="0"/>
                                  </p:stCondLst>
                                  <p:childTnLst>
                                    <p:set>
                                      <p:cBhvr>
                                        <p:cTn id="88" dur="1" fill="hold">
                                          <p:stCondLst>
                                            <p:cond delay="0"/>
                                          </p:stCondLst>
                                        </p:cTn>
                                        <p:tgtEl>
                                          <p:spTgt spid="16445"/>
                                        </p:tgtEl>
                                        <p:attrNameLst>
                                          <p:attrName>style.visibility</p:attrName>
                                        </p:attrNameLst>
                                      </p:cBhvr>
                                      <p:to>
                                        <p:strVal val="visible"/>
                                      </p:to>
                                    </p:set>
                                    <p:animEffect transition="in" filter="box(out)">
                                      <p:cBhvr>
                                        <p:cTn id="89" dur="500"/>
                                        <p:tgtEl>
                                          <p:spTgt spid="16445"/>
                                        </p:tgtEl>
                                      </p:cBhvr>
                                    </p:animEffect>
                                  </p:childTnLst>
                                </p:cTn>
                              </p:par>
                            </p:childTnLst>
                          </p:cTn>
                        </p:par>
                        <p:par>
                          <p:cTn id="90" fill="hold">
                            <p:stCondLst>
                              <p:cond delay="500"/>
                            </p:stCondLst>
                            <p:childTnLst>
                              <p:par>
                                <p:cTn id="91" presetID="4" presetClass="entr" presetSubtype="32" fill="hold" grpId="0" nodeType="afterEffect">
                                  <p:stCondLst>
                                    <p:cond delay="0"/>
                                  </p:stCondLst>
                                  <p:childTnLst>
                                    <p:set>
                                      <p:cBhvr>
                                        <p:cTn id="92" dur="1" fill="hold">
                                          <p:stCondLst>
                                            <p:cond delay="0"/>
                                          </p:stCondLst>
                                        </p:cTn>
                                        <p:tgtEl>
                                          <p:spTgt spid="16454">
                                            <p:txEl>
                                              <p:charRg st="0" end="2"/>
                                            </p:txEl>
                                          </p:spTgt>
                                        </p:tgtEl>
                                        <p:attrNameLst>
                                          <p:attrName>style.visibility</p:attrName>
                                        </p:attrNameLst>
                                      </p:cBhvr>
                                      <p:to>
                                        <p:strVal val="visible"/>
                                      </p:to>
                                    </p:set>
                                    <p:animEffect transition="in" filter="box(out)">
                                      <p:cBhvr>
                                        <p:cTn id="93" dur="500"/>
                                        <p:tgtEl>
                                          <p:spTgt spid="16454">
                                            <p:txEl>
                                              <p:charRg st="0" end="2"/>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4" presetClass="entr" presetSubtype="32" fill="hold" nodeType="clickEffect">
                                  <p:stCondLst>
                                    <p:cond delay="0"/>
                                  </p:stCondLst>
                                  <p:childTnLst>
                                    <p:set>
                                      <p:cBhvr>
                                        <p:cTn id="97" dur="1" fill="hold">
                                          <p:stCondLst>
                                            <p:cond delay="0"/>
                                          </p:stCondLst>
                                        </p:cTn>
                                        <p:tgtEl>
                                          <p:spTgt spid="16475"/>
                                        </p:tgtEl>
                                        <p:attrNameLst>
                                          <p:attrName>style.visibility</p:attrName>
                                        </p:attrNameLst>
                                      </p:cBhvr>
                                      <p:to>
                                        <p:strVal val="visible"/>
                                      </p:to>
                                    </p:set>
                                    <p:animEffect transition="in" filter="box(out)">
                                      <p:cBhvr>
                                        <p:cTn id="98" dur="500"/>
                                        <p:tgtEl>
                                          <p:spTgt spid="16475"/>
                                        </p:tgtEl>
                                      </p:cBhvr>
                                    </p:animEffect>
                                  </p:childTnLst>
                                </p:cTn>
                              </p:par>
                            </p:childTnLst>
                          </p:cTn>
                        </p:par>
                        <p:par>
                          <p:cTn id="99" fill="hold">
                            <p:stCondLst>
                              <p:cond delay="500"/>
                            </p:stCondLst>
                            <p:childTnLst>
                              <p:par>
                                <p:cTn id="100" presetID="4" presetClass="entr" presetSubtype="32" fill="hold" grpId="0" nodeType="afterEffect">
                                  <p:stCondLst>
                                    <p:cond delay="0"/>
                                  </p:stCondLst>
                                  <p:childTnLst>
                                    <p:set>
                                      <p:cBhvr>
                                        <p:cTn id="101" dur="1" fill="hold">
                                          <p:stCondLst>
                                            <p:cond delay="0"/>
                                          </p:stCondLst>
                                        </p:cTn>
                                        <p:tgtEl>
                                          <p:spTgt spid="16455">
                                            <p:txEl>
                                              <p:charRg st="0" end="2"/>
                                            </p:txEl>
                                          </p:spTgt>
                                        </p:tgtEl>
                                        <p:attrNameLst>
                                          <p:attrName>style.visibility</p:attrName>
                                        </p:attrNameLst>
                                      </p:cBhvr>
                                      <p:to>
                                        <p:strVal val="visible"/>
                                      </p:to>
                                    </p:set>
                                    <p:animEffect transition="in" filter="box(out)">
                                      <p:cBhvr>
                                        <p:cTn id="102" dur="500"/>
                                        <p:tgtEl>
                                          <p:spTgt spid="16455">
                                            <p:txEl>
                                              <p:charRg st="0" end="2"/>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4" presetClass="entr" presetSubtype="32" fill="hold" grpId="0" nodeType="clickEffect">
                                  <p:stCondLst>
                                    <p:cond delay="0"/>
                                  </p:stCondLst>
                                  <p:childTnLst>
                                    <p:set>
                                      <p:cBhvr>
                                        <p:cTn id="106" dur="1" fill="hold">
                                          <p:stCondLst>
                                            <p:cond delay="0"/>
                                          </p:stCondLst>
                                        </p:cTn>
                                        <p:tgtEl>
                                          <p:spTgt spid="16457">
                                            <p:txEl>
                                              <p:charRg st="0" end="20"/>
                                            </p:txEl>
                                          </p:spTgt>
                                        </p:tgtEl>
                                        <p:attrNameLst>
                                          <p:attrName>style.visibility</p:attrName>
                                        </p:attrNameLst>
                                      </p:cBhvr>
                                      <p:to>
                                        <p:strVal val="visible"/>
                                      </p:to>
                                    </p:set>
                                    <p:animEffect transition="in" filter="box(out)">
                                      <p:cBhvr>
                                        <p:cTn id="107" dur="500"/>
                                        <p:tgtEl>
                                          <p:spTgt spid="16457">
                                            <p:txEl>
                                              <p:charRg st="0" end="20"/>
                                            </p:txEl>
                                          </p:spTgt>
                                        </p:tgtEl>
                                      </p:cBhvr>
                                    </p:animEffect>
                                  </p:childTnLst>
                                </p:cTn>
                              </p:par>
                            </p:childTnLst>
                          </p:cTn>
                        </p:par>
                        <p:par>
                          <p:cTn id="108" fill="hold">
                            <p:stCondLst>
                              <p:cond delay="500"/>
                            </p:stCondLst>
                            <p:childTnLst>
                              <p:par>
                                <p:cTn id="109" presetID="4" presetClass="entr" presetSubtype="32" fill="hold" grpId="0" nodeType="afterEffect">
                                  <p:stCondLst>
                                    <p:cond delay="0"/>
                                  </p:stCondLst>
                                  <p:childTnLst>
                                    <p:set>
                                      <p:cBhvr>
                                        <p:cTn id="110" dur="1" fill="hold">
                                          <p:stCondLst>
                                            <p:cond delay="0"/>
                                          </p:stCondLst>
                                        </p:cTn>
                                        <p:tgtEl>
                                          <p:spTgt spid="16458">
                                            <p:txEl>
                                              <p:charRg st="0" end="28"/>
                                            </p:txEl>
                                          </p:spTgt>
                                        </p:tgtEl>
                                        <p:attrNameLst>
                                          <p:attrName>style.visibility</p:attrName>
                                        </p:attrNameLst>
                                      </p:cBhvr>
                                      <p:to>
                                        <p:strVal val="visible"/>
                                      </p:to>
                                    </p:set>
                                    <p:animEffect transition="in" filter="box(out)">
                                      <p:cBhvr>
                                        <p:cTn id="111" dur="500"/>
                                        <p:tgtEl>
                                          <p:spTgt spid="16458">
                                            <p:txEl>
                                              <p:charRg st="0" end="28"/>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4" presetClass="entr" presetSubtype="32" fill="hold" grpId="0" nodeType="clickEffect">
                                  <p:stCondLst>
                                    <p:cond delay="0"/>
                                  </p:stCondLst>
                                  <p:childTnLst>
                                    <p:set>
                                      <p:cBhvr>
                                        <p:cTn id="115" dur="1" fill="hold">
                                          <p:stCondLst>
                                            <p:cond delay="0"/>
                                          </p:stCondLst>
                                        </p:cTn>
                                        <p:tgtEl>
                                          <p:spTgt spid="16420">
                                            <p:txEl>
                                              <p:charRg st="0" end="9"/>
                                            </p:txEl>
                                          </p:spTgt>
                                        </p:tgtEl>
                                        <p:attrNameLst>
                                          <p:attrName>style.visibility</p:attrName>
                                        </p:attrNameLst>
                                      </p:cBhvr>
                                      <p:to>
                                        <p:strVal val="visible"/>
                                      </p:to>
                                    </p:set>
                                    <p:animEffect transition="in" filter="box(out)">
                                      <p:cBhvr>
                                        <p:cTn id="116" dur="500"/>
                                        <p:tgtEl>
                                          <p:spTgt spid="16420">
                                            <p:txEl>
                                              <p:charRg st="0" end="9"/>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4" presetClass="entr" presetSubtype="32" fill="hold" grpId="0" nodeType="clickEffect">
                                  <p:stCondLst>
                                    <p:cond delay="0"/>
                                  </p:stCondLst>
                                  <p:childTnLst>
                                    <p:set>
                                      <p:cBhvr>
                                        <p:cTn id="120" dur="1" fill="hold">
                                          <p:stCondLst>
                                            <p:cond delay="0"/>
                                          </p:stCondLst>
                                        </p:cTn>
                                        <p:tgtEl>
                                          <p:spTgt spid="16459">
                                            <p:txEl>
                                              <p:charRg st="0" end="24"/>
                                            </p:txEl>
                                          </p:spTgt>
                                        </p:tgtEl>
                                        <p:attrNameLst>
                                          <p:attrName>style.visibility</p:attrName>
                                        </p:attrNameLst>
                                      </p:cBhvr>
                                      <p:to>
                                        <p:strVal val="visible"/>
                                      </p:to>
                                    </p:set>
                                    <p:animEffect transition="in" filter="box(out)">
                                      <p:cBhvr>
                                        <p:cTn id="121" dur="500"/>
                                        <p:tgtEl>
                                          <p:spTgt spid="16459">
                                            <p:txEl>
                                              <p:charRg st="0" end="24"/>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4" presetClass="entr" presetSubtype="32" fill="hold" grpId="0" nodeType="clickEffect">
                                  <p:stCondLst>
                                    <p:cond delay="0"/>
                                  </p:stCondLst>
                                  <p:childTnLst>
                                    <p:set>
                                      <p:cBhvr>
                                        <p:cTn id="125" dur="1" fill="hold">
                                          <p:stCondLst>
                                            <p:cond delay="0"/>
                                          </p:stCondLst>
                                        </p:cTn>
                                        <p:tgtEl>
                                          <p:spTgt spid="16460">
                                            <p:txEl>
                                              <p:charRg st="0" end="3"/>
                                            </p:txEl>
                                          </p:spTgt>
                                        </p:tgtEl>
                                        <p:attrNameLst>
                                          <p:attrName>style.visibility</p:attrName>
                                        </p:attrNameLst>
                                      </p:cBhvr>
                                      <p:to>
                                        <p:strVal val="visible"/>
                                      </p:to>
                                    </p:set>
                                    <p:animEffect transition="in" filter="box(out)">
                                      <p:cBhvr>
                                        <p:cTn id="126" dur="500"/>
                                        <p:tgtEl>
                                          <p:spTgt spid="16460">
                                            <p:txEl>
                                              <p:charRg st="0" end="3"/>
                                            </p:txEl>
                                          </p:spTgt>
                                        </p:tgtEl>
                                      </p:cBhvr>
                                    </p:animEffect>
                                  </p:childTnLst>
                                </p:cTn>
                              </p:par>
                            </p:childTnLst>
                          </p:cTn>
                        </p:par>
                        <p:par>
                          <p:cTn id="127" fill="hold">
                            <p:stCondLst>
                              <p:cond delay="500"/>
                            </p:stCondLst>
                            <p:childTnLst>
                              <p:par>
                                <p:cTn id="128" presetID="4" presetClass="entr" presetSubtype="32" fill="hold" grpId="0" nodeType="afterEffect">
                                  <p:stCondLst>
                                    <p:cond delay="0"/>
                                  </p:stCondLst>
                                  <p:childTnLst>
                                    <p:set>
                                      <p:cBhvr>
                                        <p:cTn id="129" dur="1" fill="hold">
                                          <p:stCondLst>
                                            <p:cond delay="0"/>
                                          </p:stCondLst>
                                        </p:cTn>
                                        <p:tgtEl>
                                          <p:spTgt spid="16461">
                                            <p:txEl>
                                              <p:charRg st="0" end="22"/>
                                            </p:txEl>
                                          </p:spTgt>
                                        </p:tgtEl>
                                        <p:attrNameLst>
                                          <p:attrName>style.visibility</p:attrName>
                                        </p:attrNameLst>
                                      </p:cBhvr>
                                      <p:to>
                                        <p:strVal val="visible"/>
                                      </p:to>
                                    </p:set>
                                    <p:animEffect transition="in" filter="box(out)">
                                      <p:cBhvr>
                                        <p:cTn id="130" dur="500"/>
                                        <p:tgtEl>
                                          <p:spTgt spid="16461">
                                            <p:txEl>
                                              <p:charRg st="0" end="22"/>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4" presetClass="entr" presetSubtype="32" fill="hold" nodeType="clickEffect">
                                  <p:stCondLst>
                                    <p:cond delay="0"/>
                                  </p:stCondLst>
                                  <p:childTnLst>
                                    <p:set>
                                      <p:cBhvr>
                                        <p:cTn id="134" dur="1" fill="hold">
                                          <p:stCondLst>
                                            <p:cond delay="0"/>
                                          </p:stCondLst>
                                        </p:cTn>
                                        <p:tgtEl>
                                          <p:spTgt spid="16446"/>
                                        </p:tgtEl>
                                        <p:attrNameLst>
                                          <p:attrName>style.visibility</p:attrName>
                                        </p:attrNameLst>
                                      </p:cBhvr>
                                      <p:to>
                                        <p:strVal val="visible"/>
                                      </p:to>
                                    </p:set>
                                    <p:animEffect transition="in" filter="box(out)">
                                      <p:cBhvr>
                                        <p:cTn id="135" dur="500"/>
                                        <p:tgtEl>
                                          <p:spTgt spid="16446"/>
                                        </p:tgtEl>
                                      </p:cBhvr>
                                    </p:animEffect>
                                  </p:childTnLst>
                                </p:cTn>
                              </p:par>
                            </p:childTnLst>
                          </p:cTn>
                        </p:par>
                        <p:par>
                          <p:cTn id="136" fill="hold">
                            <p:stCondLst>
                              <p:cond delay="500"/>
                            </p:stCondLst>
                            <p:childTnLst>
                              <p:par>
                                <p:cTn id="137" presetID="4" presetClass="entr" presetSubtype="32" fill="hold" grpId="0" nodeType="afterEffect">
                                  <p:stCondLst>
                                    <p:cond delay="0"/>
                                  </p:stCondLst>
                                  <p:childTnLst>
                                    <p:set>
                                      <p:cBhvr>
                                        <p:cTn id="138" dur="1" fill="hold">
                                          <p:stCondLst>
                                            <p:cond delay="0"/>
                                          </p:stCondLst>
                                        </p:cTn>
                                        <p:tgtEl>
                                          <p:spTgt spid="16467">
                                            <p:txEl>
                                              <p:charRg st="0" end="2"/>
                                            </p:txEl>
                                          </p:spTgt>
                                        </p:tgtEl>
                                        <p:attrNameLst>
                                          <p:attrName>style.visibility</p:attrName>
                                        </p:attrNameLst>
                                      </p:cBhvr>
                                      <p:to>
                                        <p:strVal val="visible"/>
                                      </p:to>
                                    </p:set>
                                    <p:animEffect transition="in" filter="box(out)">
                                      <p:cBhvr>
                                        <p:cTn id="139" dur="500"/>
                                        <p:tgtEl>
                                          <p:spTgt spid="16467">
                                            <p:txEl>
                                              <p:charRg st="0" end="2"/>
                                            </p:txEl>
                                          </p:spTgt>
                                        </p:tgtEl>
                                      </p:cBhvr>
                                    </p:animEffect>
                                  </p:childTnLst>
                                </p:cTn>
                              </p:par>
                            </p:childTnLst>
                          </p:cTn>
                        </p:par>
                      </p:childTnLst>
                    </p:cTn>
                  </p:par>
                  <p:par>
                    <p:cTn id="140" fill="hold">
                      <p:stCondLst>
                        <p:cond delay="indefinite"/>
                      </p:stCondLst>
                      <p:childTnLst>
                        <p:par>
                          <p:cTn id="141" fill="hold">
                            <p:stCondLst>
                              <p:cond delay="0"/>
                            </p:stCondLst>
                            <p:childTnLst>
                              <p:par>
                                <p:cTn id="142" presetID="4" presetClass="entr" presetSubtype="32" fill="hold" nodeType="clickEffect">
                                  <p:stCondLst>
                                    <p:cond delay="0"/>
                                  </p:stCondLst>
                                  <p:childTnLst>
                                    <p:set>
                                      <p:cBhvr>
                                        <p:cTn id="143" dur="1" fill="hold">
                                          <p:stCondLst>
                                            <p:cond delay="0"/>
                                          </p:stCondLst>
                                        </p:cTn>
                                        <p:tgtEl>
                                          <p:spTgt spid="16462"/>
                                        </p:tgtEl>
                                        <p:attrNameLst>
                                          <p:attrName>style.visibility</p:attrName>
                                        </p:attrNameLst>
                                      </p:cBhvr>
                                      <p:to>
                                        <p:strVal val="visible"/>
                                      </p:to>
                                    </p:set>
                                    <p:animEffect transition="in" filter="box(out)">
                                      <p:cBhvr>
                                        <p:cTn id="144" dur="500"/>
                                        <p:tgtEl>
                                          <p:spTgt spid="16462"/>
                                        </p:tgtEl>
                                      </p:cBhvr>
                                    </p:animEffect>
                                  </p:childTnLst>
                                </p:cTn>
                              </p:par>
                            </p:childTnLst>
                          </p:cTn>
                        </p:par>
                        <p:par>
                          <p:cTn id="145" fill="hold">
                            <p:stCondLst>
                              <p:cond delay="500"/>
                            </p:stCondLst>
                            <p:childTnLst>
                              <p:par>
                                <p:cTn id="146" presetID="4" presetClass="entr" presetSubtype="32" fill="hold" grpId="0" nodeType="afterEffect">
                                  <p:stCondLst>
                                    <p:cond delay="0"/>
                                  </p:stCondLst>
                                  <p:childTnLst>
                                    <p:set>
                                      <p:cBhvr>
                                        <p:cTn id="147" dur="1" fill="hold">
                                          <p:stCondLst>
                                            <p:cond delay="0"/>
                                          </p:stCondLst>
                                        </p:cTn>
                                        <p:tgtEl>
                                          <p:spTgt spid="16468">
                                            <p:txEl>
                                              <p:charRg st="0" end="2"/>
                                            </p:txEl>
                                          </p:spTgt>
                                        </p:tgtEl>
                                        <p:attrNameLst>
                                          <p:attrName>style.visibility</p:attrName>
                                        </p:attrNameLst>
                                      </p:cBhvr>
                                      <p:to>
                                        <p:strVal val="visible"/>
                                      </p:to>
                                    </p:set>
                                    <p:animEffect transition="in" filter="box(out)">
                                      <p:cBhvr>
                                        <p:cTn id="148" dur="500"/>
                                        <p:tgtEl>
                                          <p:spTgt spid="16468">
                                            <p:txEl>
                                              <p:charRg st="0" end="2"/>
                                            </p:txEl>
                                          </p:spTgt>
                                        </p:tgtEl>
                                      </p:cBhvr>
                                    </p:animEffect>
                                  </p:childTnLst>
                                </p:cTn>
                              </p:par>
                            </p:childTnLst>
                          </p:cTn>
                        </p:par>
                      </p:childTnLst>
                    </p:cTn>
                  </p:par>
                  <p:par>
                    <p:cTn id="149" fill="hold">
                      <p:stCondLst>
                        <p:cond delay="indefinite"/>
                      </p:stCondLst>
                      <p:childTnLst>
                        <p:par>
                          <p:cTn id="150" fill="hold">
                            <p:stCondLst>
                              <p:cond delay="0"/>
                            </p:stCondLst>
                            <p:childTnLst>
                              <p:par>
                                <p:cTn id="151" presetID="4" presetClass="entr" presetSubtype="32" fill="hold" nodeType="clickEffect">
                                  <p:stCondLst>
                                    <p:cond delay="0"/>
                                  </p:stCondLst>
                                  <p:childTnLst>
                                    <p:set>
                                      <p:cBhvr>
                                        <p:cTn id="152" dur="1" fill="hold">
                                          <p:stCondLst>
                                            <p:cond delay="0"/>
                                          </p:stCondLst>
                                        </p:cTn>
                                        <p:tgtEl>
                                          <p:spTgt spid="16464"/>
                                        </p:tgtEl>
                                        <p:attrNameLst>
                                          <p:attrName>style.visibility</p:attrName>
                                        </p:attrNameLst>
                                      </p:cBhvr>
                                      <p:to>
                                        <p:strVal val="visible"/>
                                      </p:to>
                                    </p:set>
                                    <p:animEffect transition="in" filter="box(out)">
                                      <p:cBhvr>
                                        <p:cTn id="153" dur="500"/>
                                        <p:tgtEl>
                                          <p:spTgt spid="16464"/>
                                        </p:tgtEl>
                                      </p:cBhvr>
                                    </p:animEffect>
                                  </p:childTnLst>
                                </p:cTn>
                              </p:par>
                            </p:childTnLst>
                          </p:cTn>
                        </p:par>
                        <p:par>
                          <p:cTn id="154" fill="hold">
                            <p:stCondLst>
                              <p:cond delay="500"/>
                            </p:stCondLst>
                            <p:childTnLst>
                              <p:par>
                                <p:cTn id="155" presetID="4" presetClass="entr" presetSubtype="32" fill="hold" grpId="0" nodeType="afterEffect">
                                  <p:stCondLst>
                                    <p:cond delay="0"/>
                                  </p:stCondLst>
                                  <p:childTnLst>
                                    <p:set>
                                      <p:cBhvr>
                                        <p:cTn id="156" dur="1" fill="hold">
                                          <p:stCondLst>
                                            <p:cond delay="0"/>
                                          </p:stCondLst>
                                        </p:cTn>
                                        <p:tgtEl>
                                          <p:spTgt spid="16469">
                                            <p:txEl>
                                              <p:charRg st="0" end="2"/>
                                            </p:txEl>
                                          </p:spTgt>
                                        </p:tgtEl>
                                        <p:attrNameLst>
                                          <p:attrName>style.visibility</p:attrName>
                                        </p:attrNameLst>
                                      </p:cBhvr>
                                      <p:to>
                                        <p:strVal val="visible"/>
                                      </p:to>
                                    </p:set>
                                    <p:animEffect transition="in" filter="box(out)">
                                      <p:cBhvr>
                                        <p:cTn id="157" dur="500"/>
                                        <p:tgtEl>
                                          <p:spTgt spid="16469">
                                            <p:txEl>
                                              <p:charRg st="0" end="2"/>
                                            </p:txEl>
                                          </p:spTgt>
                                        </p:tgtEl>
                                      </p:cBhvr>
                                    </p:animEffect>
                                  </p:childTnLst>
                                </p:cTn>
                              </p:par>
                            </p:childTnLst>
                          </p:cTn>
                        </p:par>
                      </p:childTnLst>
                    </p:cTn>
                  </p:par>
                  <p:par>
                    <p:cTn id="158" fill="hold">
                      <p:stCondLst>
                        <p:cond delay="indefinite"/>
                      </p:stCondLst>
                      <p:childTnLst>
                        <p:par>
                          <p:cTn id="159" fill="hold">
                            <p:stCondLst>
                              <p:cond delay="0"/>
                            </p:stCondLst>
                            <p:childTnLst>
                              <p:par>
                                <p:cTn id="160" presetID="4" presetClass="entr" presetSubtype="32" fill="hold" nodeType="clickEffect">
                                  <p:stCondLst>
                                    <p:cond delay="0"/>
                                  </p:stCondLst>
                                  <p:childTnLst>
                                    <p:set>
                                      <p:cBhvr>
                                        <p:cTn id="161" dur="1" fill="hold">
                                          <p:stCondLst>
                                            <p:cond delay="0"/>
                                          </p:stCondLst>
                                        </p:cTn>
                                        <p:tgtEl>
                                          <p:spTgt spid="16465"/>
                                        </p:tgtEl>
                                        <p:attrNameLst>
                                          <p:attrName>style.visibility</p:attrName>
                                        </p:attrNameLst>
                                      </p:cBhvr>
                                      <p:to>
                                        <p:strVal val="visible"/>
                                      </p:to>
                                    </p:set>
                                    <p:animEffect transition="in" filter="box(out)">
                                      <p:cBhvr>
                                        <p:cTn id="162" dur="500"/>
                                        <p:tgtEl>
                                          <p:spTgt spid="16465"/>
                                        </p:tgtEl>
                                      </p:cBhvr>
                                    </p:animEffect>
                                  </p:childTnLst>
                                </p:cTn>
                              </p:par>
                            </p:childTnLst>
                          </p:cTn>
                        </p:par>
                        <p:par>
                          <p:cTn id="163" fill="hold">
                            <p:stCondLst>
                              <p:cond delay="500"/>
                            </p:stCondLst>
                            <p:childTnLst>
                              <p:par>
                                <p:cTn id="164" presetID="4" presetClass="entr" presetSubtype="32" fill="hold" grpId="0" nodeType="afterEffect">
                                  <p:stCondLst>
                                    <p:cond delay="0"/>
                                  </p:stCondLst>
                                  <p:childTnLst>
                                    <p:set>
                                      <p:cBhvr>
                                        <p:cTn id="165" dur="1" fill="hold">
                                          <p:stCondLst>
                                            <p:cond delay="0"/>
                                          </p:stCondLst>
                                        </p:cTn>
                                        <p:tgtEl>
                                          <p:spTgt spid="16471">
                                            <p:txEl>
                                              <p:charRg st="0" end="6"/>
                                            </p:txEl>
                                          </p:spTgt>
                                        </p:tgtEl>
                                        <p:attrNameLst>
                                          <p:attrName>style.visibility</p:attrName>
                                        </p:attrNameLst>
                                      </p:cBhvr>
                                      <p:to>
                                        <p:strVal val="visible"/>
                                      </p:to>
                                    </p:set>
                                    <p:animEffect transition="in" filter="box(out)">
                                      <p:cBhvr>
                                        <p:cTn id="166" dur="500"/>
                                        <p:tgtEl>
                                          <p:spTgt spid="16471">
                                            <p:txEl>
                                              <p:charRg st="0" end="6"/>
                                            </p:txEl>
                                          </p:spTgt>
                                        </p:tgtEl>
                                      </p:cBhvr>
                                    </p:animEffect>
                                  </p:childTnLst>
                                </p:cTn>
                              </p:par>
                            </p:childTnLst>
                          </p:cTn>
                        </p:par>
                      </p:childTnLst>
                    </p:cTn>
                  </p:par>
                  <p:par>
                    <p:cTn id="167" fill="hold">
                      <p:stCondLst>
                        <p:cond delay="indefinite"/>
                      </p:stCondLst>
                      <p:childTnLst>
                        <p:par>
                          <p:cTn id="168" fill="hold">
                            <p:stCondLst>
                              <p:cond delay="0"/>
                            </p:stCondLst>
                            <p:childTnLst>
                              <p:par>
                                <p:cTn id="169" presetID="4" presetClass="entr" presetSubtype="32" fill="hold" nodeType="clickEffect">
                                  <p:stCondLst>
                                    <p:cond delay="0"/>
                                  </p:stCondLst>
                                  <p:childTnLst>
                                    <p:set>
                                      <p:cBhvr>
                                        <p:cTn id="170" dur="1" fill="hold">
                                          <p:stCondLst>
                                            <p:cond delay="0"/>
                                          </p:stCondLst>
                                        </p:cTn>
                                        <p:tgtEl>
                                          <p:spTgt spid="16466"/>
                                        </p:tgtEl>
                                        <p:attrNameLst>
                                          <p:attrName>style.visibility</p:attrName>
                                        </p:attrNameLst>
                                      </p:cBhvr>
                                      <p:to>
                                        <p:strVal val="visible"/>
                                      </p:to>
                                    </p:set>
                                    <p:animEffect transition="in" filter="box(out)">
                                      <p:cBhvr>
                                        <p:cTn id="171" dur="500"/>
                                        <p:tgtEl>
                                          <p:spTgt spid="16466"/>
                                        </p:tgtEl>
                                      </p:cBhvr>
                                    </p:animEffect>
                                  </p:childTnLst>
                                </p:cTn>
                              </p:par>
                            </p:childTnLst>
                          </p:cTn>
                        </p:par>
                        <p:par>
                          <p:cTn id="172" fill="hold">
                            <p:stCondLst>
                              <p:cond delay="500"/>
                            </p:stCondLst>
                            <p:childTnLst>
                              <p:par>
                                <p:cTn id="173" presetID="4" presetClass="entr" presetSubtype="32" fill="hold" grpId="0" nodeType="afterEffect">
                                  <p:stCondLst>
                                    <p:cond delay="0"/>
                                  </p:stCondLst>
                                  <p:childTnLst>
                                    <p:set>
                                      <p:cBhvr>
                                        <p:cTn id="174" dur="1" fill="hold">
                                          <p:stCondLst>
                                            <p:cond delay="0"/>
                                          </p:stCondLst>
                                        </p:cTn>
                                        <p:tgtEl>
                                          <p:spTgt spid="16470">
                                            <p:txEl>
                                              <p:charRg st="0" end="6"/>
                                            </p:txEl>
                                          </p:spTgt>
                                        </p:tgtEl>
                                        <p:attrNameLst>
                                          <p:attrName>style.visibility</p:attrName>
                                        </p:attrNameLst>
                                      </p:cBhvr>
                                      <p:to>
                                        <p:strVal val="visible"/>
                                      </p:to>
                                    </p:set>
                                    <p:animEffect transition="in" filter="box(out)">
                                      <p:cBhvr>
                                        <p:cTn id="175" dur="500"/>
                                        <p:tgtEl>
                                          <p:spTgt spid="16470">
                                            <p:txEl>
                                              <p:charRg st="0" end="6"/>
                                            </p:txEl>
                                          </p:spTgt>
                                        </p:tgtEl>
                                      </p:cBhvr>
                                    </p:animEffect>
                                  </p:childTnLst>
                                </p:cTn>
                              </p:par>
                            </p:childTnLst>
                          </p:cTn>
                        </p:par>
                      </p:childTnLst>
                    </p:cTn>
                  </p:par>
                  <p:par>
                    <p:cTn id="176" fill="hold">
                      <p:stCondLst>
                        <p:cond delay="indefinite"/>
                      </p:stCondLst>
                      <p:childTnLst>
                        <p:par>
                          <p:cTn id="177" fill="hold">
                            <p:stCondLst>
                              <p:cond delay="0"/>
                            </p:stCondLst>
                            <p:childTnLst>
                              <p:par>
                                <p:cTn id="178" presetID="4" presetClass="entr" presetSubtype="32" fill="hold" grpId="0" nodeType="clickEffect">
                                  <p:stCondLst>
                                    <p:cond delay="0"/>
                                  </p:stCondLst>
                                  <p:childTnLst>
                                    <p:set>
                                      <p:cBhvr>
                                        <p:cTn id="179" dur="1" fill="hold">
                                          <p:stCondLst>
                                            <p:cond delay="0"/>
                                          </p:stCondLst>
                                        </p:cTn>
                                        <p:tgtEl>
                                          <p:spTgt spid="16474">
                                            <p:txEl>
                                              <p:charRg st="0" end="29"/>
                                            </p:txEl>
                                          </p:spTgt>
                                        </p:tgtEl>
                                        <p:attrNameLst>
                                          <p:attrName>style.visibility</p:attrName>
                                        </p:attrNameLst>
                                      </p:cBhvr>
                                      <p:to>
                                        <p:strVal val="visible"/>
                                      </p:to>
                                    </p:set>
                                    <p:animEffect transition="in" filter="box(out)">
                                      <p:cBhvr>
                                        <p:cTn id="180" dur="500"/>
                                        <p:tgtEl>
                                          <p:spTgt spid="16474">
                                            <p:txEl>
                                              <p:charRg st="0" end="29"/>
                                            </p:txEl>
                                          </p:spTgt>
                                        </p:tgtEl>
                                      </p:cBhvr>
                                    </p:animEffect>
                                  </p:childTnLst>
                                </p:cTn>
                              </p:par>
                            </p:childTnLst>
                          </p:cTn>
                        </p:par>
                      </p:childTnLst>
                    </p:cTn>
                  </p:par>
                  <p:par>
                    <p:cTn id="181" fill="hold">
                      <p:stCondLst>
                        <p:cond delay="indefinite"/>
                      </p:stCondLst>
                      <p:childTnLst>
                        <p:par>
                          <p:cTn id="182" fill="hold">
                            <p:stCondLst>
                              <p:cond delay="0"/>
                            </p:stCondLst>
                            <p:childTnLst>
                              <p:par>
                                <p:cTn id="183" presetID="4" presetClass="entr" presetSubtype="32" fill="hold" grpId="0" nodeType="clickEffect">
                                  <p:stCondLst>
                                    <p:cond delay="0"/>
                                  </p:stCondLst>
                                  <p:childTnLst>
                                    <p:set>
                                      <p:cBhvr>
                                        <p:cTn id="184" dur="1" fill="hold">
                                          <p:stCondLst>
                                            <p:cond delay="0"/>
                                          </p:stCondLst>
                                        </p:cTn>
                                        <p:tgtEl>
                                          <p:spTgt spid="16473">
                                            <p:txEl>
                                              <p:charRg st="0" end="28"/>
                                            </p:txEl>
                                          </p:spTgt>
                                        </p:tgtEl>
                                        <p:attrNameLst>
                                          <p:attrName>style.visibility</p:attrName>
                                        </p:attrNameLst>
                                      </p:cBhvr>
                                      <p:to>
                                        <p:strVal val="visible"/>
                                      </p:to>
                                    </p:set>
                                    <p:animEffect transition="in" filter="box(out)">
                                      <p:cBhvr>
                                        <p:cTn id="185" dur="500"/>
                                        <p:tgtEl>
                                          <p:spTgt spid="16473">
                                            <p:txEl>
                                              <p:charRg st="0" end="28"/>
                                            </p:txEl>
                                          </p:spTgt>
                                        </p:tgtEl>
                                      </p:cBhvr>
                                    </p:animEffect>
                                  </p:childTnLst>
                                </p:cTn>
                              </p:par>
                            </p:childTnLst>
                          </p:cTn>
                        </p:par>
                      </p:childTnLst>
                    </p:cTn>
                  </p:par>
                  <p:par>
                    <p:cTn id="186" fill="hold">
                      <p:stCondLst>
                        <p:cond delay="indefinite"/>
                      </p:stCondLst>
                      <p:childTnLst>
                        <p:par>
                          <p:cTn id="187" fill="hold">
                            <p:stCondLst>
                              <p:cond delay="0"/>
                            </p:stCondLst>
                            <p:childTnLst>
                              <p:par>
                                <p:cTn id="188" presetID="4" presetClass="entr" presetSubtype="32" fill="hold" nodeType="clickEffect">
                                  <p:stCondLst>
                                    <p:cond delay="0"/>
                                  </p:stCondLst>
                                  <p:childTnLst>
                                    <p:set>
                                      <p:cBhvr>
                                        <p:cTn id="189" dur="1" fill="hold">
                                          <p:stCondLst>
                                            <p:cond delay="0"/>
                                          </p:stCondLst>
                                        </p:cTn>
                                        <p:tgtEl>
                                          <p:spTgt spid="16472"/>
                                        </p:tgtEl>
                                        <p:attrNameLst>
                                          <p:attrName>style.visibility</p:attrName>
                                        </p:attrNameLst>
                                      </p:cBhvr>
                                      <p:to>
                                        <p:strVal val="visible"/>
                                      </p:to>
                                    </p:set>
                                    <p:animEffect transition="in" filter="box(out)">
                                      <p:cBhvr>
                                        <p:cTn id="190" dur="500"/>
                                        <p:tgtEl>
                                          <p:spTgt spid="16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build="p"/>
      <p:bldP spid="16420" grpId="0" build="p"/>
      <p:bldP spid="16435" grpId="0" advAuto="1000" build="p"/>
      <p:bldP spid="16436" grpId="0" build="p"/>
      <p:bldP spid="16437" grpId="0" advAuto="1000" build="p"/>
      <p:bldP spid="16447" grpId="0" advAuto="1000" build="p"/>
      <p:bldP spid="16448" grpId="0" advAuto="1000" build="p"/>
      <p:bldP spid="16449" grpId="0" advAuto="1000" build="p"/>
      <p:bldP spid="16450" grpId="0" advAuto="1000" build="p"/>
      <p:bldP spid="16451" grpId="0" advAuto="1000" build="p"/>
      <p:bldP spid="16452" grpId="0" advAuto="1000" build="p"/>
      <p:bldP spid="16453" grpId="0" advAuto="1000" build="p"/>
      <p:bldP spid="16454" grpId="0" advAuto="1000" build="p"/>
      <p:bldP spid="16455" grpId="0" advAuto="1000" build="p"/>
      <p:bldP spid="16457" grpId="0" build="p"/>
      <p:bldP spid="16458" grpId="0" advAuto="1000" build="p"/>
      <p:bldP spid="16459" grpId="0" build="p"/>
      <p:bldP spid="16460" grpId="0" build="p"/>
      <p:bldP spid="16461" grpId="0" advAuto="1000" build="p"/>
      <p:bldP spid="16467" grpId="0" advAuto="1000" build="p"/>
      <p:bldP spid="16468" grpId="0" advAuto="1000" build="p"/>
      <p:bldP spid="16469" grpId="0" advAuto="1000" build="p"/>
      <p:bldP spid="16470" grpId="0" advAuto="1000" build="p"/>
      <p:bldP spid="16471" grpId="0" advAuto="1000" build="p"/>
      <p:bldP spid="16473" grpId="0" build="p"/>
      <p:bldP spid="1647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文本框 17410"/>
          <p:cNvSpPr txBox="1"/>
          <p:nvPr/>
        </p:nvSpPr>
        <p:spPr>
          <a:xfrm>
            <a:off x="358775" y="228600"/>
            <a:ext cx="8456613" cy="1038860"/>
          </a:xfrm>
          <a:prstGeom prst="rect">
            <a:avLst/>
          </a:prstGeom>
          <a:noFill/>
          <a:ln w="9525">
            <a:noFill/>
          </a:ln>
        </p:spPr>
        <p:txBody>
          <a:bodyPr anchor="t" anchorCtr="0">
            <a:spAutoFit/>
          </a:bodyPr>
          <a:p>
            <a:pPr>
              <a:lnSpc>
                <a:spcPct val="110000"/>
              </a:lnSpc>
            </a:pPr>
            <a:r>
              <a:rPr lang="en-US" altLang="zh-CN" dirty="0">
                <a:latin typeface="Times New Roman" panose="02020603050405020304" pitchFamily="18" charset="0"/>
              </a:rPr>
              <a:t>      </a:t>
            </a:r>
            <a:r>
              <a:rPr lang="zh-CN" altLang="en-US" dirty="0">
                <a:latin typeface="Times New Roman" panose="02020603050405020304" pitchFamily="18" charset="0"/>
              </a:rPr>
              <a:t>此排列：当 </a:t>
            </a:r>
            <a:r>
              <a:rPr lang="en-US" altLang="zh-CN" i="1">
                <a:latin typeface="Times New Roman" panose="02020603050405020304" pitchFamily="18" charset="0"/>
              </a:rPr>
              <a:t>n</a:t>
            </a:r>
            <a:r>
              <a:rPr lang="en-US" altLang="zh-CN">
                <a:latin typeface="Times New Roman" panose="02020603050405020304" pitchFamily="18" charset="0"/>
              </a:rPr>
              <a:t>=4</a:t>
            </a:r>
            <a:r>
              <a:rPr lang="en-US" altLang="zh-CN" i="1">
                <a:latin typeface="Times New Roman" panose="02020603050405020304" pitchFamily="18" charset="0"/>
              </a:rPr>
              <a:t>k</a:t>
            </a:r>
            <a:r>
              <a:rPr lang="zh-CN" altLang="en-US" i="1">
                <a:latin typeface="Times New Roman" panose="02020603050405020304" pitchFamily="18" charset="0"/>
              </a:rPr>
              <a:t>、</a:t>
            </a:r>
            <a:r>
              <a:rPr lang="en-US" altLang="zh-CN">
                <a:latin typeface="Times New Roman" panose="02020603050405020304" pitchFamily="18" charset="0"/>
              </a:rPr>
              <a:t> 4</a:t>
            </a:r>
            <a:r>
              <a:rPr lang="en-US" altLang="zh-CN" i="1">
                <a:latin typeface="Times New Roman" panose="02020603050405020304" pitchFamily="18" charset="0"/>
              </a:rPr>
              <a:t>k</a:t>
            </a:r>
            <a:r>
              <a:rPr lang="en-US" altLang="zh-CN">
                <a:latin typeface="Times New Roman" panose="02020603050405020304" pitchFamily="18" charset="0"/>
              </a:rPr>
              <a:t>+1 </a:t>
            </a:r>
            <a:r>
              <a:rPr lang="zh-CN" altLang="en-US" dirty="0">
                <a:latin typeface="Times New Roman" panose="02020603050405020304" pitchFamily="18" charset="0"/>
              </a:rPr>
              <a:t>时为偶排列</a:t>
            </a:r>
            <a:r>
              <a:rPr lang="en-US" altLang="zh-CN">
                <a:latin typeface="Times New Roman" panose="02020603050405020304" pitchFamily="18" charset="0"/>
              </a:rPr>
              <a:t>; </a:t>
            </a:r>
            <a:endParaRPr lang="en-US" altLang="zh-CN">
              <a:latin typeface="Times New Roman" panose="02020603050405020304" pitchFamily="18" charset="0"/>
            </a:endParaRPr>
          </a:p>
          <a:p>
            <a:pPr>
              <a:lnSpc>
                <a:spcPct val="110000"/>
              </a:lnSpc>
            </a:pPr>
            <a:r>
              <a:rPr lang="en-US" altLang="zh-CN">
                <a:latin typeface="Times New Roman" panose="02020603050405020304" pitchFamily="18" charset="0"/>
              </a:rPr>
              <a:t>                   </a:t>
            </a:r>
            <a:r>
              <a:rPr lang="zh-CN" altLang="en-US" dirty="0">
                <a:latin typeface="Times New Roman" panose="02020603050405020304" pitchFamily="18" charset="0"/>
              </a:rPr>
              <a:t>当 </a:t>
            </a:r>
            <a:r>
              <a:rPr lang="en-US" altLang="zh-CN" i="1">
                <a:latin typeface="Times New Roman" panose="02020603050405020304" pitchFamily="18" charset="0"/>
              </a:rPr>
              <a:t>n</a:t>
            </a:r>
            <a:r>
              <a:rPr lang="en-US" altLang="zh-CN">
                <a:latin typeface="Times New Roman" panose="02020603050405020304" pitchFamily="18" charset="0"/>
              </a:rPr>
              <a:t>=4</a:t>
            </a:r>
            <a:r>
              <a:rPr lang="en-US" altLang="zh-CN" i="1">
                <a:latin typeface="Times New Roman" panose="02020603050405020304" pitchFamily="18" charset="0"/>
              </a:rPr>
              <a:t>k</a:t>
            </a:r>
            <a:r>
              <a:rPr lang="en-US" altLang="zh-CN">
                <a:latin typeface="Times New Roman" panose="02020603050405020304" pitchFamily="18" charset="0"/>
              </a:rPr>
              <a:t>+2</a:t>
            </a:r>
            <a:r>
              <a:rPr lang="zh-CN" altLang="en-US">
                <a:latin typeface="Times New Roman" panose="02020603050405020304" pitchFamily="18" charset="0"/>
              </a:rPr>
              <a:t>、</a:t>
            </a:r>
            <a:r>
              <a:rPr lang="en-US" altLang="zh-CN">
                <a:latin typeface="Times New Roman" panose="02020603050405020304" pitchFamily="18" charset="0"/>
              </a:rPr>
              <a:t>4</a:t>
            </a:r>
            <a:r>
              <a:rPr lang="en-US" altLang="zh-CN" i="1">
                <a:latin typeface="Times New Roman" panose="02020603050405020304" pitchFamily="18" charset="0"/>
              </a:rPr>
              <a:t>k</a:t>
            </a:r>
            <a:r>
              <a:rPr lang="en-US" altLang="zh-CN">
                <a:latin typeface="Times New Roman" panose="02020603050405020304" pitchFamily="18" charset="0"/>
              </a:rPr>
              <a:t>+3 </a:t>
            </a:r>
            <a:r>
              <a:rPr lang="zh-CN" altLang="en-US" dirty="0">
                <a:latin typeface="Times New Roman" panose="02020603050405020304" pitchFamily="18" charset="0"/>
              </a:rPr>
              <a:t>时为奇排列</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7416" name="文本框 17415"/>
          <p:cNvSpPr txBox="1"/>
          <p:nvPr/>
        </p:nvSpPr>
        <p:spPr>
          <a:xfrm>
            <a:off x="1079500" y="1192213"/>
            <a:ext cx="2917825" cy="521970"/>
          </a:xfrm>
          <a:prstGeom prst="rect">
            <a:avLst/>
          </a:prstGeom>
          <a:noFill/>
          <a:ln w="9525">
            <a:noFill/>
          </a:ln>
        </p:spPr>
        <p:txBody>
          <a:bodyPr wrap="none" anchor="t" anchorCtr="0">
            <a:spAutoFit/>
          </a:bodyPr>
          <a:p>
            <a:r>
              <a:rPr lang="en-US" altLang="zh-CN">
                <a:latin typeface="Times New Roman" panose="02020603050405020304" pitchFamily="18" charset="0"/>
              </a:rPr>
              <a:t>(3)  123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n</a:t>
            </a:r>
            <a:r>
              <a:rPr lang="en-US" altLang="zh-CN">
                <a:latin typeface="Times New Roman" panose="02020603050405020304" pitchFamily="18" charset="0"/>
              </a:rPr>
              <a:t>–1)</a:t>
            </a:r>
            <a:r>
              <a:rPr lang="en-US" altLang="zh-CN" i="1">
                <a:latin typeface="Times New Roman" panose="02020603050405020304" pitchFamily="18" charset="0"/>
              </a:rPr>
              <a:t>n</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7417" name="文本框 17416"/>
          <p:cNvSpPr txBox="1"/>
          <p:nvPr/>
        </p:nvSpPr>
        <p:spPr>
          <a:xfrm>
            <a:off x="1689100" y="1676400"/>
            <a:ext cx="6456045" cy="953135"/>
          </a:xfrm>
          <a:prstGeom prst="rect">
            <a:avLst/>
          </a:prstGeom>
          <a:noFill/>
          <a:ln w="9525">
            <a:noFill/>
          </a:ln>
        </p:spPr>
        <p:txBody>
          <a:bodyPr wrap="none" anchor="t" anchorCtr="0">
            <a:spAutoFit/>
          </a:bodyPr>
          <a:p>
            <a:r>
              <a:rPr lang="zh-CN" altLang="en-US">
                <a:latin typeface="Times New Roman" panose="02020603050405020304" pitchFamily="18" charset="0"/>
              </a:rPr>
              <a:t>易见在</a:t>
            </a:r>
            <a:r>
              <a:rPr lang="en-US" altLang="zh-CN" i="1">
                <a:sym typeface="+mn-ea"/>
              </a:rPr>
              <a:t>n</a:t>
            </a:r>
            <a:r>
              <a:rPr lang="zh-CN" altLang="en-US">
                <a:latin typeface="Times New Roman" panose="02020603050405020304" pitchFamily="18" charset="0"/>
              </a:rPr>
              <a:t>级排列</a:t>
            </a:r>
            <a:r>
              <a:rPr lang="en-US" altLang="zh-CN">
                <a:sym typeface="+mn-ea"/>
              </a:rPr>
              <a:t>123 </a:t>
            </a:r>
            <a:r>
              <a:rPr lang="en-US" altLang="zh-CN">
                <a:sym typeface="Symbol" panose="05050102010706020507" pitchFamily="18" charset="2"/>
              </a:rPr>
              <a:t>···</a:t>
            </a:r>
            <a:r>
              <a:rPr lang="en-US" altLang="zh-CN">
                <a:sym typeface="+mn-ea"/>
              </a:rPr>
              <a:t> (</a:t>
            </a:r>
            <a:r>
              <a:rPr lang="en-US" altLang="zh-CN" i="1">
                <a:sym typeface="+mn-ea"/>
              </a:rPr>
              <a:t>n</a:t>
            </a:r>
            <a:r>
              <a:rPr lang="en-US" altLang="zh-CN">
                <a:sym typeface="+mn-ea"/>
              </a:rPr>
              <a:t>–1)</a:t>
            </a:r>
            <a:r>
              <a:rPr lang="en-US" altLang="zh-CN" i="1">
                <a:sym typeface="+mn-ea"/>
              </a:rPr>
              <a:t>n</a:t>
            </a:r>
            <a:r>
              <a:rPr lang="zh-CN" altLang="en-US">
                <a:latin typeface="Times New Roman" panose="02020603050405020304" pitchFamily="18" charset="0"/>
              </a:rPr>
              <a:t>中没有逆序</a:t>
            </a:r>
            <a:r>
              <a:rPr lang="en-US" altLang="zh-CN">
                <a:latin typeface="Times New Roman" panose="02020603050405020304" pitchFamily="18" charset="0"/>
              </a:rPr>
              <a:t>,</a:t>
            </a:r>
            <a:endParaRPr lang="en-US" altLang="zh-CN">
              <a:latin typeface="Times New Roman" panose="02020603050405020304" pitchFamily="18" charset="0"/>
            </a:endParaRPr>
          </a:p>
          <a:p>
            <a:r>
              <a:rPr lang="zh-CN" altLang="en-US" dirty="0">
                <a:sym typeface="+mn-ea"/>
              </a:rPr>
              <a:t>于是排列</a:t>
            </a:r>
            <a:r>
              <a:rPr lang="en-US" altLang="zh-CN">
                <a:sym typeface="+mn-ea"/>
              </a:rPr>
              <a:t>123 </a:t>
            </a:r>
            <a:r>
              <a:rPr lang="en-US" altLang="zh-CN">
                <a:sym typeface="Symbol" panose="05050102010706020507" pitchFamily="18" charset="2"/>
              </a:rPr>
              <a:t>···</a:t>
            </a:r>
            <a:r>
              <a:rPr lang="en-US" altLang="zh-CN">
                <a:sym typeface="+mn-ea"/>
              </a:rPr>
              <a:t> (</a:t>
            </a:r>
            <a:r>
              <a:rPr lang="en-US" altLang="zh-CN" i="1">
                <a:sym typeface="+mn-ea"/>
              </a:rPr>
              <a:t>n</a:t>
            </a:r>
            <a:r>
              <a:rPr lang="en-US" altLang="zh-CN">
                <a:sym typeface="+mn-ea"/>
              </a:rPr>
              <a:t>–1)</a:t>
            </a:r>
            <a:r>
              <a:rPr lang="en-US" altLang="zh-CN" i="1">
                <a:sym typeface="+mn-ea"/>
              </a:rPr>
              <a:t>n</a:t>
            </a:r>
            <a:r>
              <a:rPr lang="zh-CN" altLang="en-US">
                <a:sym typeface="+mn-ea"/>
              </a:rPr>
              <a:t>的逆序数为</a:t>
            </a:r>
            <a:r>
              <a:rPr lang="en-US" altLang="zh-CN">
                <a:solidFill>
                  <a:srgbClr val="FF0000"/>
                </a:solidFill>
                <a:sym typeface="+mn-ea"/>
              </a:rPr>
              <a:t>0.</a:t>
            </a:r>
            <a:endParaRPr lang="en-US" altLang="zh-CN">
              <a:solidFill>
                <a:srgbClr val="FF0000"/>
              </a:solidFill>
              <a:latin typeface="Times New Roman" panose="02020603050405020304" pitchFamily="18" charset="0"/>
              <a:sym typeface="+mn-ea"/>
            </a:endParaRPr>
          </a:p>
        </p:txBody>
      </p:sp>
      <p:sp>
        <p:nvSpPr>
          <p:cNvPr id="17418" name="文本框 17417"/>
          <p:cNvSpPr txBox="1"/>
          <p:nvPr/>
        </p:nvSpPr>
        <p:spPr>
          <a:xfrm>
            <a:off x="1079500" y="1752600"/>
            <a:ext cx="660400" cy="519113"/>
          </a:xfrm>
          <a:prstGeom prst="rect">
            <a:avLst/>
          </a:prstGeom>
          <a:noFill/>
          <a:ln w="9525">
            <a:noFill/>
          </a:ln>
        </p:spPr>
        <p:txBody>
          <a:bodyPr wrap="none" anchor="t" anchorCtr="0">
            <a:spAutoFit/>
          </a:bodyPr>
          <a:p>
            <a:r>
              <a:rPr lang="zh-CN" altLang="en-US" dirty="0">
                <a:solidFill>
                  <a:srgbClr val="3333FF"/>
                </a:solidFill>
                <a:latin typeface="Times New Roman" panose="02020603050405020304" pitchFamily="18" charset="0"/>
                <a:ea typeface="黑体" panose="02010609060101010101" pitchFamily="2" charset="-122"/>
              </a:rPr>
              <a:t>解</a:t>
            </a:r>
            <a:r>
              <a:rPr lang="en-US" altLang="zh-CN">
                <a:solidFill>
                  <a:srgbClr val="3333FF"/>
                </a:solidFill>
                <a:latin typeface="Times New Roman" panose="02020603050405020304" pitchFamily="18" charset="0"/>
                <a:ea typeface="黑体" panose="02010609060101010101" pitchFamily="2" charset="-122"/>
              </a:rPr>
              <a:t>:</a:t>
            </a:r>
            <a:endParaRPr lang="en-US" altLang="zh-CN" sz="2400">
              <a:solidFill>
                <a:srgbClr val="3333FF"/>
              </a:solidFill>
              <a:latin typeface="Times New Roman" panose="02020603050405020304" pitchFamily="18" charset="0"/>
              <a:ea typeface="黑体" panose="02010609060101010101" pitchFamily="2" charset="-122"/>
            </a:endParaRPr>
          </a:p>
        </p:txBody>
      </p:sp>
      <p:sp>
        <p:nvSpPr>
          <p:cNvPr id="20" name="文本框 19"/>
          <p:cNvSpPr txBox="1"/>
          <p:nvPr/>
        </p:nvSpPr>
        <p:spPr>
          <a:xfrm>
            <a:off x="412115" y="2637155"/>
            <a:ext cx="8510905" cy="2414270"/>
          </a:xfrm>
          <a:prstGeom prst="rect">
            <a:avLst/>
          </a:prstGeom>
          <a:noFill/>
          <a:ln w="9525">
            <a:noFill/>
          </a:ln>
        </p:spPr>
        <p:txBody>
          <a:bodyPr wrap="square" anchor="t" anchorCtr="0">
            <a:noAutofit/>
          </a:bodyPr>
          <a:p>
            <a:r>
              <a:rPr lang="en-US" altLang="zh-CN">
                <a:latin typeface="Times New Roman" panose="02020603050405020304" pitchFamily="18" charset="0"/>
              </a:rPr>
              <a:t>    </a:t>
            </a:r>
            <a:r>
              <a:rPr lang="zh-CN" altLang="en-US">
                <a:latin typeface="Times New Roman" panose="02020603050405020304" pitchFamily="18" charset="0"/>
              </a:rPr>
              <a:t>在</a:t>
            </a:r>
            <a:r>
              <a:rPr lang="en-US" altLang="zh-CN" i="1">
                <a:sym typeface="+mn-ea"/>
              </a:rPr>
              <a:t>n</a:t>
            </a:r>
            <a:r>
              <a:rPr lang="zh-CN" altLang="en-US">
                <a:latin typeface="Times New Roman" panose="02020603050405020304" pitchFamily="18" charset="0"/>
              </a:rPr>
              <a:t>级排列</a:t>
            </a:r>
            <a:r>
              <a:rPr lang="en-US" altLang="zh-CN" i="1">
                <a:sym typeface="+mn-ea"/>
              </a:rPr>
              <a:t>k</a:t>
            </a:r>
            <a:r>
              <a:rPr lang="en-US" altLang="zh-CN" baseline="-25000">
                <a:sym typeface="+mn-ea"/>
              </a:rPr>
              <a:t>1</a:t>
            </a:r>
            <a:r>
              <a:rPr lang="en-US" altLang="zh-CN">
                <a:sym typeface="+mn-ea"/>
              </a:rPr>
              <a:t> </a:t>
            </a:r>
            <a:r>
              <a:rPr lang="en-US" altLang="zh-CN" i="1">
                <a:sym typeface="+mn-ea"/>
              </a:rPr>
              <a:t>k</a:t>
            </a:r>
            <a:r>
              <a:rPr lang="en-US" altLang="zh-CN" baseline="-25000">
                <a:sym typeface="+mn-ea"/>
              </a:rPr>
              <a:t>2 </a:t>
            </a:r>
            <a:r>
              <a:rPr lang="en-US" altLang="zh-CN">
                <a:sym typeface="Symbol" panose="05050102010706020507" pitchFamily="18" charset="2"/>
              </a:rPr>
              <a:t>···</a:t>
            </a:r>
            <a:r>
              <a:rPr lang="en-US" altLang="zh-CN" i="1">
                <a:sym typeface="+mn-ea"/>
              </a:rPr>
              <a:t>k</a:t>
            </a:r>
            <a:r>
              <a:rPr lang="en-US" altLang="zh-CN" i="1" baseline="-25000">
                <a:sym typeface="+mn-ea"/>
              </a:rPr>
              <a:t>s</a:t>
            </a:r>
            <a:r>
              <a:rPr lang="en-US" altLang="zh-CN">
                <a:sym typeface="Symbol" panose="05050102010706020507" pitchFamily="18" charset="2"/>
              </a:rPr>
              <a:t>··· </a:t>
            </a:r>
            <a:r>
              <a:rPr lang="en-US" altLang="zh-CN" i="1">
                <a:sym typeface="+mn-ea"/>
              </a:rPr>
              <a:t>k</a:t>
            </a:r>
            <a:r>
              <a:rPr lang="en-US" altLang="zh-CN" i="1" baseline="-25000">
                <a:sym typeface="+mn-ea"/>
              </a:rPr>
              <a:t>t</a:t>
            </a:r>
            <a:r>
              <a:rPr lang="en-US" altLang="zh-CN">
                <a:sym typeface="Symbol" panose="05050102010706020507" pitchFamily="18" charset="2"/>
              </a:rPr>
              <a:t>···</a:t>
            </a:r>
            <a:r>
              <a:rPr lang="en-US" altLang="zh-CN" i="1">
                <a:sym typeface="+mn-ea"/>
              </a:rPr>
              <a:t>k</a:t>
            </a:r>
            <a:r>
              <a:rPr lang="en-US" altLang="zh-CN" i="1" baseline="-25000">
                <a:sym typeface="+mn-ea"/>
              </a:rPr>
              <a:t>n</a:t>
            </a:r>
            <a:r>
              <a:rPr lang="en-US" altLang="zh-CN">
                <a:sym typeface="+mn-ea"/>
              </a:rPr>
              <a:t> </a:t>
            </a:r>
            <a:r>
              <a:rPr lang="zh-CN" altLang="en-US" dirty="0">
                <a:sym typeface="+mn-ea"/>
              </a:rPr>
              <a:t>中</a:t>
            </a:r>
            <a:r>
              <a:rPr lang="en-US" altLang="zh-CN">
                <a:latin typeface="Times New Roman" panose="02020603050405020304" pitchFamily="18" charset="0"/>
              </a:rPr>
              <a:t>,</a:t>
            </a:r>
            <a:r>
              <a:rPr lang="zh-CN" altLang="en-US">
                <a:solidFill>
                  <a:srgbClr val="000000"/>
                </a:solidFill>
                <a:latin typeface="Calibri" panose="020F0502020204030204"/>
                <a:sym typeface="+mn-ea"/>
              </a:rPr>
              <a:t>将其中两个数</a:t>
            </a:r>
            <a:r>
              <a:rPr lang="en-US" altLang="zh-CN" i="1">
                <a:sym typeface="+mn-ea"/>
              </a:rPr>
              <a:t>k</a:t>
            </a:r>
            <a:r>
              <a:rPr lang="en-US" altLang="zh-CN" i="1" baseline="-25000">
                <a:sym typeface="+mn-ea"/>
              </a:rPr>
              <a:t>s</a:t>
            </a:r>
            <a:r>
              <a:rPr lang="en-US" altLang="zh-CN">
                <a:sym typeface="+mn-ea"/>
              </a:rPr>
              <a:t> </a:t>
            </a:r>
            <a:r>
              <a:rPr lang="zh-CN" altLang="en-US">
                <a:sym typeface="+mn-ea"/>
              </a:rPr>
              <a:t>和</a:t>
            </a:r>
            <a:r>
              <a:rPr lang="en-US" altLang="zh-CN" i="1">
                <a:sym typeface="+mn-ea"/>
              </a:rPr>
              <a:t>k</a:t>
            </a:r>
            <a:r>
              <a:rPr lang="en-US" altLang="zh-CN" i="1" baseline="-25000">
                <a:sym typeface="+mn-ea"/>
              </a:rPr>
              <a:t>t</a:t>
            </a:r>
            <a:r>
              <a:rPr lang="en-US" altLang="zh-CN">
                <a:sym typeface="+mn-ea"/>
              </a:rPr>
              <a:t> </a:t>
            </a:r>
            <a:r>
              <a:rPr lang="zh-CN" altLang="en-US">
                <a:solidFill>
                  <a:srgbClr val="000000"/>
                </a:solidFill>
                <a:latin typeface="Calibri" panose="020F0502020204030204"/>
                <a:sym typeface="+mn-ea"/>
              </a:rPr>
              <a:t>互换位置，其余各数位置不变而得到另一个排列</a:t>
            </a:r>
            <a:endParaRPr lang="zh-CN" altLang="en-US">
              <a:solidFill>
                <a:srgbClr val="000000"/>
              </a:solidFill>
              <a:latin typeface="Calibri" panose="020F0502020204030204"/>
              <a:sym typeface="+mn-ea"/>
            </a:endParaRPr>
          </a:p>
          <a:p>
            <a:r>
              <a:rPr lang="en-US" altLang="zh-CN" i="1">
                <a:sym typeface="+mn-ea"/>
              </a:rPr>
              <a:t>k</a:t>
            </a:r>
            <a:r>
              <a:rPr lang="en-US" altLang="zh-CN" baseline="-25000">
                <a:sym typeface="+mn-ea"/>
              </a:rPr>
              <a:t>1</a:t>
            </a:r>
            <a:r>
              <a:rPr lang="en-US" altLang="zh-CN">
                <a:sym typeface="+mn-ea"/>
              </a:rPr>
              <a:t> </a:t>
            </a:r>
            <a:r>
              <a:rPr lang="en-US" altLang="zh-CN" i="1">
                <a:sym typeface="+mn-ea"/>
              </a:rPr>
              <a:t>k</a:t>
            </a:r>
            <a:r>
              <a:rPr lang="en-US" altLang="zh-CN" baseline="-25000">
                <a:sym typeface="+mn-ea"/>
              </a:rPr>
              <a:t>2 </a:t>
            </a:r>
            <a:r>
              <a:rPr lang="en-US" altLang="zh-CN">
                <a:sym typeface="Symbol" panose="05050102010706020507" pitchFamily="18" charset="2"/>
              </a:rPr>
              <a:t>···</a:t>
            </a:r>
            <a:r>
              <a:rPr lang="en-US" altLang="zh-CN" i="1">
                <a:sym typeface="+mn-ea"/>
              </a:rPr>
              <a:t>k</a:t>
            </a:r>
            <a:r>
              <a:rPr lang="en-US" altLang="zh-CN" i="1" baseline="-25000">
                <a:sym typeface="+mn-ea"/>
              </a:rPr>
              <a:t>t</a:t>
            </a:r>
            <a:r>
              <a:rPr lang="en-US" altLang="zh-CN">
                <a:sym typeface="Symbol" panose="05050102010706020507" pitchFamily="18" charset="2"/>
              </a:rPr>
              <a:t>··· </a:t>
            </a:r>
            <a:r>
              <a:rPr lang="en-US" altLang="zh-CN" i="1">
                <a:sym typeface="+mn-ea"/>
              </a:rPr>
              <a:t>k</a:t>
            </a:r>
            <a:r>
              <a:rPr lang="en-US" altLang="zh-CN" i="1" baseline="-25000">
                <a:sym typeface="+mn-ea"/>
              </a:rPr>
              <a:t>s</a:t>
            </a:r>
            <a:r>
              <a:rPr lang="en-US" altLang="zh-CN">
                <a:sym typeface="Symbol" panose="05050102010706020507" pitchFamily="18" charset="2"/>
              </a:rPr>
              <a:t>···</a:t>
            </a:r>
            <a:r>
              <a:rPr lang="en-US" altLang="zh-CN" i="1">
                <a:sym typeface="+mn-ea"/>
              </a:rPr>
              <a:t>k</a:t>
            </a:r>
            <a:r>
              <a:rPr lang="en-US" altLang="zh-CN" i="1" baseline="-25000">
                <a:sym typeface="+mn-ea"/>
              </a:rPr>
              <a:t>n</a:t>
            </a:r>
            <a:r>
              <a:rPr lang="zh-CN" altLang="en-US">
                <a:solidFill>
                  <a:srgbClr val="000000"/>
                </a:solidFill>
                <a:latin typeface="Calibri" panose="020F0502020204030204"/>
                <a:sym typeface="+mn-ea"/>
              </a:rPr>
              <a:t>，</a:t>
            </a:r>
            <a:r>
              <a:rPr lang="zh-CN" altLang="en-US">
                <a:solidFill>
                  <a:srgbClr val="000000"/>
                </a:solidFill>
                <a:latin typeface="Calibri" panose="020F0502020204030204"/>
                <a:sym typeface="+mn-ea"/>
              </a:rPr>
              <a:t>这样的变换称为一个对换，记为</a:t>
            </a:r>
            <a:r>
              <a:rPr lang="en-US" altLang="zh-CN">
                <a:sym typeface="+mn-ea"/>
              </a:rPr>
              <a:t>(</a:t>
            </a:r>
            <a:r>
              <a:rPr lang="en-US" altLang="zh-CN" i="1">
                <a:sym typeface="+mn-ea"/>
              </a:rPr>
              <a:t>k</a:t>
            </a:r>
            <a:r>
              <a:rPr lang="en-US" altLang="zh-CN" i="1" baseline="-25000">
                <a:sym typeface="+mn-ea"/>
              </a:rPr>
              <a:t>s</a:t>
            </a:r>
            <a:r>
              <a:rPr lang="en-US" altLang="zh-CN" i="1">
                <a:sym typeface="+mn-ea"/>
              </a:rPr>
              <a:t>, k</a:t>
            </a:r>
            <a:r>
              <a:rPr lang="en-US" altLang="zh-CN" i="1" baseline="-25000">
                <a:sym typeface="+mn-ea"/>
              </a:rPr>
              <a:t>t</a:t>
            </a:r>
            <a:r>
              <a:rPr lang="en-US" altLang="zh-CN">
                <a:sym typeface="+mn-ea"/>
              </a:rPr>
              <a:t> ) </a:t>
            </a:r>
            <a:r>
              <a:rPr lang="zh-CN" altLang="en-US">
                <a:solidFill>
                  <a:srgbClr val="000000"/>
                </a:solidFill>
                <a:latin typeface="Calibri" panose="020F0502020204030204"/>
                <a:sym typeface="+mn-ea"/>
              </a:rPr>
              <a:t>显然，如果再次施行相同的对换，那么排列就还原了．将</a:t>
            </a:r>
            <a:r>
              <a:rPr lang="en-US" altLang="zh-CN" i="1">
                <a:sym typeface="+mn-ea"/>
              </a:rPr>
              <a:t>n</a:t>
            </a:r>
            <a:r>
              <a:rPr lang="zh-CN" altLang="en-US">
                <a:solidFill>
                  <a:srgbClr val="000000"/>
                </a:solidFill>
                <a:latin typeface="Calibri" panose="020F0502020204030204"/>
                <a:sym typeface="+mn-ea"/>
              </a:rPr>
              <a:t>级排列中相邻两个数对换称为</a:t>
            </a:r>
            <a:r>
              <a:rPr lang="zh-CN" altLang="en-US">
                <a:solidFill>
                  <a:srgbClr val="FF0000"/>
                </a:solidFill>
                <a:latin typeface="Calibri" panose="020F0502020204030204"/>
                <a:sym typeface="+mn-ea"/>
              </a:rPr>
              <a:t>相邻对换</a:t>
            </a:r>
            <a:r>
              <a:rPr lang="en-US" altLang="zh-CN">
                <a:solidFill>
                  <a:srgbClr val="000000"/>
                </a:solidFill>
                <a:latin typeface="Calibri" panose="020F0502020204030204"/>
                <a:ea typeface="Calibri" panose="020F0502020204030204"/>
                <a:sym typeface="+mn-ea"/>
              </a:rPr>
              <a:t>.</a:t>
            </a:r>
            <a:endParaRPr lang="en-US" altLang="zh-CN">
              <a:solidFill>
                <a:srgbClr val="000000"/>
              </a:solidFill>
              <a:latin typeface="Calibri" panose="020F0502020204030204"/>
              <a:ea typeface="Calibri" panose="020F0502020204030204"/>
            </a:endParaRPr>
          </a:p>
          <a:p>
            <a:endParaRPr lang="en-US" altLang="zh-CN">
              <a:solidFill>
                <a:srgbClr val="FF0000"/>
              </a:solidFill>
              <a:latin typeface="Times New Roman" panose="02020603050405020304" pitchFamily="18" charset="0"/>
              <a:sym typeface="+mn-ea"/>
            </a:endParaRPr>
          </a:p>
        </p:txBody>
      </p:sp>
      <p:sp>
        <p:nvSpPr>
          <p:cNvPr id="21" name="文本框 20"/>
          <p:cNvSpPr txBox="1"/>
          <p:nvPr/>
        </p:nvSpPr>
        <p:spPr>
          <a:xfrm>
            <a:off x="323215" y="5013325"/>
            <a:ext cx="8456613" cy="1038860"/>
          </a:xfrm>
          <a:prstGeom prst="rect">
            <a:avLst/>
          </a:prstGeom>
          <a:noFill/>
          <a:ln w="9525">
            <a:noFill/>
          </a:ln>
        </p:spPr>
        <p:txBody>
          <a:bodyPr anchor="t" anchorCtr="0">
            <a:spAutoFit/>
          </a:bodyPr>
          <a:p>
            <a:pPr>
              <a:lnSpc>
                <a:spcPct val="110000"/>
              </a:lnSpc>
            </a:pPr>
            <a:r>
              <a:rPr lang="en-US" altLang="zh-CN" dirty="0">
                <a:latin typeface="Times New Roman" panose="02020603050405020304" pitchFamily="18" charset="0"/>
              </a:rPr>
              <a:t> </a:t>
            </a:r>
            <a:r>
              <a:rPr lang="zh-CN" altLang="en-US">
                <a:solidFill>
                  <a:srgbClr val="FF0000"/>
                </a:solidFill>
                <a:latin typeface="Calibri" panose="020F0502020204030204"/>
                <a:ea typeface="Calibri" panose="020F0502020204030204"/>
                <a:sym typeface="+mn-ea"/>
              </a:rPr>
              <a:t>比如</a:t>
            </a:r>
            <a:r>
              <a:rPr lang="en-US" altLang="zh-CN">
                <a:solidFill>
                  <a:srgbClr val="FF0000"/>
                </a:solidFill>
                <a:latin typeface="Calibri" panose="020F0502020204030204"/>
                <a:ea typeface="Calibri" panose="020F0502020204030204"/>
                <a:sym typeface="+mn-ea"/>
              </a:rPr>
              <a:t>:</a:t>
            </a:r>
            <a:r>
              <a:rPr lang="en-US" altLang="zh-CN">
                <a:solidFill>
                  <a:srgbClr val="000000"/>
                </a:solidFill>
                <a:latin typeface="Calibri" panose="020F0502020204030204"/>
                <a:ea typeface="Calibri" panose="020F0502020204030204"/>
                <a:sym typeface="+mn-ea"/>
              </a:rPr>
              <a:t>51342            41352</a:t>
            </a:r>
            <a:r>
              <a:rPr lang="zh-CN" altLang="en-US">
                <a:solidFill>
                  <a:srgbClr val="000000"/>
                </a:solidFill>
                <a:latin typeface="Calibri" panose="020F0502020204030204"/>
                <a:sym typeface="+mn-ea"/>
              </a:rPr>
              <a:t>，表示排列</a:t>
            </a:r>
            <a:r>
              <a:rPr lang="en-US" altLang="zh-CN">
                <a:solidFill>
                  <a:srgbClr val="000000"/>
                </a:solidFill>
                <a:latin typeface="Calibri" panose="020F0502020204030204"/>
                <a:ea typeface="Calibri" panose="020F0502020204030204"/>
                <a:sym typeface="+mn-ea"/>
              </a:rPr>
              <a:t>51342</a:t>
            </a:r>
            <a:r>
              <a:rPr lang="zh-CN" altLang="en-US">
                <a:solidFill>
                  <a:srgbClr val="000000"/>
                </a:solidFill>
                <a:latin typeface="Calibri" panose="020F0502020204030204"/>
                <a:sym typeface="+mn-ea"/>
              </a:rPr>
              <a:t>经过</a:t>
            </a:r>
            <a:r>
              <a:rPr lang="en-US" altLang="zh-CN">
                <a:solidFill>
                  <a:srgbClr val="000000"/>
                </a:solidFill>
                <a:latin typeface="Calibri" panose="020F0502020204030204"/>
                <a:ea typeface="Calibri" panose="020F0502020204030204"/>
                <a:sym typeface="+mn-ea"/>
              </a:rPr>
              <a:t>(5,4)</a:t>
            </a:r>
            <a:r>
              <a:rPr lang="zh-CN" altLang="en-US">
                <a:solidFill>
                  <a:srgbClr val="000000"/>
                </a:solidFill>
                <a:latin typeface="Calibri" panose="020F0502020204030204"/>
                <a:sym typeface="+mn-ea"/>
              </a:rPr>
              <a:t>对换后变成了</a:t>
            </a:r>
            <a:r>
              <a:rPr lang="en-US" altLang="zh-CN">
                <a:solidFill>
                  <a:srgbClr val="000000"/>
                </a:solidFill>
                <a:latin typeface="Calibri" panose="020F0502020204030204"/>
                <a:ea typeface="Calibri" panose="020F0502020204030204"/>
                <a:sym typeface="+mn-ea"/>
              </a:rPr>
              <a:t>41352.</a:t>
            </a:r>
            <a:endParaRPr lang="en-US" altLang="zh-CN">
              <a:latin typeface="Times New Roman" panose="02020603050405020304" pitchFamily="18" charset="0"/>
            </a:endParaRPr>
          </a:p>
        </p:txBody>
      </p:sp>
      <p:graphicFrame>
        <p:nvGraphicFramePr>
          <p:cNvPr id="2" name="对象 -2147482528"/>
          <p:cNvGraphicFramePr>
            <a:graphicFrameLocks noChangeAspect="1"/>
          </p:cNvGraphicFramePr>
          <p:nvPr/>
        </p:nvGraphicFramePr>
        <p:xfrm>
          <a:off x="2123440" y="5085080"/>
          <a:ext cx="928370" cy="375285"/>
        </p:xfrm>
        <a:graphic>
          <a:graphicData uri="http://schemas.openxmlformats.org/presentationml/2006/ole">
            <mc:AlternateContent xmlns:mc="http://schemas.openxmlformats.org/markup-compatibility/2006">
              <mc:Choice xmlns:v="urn:schemas-microsoft-com:vml" Requires="v">
                <p:oleObj spid="_x0000_s3076" name="" r:id="rId1" imgW="533400" imgH="215900" progId="Equation.DSMT4">
                  <p:embed/>
                </p:oleObj>
              </mc:Choice>
              <mc:Fallback>
                <p:oleObj name="" r:id="rId1" imgW="533400" imgH="215900" progId="Equation.DSMT4">
                  <p:embed/>
                  <p:pic>
                    <p:nvPicPr>
                      <p:cNvPr id="0" name="图片 3075"/>
                      <p:cNvPicPr/>
                      <p:nvPr/>
                    </p:nvPicPr>
                    <p:blipFill>
                      <a:blip r:embed="rId2"/>
                      <a:stretch>
                        <a:fillRect/>
                      </a:stretch>
                    </p:blipFill>
                    <p:spPr>
                      <a:xfrm>
                        <a:off x="2123440" y="5085080"/>
                        <a:ext cx="928370" cy="375285"/>
                      </a:xfrm>
                      <a:prstGeom prst="rect">
                        <a:avLst/>
                      </a:prstGeom>
                      <a:noFill/>
                      <a:ln w="38100">
                        <a:noFill/>
                        <a:miter/>
                      </a:ln>
                    </p:spPr>
                  </p:pic>
                </p:oleObj>
              </mc:Fallback>
            </mc:AlternateContent>
          </a:graphicData>
        </a:graphic>
      </p:graphicFrame>
      <p:sp>
        <p:nvSpPr>
          <p:cNvPr id="22" name="文本框 21"/>
          <p:cNvSpPr txBox="1"/>
          <p:nvPr/>
        </p:nvSpPr>
        <p:spPr>
          <a:xfrm>
            <a:off x="1341120" y="6021070"/>
            <a:ext cx="6777355" cy="521970"/>
          </a:xfrm>
          <a:prstGeom prst="rect">
            <a:avLst/>
          </a:prstGeom>
        </p:spPr>
        <p:txBody>
          <a:bodyPr wrap="square">
            <a:spAutoFit/>
          </a:bodyPr>
          <a:p>
            <a:pPr marL="0" indent="267970" algn="just" defTabSz="266700">
              <a:spcBef>
                <a:spcPct val="0"/>
              </a:spcBef>
              <a:spcAft>
                <a:spcPct val="0"/>
              </a:spcAft>
            </a:pPr>
            <a:r>
              <a:rPr lang="zh-CN" altLang="en-US" sz="2800" b="1">
                <a:solidFill>
                  <a:srgbClr val="FF0000"/>
                </a:solidFill>
                <a:latin typeface="Calibri" panose="020F0502020204030204"/>
                <a:ea typeface="宋体" panose="02010600030101010101" pitchFamily="2" charset="-122"/>
              </a:rPr>
              <a:t>定理</a:t>
            </a:r>
            <a:r>
              <a:rPr lang="zh-CN" altLang="en-US" sz="2800" b="1">
                <a:solidFill>
                  <a:srgbClr val="FF0000"/>
                </a:solidFill>
                <a:latin typeface="Calibri" panose="020F0502020204030204"/>
              </a:rPr>
              <a:t>1.1.1</a:t>
            </a:r>
            <a:r>
              <a:rPr lang="zh-CN" altLang="en-US" sz="2800" b="1">
                <a:solidFill>
                  <a:srgbClr val="000000"/>
                </a:solidFill>
                <a:latin typeface="Calibri" panose="020F0502020204030204"/>
                <a:ea typeface="宋体" panose="02010600030101010101" pitchFamily="2" charset="-122"/>
              </a:rPr>
              <a:t>　</a:t>
            </a:r>
            <a:r>
              <a:rPr lang="zh-CN" altLang="en-US" sz="2800">
                <a:solidFill>
                  <a:srgbClr val="000000"/>
                </a:solidFill>
                <a:latin typeface="Calibri" panose="020F0502020204030204"/>
                <a:ea typeface="宋体" panose="02010600030101010101" pitchFamily="2" charset="-122"/>
              </a:rPr>
              <a:t>对换改变排列的奇偶性．</a:t>
            </a:r>
            <a:endParaRPr lang="zh-CN" altLang="en-US" sz="2800">
              <a:solidFill>
                <a:srgbClr val="000000"/>
              </a:solidFill>
              <a:latin typeface="Calibri" panose="020F0502020204030204"/>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7411">
                                            <p:txEl>
                                              <p:charRg st="0" end="53"/>
                                            </p:txEl>
                                          </p:spTgt>
                                        </p:tgtEl>
                                        <p:attrNameLst>
                                          <p:attrName>style.visibility</p:attrName>
                                        </p:attrNameLst>
                                      </p:cBhvr>
                                      <p:to>
                                        <p:strVal val="visible"/>
                                      </p:to>
                                    </p:set>
                                    <p:animEffect transition="in" filter="box(out)">
                                      <p:cBhvr>
                                        <p:cTn id="7" dur="500"/>
                                        <p:tgtEl>
                                          <p:spTgt spid="17411">
                                            <p:txEl>
                                              <p:charRg st="0" end="5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7411">
                                            <p:txEl>
                                              <p:charRg st="1" end="1"/>
                                            </p:txEl>
                                          </p:spTgt>
                                        </p:tgtEl>
                                        <p:attrNameLst>
                                          <p:attrName>style.visibility</p:attrName>
                                        </p:attrNameLst>
                                      </p:cBhvr>
                                      <p:to>
                                        <p:strVal val="visible"/>
                                      </p:to>
                                    </p:set>
                                    <p:animEffect transition="in" filter="box(out)">
                                      <p:cBhvr>
                                        <p:cTn id="12" dur="500"/>
                                        <p:tgtEl>
                                          <p:spTgt spid="17411">
                                            <p:txEl>
                                              <p:char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7416">
                                            <p:txEl>
                                              <p:charRg st="0" end="49"/>
                                            </p:txEl>
                                          </p:spTgt>
                                        </p:tgtEl>
                                        <p:attrNameLst>
                                          <p:attrName>style.visibility</p:attrName>
                                        </p:attrNameLst>
                                      </p:cBhvr>
                                      <p:to>
                                        <p:strVal val="visible"/>
                                      </p:to>
                                    </p:set>
                                    <p:animEffect transition="in" filter="box(out)">
                                      <p:cBhvr>
                                        <p:cTn id="17" dur="500"/>
                                        <p:tgtEl>
                                          <p:spTgt spid="17416">
                                            <p:txEl>
                                              <p:charRg st="0" end="4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7418">
                                            <p:txEl>
                                              <p:charRg st="0" end="3"/>
                                            </p:txEl>
                                          </p:spTgt>
                                        </p:tgtEl>
                                        <p:attrNameLst>
                                          <p:attrName>style.visibility</p:attrName>
                                        </p:attrNameLst>
                                      </p:cBhvr>
                                      <p:to>
                                        <p:strVal val="visible"/>
                                      </p:to>
                                    </p:set>
                                    <p:animEffect transition="in" filter="box(out)">
                                      <p:cBhvr>
                                        <p:cTn id="22" dur="500"/>
                                        <p:tgtEl>
                                          <p:spTgt spid="17418">
                                            <p:txEl>
                                              <p:charRg st="0" end="3"/>
                                            </p:txEl>
                                          </p:spTgt>
                                        </p:tgtEl>
                                      </p:cBhvr>
                                    </p:animEffect>
                                  </p:childTnLst>
                                </p:cTn>
                              </p:par>
                            </p:childTnLst>
                          </p:cTn>
                        </p:par>
                        <p:par>
                          <p:cTn id="23" fill="hold">
                            <p:stCondLst>
                              <p:cond delay="500"/>
                            </p:stCondLst>
                            <p:childTnLst>
                              <p:par>
                                <p:cTn id="24" presetID="4" presetClass="entr" presetSubtype="32" fill="hold" grpId="0" nodeType="afterEffect">
                                  <p:stCondLst>
                                    <p:cond delay="0"/>
                                  </p:stCondLst>
                                  <p:childTnLst>
                                    <p:set>
                                      <p:cBhvr>
                                        <p:cTn id="25" dur="1" fill="hold">
                                          <p:stCondLst>
                                            <p:cond delay="0"/>
                                          </p:stCondLst>
                                        </p:cTn>
                                        <p:tgtEl>
                                          <p:spTgt spid="17417">
                                            <p:txEl>
                                              <p:charRg st="0" end="50"/>
                                            </p:txEl>
                                          </p:spTgt>
                                        </p:tgtEl>
                                        <p:attrNameLst>
                                          <p:attrName>style.visibility</p:attrName>
                                        </p:attrNameLst>
                                      </p:cBhvr>
                                      <p:to>
                                        <p:strVal val="visible"/>
                                      </p:to>
                                    </p:set>
                                    <p:animEffect transition="in" filter="box(out)">
                                      <p:cBhvr>
                                        <p:cTn id="26" dur="500"/>
                                        <p:tgtEl>
                                          <p:spTgt spid="17417">
                                            <p:txEl>
                                              <p:charRg st="0" end="5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7417">
                                            <p:txEl>
                                              <p:charRg st="1" end="1"/>
                                            </p:txEl>
                                          </p:spTgt>
                                        </p:tgtEl>
                                        <p:attrNameLst>
                                          <p:attrName>style.visibility</p:attrName>
                                        </p:attrNameLst>
                                      </p:cBhvr>
                                      <p:to>
                                        <p:strVal val="visible"/>
                                      </p:to>
                                    </p:set>
                                    <p:animEffect transition="in" filter="box(out)">
                                      <p:cBhvr>
                                        <p:cTn id="31" dur="500"/>
                                        <p:tgtEl>
                                          <p:spTgt spid="17417">
                                            <p:txEl>
                                              <p:char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7417">
                                            <p:txEl>
                                              <p:pRg st="1" end="1"/>
                                            </p:txEl>
                                          </p:spTgt>
                                        </p:tgtEl>
                                        <p:attrNameLst>
                                          <p:attrName>style.visibility</p:attrName>
                                        </p:attrNameLst>
                                      </p:cBhvr>
                                      <p:to>
                                        <p:strVal val="visible"/>
                                      </p:to>
                                    </p:set>
                                    <p:animEffect transition="in" filter="wipe(down)">
                                      <p:cBhvr>
                                        <p:cTn id="36" dur="500"/>
                                        <p:tgtEl>
                                          <p:spTgt spid="17417">
                                            <p:txEl>
                                              <p:pRg st="1" end="1"/>
                                            </p:txEl>
                                          </p:spTgt>
                                        </p:tgtEl>
                                      </p:cBhvr>
                                    </p:animEffect>
                                  </p:childTnLst>
                                </p:cTn>
                              </p:par>
                            </p:childTnLst>
                          </p:cTn>
                        </p:par>
                        <p:par>
                          <p:cTn id="37" fill="hold">
                            <p:stCondLst>
                              <p:cond delay="500"/>
                            </p:stCondLst>
                            <p:childTnLst>
                              <p:par>
                                <p:cTn id="38" presetID="4" presetClass="entr" presetSubtype="32" fill="hold" grpId="0" nodeType="afterEffect">
                                  <p:stCondLst>
                                    <p:cond delay="0"/>
                                  </p:stCondLst>
                                  <p:childTnLst>
                                    <p:set>
                                      <p:cBhvr>
                                        <p:cTn id="39" dur="1" fill="hold">
                                          <p:stCondLst>
                                            <p:cond delay="0"/>
                                          </p:stCondLst>
                                        </p:cTn>
                                        <p:tgtEl>
                                          <p:spTgt spid="20">
                                            <p:txEl>
                                              <p:charRg st="0" end="50"/>
                                            </p:txEl>
                                          </p:spTgt>
                                        </p:tgtEl>
                                        <p:attrNameLst>
                                          <p:attrName>style.visibility</p:attrName>
                                        </p:attrNameLst>
                                      </p:cBhvr>
                                      <p:to>
                                        <p:strVal val="visible"/>
                                      </p:to>
                                    </p:set>
                                    <p:animEffect transition="in" filter="box(out)">
                                      <p:cBhvr>
                                        <p:cTn id="40" dur="500"/>
                                        <p:tgtEl>
                                          <p:spTgt spid="20">
                                            <p:txEl>
                                              <p:charRg st="0" end="5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20">
                                            <p:txEl>
                                              <p:charRg st="1" end="1"/>
                                            </p:txEl>
                                          </p:spTgt>
                                        </p:tgtEl>
                                        <p:attrNameLst>
                                          <p:attrName>style.visibility</p:attrName>
                                        </p:attrNameLst>
                                      </p:cBhvr>
                                      <p:to>
                                        <p:strVal val="visible"/>
                                      </p:to>
                                    </p:set>
                                    <p:animEffect transition="in" filter="box(out)">
                                      <p:cBhvr>
                                        <p:cTn id="45" dur="500"/>
                                        <p:tgtEl>
                                          <p:spTgt spid="20">
                                            <p:txEl>
                                              <p:char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21">
                                            <p:txEl>
                                              <p:charRg st="0" end="53"/>
                                            </p:txEl>
                                          </p:spTgt>
                                        </p:tgtEl>
                                        <p:attrNameLst>
                                          <p:attrName>style.visibility</p:attrName>
                                        </p:attrNameLst>
                                      </p:cBhvr>
                                      <p:to>
                                        <p:strVal val="visible"/>
                                      </p:to>
                                    </p:set>
                                    <p:animEffect transition="in" filter="box(out)">
                                      <p:cBhvr>
                                        <p:cTn id="50" dur="500"/>
                                        <p:tgtEl>
                                          <p:spTgt spid="21">
                                            <p:txEl>
                                              <p:charRg st="0" end="53"/>
                                            </p:txEl>
                                          </p:spTgt>
                                        </p:tgtEl>
                                      </p:cBhvr>
                                    </p:animEffect>
                                  </p:childTnLst>
                                </p:cTn>
                              </p:par>
                              <p:par>
                                <p:cTn id="51" presetID="22" presetClass="entr" presetSubtype="4" fill="hold" nodeType="with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wipe(down)">
                                      <p:cBhvr>
                                        <p:cTn id="53" dur="500"/>
                                        <p:tgtEl>
                                          <p:spTgt spid="2"/>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blinds(horizontal)">
                                      <p:cBhvr>
                                        <p:cTn id="5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advAuto="1000" build="p"/>
      <p:bldP spid="17416" grpId="0" build="p"/>
      <p:bldP spid="17417" grpId="0" advAuto="1000" build="p"/>
      <p:bldP spid="17418" grpId="0" build="p"/>
      <p:bldP spid="20" grpId="0" advAuto="1000" build="p"/>
      <p:bldP spid="21" grpId="0" advAuto="1000" build="p"/>
      <p:bldP spid="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mc:AlternateContent xmlns:mc="http://schemas.openxmlformats.org/markup-compatibility/2006">
        <mc:Choice xmlns:a14="http://schemas.microsoft.com/office/drawing/2010/main" Requires="a14">
          <p:sp>
            <p:nvSpPr>
              <p:cNvPr id="11" name="矩形 10"/>
              <p:cNvSpPr/>
              <p:nvPr/>
            </p:nvSpPr>
            <p:spPr>
              <a:xfrm>
                <a:off x="307340" y="796925"/>
                <a:ext cx="8554085" cy="1550035"/>
              </a:xfrm>
              <a:prstGeom prst="rect">
                <a:avLst/>
              </a:prstGeom>
              <a:noFill/>
              <a:ln w="9525">
                <a:noFill/>
              </a:ln>
            </p:spPr>
            <p:txBody>
              <a:bodyPr wrap="square" anchor="t" anchorCtr="0">
                <a:noAutofit/>
              </a:bodyPr>
              <a:p>
                <a:pPr marL="457200" indent="-457200" algn="l">
                  <a:lnSpc>
                    <a:spcPct val="130000"/>
                  </a:lnSpc>
                </a:pPr>
                <a:r>
                  <a:rPr lang="en-US" altLang="zh-CN">
                    <a:solidFill>
                      <a:srgbClr val="FF0000"/>
                    </a:solidFill>
                    <a:latin typeface="Times New Roman" panose="02020603050405020304" pitchFamily="18" charset="0"/>
                  </a:rPr>
                  <a:t> </a:t>
                </a:r>
                <a:r>
                  <a:rPr lang="zh-CN" altLang="en-US">
                    <a:solidFill>
                      <a:srgbClr val="FF0000"/>
                    </a:solidFill>
                    <a:latin typeface="Times New Roman" panose="02020603050405020304" pitchFamily="18" charset="0"/>
                  </a:rPr>
                  <a:t>定理</a:t>
                </a:r>
                <a:r>
                  <a:rPr lang="en-US" altLang="zh-CN">
                    <a:solidFill>
                      <a:srgbClr val="FF0000"/>
                    </a:solidFill>
                    <a:latin typeface="Times New Roman" panose="02020603050405020304" pitchFamily="18" charset="0"/>
                  </a:rPr>
                  <a:t>1.1.2</a:t>
                </a:r>
                <a:r>
                  <a:rPr lang="en-US" altLang="zh-CN">
                    <a:latin typeface="Times New Roman" panose="02020603050405020304" pitchFamily="18" charset="0"/>
                  </a:rPr>
                  <a:t> </a:t>
                </a:r>
                <a:r>
                  <a:rPr lang="en-US" altLang="zh-CN" i="1">
                    <a:sym typeface="+mn-ea"/>
                  </a:rPr>
                  <a:t>n≥</a:t>
                </a:r>
                <a:r>
                  <a:rPr lang="en-US" altLang="zh-CN">
                    <a:sym typeface="+mn-ea"/>
                  </a:rPr>
                  <a:t>2</a:t>
                </a:r>
                <a:r>
                  <a:rPr lang="zh-CN" altLang="en-US">
                    <a:latin typeface="Times New Roman" panose="02020603050405020304" pitchFamily="18" charset="0"/>
                  </a:rPr>
                  <a:t>时，在</a:t>
                </a:r>
                <a:r>
                  <a:rPr lang="en-US" altLang="zh-CN" i="1">
                    <a:sym typeface="+mn-ea"/>
                  </a:rPr>
                  <a:t>n</a:t>
                </a:r>
                <a:r>
                  <a:rPr lang="zh-CN" altLang="en-US">
                    <a:latin typeface="Times New Roman" panose="02020603050405020304" pitchFamily="18" charset="0"/>
                  </a:rPr>
                  <a:t>个</a:t>
                </a:r>
                <a:r>
                  <a:rPr lang="en-US" altLang="zh-CN" i="1">
                    <a:sym typeface="+mn-ea"/>
                  </a:rPr>
                  <a:t>n</a:t>
                </a:r>
                <a:r>
                  <a:rPr lang="zh-CN" altLang="en-US">
                    <a:latin typeface="Times New Roman" panose="02020603050405020304" pitchFamily="18" charset="0"/>
                  </a:rPr>
                  <a:t>级排列中，奇排列与偶排列</a:t>
                </a:r>
                <a:endParaRPr lang="zh-CN" altLang="en-US">
                  <a:latin typeface="Times New Roman" panose="02020603050405020304" pitchFamily="18" charset="0"/>
                </a:endParaRPr>
              </a:p>
              <a:p>
                <a:pPr marL="457200" indent="-457200" algn="l">
                  <a:lnSpc>
                    <a:spcPct val="130000"/>
                  </a:lnSpc>
                </a:pPr>
                <a:r>
                  <a:rPr lang="zh-CN" altLang="en-US">
                    <a:latin typeface="Times New Roman" panose="02020603050405020304" pitchFamily="18" charset="0"/>
                  </a:rPr>
                  <a:t>的个数相等，各为</a:t>
                </a:r>
                <a14:m>
                  <m:oMath xmlns:m="http://schemas.openxmlformats.org/officeDocument/2006/math">
                    <m:f>
                      <m:fPr>
                        <m:ctrlPr>
                          <a:rPr lang="en-US" altLang="zh-CN" i="1">
                            <a:latin typeface="Cambria Math" panose="02040503050406030204" charset="0"/>
                            <a:cs typeface="Cambria Math" panose="02040503050406030204" charset="0"/>
                          </a:rPr>
                        </m:ctrlPr>
                      </m:fPr>
                      <m:num>
                        <m:r>
                          <a:rPr lang="en-US" altLang="zh-CN">
                            <a:latin typeface="Cambria Math" panose="02040503050406030204" charset="0"/>
                            <a:sym typeface="+mn-ea"/>
                          </a:rPr>
                          <m:t>𝐧</m:t>
                        </m:r>
                        <m:r>
                          <a:rPr lang="en-US" altLang="zh-CN">
                            <a:latin typeface="Cambria Math" panose="02040503050406030204" charset="0"/>
                            <a:sym typeface="+mn-ea"/>
                          </a:rPr>
                          <m:t>!</m:t>
                        </m:r>
                      </m:num>
                      <m:den>
                        <m:r>
                          <a:rPr lang="en-US" altLang="zh-CN" i="1">
                            <a:latin typeface="Cambria Math" panose="02040503050406030204" charset="0"/>
                            <a:cs typeface="Cambria Math" panose="02040503050406030204" charset="0"/>
                          </a:rPr>
                          <m:t>2</m:t>
                        </m:r>
                        <m:r>
                          <a:rPr lang="en-US" altLang="zh-CN" i="1">
                            <a:latin typeface="Cambria Math" panose="02040503050406030204" charset="0"/>
                            <a:cs typeface="Cambria Math" panose="02040503050406030204" charset="0"/>
                          </a:rPr>
                          <m:t> </m:t>
                        </m:r>
                      </m:den>
                    </m:f>
                    <m:r>
                      <a:rPr lang="en-US" altLang="zh-CN" i="1">
                        <a:latin typeface="Cambria Math" panose="02040503050406030204" charset="0"/>
                        <a:cs typeface="Cambria Math" panose="02040503050406030204" charset="0"/>
                      </a:rPr>
                      <m:t>个.</m:t>
                    </m:r>
                  </m:oMath>
                </a14:m>
                <a:r>
                  <a:rPr lang="zh-CN" altLang="en-US" b="0">
                    <a:latin typeface="Cambria Math" panose="02040503050406030204" charset="0"/>
                    <a:cs typeface="Cambria Math" panose="02040503050406030204" charset="0"/>
                  </a:rPr>
                  <a:t>（证明可略）</a:t>
                </a:r>
                <a:endParaRPr lang="zh-CN" altLang="en-US">
                  <a:latin typeface="Times New Roman" panose="02020603050405020304" pitchFamily="18" charset="0"/>
                </a:endParaRPr>
              </a:p>
              <a:p>
                <a:pPr marL="457200" indent="-457200" algn="l">
                  <a:lnSpc>
                    <a:spcPct val="130000"/>
                  </a:lnSpc>
                </a:pPr>
                <a:endParaRPr lang="en-US" altLang="zh-CN">
                  <a:latin typeface="Times New Roman" panose="02020603050405020304" pitchFamily="18" charset="0"/>
                </a:endParaRPr>
              </a:p>
            </p:txBody>
          </p:sp>
        </mc:Choice>
        <mc:Fallback>
          <p:sp>
            <p:nvSpPr>
              <p:cNvPr id="11" name="矩形 10"/>
              <p:cNvSpPr>
                <a:spLocks noRot="1" noChangeAspect="1" noMove="1" noResize="1" noEditPoints="1" noAdjustHandles="1" noChangeArrowheads="1" noChangeShapeType="1" noTextEdit="1"/>
              </p:cNvSpPr>
              <p:nvPr/>
            </p:nvSpPr>
            <p:spPr>
              <a:xfrm>
                <a:off x="307340" y="796925"/>
                <a:ext cx="8554085" cy="1550035"/>
              </a:xfrm>
              <a:prstGeom prst="rect">
                <a:avLst/>
              </a:prstGeom>
              <a:blipFill rotWithShape="1">
                <a:blip r:embed="rId1"/>
                <a:stretch>
                  <a:fillRect b="-24990"/>
                </a:stretch>
              </a:blipFill>
              <a:ln w="9525">
                <a:noFill/>
              </a:ln>
            </p:spPr>
            <p:txBody>
              <a:bodyPr/>
              <a:lstStyle/>
              <a:p>
                <a:r>
                  <a:rPr lang="zh-CN" altLang="en-US">
                    <a:noFill/>
                  </a:rPr>
                  <a:t> </a:t>
                </a:r>
              </a:p>
            </p:txBody>
          </p:sp>
        </mc:Fallback>
      </mc:AlternateContent>
      <p:graphicFrame>
        <p:nvGraphicFramePr>
          <p:cNvPr id="23559" name="对象 23558"/>
          <p:cNvGraphicFramePr/>
          <p:nvPr/>
        </p:nvGraphicFramePr>
        <p:xfrm>
          <a:off x="294640" y="2375535"/>
          <a:ext cx="8394700" cy="3866515"/>
        </p:xfrm>
        <a:graphic>
          <a:graphicData uri="http://schemas.openxmlformats.org/presentationml/2006/ole">
            <mc:AlternateContent xmlns:mc="http://schemas.openxmlformats.org/markup-compatibility/2006">
              <mc:Choice xmlns:v="urn:schemas-microsoft-com:vml" Requires="v">
                <p:oleObj spid="_x0000_s3082" name="" r:id="rId2" imgW="6076950" imgH="2590800" progId="Word.Document.8">
                  <p:embed/>
                </p:oleObj>
              </mc:Choice>
              <mc:Fallback>
                <p:oleObj name="" r:id="rId2" imgW="6076950" imgH="2590800" progId="Word.Document.8">
                  <p:embed/>
                  <p:pic>
                    <p:nvPicPr>
                      <p:cNvPr id="0" name="图片 3081"/>
                      <p:cNvPicPr/>
                      <p:nvPr/>
                    </p:nvPicPr>
                    <p:blipFill>
                      <a:blip r:embed="rId3"/>
                      <a:stretch>
                        <a:fillRect/>
                      </a:stretch>
                    </p:blipFill>
                    <p:spPr>
                      <a:xfrm>
                        <a:off x="294640" y="2375535"/>
                        <a:ext cx="8394700" cy="386651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xEl>
                                              <p:charRg st="0" end="24"/>
                                            </p:txEl>
                                          </p:spTgt>
                                        </p:tgtEl>
                                        <p:attrNameLst>
                                          <p:attrName>style.visibility</p:attrName>
                                        </p:attrNameLst>
                                      </p:cBhvr>
                                      <p:to>
                                        <p:strVal val="visible"/>
                                      </p:to>
                                    </p:set>
                                    <p:animEffect transition="in" filter="wipe(down)">
                                      <p:cBhvr>
                                        <p:cTn id="7" dur="500"/>
                                        <p:tgtEl>
                                          <p:spTgt spid="11">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3559"/>
                                        </p:tgtEl>
                                        <p:attrNameLst>
                                          <p:attrName>style.visibility</p:attrName>
                                        </p:attrNameLst>
                                      </p:cBhvr>
                                      <p:to>
                                        <p:strVal val="visible"/>
                                      </p:to>
                                    </p:set>
                                    <p:animEffect transition="in" filter="wipe(down)">
                                      <p:cBhvr>
                                        <p:cTn id="17" dur="500"/>
                                        <p:tgtEl>
                                          <p:spTgt spid="2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矩形 71681"/>
          <p:cNvSpPr/>
          <p:nvPr/>
        </p:nvSpPr>
        <p:spPr>
          <a:xfrm>
            <a:off x="1905000" y="304800"/>
            <a:ext cx="4674235" cy="706755"/>
          </a:xfrm>
          <a:prstGeom prst="rect">
            <a:avLst/>
          </a:prstGeom>
          <a:noFill/>
          <a:ln w="9525">
            <a:noFill/>
          </a:ln>
        </p:spPr>
        <p:txBody>
          <a:bodyPr wrap="none" anchor="t" anchorCtr="0">
            <a:spAutoFit/>
          </a:bodyPr>
          <a:p>
            <a:r>
              <a:rPr lang="en-US" altLang="zh-CN" sz="4000">
                <a:solidFill>
                  <a:srgbClr val="FF3300"/>
                </a:solidFill>
                <a:latin typeface="Times New Roman" panose="02020603050405020304" pitchFamily="18" charset="0"/>
                <a:ea typeface="黑体" panose="02010609060101010101" pitchFamily="2" charset="-122"/>
              </a:rPr>
              <a:t>3  </a:t>
            </a:r>
            <a:r>
              <a:rPr lang="en-US" altLang="zh-CN" sz="4000" i="1">
                <a:solidFill>
                  <a:srgbClr val="FF3300"/>
                </a:solidFill>
                <a:latin typeface="Times New Roman" panose="02020603050405020304" pitchFamily="18" charset="0"/>
                <a:ea typeface="黑体" panose="02010609060101010101" pitchFamily="2" charset="-122"/>
              </a:rPr>
              <a:t>n </a:t>
            </a:r>
            <a:r>
              <a:rPr lang="zh-CN" altLang="en-US" sz="4000" dirty="0">
                <a:solidFill>
                  <a:srgbClr val="FF3300"/>
                </a:solidFill>
                <a:latin typeface="Times New Roman" panose="02020603050405020304" pitchFamily="18" charset="0"/>
                <a:ea typeface="黑体" panose="02010609060101010101" pitchFamily="2" charset="-122"/>
              </a:rPr>
              <a:t>阶行列式的定义</a:t>
            </a:r>
            <a:endParaRPr lang="zh-CN" altLang="en-US" sz="4000" dirty="0">
              <a:solidFill>
                <a:srgbClr val="FF3300"/>
              </a:solidFill>
              <a:latin typeface="Times New Roman" panose="02020603050405020304" pitchFamily="18" charset="0"/>
              <a:ea typeface="黑体" panose="02010609060101010101" pitchFamily="2" charset="-122"/>
            </a:endParaRPr>
          </a:p>
        </p:txBody>
      </p:sp>
      <p:graphicFrame>
        <p:nvGraphicFramePr>
          <p:cNvPr id="71683" name="对象 71682"/>
          <p:cNvGraphicFramePr/>
          <p:nvPr/>
        </p:nvGraphicFramePr>
        <p:xfrm>
          <a:off x="1022985" y="2072640"/>
          <a:ext cx="2991485" cy="1718310"/>
        </p:xfrm>
        <a:graphic>
          <a:graphicData uri="http://schemas.openxmlformats.org/presentationml/2006/ole">
            <mc:AlternateContent xmlns:mc="http://schemas.openxmlformats.org/markup-compatibility/2006">
              <mc:Choice xmlns:v="urn:schemas-microsoft-com:vml" Requires="v">
                <p:oleObj spid="_x0000_s3196" name="" r:id="rId1" imgW="1270000" imgH="711200" progId="Equation.3">
                  <p:embed/>
                </p:oleObj>
              </mc:Choice>
              <mc:Fallback>
                <p:oleObj name="" r:id="rId1" imgW="1270000" imgH="711200" progId="Equation.3">
                  <p:embed/>
                  <p:pic>
                    <p:nvPicPr>
                      <p:cNvPr id="0" name="图片 3195"/>
                      <p:cNvPicPr/>
                      <p:nvPr/>
                    </p:nvPicPr>
                    <p:blipFill>
                      <a:blip r:embed="rId2"/>
                      <a:stretch>
                        <a:fillRect/>
                      </a:stretch>
                    </p:blipFill>
                    <p:spPr>
                      <a:xfrm>
                        <a:off x="1022985" y="2072640"/>
                        <a:ext cx="2991485" cy="1718310"/>
                      </a:xfrm>
                      <a:prstGeom prst="rect">
                        <a:avLst/>
                      </a:prstGeom>
                      <a:noFill/>
                      <a:ln w="38100">
                        <a:noFill/>
                        <a:miter/>
                      </a:ln>
                    </p:spPr>
                  </p:pic>
                </p:oleObj>
              </mc:Fallback>
            </mc:AlternateContent>
          </a:graphicData>
        </a:graphic>
      </p:graphicFrame>
      <p:graphicFrame>
        <p:nvGraphicFramePr>
          <p:cNvPr id="71684" name="对象 71683"/>
          <p:cNvGraphicFramePr/>
          <p:nvPr/>
        </p:nvGraphicFramePr>
        <p:xfrm>
          <a:off x="4015740" y="2578100"/>
          <a:ext cx="4368165" cy="622935"/>
        </p:xfrm>
        <a:graphic>
          <a:graphicData uri="http://schemas.openxmlformats.org/presentationml/2006/ole">
            <mc:AlternateContent xmlns:mc="http://schemas.openxmlformats.org/markup-compatibility/2006">
              <mc:Choice xmlns:v="urn:schemas-microsoft-com:vml" Requires="v">
                <p:oleObj spid="_x0000_s3194" name="" r:id="rId3" imgW="1955800" imgH="228600" progId="Equation.3">
                  <p:embed/>
                </p:oleObj>
              </mc:Choice>
              <mc:Fallback>
                <p:oleObj name="" r:id="rId3" imgW="1955800" imgH="228600" progId="Equation.3">
                  <p:embed/>
                  <p:pic>
                    <p:nvPicPr>
                      <p:cNvPr id="0" name="图片 3193"/>
                      <p:cNvPicPr/>
                      <p:nvPr/>
                    </p:nvPicPr>
                    <p:blipFill>
                      <a:blip r:embed="rId4"/>
                      <a:stretch>
                        <a:fillRect/>
                      </a:stretch>
                    </p:blipFill>
                    <p:spPr>
                      <a:xfrm>
                        <a:off x="4015740" y="2578100"/>
                        <a:ext cx="4368165" cy="622935"/>
                      </a:xfrm>
                      <a:prstGeom prst="rect">
                        <a:avLst/>
                      </a:prstGeom>
                      <a:noFill/>
                      <a:ln w="38100">
                        <a:noFill/>
                        <a:miter/>
                      </a:ln>
                    </p:spPr>
                  </p:pic>
                </p:oleObj>
              </mc:Fallback>
            </mc:AlternateContent>
          </a:graphicData>
        </a:graphic>
      </p:graphicFrame>
      <p:graphicFrame>
        <p:nvGraphicFramePr>
          <p:cNvPr id="71685" name="对象 71684"/>
          <p:cNvGraphicFramePr/>
          <p:nvPr/>
        </p:nvGraphicFramePr>
        <p:xfrm>
          <a:off x="4108450" y="3185795"/>
          <a:ext cx="4296410" cy="604520"/>
        </p:xfrm>
        <a:graphic>
          <a:graphicData uri="http://schemas.openxmlformats.org/presentationml/2006/ole">
            <mc:AlternateContent xmlns:mc="http://schemas.openxmlformats.org/markup-compatibility/2006">
              <mc:Choice xmlns:v="urn:schemas-microsoft-com:vml" Requires="v">
                <p:oleObj spid="_x0000_s3197" name="" r:id="rId5" imgW="1943100" imgH="228600" progId="Equation.3">
                  <p:embed/>
                </p:oleObj>
              </mc:Choice>
              <mc:Fallback>
                <p:oleObj name="" r:id="rId5" imgW="1943100" imgH="228600" progId="Equation.3">
                  <p:embed/>
                  <p:pic>
                    <p:nvPicPr>
                      <p:cNvPr id="0" name="图片 3196"/>
                      <p:cNvPicPr/>
                      <p:nvPr/>
                    </p:nvPicPr>
                    <p:blipFill>
                      <a:blip r:embed="rId6"/>
                      <a:stretch>
                        <a:fillRect/>
                      </a:stretch>
                    </p:blipFill>
                    <p:spPr>
                      <a:xfrm>
                        <a:off x="4108450" y="3185795"/>
                        <a:ext cx="4296410" cy="604520"/>
                      </a:xfrm>
                      <a:prstGeom prst="rect">
                        <a:avLst/>
                      </a:prstGeom>
                      <a:noFill/>
                      <a:ln w="38100">
                        <a:noFill/>
                        <a:miter/>
                      </a:ln>
                    </p:spPr>
                  </p:pic>
                </p:oleObj>
              </mc:Fallback>
            </mc:AlternateContent>
          </a:graphicData>
        </a:graphic>
      </p:graphicFrame>
      <p:sp>
        <p:nvSpPr>
          <p:cNvPr id="71686" name="矩形 71685"/>
          <p:cNvSpPr/>
          <p:nvPr/>
        </p:nvSpPr>
        <p:spPr>
          <a:xfrm>
            <a:off x="1079500" y="990600"/>
            <a:ext cx="2935605" cy="645160"/>
          </a:xfrm>
          <a:prstGeom prst="rect">
            <a:avLst/>
          </a:prstGeom>
          <a:noFill/>
          <a:ln w="9525">
            <a:noFill/>
          </a:ln>
        </p:spPr>
        <p:txBody>
          <a:bodyPr wrap="none" anchor="t" anchorCtr="0">
            <a:spAutoFit/>
          </a:bodyPr>
          <a:p>
            <a:r>
              <a:rPr lang="en-US" altLang="zh-CN" sz="3600" dirty="0">
                <a:solidFill>
                  <a:srgbClr val="0000FF"/>
                </a:solidFill>
                <a:latin typeface="Times New Roman" panose="02020603050405020304" pitchFamily="18" charset="0"/>
                <a:ea typeface="黑体" panose="02010609060101010101" pitchFamily="2" charset="-122"/>
              </a:rPr>
              <a:t>1. </a:t>
            </a:r>
            <a:r>
              <a:rPr lang="zh-CN" altLang="en-US" sz="3600" dirty="0">
                <a:solidFill>
                  <a:srgbClr val="0000FF"/>
                </a:solidFill>
                <a:latin typeface="Times New Roman" panose="02020603050405020304" pitchFamily="18" charset="0"/>
                <a:ea typeface="黑体" panose="02010609060101010101" pitchFamily="2" charset="-122"/>
              </a:rPr>
              <a:t>概念的引入</a:t>
            </a:r>
            <a:endParaRPr lang="zh-CN" altLang="en-US" sz="3600" dirty="0">
              <a:solidFill>
                <a:srgbClr val="0000FF"/>
              </a:solidFill>
              <a:latin typeface="Times New Roman" panose="02020603050405020304" pitchFamily="18" charset="0"/>
              <a:ea typeface="黑体" panose="02010609060101010101" pitchFamily="2" charset="-122"/>
            </a:endParaRPr>
          </a:p>
        </p:txBody>
      </p:sp>
      <p:sp>
        <p:nvSpPr>
          <p:cNvPr id="71687" name="矩形 71686"/>
          <p:cNvSpPr/>
          <p:nvPr/>
        </p:nvSpPr>
        <p:spPr>
          <a:xfrm>
            <a:off x="1079500" y="1600200"/>
            <a:ext cx="1970088" cy="519113"/>
          </a:xfrm>
          <a:prstGeom prst="rect">
            <a:avLst/>
          </a:prstGeom>
          <a:noFill/>
          <a:ln w="9525">
            <a:noFill/>
          </a:ln>
        </p:spPr>
        <p:txBody>
          <a:bodyPr wrap="none" anchor="t" anchorCtr="0">
            <a:spAutoFit/>
          </a:bodyPr>
          <a:p>
            <a:r>
              <a:rPr lang="zh-CN" altLang="en-US" dirty="0">
                <a:solidFill>
                  <a:srgbClr val="0000FF"/>
                </a:solidFill>
                <a:latin typeface="Times New Roman" panose="02020603050405020304" pitchFamily="18" charset="0"/>
              </a:rPr>
              <a:t>三阶行列式</a:t>
            </a:r>
            <a:endParaRPr lang="zh-CN" altLang="en-US" dirty="0">
              <a:solidFill>
                <a:srgbClr val="0000FF"/>
              </a:solidFill>
              <a:latin typeface="Times New Roman" panose="02020603050405020304" pitchFamily="18" charset="0"/>
            </a:endParaRPr>
          </a:p>
        </p:txBody>
      </p:sp>
      <p:sp>
        <p:nvSpPr>
          <p:cNvPr id="71688" name="矩形 71687"/>
          <p:cNvSpPr/>
          <p:nvPr/>
        </p:nvSpPr>
        <p:spPr>
          <a:xfrm>
            <a:off x="1079500" y="3869690"/>
            <a:ext cx="5805805" cy="594360"/>
          </a:xfrm>
          <a:prstGeom prst="rect">
            <a:avLst/>
          </a:prstGeom>
          <a:noFill/>
          <a:ln w="9525">
            <a:noFill/>
          </a:ln>
        </p:spPr>
        <p:txBody>
          <a:bodyPr wrap="none" anchor="t" anchorCtr="0">
            <a:noAutofit/>
          </a:bodyPr>
          <a:p>
            <a:r>
              <a:rPr lang="zh-CN" altLang="en-US" dirty="0">
                <a:solidFill>
                  <a:srgbClr val="0000FF"/>
                </a:solidFill>
                <a:latin typeface="Times New Roman" panose="02020603050405020304" pitchFamily="18" charset="0"/>
                <a:ea typeface="黑体" panose="02010609060101010101" pitchFamily="2" charset="-122"/>
              </a:rPr>
              <a:t>说明</a:t>
            </a:r>
            <a:r>
              <a:rPr lang="en-US" altLang="zh-CN">
                <a:solidFill>
                  <a:srgbClr val="0000FF"/>
                </a:solidFill>
                <a:latin typeface="Times New Roman" panose="02020603050405020304" pitchFamily="18" charset="0"/>
                <a:ea typeface="黑体" panose="02010609060101010101" pitchFamily="2" charset="-122"/>
              </a:rPr>
              <a:t>(1)  </a:t>
            </a:r>
            <a:r>
              <a:rPr lang="zh-CN" altLang="en-US" dirty="0">
                <a:latin typeface="Times New Roman" panose="02020603050405020304" pitchFamily="18" charset="0"/>
              </a:rPr>
              <a:t>三阶行列式共有</a:t>
            </a:r>
            <a:r>
              <a:rPr lang="en-US" altLang="zh-CN">
                <a:latin typeface="Times New Roman" panose="02020603050405020304" pitchFamily="18" charset="0"/>
              </a:rPr>
              <a:t>6</a:t>
            </a:r>
            <a:r>
              <a:rPr lang="zh-CN" altLang="en-US" dirty="0">
                <a:latin typeface="Times New Roman" panose="02020603050405020304" pitchFamily="18" charset="0"/>
              </a:rPr>
              <a:t>项</a:t>
            </a:r>
            <a:r>
              <a:rPr lang="en-US" altLang="zh-CN">
                <a:latin typeface="Times New Roman" panose="02020603050405020304" pitchFamily="18" charset="0"/>
              </a:rPr>
              <a:t>, </a:t>
            </a:r>
            <a:r>
              <a:rPr lang="zh-CN" altLang="en-US" dirty="0">
                <a:latin typeface="Times New Roman" panose="02020603050405020304" pitchFamily="18" charset="0"/>
              </a:rPr>
              <a:t>即</a:t>
            </a:r>
            <a:r>
              <a:rPr lang="en-US" altLang="zh-CN">
                <a:latin typeface="Times New Roman" panose="02020603050405020304" pitchFamily="18" charset="0"/>
              </a:rPr>
              <a:t>3!</a:t>
            </a:r>
            <a:r>
              <a:rPr lang="zh-CN" altLang="en-US" dirty="0">
                <a:latin typeface="Times New Roman" panose="02020603050405020304" pitchFamily="18" charset="0"/>
              </a:rPr>
              <a:t>项</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71689" name="矩形 71688"/>
          <p:cNvSpPr/>
          <p:nvPr/>
        </p:nvSpPr>
        <p:spPr>
          <a:xfrm>
            <a:off x="358775" y="4436110"/>
            <a:ext cx="8456930" cy="949325"/>
          </a:xfrm>
          <a:prstGeom prst="rect">
            <a:avLst/>
          </a:prstGeom>
          <a:noFill/>
          <a:ln w="9525">
            <a:noFill/>
          </a:ln>
        </p:spPr>
        <p:txBody>
          <a:bodyPr anchor="t" anchorCtr="0">
            <a:noAutofit/>
          </a:bodyPr>
          <a:p>
            <a:r>
              <a:rPr lang="en-US" altLang="zh-CN" dirty="0">
                <a:solidFill>
                  <a:srgbClr val="0000FF"/>
                </a:solidFill>
                <a:latin typeface="Times New Roman" panose="02020603050405020304" pitchFamily="18" charset="0"/>
                <a:ea typeface="黑体" panose="02010609060101010101" pitchFamily="2" charset="-122"/>
              </a:rPr>
              <a:t>        </a:t>
            </a:r>
            <a:r>
              <a:rPr lang="zh-CN" altLang="en-US" dirty="0">
                <a:solidFill>
                  <a:srgbClr val="0000FF"/>
                </a:solidFill>
                <a:latin typeface="Times New Roman" panose="02020603050405020304" pitchFamily="18" charset="0"/>
                <a:ea typeface="黑体" panose="02010609060101010101" pitchFamily="2" charset="-122"/>
              </a:rPr>
              <a:t>说明</a:t>
            </a:r>
            <a:r>
              <a:rPr lang="en-US" altLang="zh-CN">
                <a:solidFill>
                  <a:srgbClr val="0000FF"/>
                </a:solidFill>
                <a:latin typeface="Times New Roman" panose="02020603050405020304" pitchFamily="18" charset="0"/>
                <a:ea typeface="黑体" panose="02010609060101010101" pitchFamily="2" charset="-122"/>
              </a:rPr>
              <a:t>(2)  </a:t>
            </a:r>
            <a:r>
              <a:rPr lang="zh-CN" altLang="en-US" dirty="0">
                <a:latin typeface="Times New Roman" panose="02020603050405020304" pitchFamily="18" charset="0"/>
              </a:rPr>
              <a:t>每项都是位于不同行不同列的三个元素的乘积</a:t>
            </a:r>
            <a:r>
              <a:rPr lang="en-US" altLang="zh-CN">
                <a:latin typeface="Times New Roman" panose="02020603050405020304" pitchFamily="18" charset="0"/>
              </a:rPr>
              <a:t>.  </a:t>
            </a:r>
            <a:endParaRPr lang="en-US" altLang="zh-CN">
              <a:latin typeface="Times New Roman" panose="02020603050405020304" pitchFamily="18" charset="0"/>
            </a:endParaRPr>
          </a:p>
        </p:txBody>
      </p:sp>
      <p:sp>
        <p:nvSpPr>
          <p:cNvPr id="71690" name="矩形 71689"/>
          <p:cNvSpPr/>
          <p:nvPr/>
        </p:nvSpPr>
        <p:spPr>
          <a:xfrm>
            <a:off x="358775" y="5375910"/>
            <a:ext cx="8456930" cy="993775"/>
          </a:xfrm>
          <a:prstGeom prst="rect">
            <a:avLst/>
          </a:prstGeom>
          <a:noFill/>
          <a:ln w="9525">
            <a:noFill/>
          </a:ln>
        </p:spPr>
        <p:txBody>
          <a:bodyPr anchor="t" anchorCtr="0">
            <a:noAutofit/>
          </a:bodyPr>
          <a:p>
            <a:r>
              <a:rPr lang="en-US" altLang="zh-CN" dirty="0">
                <a:solidFill>
                  <a:srgbClr val="0000FF"/>
                </a:solidFill>
                <a:latin typeface="Times New Roman" panose="02020603050405020304" pitchFamily="18" charset="0"/>
                <a:ea typeface="黑体" panose="02010609060101010101" pitchFamily="2" charset="-122"/>
              </a:rPr>
              <a:t>        </a:t>
            </a:r>
            <a:r>
              <a:rPr lang="zh-CN" altLang="en-US" dirty="0">
                <a:solidFill>
                  <a:srgbClr val="0000FF"/>
                </a:solidFill>
                <a:latin typeface="Times New Roman" panose="02020603050405020304" pitchFamily="18" charset="0"/>
                <a:ea typeface="黑体" panose="02010609060101010101" pitchFamily="2" charset="-122"/>
              </a:rPr>
              <a:t>说明</a:t>
            </a:r>
            <a:r>
              <a:rPr lang="en-US" altLang="zh-CN">
                <a:solidFill>
                  <a:srgbClr val="0000FF"/>
                </a:solidFill>
                <a:latin typeface="Times New Roman" panose="02020603050405020304" pitchFamily="18" charset="0"/>
                <a:ea typeface="黑体" panose="02010609060101010101" pitchFamily="2" charset="-122"/>
              </a:rPr>
              <a:t>(3)  </a:t>
            </a:r>
            <a:r>
              <a:rPr lang="zh-CN" altLang="en-US" dirty="0">
                <a:latin typeface="Times New Roman" panose="02020603050405020304" pitchFamily="18" charset="0"/>
              </a:rPr>
              <a:t>每项的正负号都取决于位于不同行不同列的三个元素的列标排列的逆序数</a:t>
            </a:r>
            <a:r>
              <a:rPr lang="en-US" altLang="zh-CN">
                <a:latin typeface="Times New Roman" panose="02020603050405020304" pitchFamily="18" charset="0"/>
              </a:rPr>
              <a:t>(</a:t>
            </a:r>
            <a:r>
              <a:rPr lang="zh-CN" altLang="en-US" dirty="0">
                <a:latin typeface="Times New Roman" panose="02020603050405020304" pitchFamily="18" charset="0"/>
              </a:rPr>
              <a:t>行标为自然排序</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1686">
                                            <p:txEl>
                                              <p:charRg st="0" end="8"/>
                                            </p:txEl>
                                          </p:spTgt>
                                        </p:tgtEl>
                                        <p:attrNameLst>
                                          <p:attrName>style.visibility</p:attrName>
                                        </p:attrNameLst>
                                      </p:cBhvr>
                                      <p:to>
                                        <p:strVal val="visible"/>
                                      </p:to>
                                    </p:set>
                                    <p:animEffect transition="in" filter="box(out)">
                                      <p:cBhvr>
                                        <p:cTn id="7" dur="500"/>
                                        <p:tgtEl>
                                          <p:spTgt spid="71686">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1687">
                                            <p:txEl>
                                              <p:charRg st="0" end="6"/>
                                            </p:txEl>
                                          </p:spTgt>
                                        </p:tgtEl>
                                        <p:attrNameLst>
                                          <p:attrName>style.visibility</p:attrName>
                                        </p:attrNameLst>
                                      </p:cBhvr>
                                      <p:to>
                                        <p:strVal val="visible"/>
                                      </p:to>
                                    </p:set>
                                    <p:animEffect transition="in" filter="box(out)">
                                      <p:cBhvr>
                                        <p:cTn id="12" dur="500"/>
                                        <p:tgtEl>
                                          <p:spTgt spid="71687">
                                            <p:txEl>
                                              <p:charRg st="0" end="6"/>
                                            </p:txEl>
                                          </p:spTgt>
                                        </p:tgtEl>
                                      </p:cBhvr>
                                    </p:animEffect>
                                  </p:childTnLst>
                                </p:cTn>
                              </p:par>
                            </p:childTnLst>
                          </p:cTn>
                        </p:par>
                        <p:par>
                          <p:cTn id="13" fill="hold">
                            <p:stCondLst>
                              <p:cond delay="500"/>
                            </p:stCondLst>
                            <p:childTnLst>
                              <p:par>
                                <p:cTn id="14" presetID="4" presetClass="entr" presetSubtype="32" fill="hold" nodeType="afterEffect">
                                  <p:stCondLst>
                                    <p:cond delay="0"/>
                                  </p:stCondLst>
                                  <p:childTnLst>
                                    <p:set>
                                      <p:cBhvr>
                                        <p:cTn id="15" dur="1" fill="hold">
                                          <p:stCondLst>
                                            <p:cond delay="0"/>
                                          </p:stCondLst>
                                        </p:cTn>
                                        <p:tgtEl>
                                          <p:spTgt spid="71683"/>
                                        </p:tgtEl>
                                        <p:attrNameLst>
                                          <p:attrName>style.visibility</p:attrName>
                                        </p:attrNameLst>
                                      </p:cBhvr>
                                      <p:to>
                                        <p:strVal val="visible"/>
                                      </p:to>
                                    </p:set>
                                    <p:animEffect transition="in" filter="box(out)">
                                      <p:cBhvr>
                                        <p:cTn id="16" dur="500"/>
                                        <p:tgtEl>
                                          <p:spTgt spid="71683"/>
                                        </p:tgtEl>
                                      </p:cBhvr>
                                    </p:animEffect>
                                  </p:childTnLst>
                                </p:cTn>
                              </p:par>
                            </p:childTnLst>
                          </p:cTn>
                        </p:par>
                        <p:par>
                          <p:cTn id="17" fill="hold">
                            <p:stCondLst>
                              <p:cond delay="1000"/>
                            </p:stCondLst>
                            <p:childTnLst>
                              <p:par>
                                <p:cTn id="18" presetID="4" presetClass="entr" presetSubtype="32" fill="hold" nodeType="afterEffect">
                                  <p:stCondLst>
                                    <p:cond delay="0"/>
                                  </p:stCondLst>
                                  <p:childTnLst>
                                    <p:set>
                                      <p:cBhvr>
                                        <p:cTn id="19" dur="1" fill="hold">
                                          <p:stCondLst>
                                            <p:cond delay="0"/>
                                          </p:stCondLst>
                                        </p:cTn>
                                        <p:tgtEl>
                                          <p:spTgt spid="71684"/>
                                        </p:tgtEl>
                                        <p:attrNameLst>
                                          <p:attrName>style.visibility</p:attrName>
                                        </p:attrNameLst>
                                      </p:cBhvr>
                                      <p:to>
                                        <p:strVal val="visible"/>
                                      </p:to>
                                    </p:set>
                                    <p:animEffect transition="in" filter="box(out)">
                                      <p:cBhvr>
                                        <p:cTn id="20" dur="500"/>
                                        <p:tgtEl>
                                          <p:spTgt spid="71684"/>
                                        </p:tgtEl>
                                      </p:cBhvr>
                                    </p:animEffect>
                                  </p:childTnLst>
                                </p:cTn>
                              </p:par>
                            </p:childTnLst>
                          </p:cTn>
                        </p:par>
                        <p:par>
                          <p:cTn id="21" fill="hold">
                            <p:stCondLst>
                              <p:cond delay="1500"/>
                            </p:stCondLst>
                            <p:childTnLst>
                              <p:par>
                                <p:cTn id="22" presetID="4" presetClass="entr" presetSubtype="32" fill="hold" nodeType="afterEffect">
                                  <p:stCondLst>
                                    <p:cond delay="0"/>
                                  </p:stCondLst>
                                  <p:childTnLst>
                                    <p:set>
                                      <p:cBhvr>
                                        <p:cTn id="23" dur="1" fill="hold">
                                          <p:stCondLst>
                                            <p:cond delay="0"/>
                                          </p:stCondLst>
                                        </p:cTn>
                                        <p:tgtEl>
                                          <p:spTgt spid="71685"/>
                                        </p:tgtEl>
                                        <p:attrNameLst>
                                          <p:attrName>style.visibility</p:attrName>
                                        </p:attrNameLst>
                                      </p:cBhvr>
                                      <p:to>
                                        <p:strVal val="visible"/>
                                      </p:to>
                                    </p:set>
                                    <p:animEffect transition="in" filter="box(out)">
                                      <p:cBhvr>
                                        <p:cTn id="24" dur="500"/>
                                        <p:tgtEl>
                                          <p:spTgt spid="71685"/>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71688">
                                            <p:txEl>
                                              <p:charRg st="0" end="24"/>
                                            </p:txEl>
                                          </p:spTgt>
                                        </p:tgtEl>
                                        <p:attrNameLst>
                                          <p:attrName>style.visibility</p:attrName>
                                        </p:attrNameLst>
                                      </p:cBhvr>
                                      <p:to>
                                        <p:strVal val="visible"/>
                                      </p:to>
                                    </p:set>
                                    <p:animEffect transition="in" filter="box(out)">
                                      <p:cBhvr>
                                        <p:cTn id="29" dur="500"/>
                                        <p:tgtEl>
                                          <p:spTgt spid="71688">
                                            <p:txEl>
                                              <p:charRg st="0" end="2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71689">
                                            <p:txEl>
                                              <p:charRg st="0" end="39"/>
                                            </p:txEl>
                                          </p:spTgt>
                                        </p:tgtEl>
                                        <p:attrNameLst>
                                          <p:attrName>style.visibility</p:attrName>
                                        </p:attrNameLst>
                                      </p:cBhvr>
                                      <p:to>
                                        <p:strVal val="visible"/>
                                      </p:to>
                                    </p:set>
                                    <p:animEffect transition="in" filter="box(out)">
                                      <p:cBhvr>
                                        <p:cTn id="34" dur="500"/>
                                        <p:tgtEl>
                                          <p:spTgt spid="71689">
                                            <p:txEl>
                                              <p:charRg st="0" end="3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71690">
                                            <p:txEl>
                                              <p:charRg st="0" end="58"/>
                                            </p:txEl>
                                          </p:spTgt>
                                        </p:tgtEl>
                                        <p:attrNameLst>
                                          <p:attrName>style.visibility</p:attrName>
                                        </p:attrNameLst>
                                      </p:cBhvr>
                                      <p:to>
                                        <p:strVal val="visible"/>
                                      </p:to>
                                    </p:set>
                                    <p:animEffect transition="in" filter="box(out)">
                                      <p:cBhvr>
                                        <p:cTn id="39" dur="500"/>
                                        <p:tgtEl>
                                          <p:spTgt spid="71690">
                                            <p:txEl>
                                              <p:charRg st="0" end="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6" grpId="0" build="p"/>
      <p:bldP spid="71687" grpId="0" build="p"/>
      <p:bldP spid="71688" grpId="0" build="p"/>
      <p:bldP spid="71689" grpId="0" build="p"/>
      <p:bldP spid="7169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文本框 72705"/>
          <p:cNvSpPr txBox="1"/>
          <p:nvPr>
            <p:custDataLst>
              <p:tags r:id="rId1"/>
            </p:custDataLst>
          </p:nvPr>
        </p:nvSpPr>
        <p:spPr>
          <a:xfrm>
            <a:off x="358775" y="304800"/>
            <a:ext cx="8456613" cy="946150"/>
          </a:xfrm>
          <a:prstGeom prst="rect">
            <a:avLst/>
          </a:prstGeom>
          <a:noFill/>
          <a:ln w="9525">
            <a:noFill/>
          </a:ln>
        </p:spPr>
        <p:txBody>
          <a:bodyPr anchor="t" anchorCtr="0">
            <a:spAutoFit/>
          </a:bodyPr>
          <a:p>
            <a:r>
              <a:rPr lang="en-US" altLang="zh-CN" dirty="0">
                <a:latin typeface="Times New Roman" panose="02020603050405020304" pitchFamily="18" charset="0"/>
              </a:rPr>
              <a:t>       </a:t>
            </a:r>
            <a:r>
              <a:rPr lang="zh-CN" altLang="en-US" dirty="0">
                <a:latin typeface="Times New Roman" panose="02020603050405020304" pitchFamily="18" charset="0"/>
              </a:rPr>
              <a:t>例如 </a:t>
            </a:r>
            <a:r>
              <a:rPr lang="en-US" altLang="zh-CN" i="1">
                <a:solidFill>
                  <a:srgbClr val="FF3300"/>
                </a:solidFill>
                <a:latin typeface="Times New Roman" panose="02020603050405020304" pitchFamily="18" charset="0"/>
              </a:rPr>
              <a:t>a</a:t>
            </a:r>
            <a:r>
              <a:rPr lang="en-US" altLang="zh-CN" baseline="-25000">
                <a:solidFill>
                  <a:srgbClr val="FF3300"/>
                </a:solidFill>
                <a:latin typeface="Times New Roman" panose="02020603050405020304" pitchFamily="18" charset="0"/>
              </a:rPr>
              <a:t>13</a:t>
            </a:r>
            <a:r>
              <a:rPr lang="en-US" altLang="zh-CN" i="1">
                <a:solidFill>
                  <a:srgbClr val="FF3300"/>
                </a:solidFill>
                <a:latin typeface="Times New Roman" panose="02020603050405020304" pitchFamily="18" charset="0"/>
              </a:rPr>
              <a:t>a</a:t>
            </a:r>
            <a:r>
              <a:rPr lang="en-US" altLang="zh-CN" baseline="-25000">
                <a:solidFill>
                  <a:srgbClr val="FF3300"/>
                </a:solidFill>
                <a:latin typeface="Times New Roman" panose="02020603050405020304" pitchFamily="18" charset="0"/>
              </a:rPr>
              <a:t>21</a:t>
            </a:r>
            <a:r>
              <a:rPr lang="en-US" altLang="zh-CN" i="1">
                <a:solidFill>
                  <a:srgbClr val="FF3300"/>
                </a:solidFill>
                <a:latin typeface="Times New Roman" panose="02020603050405020304" pitchFamily="18" charset="0"/>
              </a:rPr>
              <a:t>a</a:t>
            </a:r>
            <a:r>
              <a:rPr lang="en-US" altLang="zh-CN" baseline="-25000">
                <a:solidFill>
                  <a:srgbClr val="FF3300"/>
                </a:solidFill>
                <a:latin typeface="Times New Roman" panose="02020603050405020304" pitchFamily="18" charset="0"/>
              </a:rPr>
              <a:t>32</a:t>
            </a:r>
            <a:r>
              <a:rPr lang="en-US" altLang="zh-CN">
                <a:latin typeface="Times New Roman" panose="02020603050405020304" pitchFamily="18" charset="0"/>
              </a:rPr>
              <a:t>, </a:t>
            </a:r>
            <a:r>
              <a:rPr lang="zh-CN" altLang="en-US" dirty="0">
                <a:latin typeface="Times New Roman" panose="02020603050405020304" pitchFamily="18" charset="0"/>
              </a:rPr>
              <a:t>将行下标标准排列</a:t>
            </a:r>
            <a:r>
              <a:rPr lang="en-US" altLang="zh-CN">
                <a:latin typeface="Times New Roman" panose="02020603050405020304" pitchFamily="18" charset="0"/>
              </a:rPr>
              <a:t>, </a:t>
            </a:r>
            <a:r>
              <a:rPr lang="zh-CN" altLang="en-US" dirty="0">
                <a:latin typeface="Times New Roman" panose="02020603050405020304" pitchFamily="18" charset="0"/>
              </a:rPr>
              <a:t>列下标排列</a:t>
            </a:r>
            <a:r>
              <a:rPr lang="en-US" altLang="zh-CN">
                <a:latin typeface="Times New Roman" panose="02020603050405020304" pitchFamily="18" charset="0"/>
              </a:rPr>
              <a:t>312</a:t>
            </a:r>
            <a:r>
              <a:rPr lang="zh-CN" altLang="en-US" dirty="0">
                <a:latin typeface="Times New Roman" panose="02020603050405020304" pitchFamily="18" charset="0"/>
              </a:rPr>
              <a:t>的逆序数为</a:t>
            </a:r>
            <a:endParaRPr lang="zh-CN" altLang="en-US" dirty="0">
              <a:latin typeface="Times New Roman" panose="02020603050405020304" pitchFamily="18" charset="0"/>
            </a:endParaRPr>
          </a:p>
        </p:txBody>
      </p:sp>
      <p:graphicFrame>
        <p:nvGraphicFramePr>
          <p:cNvPr id="72707" name="对象 72706"/>
          <p:cNvGraphicFramePr/>
          <p:nvPr/>
        </p:nvGraphicFramePr>
        <p:xfrm>
          <a:off x="1631633" y="3116580"/>
          <a:ext cx="4834890" cy="1611630"/>
        </p:xfrm>
        <a:graphic>
          <a:graphicData uri="http://schemas.openxmlformats.org/presentationml/2006/ole">
            <mc:AlternateContent xmlns:mc="http://schemas.openxmlformats.org/markup-compatibility/2006">
              <mc:Choice xmlns:v="urn:schemas-microsoft-com:vml" Requires="v">
                <p:oleObj spid="_x0000_s3195" name="" r:id="rId2" imgW="2552700" imgH="711200" progId="Equation.3">
                  <p:embed/>
                </p:oleObj>
              </mc:Choice>
              <mc:Fallback>
                <p:oleObj name="" r:id="rId2" imgW="2552700" imgH="711200" progId="Equation.3">
                  <p:embed/>
                  <p:pic>
                    <p:nvPicPr>
                      <p:cNvPr id="0" name="图片 3194"/>
                      <p:cNvPicPr/>
                      <p:nvPr/>
                    </p:nvPicPr>
                    <p:blipFill>
                      <a:blip r:embed="rId3"/>
                      <a:stretch>
                        <a:fillRect/>
                      </a:stretch>
                    </p:blipFill>
                    <p:spPr>
                      <a:xfrm>
                        <a:off x="1631633" y="3116580"/>
                        <a:ext cx="4834890" cy="1611630"/>
                      </a:xfrm>
                      <a:prstGeom prst="rect">
                        <a:avLst/>
                      </a:prstGeom>
                      <a:noFill/>
                      <a:ln w="38100">
                        <a:noFill/>
                        <a:miter/>
                      </a:ln>
                    </p:spPr>
                  </p:pic>
                </p:oleObj>
              </mc:Fallback>
            </mc:AlternateContent>
          </a:graphicData>
        </a:graphic>
      </p:graphicFrame>
      <p:sp>
        <p:nvSpPr>
          <p:cNvPr id="72708" name="文本框 72707"/>
          <p:cNvSpPr txBox="1"/>
          <p:nvPr>
            <p:custDataLst>
              <p:tags r:id="rId4"/>
            </p:custDataLst>
          </p:nvPr>
        </p:nvSpPr>
        <p:spPr>
          <a:xfrm>
            <a:off x="1079500" y="1196975"/>
            <a:ext cx="7331710" cy="521970"/>
          </a:xfrm>
          <a:prstGeom prst="rect">
            <a:avLst/>
          </a:prstGeom>
          <a:noFill/>
          <a:ln w="9525">
            <a:noFill/>
          </a:ln>
        </p:spPr>
        <p:txBody>
          <a:bodyPr wrap="none" anchor="t" anchorCtr="0">
            <a:spAutoFit/>
          </a:bodyPr>
          <a:p>
            <a:pPr algn="l"/>
            <a:r>
              <a:rPr lang="en-US" altLang="zh-CN" i="1">
                <a:latin typeface="仿宋" panose="02010609060101010101" charset="-122"/>
                <a:ea typeface="仿宋" panose="02010609060101010101" charset="-122"/>
                <a:sym typeface="+mn-ea"/>
              </a:rPr>
              <a:t>τ</a:t>
            </a:r>
            <a:r>
              <a:rPr lang="en-US" altLang="zh-CN" i="1">
                <a:latin typeface="Times New Roman" panose="02020603050405020304" pitchFamily="18" charset="0"/>
              </a:rPr>
              <a:t> </a:t>
            </a:r>
            <a:r>
              <a:rPr lang="en-US" altLang="zh-CN">
                <a:latin typeface="Times New Roman" panose="02020603050405020304" pitchFamily="18" charset="0"/>
              </a:rPr>
              <a:t>(312)=1+1=2, </a:t>
            </a:r>
            <a:r>
              <a:rPr lang="zh-CN" altLang="en-US" dirty="0">
                <a:latin typeface="Times New Roman" panose="02020603050405020304" pitchFamily="18" charset="0"/>
              </a:rPr>
              <a:t>偶排列</a:t>
            </a:r>
            <a:r>
              <a:rPr lang="en-US" altLang="zh-CN">
                <a:latin typeface="Times New Roman" panose="02020603050405020304" pitchFamily="18" charset="0"/>
              </a:rPr>
              <a:t>. </a:t>
            </a:r>
            <a:r>
              <a:rPr lang="en-US" altLang="zh-CN" i="1">
                <a:solidFill>
                  <a:srgbClr val="FF3300"/>
                </a:solidFill>
                <a:latin typeface="Times New Roman" panose="02020603050405020304" pitchFamily="18" charset="0"/>
              </a:rPr>
              <a:t>a</a:t>
            </a:r>
            <a:r>
              <a:rPr lang="en-US" altLang="zh-CN" baseline="-25000">
                <a:solidFill>
                  <a:srgbClr val="FF3300"/>
                </a:solidFill>
                <a:latin typeface="Times New Roman" panose="02020603050405020304" pitchFamily="18" charset="0"/>
              </a:rPr>
              <a:t>13</a:t>
            </a:r>
            <a:r>
              <a:rPr lang="en-US" altLang="zh-CN" i="1">
                <a:solidFill>
                  <a:srgbClr val="FF3300"/>
                </a:solidFill>
                <a:latin typeface="Times New Roman" panose="02020603050405020304" pitchFamily="18" charset="0"/>
              </a:rPr>
              <a:t>a</a:t>
            </a:r>
            <a:r>
              <a:rPr lang="en-US" altLang="zh-CN" baseline="-25000">
                <a:solidFill>
                  <a:srgbClr val="FF3300"/>
                </a:solidFill>
                <a:latin typeface="Times New Roman" panose="02020603050405020304" pitchFamily="18" charset="0"/>
              </a:rPr>
              <a:t>21</a:t>
            </a:r>
            <a:r>
              <a:rPr lang="en-US" altLang="zh-CN" i="1">
                <a:solidFill>
                  <a:srgbClr val="FF3300"/>
                </a:solidFill>
                <a:latin typeface="Times New Roman" panose="02020603050405020304" pitchFamily="18" charset="0"/>
              </a:rPr>
              <a:t>a</a:t>
            </a:r>
            <a:r>
              <a:rPr lang="en-US" altLang="zh-CN" baseline="-25000">
                <a:solidFill>
                  <a:srgbClr val="FF3300"/>
                </a:solidFill>
                <a:latin typeface="Times New Roman" panose="02020603050405020304" pitchFamily="18" charset="0"/>
              </a:rPr>
              <a:t>32 </a:t>
            </a:r>
            <a:r>
              <a:rPr lang="zh-CN" altLang="en-US" dirty="0">
                <a:latin typeface="Times New Roman" panose="02020603050405020304" pitchFamily="18" charset="0"/>
              </a:rPr>
              <a:t>的前面取</a:t>
            </a:r>
            <a:r>
              <a:rPr lang="en-US" altLang="zh-CN">
                <a:solidFill>
                  <a:srgbClr val="FF3300"/>
                </a:solidFill>
                <a:latin typeface="Times New Roman" panose="02020603050405020304" pitchFamily="18" charset="0"/>
              </a:rPr>
              <a:t>+</a:t>
            </a:r>
            <a:r>
              <a:rPr lang="zh-CN" altLang="en-US" dirty="0">
                <a:latin typeface="Times New Roman" panose="02020603050405020304" pitchFamily="18" charset="0"/>
              </a:rPr>
              <a:t>号</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72709" name="文本框 72708"/>
          <p:cNvSpPr txBox="1"/>
          <p:nvPr>
            <p:custDataLst>
              <p:tags r:id="rId5"/>
            </p:custDataLst>
          </p:nvPr>
        </p:nvSpPr>
        <p:spPr>
          <a:xfrm>
            <a:off x="347663" y="1752600"/>
            <a:ext cx="8456612" cy="946150"/>
          </a:xfrm>
          <a:prstGeom prst="rect">
            <a:avLst/>
          </a:prstGeom>
          <a:noFill/>
          <a:ln w="9525">
            <a:noFill/>
          </a:ln>
        </p:spPr>
        <p:txBody>
          <a:bodyPr anchor="t" anchorCtr="0">
            <a:spAutoFit/>
          </a:bodyPr>
          <a:p>
            <a:r>
              <a:rPr lang="en-US" altLang="zh-CN" dirty="0">
                <a:latin typeface="Times New Roman" panose="02020603050405020304" pitchFamily="18" charset="0"/>
              </a:rPr>
              <a:t>       </a:t>
            </a:r>
            <a:r>
              <a:rPr lang="zh-CN" altLang="en-US" dirty="0">
                <a:latin typeface="Times New Roman" panose="02020603050405020304" pitchFamily="18" charset="0"/>
              </a:rPr>
              <a:t>例如 </a:t>
            </a:r>
            <a:r>
              <a:rPr lang="en-US" altLang="zh-CN" i="1">
                <a:solidFill>
                  <a:srgbClr val="3333FF"/>
                </a:solidFill>
                <a:latin typeface="Times New Roman" panose="02020603050405020304" pitchFamily="18" charset="0"/>
              </a:rPr>
              <a:t>a</a:t>
            </a:r>
            <a:r>
              <a:rPr lang="en-US" altLang="zh-CN" baseline="-25000">
                <a:solidFill>
                  <a:srgbClr val="3333FF"/>
                </a:solidFill>
                <a:latin typeface="Times New Roman" panose="02020603050405020304" pitchFamily="18" charset="0"/>
              </a:rPr>
              <a:t>11</a:t>
            </a:r>
            <a:r>
              <a:rPr lang="en-US" altLang="zh-CN" i="1">
                <a:solidFill>
                  <a:srgbClr val="3333FF"/>
                </a:solidFill>
                <a:latin typeface="Times New Roman" panose="02020603050405020304" pitchFamily="18" charset="0"/>
              </a:rPr>
              <a:t>a</a:t>
            </a:r>
            <a:r>
              <a:rPr lang="en-US" altLang="zh-CN" baseline="-25000">
                <a:solidFill>
                  <a:srgbClr val="3333FF"/>
                </a:solidFill>
                <a:latin typeface="Times New Roman" panose="02020603050405020304" pitchFamily="18" charset="0"/>
              </a:rPr>
              <a:t>23</a:t>
            </a:r>
            <a:r>
              <a:rPr lang="en-US" altLang="zh-CN" i="1">
                <a:solidFill>
                  <a:srgbClr val="3333FF"/>
                </a:solidFill>
                <a:latin typeface="Times New Roman" panose="02020603050405020304" pitchFamily="18" charset="0"/>
              </a:rPr>
              <a:t>a</a:t>
            </a:r>
            <a:r>
              <a:rPr lang="en-US" altLang="zh-CN" baseline="-25000">
                <a:solidFill>
                  <a:srgbClr val="3333FF"/>
                </a:solidFill>
                <a:latin typeface="Times New Roman" panose="02020603050405020304" pitchFamily="18" charset="0"/>
              </a:rPr>
              <a:t>32</a:t>
            </a:r>
            <a:r>
              <a:rPr lang="en-US" altLang="zh-CN">
                <a:latin typeface="Times New Roman" panose="02020603050405020304" pitchFamily="18" charset="0"/>
              </a:rPr>
              <a:t>, </a:t>
            </a:r>
            <a:r>
              <a:rPr lang="zh-CN" altLang="en-US" dirty="0">
                <a:latin typeface="Times New Roman" panose="02020603050405020304" pitchFamily="18" charset="0"/>
              </a:rPr>
              <a:t>将行下标标准排列</a:t>
            </a:r>
            <a:r>
              <a:rPr lang="en-US" altLang="zh-CN">
                <a:latin typeface="Times New Roman" panose="02020603050405020304" pitchFamily="18" charset="0"/>
              </a:rPr>
              <a:t>, </a:t>
            </a:r>
            <a:r>
              <a:rPr lang="zh-CN" altLang="en-US" dirty="0">
                <a:latin typeface="Times New Roman" panose="02020603050405020304" pitchFamily="18" charset="0"/>
              </a:rPr>
              <a:t>列下标排列</a:t>
            </a:r>
            <a:r>
              <a:rPr lang="en-US" altLang="zh-CN">
                <a:latin typeface="Times New Roman" panose="02020603050405020304" pitchFamily="18" charset="0"/>
              </a:rPr>
              <a:t>132</a:t>
            </a:r>
            <a:r>
              <a:rPr lang="zh-CN" altLang="en-US" dirty="0">
                <a:latin typeface="Times New Roman" panose="02020603050405020304" pitchFamily="18" charset="0"/>
              </a:rPr>
              <a:t>的逆序数为</a:t>
            </a:r>
            <a:endParaRPr lang="zh-CN" altLang="en-US" dirty="0">
              <a:latin typeface="Times New Roman" panose="02020603050405020304" pitchFamily="18" charset="0"/>
            </a:endParaRPr>
          </a:p>
        </p:txBody>
      </p:sp>
      <p:sp>
        <p:nvSpPr>
          <p:cNvPr id="72710" name="文本框 72709"/>
          <p:cNvSpPr txBox="1"/>
          <p:nvPr>
            <p:custDataLst>
              <p:tags r:id="rId6"/>
            </p:custDataLst>
          </p:nvPr>
        </p:nvSpPr>
        <p:spPr>
          <a:xfrm>
            <a:off x="1068388" y="2681288"/>
            <a:ext cx="7229475" cy="521970"/>
          </a:xfrm>
          <a:prstGeom prst="rect">
            <a:avLst/>
          </a:prstGeom>
          <a:noFill/>
          <a:ln w="9525">
            <a:noFill/>
          </a:ln>
        </p:spPr>
        <p:txBody>
          <a:bodyPr wrap="none" anchor="t" anchorCtr="0">
            <a:spAutoFit/>
          </a:bodyPr>
          <a:p>
            <a:pPr algn="l"/>
            <a:r>
              <a:rPr lang="en-US" altLang="zh-CN" i="1">
                <a:latin typeface="仿宋" panose="02010609060101010101" charset="-122"/>
                <a:ea typeface="仿宋" panose="02010609060101010101" charset="-122"/>
                <a:sym typeface="+mn-ea"/>
              </a:rPr>
              <a:t>τ</a:t>
            </a:r>
            <a:r>
              <a:rPr lang="en-US" altLang="zh-CN" i="1">
                <a:latin typeface="Times New Roman" panose="02020603050405020304" pitchFamily="18" charset="0"/>
              </a:rPr>
              <a:t> </a:t>
            </a:r>
            <a:r>
              <a:rPr lang="en-US" altLang="zh-CN">
                <a:latin typeface="Times New Roman" panose="02020603050405020304" pitchFamily="18" charset="0"/>
              </a:rPr>
              <a:t>(132)=0+1=1, </a:t>
            </a:r>
            <a:r>
              <a:rPr lang="zh-CN" altLang="en-US" dirty="0">
                <a:latin typeface="Times New Roman" panose="02020603050405020304" pitchFamily="18" charset="0"/>
              </a:rPr>
              <a:t>奇排列</a:t>
            </a:r>
            <a:r>
              <a:rPr lang="en-US" altLang="zh-CN">
                <a:latin typeface="Times New Roman" panose="02020603050405020304" pitchFamily="18" charset="0"/>
              </a:rPr>
              <a:t>. </a:t>
            </a:r>
            <a:r>
              <a:rPr lang="en-US" altLang="zh-CN" i="1">
                <a:solidFill>
                  <a:srgbClr val="3333FF"/>
                </a:solidFill>
                <a:latin typeface="Times New Roman" panose="02020603050405020304" pitchFamily="18" charset="0"/>
              </a:rPr>
              <a:t>a</a:t>
            </a:r>
            <a:r>
              <a:rPr lang="en-US" altLang="zh-CN" baseline="-25000">
                <a:solidFill>
                  <a:srgbClr val="3333FF"/>
                </a:solidFill>
                <a:latin typeface="Times New Roman" panose="02020603050405020304" pitchFamily="18" charset="0"/>
              </a:rPr>
              <a:t>11</a:t>
            </a:r>
            <a:r>
              <a:rPr lang="en-US" altLang="zh-CN" i="1">
                <a:solidFill>
                  <a:srgbClr val="3333FF"/>
                </a:solidFill>
                <a:latin typeface="Times New Roman" panose="02020603050405020304" pitchFamily="18" charset="0"/>
              </a:rPr>
              <a:t>a</a:t>
            </a:r>
            <a:r>
              <a:rPr lang="en-US" altLang="zh-CN" baseline="-25000">
                <a:solidFill>
                  <a:srgbClr val="3333FF"/>
                </a:solidFill>
                <a:latin typeface="Times New Roman" panose="02020603050405020304" pitchFamily="18" charset="0"/>
              </a:rPr>
              <a:t>23</a:t>
            </a:r>
            <a:r>
              <a:rPr lang="en-US" altLang="zh-CN" i="1">
                <a:solidFill>
                  <a:srgbClr val="3333FF"/>
                </a:solidFill>
                <a:latin typeface="Times New Roman" panose="02020603050405020304" pitchFamily="18" charset="0"/>
              </a:rPr>
              <a:t>a</a:t>
            </a:r>
            <a:r>
              <a:rPr lang="en-US" altLang="zh-CN" baseline="-25000">
                <a:solidFill>
                  <a:srgbClr val="3333FF"/>
                </a:solidFill>
                <a:latin typeface="Times New Roman" panose="02020603050405020304" pitchFamily="18" charset="0"/>
              </a:rPr>
              <a:t>32</a:t>
            </a:r>
            <a:r>
              <a:rPr lang="zh-CN" altLang="en-US" dirty="0">
                <a:latin typeface="Times New Roman" panose="02020603050405020304" pitchFamily="18" charset="0"/>
              </a:rPr>
              <a:t>的前面取</a:t>
            </a:r>
            <a:r>
              <a:rPr lang="en-US" altLang="zh-CN">
                <a:solidFill>
                  <a:srgbClr val="3333FF"/>
                </a:solidFill>
                <a:latin typeface="Times New Roman" panose="02020603050405020304" pitchFamily="18" charset="0"/>
              </a:rPr>
              <a:t>–</a:t>
            </a:r>
            <a:r>
              <a:rPr lang="zh-CN" altLang="en-US" dirty="0">
                <a:latin typeface="Times New Roman" panose="02020603050405020304" pitchFamily="18" charset="0"/>
              </a:rPr>
              <a:t>号</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72711" name="文本框 72710"/>
          <p:cNvSpPr txBox="1"/>
          <p:nvPr/>
        </p:nvSpPr>
        <p:spPr>
          <a:xfrm>
            <a:off x="358775" y="4648200"/>
            <a:ext cx="8456613" cy="1038860"/>
          </a:xfrm>
          <a:prstGeom prst="rect">
            <a:avLst/>
          </a:prstGeom>
          <a:noFill/>
          <a:ln w="9525">
            <a:noFill/>
          </a:ln>
        </p:spPr>
        <p:txBody>
          <a:bodyPr anchor="t" anchorCtr="0">
            <a:spAutoFit/>
          </a:bodyPr>
          <a:p>
            <a:pPr>
              <a:lnSpc>
                <a:spcPct val="110000"/>
              </a:lnSpc>
            </a:pPr>
            <a:r>
              <a:rPr lang="zh-CN" altLang="en-US" dirty="0">
                <a:latin typeface="Times New Roman" panose="02020603050405020304" pitchFamily="18" charset="0"/>
              </a:rPr>
              <a:t>其中</a:t>
            </a:r>
            <a:r>
              <a:rPr lang="en-US" altLang="zh-CN">
                <a:latin typeface="Times New Roman" panose="02020603050405020304" pitchFamily="18" charset="0"/>
              </a:rPr>
              <a:t>Σ</a:t>
            </a:r>
            <a:r>
              <a:rPr lang="zh-CN" altLang="en-US" dirty="0">
                <a:latin typeface="Times New Roman" panose="02020603050405020304" pitchFamily="18" charset="0"/>
              </a:rPr>
              <a:t>是对列下标的所有排列求和</a:t>
            </a:r>
            <a:r>
              <a:rPr lang="en-US" altLang="zh-CN">
                <a:latin typeface="Times New Roman" panose="02020603050405020304" pitchFamily="18" charset="0"/>
              </a:rPr>
              <a:t>(3!</a:t>
            </a:r>
            <a:r>
              <a:rPr lang="zh-CN" altLang="en-US" dirty="0">
                <a:latin typeface="Times New Roman" panose="02020603050405020304" pitchFamily="18" charset="0"/>
              </a:rPr>
              <a:t>项</a:t>
            </a:r>
            <a:r>
              <a:rPr lang="en-US" altLang="zh-CN">
                <a:latin typeface="Times New Roman" panose="02020603050405020304" pitchFamily="18" charset="0"/>
              </a:rPr>
              <a:t>), </a:t>
            </a:r>
            <a:r>
              <a:rPr lang="en-US" altLang="zh-CN" i="1">
                <a:latin typeface="仿宋" panose="02010609060101010101" charset="-122"/>
                <a:ea typeface="仿宋" panose="02010609060101010101" charset="-122"/>
                <a:sym typeface="+mn-ea"/>
              </a:rPr>
              <a:t>τ</a:t>
            </a:r>
            <a:r>
              <a:rPr lang="en-US" altLang="zh-CN" i="1">
                <a:latin typeface="Times New Roman" panose="02020603050405020304" pitchFamily="18" charset="0"/>
              </a:rPr>
              <a:t> </a:t>
            </a:r>
            <a:r>
              <a:rPr lang="zh-CN" altLang="en-US" dirty="0">
                <a:latin typeface="Times New Roman" panose="02020603050405020304" pitchFamily="18" charset="0"/>
              </a:rPr>
              <a:t>是列下标排列 </a:t>
            </a:r>
            <a:r>
              <a:rPr lang="en-US" altLang="zh-CN" i="1">
                <a:latin typeface="Times New Roman" panose="02020603050405020304" pitchFamily="18" charset="0"/>
              </a:rPr>
              <a:t>k</a:t>
            </a:r>
            <a:r>
              <a:rPr lang="en-US" altLang="zh-CN" baseline="-25000">
                <a:latin typeface="Times New Roman" panose="02020603050405020304" pitchFamily="18" charset="0"/>
              </a:rPr>
              <a:t>1</a:t>
            </a:r>
            <a:r>
              <a:rPr lang="en-US" altLang="zh-CN" i="1">
                <a:latin typeface="Times New Roman" panose="02020603050405020304" pitchFamily="18" charset="0"/>
              </a:rPr>
              <a:t>k</a:t>
            </a:r>
            <a:r>
              <a:rPr lang="en-US" altLang="zh-CN" baseline="-25000">
                <a:latin typeface="Times New Roman" panose="02020603050405020304" pitchFamily="18" charset="0"/>
              </a:rPr>
              <a:t>2</a:t>
            </a:r>
            <a:r>
              <a:rPr lang="en-US" altLang="zh-CN" i="1">
                <a:latin typeface="Times New Roman" panose="02020603050405020304" pitchFamily="18" charset="0"/>
              </a:rPr>
              <a:t>k</a:t>
            </a:r>
            <a:r>
              <a:rPr lang="en-US" altLang="zh-CN" baseline="-25000">
                <a:latin typeface="Times New Roman" panose="02020603050405020304" pitchFamily="18" charset="0"/>
              </a:rPr>
              <a:t>3 </a:t>
            </a:r>
            <a:r>
              <a:rPr lang="zh-CN" altLang="en-US" dirty="0">
                <a:latin typeface="Times New Roman" panose="02020603050405020304" pitchFamily="18" charset="0"/>
              </a:rPr>
              <a:t>的逆序数</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2706">
                                            <p:txEl>
                                              <p:charRg st="0" end="45"/>
                                            </p:txEl>
                                          </p:spTgt>
                                        </p:tgtEl>
                                        <p:attrNameLst>
                                          <p:attrName>style.visibility</p:attrName>
                                        </p:attrNameLst>
                                      </p:cBhvr>
                                      <p:to>
                                        <p:strVal val="visible"/>
                                      </p:to>
                                    </p:set>
                                    <p:animEffect transition="in" filter="box(out)">
                                      <p:cBhvr>
                                        <p:cTn id="7" dur="500"/>
                                        <p:tgtEl>
                                          <p:spTgt spid="72706">
                                            <p:txEl>
                                              <p:charRg st="0" end="45"/>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2708">
                                            <p:txEl>
                                              <p:charRg st="0" end="38"/>
                                            </p:txEl>
                                          </p:spTgt>
                                        </p:tgtEl>
                                        <p:attrNameLst>
                                          <p:attrName>style.visibility</p:attrName>
                                        </p:attrNameLst>
                                      </p:cBhvr>
                                      <p:to>
                                        <p:strVal val="visible"/>
                                      </p:to>
                                    </p:set>
                                    <p:animEffect transition="in" filter="box(out)">
                                      <p:cBhvr>
                                        <p:cTn id="12" dur="500"/>
                                        <p:tgtEl>
                                          <p:spTgt spid="72708">
                                            <p:txEl>
                                              <p:charRg st="0" end="3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2709">
                                            <p:txEl>
                                              <p:charRg st="0" end="45"/>
                                            </p:txEl>
                                          </p:spTgt>
                                        </p:tgtEl>
                                        <p:attrNameLst>
                                          <p:attrName>style.visibility</p:attrName>
                                        </p:attrNameLst>
                                      </p:cBhvr>
                                      <p:to>
                                        <p:strVal val="visible"/>
                                      </p:to>
                                    </p:set>
                                    <p:animEffect transition="in" filter="box(out)">
                                      <p:cBhvr>
                                        <p:cTn id="17" dur="500"/>
                                        <p:tgtEl>
                                          <p:spTgt spid="72709">
                                            <p:txEl>
                                              <p:charRg st="0" end="4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72710">
                                            <p:txEl>
                                              <p:charRg st="0" end="37"/>
                                            </p:txEl>
                                          </p:spTgt>
                                        </p:tgtEl>
                                        <p:attrNameLst>
                                          <p:attrName>style.visibility</p:attrName>
                                        </p:attrNameLst>
                                      </p:cBhvr>
                                      <p:to>
                                        <p:strVal val="visible"/>
                                      </p:to>
                                    </p:set>
                                    <p:animEffect transition="in" filter="box(out)">
                                      <p:cBhvr>
                                        <p:cTn id="22" dur="500"/>
                                        <p:tgtEl>
                                          <p:spTgt spid="72710">
                                            <p:txEl>
                                              <p:charRg st="0" end="3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72707"/>
                                        </p:tgtEl>
                                        <p:attrNameLst>
                                          <p:attrName>style.visibility</p:attrName>
                                        </p:attrNameLst>
                                      </p:cBhvr>
                                      <p:to>
                                        <p:strVal val="visible"/>
                                      </p:to>
                                    </p:set>
                                    <p:animEffect transition="in" filter="box(out)">
                                      <p:cBhvr>
                                        <p:cTn id="27" dur="500"/>
                                        <p:tgtEl>
                                          <p:spTgt spid="72707"/>
                                        </p:tgtEl>
                                      </p:cBhvr>
                                    </p:animEffect>
                                  </p:childTnLst>
                                </p:cTn>
                              </p:par>
                            </p:childTnLst>
                          </p:cTn>
                        </p:par>
                        <p:par>
                          <p:cTn id="28" fill="hold">
                            <p:stCondLst>
                              <p:cond delay="500"/>
                            </p:stCondLst>
                            <p:childTnLst>
                              <p:par>
                                <p:cTn id="29" presetID="4" presetClass="entr" presetSubtype="32" fill="hold" grpId="0" nodeType="afterEffect">
                                  <p:stCondLst>
                                    <p:cond delay="0"/>
                                  </p:stCondLst>
                                  <p:childTnLst>
                                    <p:set>
                                      <p:cBhvr>
                                        <p:cTn id="30" dur="1" fill="hold">
                                          <p:stCondLst>
                                            <p:cond delay="0"/>
                                          </p:stCondLst>
                                        </p:cTn>
                                        <p:tgtEl>
                                          <p:spTgt spid="72711">
                                            <p:txEl>
                                              <p:charRg st="0" end="44"/>
                                            </p:txEl>
                                          </p:spTgt>
                                        </p:tgtEl>
                                        <p:attrNameLst>
                                          <p:attrName>style.visibility</p:attrName>
                                        </p:attrNameLst>
                                      </p:cBhvr>
                                      <p:to>
                                        <p:strVal val="visible"/>
                                      </p:to>
                                    </p:set>
                                    <p:animEffect transition="in" filter="box(out)">
                                      <p:cBhvr>
                                        <p:cTn id="31" dur="500"/>
                                        <p:tgtEl>
                                          <p:spTgt spid="72711">
                                            <p:txEl>
                                              <p:charRg st="0" end="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advAuto="1000" build="p"/>
      <p:bldP spid="72708" grpId="0" build="p"/>
      <p:bldP spid="72709" grpId="0" build="p"/>
      <p:bldP spid="72710" grpId="0" build="p"/>
      <p:bldP spid="72711" grpId="0" advAuto="100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矩形 73729"/>
          <p:cNvSpPr/>
          <p:nvPr/>
        </p:nvSpPr>
        <p:spPr>
          <a:xfrm>
            <a:off x="1079500" y="304800"/>
            <a:ext cx="4222115" cy="645160"/>
          </a:xfrm>
          <a:prstGeom prst="rect">
            <a:avLst/>
          </a:prstGeom>
          <a:noFill/>
          <a:ln w="9525">
            <a:noFill/>
          </a:ln>
        </p:spPr>
        <p:txBody>
          <a:bodyPr wrap="none" anchor="t" anchorCtr="0">
            <a:spAutoFit/>
          </a:bodyPr>
          <a:p>
            <a:r>
              <a:rPr lang="en-US" altLang="zh-CN" sz="3600" dirty="0">
                <a:solidFill>
                  <a:srgbClr val="0000FF"/>
                </a:solidFill>
                <a:latin typeface="Times New Roman" panose="02020603050405020304" pitchFamily="18" charset="0"/>
                <a:ea typeface="黑体" panose="02010609060101010101" pitchFamily="2" charset="-122"/>
              </a:rPr>
              <a:t>2. </a:t>
            </a:r>
            <a:r>
              <a:rPr lang="en-US" altLang="zh-CN" sz="3600" i="1">
                <a:solidFill>
                  <a:srgbClr val="0000FF"/>
                </a:solidFill>
                <a:latin typeface="Times New Roman" panose="02020603050405020304" pitchFamily="18" charset="0"/>
                <a:ea typeface="黑体" panose="02010609060101010101" pitchFamily="2" charset="-122"/>
              </a:rPr>
              <a:t>n </a:t>
            </a:r>
            <a:r>
              <a:rPr lang="zh-CN" altLang="en-US" sz="3600" dirty="0">
                <a:solidFill>
                  <a:srgbClr val="0000FF"/>
                </a:solidFill>
                <a:latin typeface="Times New Roman" panose="02020603050405020304" pitchFamily="18" charset="0"/>
                <a:ea typeface="黑体" panose="02010609060101010101" pitchFamily="2" charset="-122"/>
              </a:rPr>
              <a:t>阶行列式的定义</a:t>
            </a:r>
            <a:endParaRPr lang="zh-CN" altLang="en-US" sz="3600" dirty="0">
              <a:solidFill>
                <a:srgbClr val="0000FF"/>
              </a:solidFill>
              <a:latin typeface="Times New Roman" panose="02020603050405020304" pitchFamily="18" charset="0"/>
              <a:ea typeface="黑体" panose="02010609060101010101" pitchFamily="2" charset="-122"/>
            </a:endParaRPr>
          </a:p>
        </p:txBody>
      </p:sp>
      <p:sp>
        <p:nvSpPr>
          <p:cNvPr id="73731" name="文本框 73730"/>
          <p:cNvSpPr txBox="1"/>
          <p:nvPr/>
        </p:nvSpPr>
        <p:spPr>
          <a:xfrm>
            <a:off x="1079500" y="914400"/>
            <a:ext cx="3532505" cy="521970"/>
          </a:xfrm>
          <a:prstGeom prst="rect">
            <a:avLst/>
          </a:prstGeom>
          <a:noFill/>
          <a:ln w="9525">
            <a:noFill/>
          </a:ln>
        </p:spPr>
        <p:txBody>
          <a:bodyPr wrap="none" anchor="t" anchorCtr="0">
            <a:spAutoFit/>
          </a:bodyPr>
          <a:p>
            <a:r>
              <a:rPr lang="zh-CN" altLang="en-US" dirty="0">
                <a:solidFill>
                  <a:srgbClr val="FF3300"/>
                </a:solidFill>
                <a:latin typeface="Times New Roman" panose="02020603050405020304" pitchFamily="18" charset="0"/>
                <a:ea typeface="黑体" panose="02010609060101010101" pitchFamily="2" charset="-122"/>
              </a:rPr>
              <a:t>定义</a:t>
            </a:r>
            <a:r>
              <a:rPr lang="en-US" altLang="zh-CN" dirty="0">
                <a:solidFill>
                  <a:srgbClr val="FF0000"/>
                </a:solidFill>
                <a:sym typeface="+mn-ea"/>
              </a:rPr>
              <a:t>1.1.6</a:t>
            </a:r>
            <a:r>
              <a:rPr lang="en-US" altLang="zh-CN">
                <a:solidFill>
                  <a:srgbClr val="FF3300"/>
                </a:solidFill>
                <a:latin typeface="Times New Roman" panose="02020603050405020304" pitchFamily="18" charset="0"/>
                <a:ea typeface="黑体" panose="02010609060101010101" pitchFamily="2" charset="-122"/>
              </a:rPr>
              <a:t>:</a:t>
            </a:r>
            <a:r>
              <a:rPr lang="en-US" altLang="zh-CN">
                <a:solidFill>
                  <a:srgbClr val="0000FF"/>
                </a:solidFill>
                <a:latin typeface="Times New Roman" panose="02020603050405020304" pitchFamily="18" charset="0"/>
                <a:ea typeface="黑体" panose="02010609060101010101" pitchFamily="2" charset="-122"/>
              </a:rPr>
              <a:t> </a:t>
            </a:r>
            <a:r>
              <a:rPr lang="en-US" altLang="zh-CN" dirty="0">
                <a:latin typeface="Times New Roman" panose="02020603050405020304" pitchFamily="18" charset="0"/>
              </a:rPr>
              <a:t> </a:t>
            </a:r>
            <a:r>
              <a:rPr lang="en-US" altLang="zh-CN" i="1">
                <a:sym typeface="+mn-ea"/>
              </a:rPr>
              <a:t>n</a:t>
            </a:r>
            <a:r>
              <a:rPr lang="zh-CN" altLang="en-US" dirty="0">
                <a:latin typeface="Times New Roman" panose="02020603050405020304" pitchFamily="18" charset="0"/>
              </a:rPr>
              <a:t>阶行列式</a:t>
            </a:r>
            <a:endParaRPr lang="zh-CN" altLang="en-US">
              <a:latin typeface="Times New Roman" panose="02020603050405020304" pitchFamily="18" charset="0"/>
            </a:endParaRPr>
          </a:p>
        </p:txBody>
      </p:sp>
      <p:sp>
        <p:nvSpPr>
          <p:cNvPr id="73732" name="文本框 73731"/>
          <p:cNvSpPr txBox="1"/>
          <p:nvPr/>
        </p:nvSpPr>
        <p:spPr>
          <a:xfrm>
            <a:off x="99060" y="3180080"/>
            <a:ext cx="8936990" cy="1383665"/>
          </a:xfrm>
          <a:prstGeom prst="rect">
            <a:avLst/>
          </a:prstGeom>
          <a:noFill/>
          <a:ln w="9525">
            <a:noFill/>
          </a:ln>
        </p:spPr>
        <p:txBody>
          <a:bodyPr wrap="square" anchor="t" anchorCtr="0">
            <a:spAutoFit/>
          </a:bodyPr>
          <a:p>
            <a:pPr>
              <a:lnSpc>
                <a:spcPct val="150000"/>
              </a:lnSpc>
            </a:pPr>
            <a:r>
              <a:rPr lang="zh-CN" altLang="en-US" dirty="0">
                <a:latin typeface="Times New Roman" panose="02020603050405020304" pitchFamily="18" charset="0"/>
              </a:rPr>
              <a:t>所有取自不同行、不同列的 </a:t>
            </a:r>
            <a:r>
              <a:rPr lang="en-US" altLang="zh-CN" i="1">
                <a:latin typeface="Times New Roman" panose="02020603050405020304" pitchFamily="18" charset="0"/>
              </a:rPr>
              <a:t>n </a:t>
            </a:r>
            <a:r>
              <a:rPr lang="zh-CN" altLang="en-US" dirty="0">
                <a:latin typeface="Times New Roman" panose="02020603050405020304" pitchFamily="18" charset="0"/>
              </a:rPr>
              <a:t>个元素</a:t>
            </a:r>
            <a:r>
              <a:rPr lang="zh-CN" altLang="en-US" dirty="0">
                <a:sym typeface="+mn-ea"/>
              </a:rPr>
              <a:t>乘积</a:t>
            </a:r>
            <a:r>
              <a:rPr lang="en-US" altLang="zh-CN" dirty="0">
                <a:latin typeface="Times New Roman" panose="02020603050405020304" pitchFamily="18" charset="0"/>
              </a:rPr>
              <a:t>                      </a:t>
            </a:r>
            <a:r>
              <a:rPr lang="zh-CN" altLang="en-US" dirty="0">
                <a:latin typeface="Times New Roman" panose="02020603050405020304" pitchFamily="18" charset="0"/>
              </a:rPr>
              <a:t>的代数和</a:t>
            </a:r>
            <a:r>
              <a:rPr lang="en-US" altLang="zh-CN">
                <a:latin typeface="Times New Roman" panose="02020603050405020304" pitchFamily="18" charset="0"/>
              </a:rPr>
              <a:t>, </a:t>
            </a:r>
            <a:r>
              <a:rPr lang="zh-CN" altLang="en-US" dirty="0">
                <a:latin typeface="Times New Roman" panose="02020603050405020304" pitchFamily="18" charset="0"/>
              </a:rPr>
              <a:t>并冠以符号</a:t>
            </a:r>
            <a:r>
              <a:rPr lang="en-US" altLang="zh-CN">
                <a:latin typeface="Times New Roman" panose="02020603050405020304" pitchFamily="18" charset="0"/>
              </a:rPr>
              <a:t>(–1)</a:t>
            </a:r>
            <a:r>
              <a:rPr lang="en-US" altLang="zh-CN" i="1" baseline="30000">
                <a:latin typeface="仿宋" panose="02010609060101010101" charset="-122"/>
                <a:ea typeface="仿宋" panose="02010609060101010101" charset="-122"/>
                <a:sym typeface="+mn-ea"/>
              </a:rPr>
              <a:t>τ</a:t>
            </a:r>
            <a:r>
              <a:rPr lang="en-US" altLang="zh-CN">
                <a:latin typeface="Times New Roman" panose="02020603050405020304" pitchFamily="18" charset="0"/>
              </a:rPr>
              <a:t>, </a:t>
            </a:r>
            <a:r>
              <a:rPr lang="zh-CN" altLang="en-US" dirty="0">
                <a:latin typeface="Times New Roman" panose="02020603050405020304" pitchFamily="18" charset="0"/>
              </a:rPr>
              <a:t>得到形如</a:t>
            </a:r>
            <a:endParaRPr lang="zh-CN" altLang="en-US" dirty="0">
              <a:latin typeface="Times New Roman" panose="02020603050405020304" pitchFamily="18" charset="0"/>
            </a:endParaRPr>
          </a:p>
        </p:txBody>
      </p:sp>
      <p:sp>
        <p:nvSpPr>
          <p:cNvPr id="73733" name="矩形 73732"/>
          <p:cNvSpPr/>
          <p:nvPr/>
        </p:nvSpPr>
        <p:spPr>
          <a:xfrm>
            <a:off x="323215" y="5229225"/>
            <a:ext cx="8677910" cy="1383665"/>
          </a:xfrm>
          <a:prstGeom prst="rect">
            <a:avLst/>
          </a:prstGeom>
          <a:noFill/>
          <a:ln w="9525">
            <a:noFill/>
          </a:ln>
        </p:spPr>
        <p:txBody>
          <a:bodyPr wrap="square" anchor="t" anchorCtr="0">
            <a:spAutoFit/>
          </a:bodyPr>
          <a:p>
            <a:pPr>
              <a:lnSpc>
                <a:spcPct val="150000"/>
              </a:lnSpc>
            </a:pPr>
            <a:r>
              <a:rPr lang="zh-CN" altLang="en-US" dirty="0">
                <a:latin typeface="Times New Roman" panose="02020603050405020304" pitchFamily="18" charset="0"/>
              </a:rPr>
              <a:t>其中 </a:t>
            </a:r>
            <a:r>
              <a:rPr lang="en-US" altLang="zh-CN" i="1">
                <a:latin typeface="Times New Roman" panose="02020603050405020304" pitchFamily="18" charset="0"/>
              </a:rPr>
              <a:t>k</a:t>
            </a:r>
            <a:r>
              <a:rPr lang="en-US" altLang="zh-CN" baseline="-25000">
                <a:latin typeface="Times New Roman" panose="02020603050405020304" pitchFamily="18" charset="0"/>
              </a:rPr>
              <a:t>1</a:t>
            </a:r>
            <a:r>
              <a:rPr lang="en-US" altLang="zh-CN" i="1">
                <a:latin typeface="Times New Roman" panose="02020603050405020304" pitchFamily="18" charset="0"/>
              </a:rPr>
              <a:t>k</a:t>
            </a:r>
            <a:r>
              <a:rPr lang="en-US" altLang="zh-CN" baseline="-25000">
                <a:latin typeface="Times New Roman" panose="02020603050405020304" pitchFamily="18" charset="0"/>
              </a:rPr>
              <a:t>2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err="1">
                <a:latin typeface="Times New Roman" panose="02020603050405020304" pitchFamily="18" charset="0"/>
              </a:rPr>
              <a:t>k</a:t>
            </a:r>
            <a:r>
              <a:rPr lang="en-US" altLang="zh-CN" i="1" baseline="-25000" err="1">
                <a:latin typeface="Times New Roman" panose="02020603050405020304" pitchFamily="18" charset="0"/>
              </a:rPr>
              <a:t>n</a:t>
            </a:r>
            <a:r>
              <a:rPr lang="en-US" altLang="zh-CN" baseline="-25000">
                <a:latin typeface="Times New Roman" panose="02020603050405020304" pitchFamily="18" charset="0"/>
              </a:rPr>
              <a:t> </a:t>
            </a:r>
            <a:r>
              <a:rPr lang="zh-CN" altLang="en-US" dirty="0">
                <a:latin typeface="Times New Roman" panose="02020603050405020304" pitchFamily="18" charset="0"/>
              </a:rPr>
              <a:t>为自然数</a:t>
            </a:r>
            <a:r>
              <a:rPr lang="en-US" altLang="zh-CN">
                <a:latin typeface="Times New Roman" panose="02020603050405020304" pitchFamily="18" charset="0"/>
              </a:rPr>
              <a:t>1, 2,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 </a:t>
            </a:r>
            <a:r>
              <a:rPr lang="en-US" altLang="zh-CN" i="1">
                <a:latin typeface="Times New Roman" panose="02020603050405020304" pitchFamily="18" charset="0"/>
              </a:rPr>
              <a:t>n </a:t>
            </a:r>
            <a:r>
              <a:rPr lang="zh-CN" altLang="en-US" dirty="0">
                <a:latin typeface="Times New Roman" panose="02020603050405020304" pitchFamily="18" charset="0"/>
              </a:rPr>
              <a:t>的一个排列</a:t>
            </a:r>
            <a:r>
              <a:rPr lang="en-US" altLang="zh-CN">
                <a:latin typeface="Times New Roman" panose="02020603050405020304" pitchFamily="18" charset="0"/>
              </a:rPr>
              <a:t>, </a:t>
            </a:r>
            <a:r>
              <a:rPr lang="en-US" altLang="zh-CN" i="1">
                <a:latin typeface="仿宋" panose="02010609060101010101" charset="-122"/>
                <a:ea typeface="仿宋" panose="02010609060101010101" charset="-122"/>
                <a:sym typeface="+mn-ea"/>
              </a:rPr>
              <a:t>τ</a:t>
            </a:r>
            <a:r>
              <a:rPr lang="zh-CN" altLang="en-US" dirty="0">
                <a:latin typeface="Times New Roman" panose="02020603050405020304" pitchFamily="18" charset="0"/>
              </a:rPr>
              <a:t>为排列</a:t>
            </a:r>
            <a:r>
              <a:rPr lang="en-US" altLang="zh-CN" i="1">
                <a:sym typeface="+mn-ea"/>
              </a:rPr>
              <a:t>k</a:t>
            </a:r>
            <a:r>
              <a:rPr lang="en-US" altLang="zh-CN" baseline="-25000">
                <a:sym typeface="+mn-ea"/>
              </a:rPr>
              <a:t>1</a:t>
            </a:r>
            <a:r>
              <a:rPr lang="en-US" altLang="zh-CN" i="1">
                <a:sym typeface="+mn-ea"/>
              </a:rPr>
              <a:t>k</a:t>
            </a:r>
            <a:r>
              <a:rPr lang="en-US" altLang="zh-CN" baseline="-25000">
                <a:sym typeface="+mn-ea"/>
              </a:rPr>
              <a:t>2 </a:t>
            </a:r>
            <a:r>
              <a:rPr lang="en-US" altLang="zh-CN">
                <a:sym typeface="Symbol" panose="05050102010706020507" pitchFamily="18" charset="2"/>
              </a:rPr>
              <a:t>···</a:t>
            </a:r>
            <a:r>
              <a:rPr lang="en-US" altLang="zh-CN">
                <a:sym typeface="+mn-ea"/>
              </a:rPr>
              <a:t> </a:t>
            </a:r>
            <a:r>
              <a:rPr lang="en-US" altLang="zh-CN" i="1" err="1">
                <a:sym typeface="+mn-ea"/>
              </a:rPr>
              <a:t>k</a:t>
            </a:r>
            <a:r>
              <a:rPr lang="en-US" altLang="zh-CN" i="1" baseline="-25000" err="1">
                <a:sym typeface="+mn-ea"/>
              </a:rPr>
              <a:t>n</a:t>
            </a:r>
            <a:r>
              <a:rPr lang="en-US" altLang="zh-CN" baseline="-25000">
                <a:sym typeface="+mn-ea"/>
              </a:rPr>
              <a:t> </a:t>
            </a:r>
            <a:r>
              <a:rPr lang="zh-CN" altLang="en-US" dirty="0">
                <a:latin typeface="Times New Roman" panose="02020603050405020304" pitchFamily="18" charset="0"/>
              </a:rPr>
              <a:t>的逆序数</a:t>
            </a:r>
            <a:r>
              <a:rPr lang="en-US" altLang="zh-CN">
                <a:latin typeface="Times New Roman" panose="02020603050405020304" pitchFamily="18" charset="0"/>
              </a:rPr>
              <a:t>.        </a:t>
            </a:r>
            <a:r>
              <a:rPr lang="zh-CN" altLang="en-US">
                <a:latin typeface="Times New Roman" panose="02020603050405020304" pitchFamily="18" charset="0"/>
              </a:rPr>
              <a:t>表示对所有的</a:t>
            </a:r>
            <a:r>
              <a:rPr lang="en-US" altLang="zh-CN">
                <a:latin typeface="Times New Roman" panose="02020603050405020304" pitchFamily="18" charset="0"/>
              </a:rPr>
              <a:t>n</a:t>
            </a:r>
            <a:r>
              <a:rPr lang="zh-CN" altLang="en-US">
                <a:latin typeface="Times New Roman" panose="02020603050405020304" pitchFamily="18" charset="0"/>
              </a:rPr>
              <a:t>级排列求和</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73734" name="对象 73733"/>
          <p:cNvGraphicFramePr/>
          <p:nvPr/>
        </p:nvGraphicFramePr>
        <p:xfrm>
          <a:off x="2085658" y="4509135"/>
          <a:ext cx="3169920" cy="673100"/>
        </p:xfrm>
        <a:graphic>
          <a:graphicData uri="http://schemas.openxmlformats.org/presentationml/2006/ole">
            <mc:AlternateContent xmlns:mc="http://schemas.openxmlformats.org/markup-compatibility/2006">
              <mc:Choice xmlns:v="urn:schemas-microsoft-com:vml" Requires="v">
                <p:oleObj spid="_x0000_s3201" name="" r:id="rId1" imgW="1181100" imgH="254000" progId="Equation.3">
                  <p:embed/>
                </p:oleObj>
              </mc:Choice>
              <mc:Fallback>
                <p:oleObj name="" r:id="rId1" imgW="1181100" imgH="254000" progId="Equation.3">
                  <p:embed/>
                  <p:pic>
                    <p:nvPicPr>
                      <p:cNvPr id="0" name="图片 3200"/>
                      <p:cNvPicPr/>
                      <p:nvPr/>
                    </p:nvPicPr>
                    <p:blipFill>
                      <a:blip r:embed="rId2"/>
                      <a:stretch>
                        <a:fillRect/>
                      </a:stretch>
                    </p:blipFill>
                    <p:spPr>
                      <a:xfrm>
                        <a:off x="2085658" y="4509135"/>
                        <a:ext cx="3169920" cy="673100"/>
                      </a:xfrm>
                      <a:prstGeom prst="rect">
                        <a:avLst/>
                      </a:prstGeom>
                      <a:noFill/>
                      <a:ln w="38100">
                        <a:noFill/>
                        <a:miter/>
                      </a:ln>
                    </p:spPr>
                  </p:pic>
                </p:oleObj>
              </mc:Fallback>
            </mc:AlternateContent>
          </a:graphicData>
        </a:graphic>
      </p:graphicFrame>
      <p:sp>
        <p:nvSpPr>
          <p:cNvPr id="73735" name="矩形 73734"/>
          <p:cNvSpPr/>
          <p:nvPr/>
        </p:nvSpPr>
        <p:spPr>
          <a:xfrm>
            <a:off x="2077720" y="4636770"/>
            <a:ext cx="4423410" cy="521970"/>
          </a:xfrm>
          <a:prstGeom prst="rect">
            <a:avLst/>
          </a:prstGeom>
          <a:noFill/>
          <a:ln w="9525">
            <a:noFill/>
          </a:ln>
        </p:spPr>
        <p:txBody>
          <a:bodyPr wrap="square" anchor="t" anchorCtr="0">
            <a:spAutoFit/>
          </a:bodyPr>
          <a:p>
            <a:r>
              <a:rPr lang="en-US" altLang="zh-CN" dirty="0">
                <a:latin typeface="Times New Roman" panose="02020603050405020304" pitchFamily="18" charset="0"/>
              </a:rPr>
              <a:t>                                  </a:t>
            </a:r>
            <a:r>
              <a:rPr lang="zh-CN" altLang="en-US" dirty="0">
                <a:latin typeface="Times New Roman" panose="02020603050405020304" pitchFamily="18" charset="0"/>
              </a:rPr>
              <a:t>的项</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2" name="对象 -2147482477"/>
          <p:cNvGraphicFramePr>
            <a:graphicFrameLocks noChangeAspect="1"/>
          </p:cNvGraphicFramePr>
          <p:nvPr/>
        </p:nvGraphicFramePr>
        <p:xfrm>
          <a:off x="1287145" y="1372870"/>
          <a:ext cx="6560820" cy="1911985"/>
        </p:xfrm>
        <a:graphic>
          <a:graphicData uri="http://schemas.openxmlformats.org/presentationml/2006/ole">
            <mc:AlternateContent xmlns:mc="http://schemas.openxmlformats.org/markup-compatibility/2006">
              <mc:Choice xmlns:v="urn:schemas-microsoft-com:vml" Requires="v">
                <p:oleObj spid="_x0000_s3076" name="" r:id="rId3" imgW="3238500" imgH="939800" progId="Equation.DSMT4">
                  <p:embed/>
                </p:oleObj>
              </mc:Choice>
              <mc:Fallback>
                <p:oleObj name="" r:id="rId3" imgW="3238500" imgH="939800" progId="Equation.DSMT4">
                  <p:embed/>
                  <p:pic>
                    <p:nvPicPr>
                      <p:cNvPr id="0" name="图片 3075"/>
                      <p:cNvPicPr/>
                      <p:nvPr/>
                    </p:nvPicPr>
                    <p:blipFill>
                      <a:blip r:embed="rId4"/>
                      <a:stretch>
                        <a:fillRect/>
                      </a:stretch>
                    </p:blipFill>
                    <p:spPr>
                      <a:xfrm>
                        <a:off x="1287145" y="1372870"/>
                        <a:ext cx="6560820" cy="1911985"/>
                      </a:xfrm>
                      <a:prstGeom prst="rect">
                        <a:avLst/>
                      </a:prstGeom>
                      <a:noFill/>
                      <a:ln w="38100">
                        <a:noFill/>
                        <a:miter/>
                      </a:ln>
                    </p:spPr>
                  </p:pic>
                </p:oleObj>
              </mc:Fallback>
            </mc:AlternateContent>
          </a:graphicData>
        </a:graphic>
      </p:graphicFrame>
      <p:graphicFrame>
        <p:nvGraphicFramePr>
          <p:cNvPr id="3" name="对象 2"/>
          <p:cNvGraphicFramePr/>
          <p:nvPr/>
        </p:nvGraphicFramePr>
        <p:xfrm>
          <a:off x="6732270" y="3284855"/>
          <a:ext cx="2074545" cy="590550"/>
        </p:xfrm>
        <a:graphic>
          <a:graphicData uri="http://schemas.openxmlformats.org/presentationml/2006/ole">
            <mc:AlternateContent xmlns:mc="http://schemas.openxmlformats.org/markup-compatibility/2006">
              <mc:Choice xmlns:v="urn:schemas-microsoft-com:vml" Requires="v">
                <p:oleObj spid="_x0000_s4" name="" r:id="rId5" imgW="2074545" imgH="590550" progId="Equation.DSMT4">
                  <p:embed/>
                </p:oleObj>
              </mc:Choice>
              <mc:Fallback>
                <p:oleObj name="" r:id="rId5" imgW="2074545" imgH="590550" progId="Equation.DSMT4">
                  <p:embed/>
                  <p:pic>
                    <p:nvPicPr>
                      <p:cNvPr id="0" name="图片 2"/>
                      <p:cNvPicPr/>
                      <p:nvPr/>
                    </p:nvPicPr>
                    <p:blipFill>
                      <a:blip r:embed="rId6"/>
                      <a:stretch>
                        <a:fillRect/>
                      </a:stretch>
                    </p:blipFill>
                    <p:spPr>
                      <a:xfrm>
                        <a:off x="6732270" y="3284855"/>
                        <a:ext cx="2074545" cy="590550"/>
                      </a:xfrm>
                      <a:prstGeom prst="rect">
                        <a:avLst/>
                      </a:prstGeom>
                    </p:spPr>
                  </p:pic>
                </p:oleObj>
              </mc:Fallback>
            </mc:AlternateContent>
          </a:graphicData>
        </a:graphic>
      </p:graphicFrame>
      <p:sp>
        <p:nvSpPr>
          <p:cNvPr id="5" name="文本框 4"/>
          <p:cNvSpPr txBox="1"/>
          <p:nvPr/>
        </p:nvSpPr>
        <p:spPr>
          <a:xfrm flipH="1">
            <a:off x="7740650" y="2132965"/>
            <a:ext cx="1186815" cy="509270"/>
          </a:xfrm>
          <a:prstGeom prst="rect">
            <a:avLst/>
          </a:prstGeom>
          <a:noFill/>
        </p:spPr>
        <p:txBody>
          <a:bodyPr wrap="square" rtlCol="0" anchor="t">
            <a:noAutofit/>
          </a:bodyPr>
          <a:p>
            <a:r>
              <a:rPr lang="zh-CN" altLang="en-US" dirty="0">
                <a:sym typeface="+mn-ea"/>
              </a:rPr>
              <a:t>表示</a:t>
            </a:r>
            <a:endParaRPr lang="zh-CN" altLang="en-US" dirty="0">
              <a:sym typeface="+mn-ea"/>
            </a:endParaRPr>
          </a:p>
        </p:txBody>
      </p:sp>
      <p:graphicFrame>
        <p:nvGraphicFramePr>
          <p:cNvPr id="6" name="对象 -2147482472"/>
          <p:cNvGraphicFramePr>
            <a:graphicFrameLocks noChangeAspect="1"/>
          </p:cNvGraphicFramePr>
          <p:nvPr/>
        </p:nvGraphicFramePr>
        <p:xfrm>
          <a:off x="3780155" y="5988685"/>
          <a:ext cx="608330" cy="624205"/>
        </p:xfrm>
        <a:graphic>
          <a:graphicData uri="http://schemas.openxmlformats.org/presentationml/2006/ole">
            <mc:AlternateContent xmlns:mc="http://schemas.openxmlformats.org/markup-compatibility/2006">
              <mc:Choice xmlns:v="urn:schemas-microsoft-com:vml" Requires="v">
                <p:oleObj spid="_x0000_s7" name="" r:id="rId7" imgW="457200" imgH="368300" progId="Equation.DSMT4">
                  <p:embed/>
                </p:oleObj>
              </mc:Choice>
              <mc:Fallback>
                <p:oleObj name="" r:id="rId7" imgW="457200" imgH="368300" progId="Equation.DSMT4">
                  <p:embed/>
                  <p:pic>
                    <p:nvPicPr>
                      <p:cNvPr id="0" name="图片 5"/>
                      <p:cNvPicPr/>
                      <p:nvPr/>
                    </p:nvPicPr>
                    <p:blipFill>
                      <a:blip r:embed="rId8"/>
                      <a:srcRect r="20264"/>
                      <a:stretch>
                        <a:fillRect/>
                      </a:stretch>
                    </p:blipFill>
                    <p:spPr>
                      <a:xfrm>
                        <a:off x="3780155" y="5988685"/>
                        <a:ext cx="608330" cy="62420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3731">
                                            <p:txEl>
                                              <p:charRg st="0" end="28"/>
                                            </p:txEl>
                                          </p:spTgt>
                                        </p:tgtEl>
                                        <p:attrNameLst>
                                          <p:attrName>style.visibility</p:attrName>
                                        </p:attrNameLst>
                                      </p:cBhvr>
                                      <p:to>
                                        <p:strVal val="visible"/>
                                      </p:to>
                                    </p:set>
                                    <p:animEffect transition="in" filter="box(out)">
                                      <p:cBhvr>
                                        <p:cTn id="7" dur="500"/>
                                        <p:tgtEl>
                                          <p:spTgt spid="73731">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par>
                          <p:cTn id="18" fill="hold">
                            <p:stCondLst>
                              <p:cond delay="500"/>
                            </p:stCondLst>
                            <p:childTnLst>
                              <p:par>
                                <p:cTn id="19" presetID="4" presetClass="entr" presetSubtype="32" fill="hold" grpId="0" nodeType="afterEffect">
                                  <p:stCondLst>
                                    <p:cond delay="0"/>
                                  </p:stCondLst>
                                  <p:childTnLst>
                                    <p:set>
                                      <p:cBhvr>
                                        <p:cTn id="20" dur="1" fill="hold">
                                          <p:stCondLst>
                                            <p:cond delay="0"/>
                                          </p:stCondLst>
                                        </p:cTn>
                                        <p:tgtEl>
                                          <p:spTgt spid="73732">
                                            <p:txEl>
                                              <p:charRg st="0" end="40"/>
                                            </p:txEl>
                                          </p:spTgt>
                                        </p:tgtEl>
                                        <p:attrNameLst>
                                          <p:attrName>style.visibility</p:attrName>
                                        </p:attrNameLst>
                                      </p:cBhvr>
                                      <p:to>
                                        <p:strVal val="visible"/>
                                      </p:to>
                                    </p:set>
                                    <p:animEffect transition="in" filter="box(out)">
                                      <p:cBhvr>
                                        <p:cTn id="21" dur="500"/>
                                        <p:tgtEl>
                                          <p:spTgt spid="73732">
                                            <p:txEl>
                                              <p:charRg st="0" end="40"/>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down)">
                                      <p:cBhvr>
                                        <p:cTn id="24" dur="500"/>
                                        <p:tgtEl>
                                          <p:spTgt spid="3"/>
                                        </p:tgtEl>
                                      </p:cBhvr>
                                    </p:animEffect>
                                  </p:childTnLst>
                                </p:cTn>
                              </p:par>
                            </p:childTnLst>
                          </p:cTn>
                        </p:par>
                        <p:par>
                          <p:cTn id="25" fill="hold">
                            <p:stCondLst>
                              <p:cond delay="1000"/>
                            </p:stCondLst>
                            <p:childTnLst>
                              <p:par>
                                <p:cTn id="26" presetID="4" presetClass="entr" presetSubtype="32" fill="hold" nodeType="afterEffect">
                                  <p:stCondLst>
                                    <p:cond delay="0"/>
                                  </p:stCondLst>
                                  <p:childTnLst>
                                    <p:set>
                                      <p:cBhvr>
                                        <p:cTn id="27" dur="1" fill="hold">
                                          <p:stCondLst>
                                            <p:cond delay="0"/>
                                          </p:stCondLst>
                                        </p:cTn>
                                        <p:tgtEl>
                                          <p:spTgt spid="73734"/>
                                        </p:tgtEl>
                                        <p:attrNameLst>
                                          <p:attrName>style.visibility</p:attrName>
                                        </p:attrNameLst>
                                      </p:cBhvr>
                                      <p:to>
                                        <p:strVal val="visible"/>
                                      </p:to>
                                    </p:set>
                                    <p:animEffect transition="in" filter="box(out)">
                                      <p:cBhvr>
                                        <p:cTn id="28" dur="500"/>
                                        <p:tgtEl>
                                          <p:spTgt spid="73734"/>
                                        </p:tgtEl>
                                      </p:cBhvr>
                                    </p:animEffect>
                                  </p:childTnLst>
                                </p:cTn>
                              </p:par>
                            </p:childTnLst>
                          </p:cTn>
                        </p:par>
                        <p:par>
                          <p:cTn id="29" fill="hold">
                            <p:stCondLst>
                              <p:cond delay="1500"/>
                            </p:stCondLst>
                            <p:childTnLst>
                              <p:par>
                                <p:cTn id="30" presetID="4" presetClass="entr" presetSubtype="32" fill="hold" grpId="0" nodeType="afterEffect">
                                  <p:stCondLst>
                                    <p:cond delay="0"/>
                                  </p:stCondLst>
                                  <p:childTnLst>
                                    <p:set>
                                      <p:cBhvr>
                                        <p:cTn id="31" dur="1" fill="hold">
                                          <p:stCondLst>
                                            <p:cond delay="0"/>
                                          </p:stCondLst>
                                        </p:cTn>
                                        <p:tgtEl>
                                          <p:spTgt spid="73735">
                                            <p:txEl>
                                              <p:charRg st="0" end="4"/>
                                            </p:txEl>
                                          </p:spTgt>
                                        </p:tgtEl>
                                        <p:attrNameLst>
                                          <p:attrName>style.visibility</p:attrName>
                                        </p:attrNameLst>
                                      </p:cBhvr>
                                      <p:to>
                                        <p:strVal val="visible"/>
                                      </p:to>
                                    </p:set>
                                    <p:animEffect transition="in" filter="box(out)">
                                      <p:cBhvr>
                                        <p:cTn id="32" dur="500"/>
                                        <p:tgtEl>
                                          <p:spTgt spid="73735">
                                            <p:txEl>
                                              <p:charRg st="0"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73733">
                                            <p:txEl>
                                              <p:charRg st="0" end="72"/>
                                            </p:txEl>
                                          </p:spTgt>
                                        </p:tgtEl>
                                        <p:attrNameLst>
                                          <p:attrName>style.visibility</p:attrName>
                                        </p:attrNameLst>
                                      </p:cBhvr>
                                      <p:to>
                                        <p:strVal val="visible"/>
                                      </p:to>
                                    </p:set>
                                    <p:animEffect transition="in" filter="box(out)">
                                      <p:cBhvr>
                                        <p:cTn id="37" dur="500"/>
                                        <p:tgtEl>
                                          <p:spTgt spid="73733">
                                            <p:txEl>
                                              <p:charRg st="0" end="72"/>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linds(horizontal)">
                                      <p:cBhvr>
                                        <p:cTn id="4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P spid="73732" grpId="0" advAuto="1000" build="p"/>
      <p:bldP spid="73733" grpId="0" build="p"/>
      <p:bldP spid="73735" grpId="0" advAuto="1000" build="p"/>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9" name="矩形 74758"/>
          <p:cNvSpPr/>
          <p:nvPr/>
        </p:nvSpPr>
        <p:spPr>
          <a:xfrm>
            <a:off x="251460" y="140970"/>
            <a:ext cx="8456295" cy="1380490"/>
          </a:xfrm>
          <a:prstGeom prst="rect">
            <a:avLst/>
          </a:prstGeom>
          <a:noFill/>
          <a:ln w="9525">
            <a:noFill/>
          </a:ln>
        </p:spPr>
        <p:txBody>
          <a:bodyPr anchor="t" anchorCtr="0">
            <a:noAutofit/>
          </a:bodyPr>
          <a:p>
            <a:pPr>
              <a:lnSpc>
                <a:spcPct val="150000"/>
              </a:lnSpc>
            </a:pPr>
            <a:r>
              <a:rPr lang="zh-CN" altLang="en-US" dirty="0">
                <a:latin typeface="Times New Roman" panose="02020603050405020304" pitchFamily="18" charset="0"/>
              </a:rPr>
              <a:t>简记作 </a:t>
            </a:r>
            <a:r>
              <a:rPr lang="en-US" altLang="zh-CN" err="1">
                <a:latin typeface="Times New Roman" panose="02020603050405020304" pitchFamily="18" charset="0"/>
              </a:rPr>
              <a:t>det(</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a:latin typeface="Times New Roman" panose="02020603050405020304" pitchFamily="18" charset="0"/>
              </a:rPr>
              <a:t>)</a:t>
            </a:r>
            <a:r>
              <a:rPr lang="zh-CN" altLang="en-US">
                <a:latin typeface="Times New Roman" panose="02020603050405020304" pitchFamily="18" charset="0"/>
              </a:rPr>
              <a:t>或</a:t>
            </a:r>
            <a:r>
              <a:rPr lang="zh-CN" altLang="en-US" dirty="0">
                <a:solidFill>
                  <a:schemeClr val="tx1"/>
                </a:solidFill>
                <a:sym typeface="+mn-ea"/>
              </a:rPr>
              <a:t> </a:t>
            </a:r>
            <a:r>
              <a:rPr lang="en-US" altLang="zh-CN">
                <a:solidFill>
                  <a:schemeClr val="tx1"/>
                </a:solidFill>
                <a:sym typeface="+mn-ea"/>
              </a:rPr>
              <a:t>| </a:t>
            </a:r>
            <a:r>
              <a:rPr lang="en-US" altLang="zh-CN" i="1" err="1">
                <a:solidFill>
                  <a:schemeClr val="tx1"/>
                </a:solidFill>
                <a:sym typeface="+mn-ea"/>
              </a:rPr>
              <a:t>a</a:t>
            </a:r>
            <a:r>
              <a:rPr lang="en-US" altLang="zh-CN" i="1" baseline="-25000" err="1">
                <a:solidFill>
                  <a:schemeClr val="tx1"/>
                </a:solidFill>
                <a:sym typeface="+mn-ea"/>
              </a:rPr>
              <a:t>ij</a:t>
            </a:r>
            <a:r>
              <a:rPr lang="en-US" altLang="zh-CN" i="1" baseline="-25000">
                <a:solidFill>
                  <a:schemeClr val="tx1"/>
                </a:solidFill>
                <a:sym typeface="+mn-ea"/>
              </a:rPr>
              <a:t> </a:t>
            </a:r>
            <a:r>
              <a:rPr lang="en-US" altLang="zh-CN">
                <a:solidFill>
                  <a:schemeClr val="tx1"/>
                </a:solidFill>
                <a:sym typeface="+mn-ea"/>
              </a:rPr>
              <a:t> |</a:t>
            </a:r>
            <a:r>
              <a:rPr lang="en-US" altLang="zh-CN">
                <a:solidFill>
                  <a:schemeClr val="tx1"/>
                </a:solidFill>
                <a:latin typeface="Times New Roman" panose="02020603050405020304" pitchFamily="18" charset="0"/>
              </a:rPr>
              <a:t>.</a:t>
            </a:r>
            <a:r>
              <a:rPr lang="en-US" altLang="zh-CN">
                <a:latin typeface="Times New Roman" panose="02020603050405020304" pitchFamily="18" charset="0"/>
              </a:rPr>
              <a:t> </a:t>
            </a:r>
            <a:r>
              <a:rPr lang="zh-CN" altLang="en-US" dirty="0">
                <a:latin typeface="Times New Roman" panose="02020603050405020304" pitchFamily="18" charset="0"/>
              </a:rPr>
              <a:t>数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i="1" baseline="-25000">
                <a:latin typeface="Times New Roman" panose="02020603050405020304" pitchFamily="18" charset="0"/>
              </a:rPr>
              <a:t> </a:t>
            </a:r>
            <a:r>
              <a:rPr lang="zh-CN" altLang="en-US" dirty="0">
                <a:latin typeface="Times New Roman" panose="02020603050405020304" pitchFamily="18" charset="0"/>
              </a:rPr>
              <a:t>称为行列式 </a:t>
            </a:r>
            <a:r>
              <a:rPr lang="en-US" altLang="zh-CN" err="1">
                <a:latin typeface="Times New Roman" panose="02020603050405020304" pitchFamily="18" charset="0"/>
              </a:rPr>
              <a:t>det(</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a:latin typeface="Times New Roman" panose="02020603050405020304" pitchFamily="18" charset="0"/>
              </a:rPr>
              <a:t>) (</a:t>
            </a:r>
            <a:r>
              <a:rPr lang="zh-CN" altLang="en-US" dirty="0">
                <a:latin typeface="Times New Roman" panose="02020603050405020304" pitchFamily="18" charset="0"/>
              </a:rPr>
              <a:t>第 </a:t>
            </a:r>
            <a:r>
              <a:rPr lang="en-US" altLang="zh-CN" i="1">
                <a:latin typeface="Times New Roman" panose="02020603050405020304" pitchFamily="18" charset="0"/>
              </a:rPr>
              <a:t>i </a:t>
            </a:r>
            <a:r>
              <a:rPr lang="zh-CN" altLang="en-US" dirty="0">
                <a:latin typeface="Times New Roman" panose="02020603050405020304" pitchFamily="18" charset="0"/>
              </a:rPr>
              <a:t>行第 </a:t>
            </a:r>
            <a:r>
              <a:rPr lang="en-US" altLang="zh-CN" i="1">
                <a:latin typeface="Times New Roman" panose="02020603050405020304" pitchFamily="18" charset="0"/>
              </a:rPr>
              <a:t>j </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的元素</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75778" name="矩形 75777"/>
          <p:cNvSpPr/>
          <p:nvPr/>
        </p:nvSpPr>
        <p:spPr>
          <a:xfrm>
            <a:off x="107950" y="1409065"/>
            <a:ext cx="8456930" cy="5179060"/>
          </a:xfrm>
          <a:prstGeom prst="rect">
            <a:avLst/>
          </a:prstGeom>
          <a:noFill/>
          <a:ln w="9525">
            <a:noFill/>
          </a:ln>
        </p:spPr>
        <p:txBody>
          <a:bodyPr>
            <a:noAutofit/>
          </a:bodyPr>
          <a:p>
            <a:pPr>
              <a:lnSpc>
                <a:spcPct val="150000"/>
              </a:lnSpc>
            </a:pPr>
            <a:r>
              <a:rPr lang="en-US" altLang="zh-CN" dirty="0">
                <a:solidFill>
                  <a:srgbClr val="0000FF"/>
                </a:solidFill>
                <a:latin typeface="Times New Roman" panose="02020603050405020304" pitchFamily="18" charset="0"/>
                <a:ea typeface="黑体" panose="02010609060101010101" pitchFamily="2" charset="-122"/>
              </a:rPr>
              <a:t>        </a:t>
            </a:r>
            <a:r>
              <a:rPr lang="zh-CN" altLang="en-US" dirty="0">
                <a:solidFill>
                  <a:srgbClr val="3333FF"/>
                </a:solidFill>
                <a:latin typeface="Times New Roman" panose="02020603050405020304" pitchFamily="18" charset="0"/>
                <a:ea typeface="黑体" panose="02010609060101010101" pitchFamily="2" charset="-122"/>
              </a:rPr>
              <a:t>说明</a:t>
            </a:r>
            <a:r>
              <a:rPr lang="en-US" altLang="zh-CN">
                <a:solidFill>
                  <a:srgbClr val="3333FF"/>
                </a:solidFill>
                <a:latin typeface="Times New Roman" panose="02020603050405020304" pitchFamily="18" charset="0"/>
              </a:rPr>
              <a:t>1.</a:t>
            </a:r>
            <a:r>
              <a:rPr lang="en-US" altLang="zh-CN">
                <a:latin typeface="Times New Roman" panose="02020603050405020304" pitchFamily="18" charset="0"/>
              </a:rPr>
              <a:t> </a:t>
            </a:r>
            <a:r>
              <a:rPr lang="en-US" altLang="zh-CN">
                <a:solidFill>
                  <a:srgbClr val="3333FF"/>
                </a:solidFill>
                <a:sym typeface="+mn-ea"/>
              </a:rPr>
              <a:t> </a:t>
            </a:r>
            <a:r>
              <a:rPr lang="zh-CN" altLang="en-US" dirty="0">
                <a:sym typeface="+mn-ea"/>
              </a:rPr>
              <a:t>一阶行列式的符号 </a:t>
            </a:r>
            <a:r>
              <a:rPr lang="en-US" altLang="zh-CN">
                <a:solidFill>
                  <a:srgbClr val="FF3300"/>
                </a:solidFill>
                <a:sym typeface="+mn-ea"/>
              </a:rPr>
              <a:t>| </a:t>
            </a:r>
            <a:r>
              <a:rPr lang="en-US" altLang="zh-CN" i="1">
                <a:solidFill>
                  <a:srgbClr val="FF3300"/>
                </a:solidFill>
                <a:sym typeface="+mn-ea"/>
              </a:rPr>
              <a:t>a</a:t>
            </a:r>
            <a:r>
              <a:rPr lang="en-US" altLang="zh-CN">
                <a:solidFill>
                  <a:srgbClr val="FF3300"/>
                </a:solidFill>
                <a:sym typeface="+mn-ea"/>
              </a:rPr>
              <a:t> | = </a:t>
            </a:r>
            <a:r>
              <a:rPr lang="en-US" altLang="zh-CN" i="1">
                <a:solidFill>
                  <a:srgbClr val="FF3300"/>
                </a:solidFill>
                <a:sym typeface="+mn-ea"/>
              </a:rPr>
              <a:t>a</a:t>
            </a:r>
            <a:r>
              <a:rPr lang="en-US" altLang="zh-CN">
                <a:latin typeface="Times New Roman" panose="02020603050405020304" pitchFamily="18" charset="0"/>
              </a:rPr>
              <a:t>;</a:t>
            </a:r>
            <a:endParaRPr lang="en-US" altLang="zh-CN">
              <a:latin typeface="Times New Roman" panose="02020603050405020304" pitchFamily="18" charset="0"/>
            </a:endParaRPr>
          </a:p>
          <a:p>
            <a:pPr>
              <a:lnSpc>
                <a:spcPct val="150000"/>
              </a:lnSpc>
            </a:pPr>
            <a:r>
              <a:rPr lang="en-US" altLang="zh-CN">
                <a:solidFill>
                  <a:srgbClr val="3333FF"/>
                </a:solidFill>
                <a:latin typeface="Times New Roman" panose="02020603050405020304" pitchFamily="18" charset="0"/>
                <a:ea typeface="黑体" panose="02010609060101010101" pitchFamily="2" charset="-122"/>
              </a:rPr>
              <a:t>        </a:t>
            </a:r>
            <a:r>
              <a:rPr lang="zh-CN" altLang="en-US" dirty="0">
                <a:solidFill>
                  <a:srgbClr val="3333FF"/>
                </a:solidFill>
                <a:latin typeface="Times New Roman" panose="02020603050405020304" pitchFamily="18" charset="0"/>
                <a:ea typeface="黑体" panose="02010609060101010101" pitchFamily="2" charset="-122"/>
              </a:rPr>
              <a:t>说明</a:t>
            </a:r>
            <a:r>
              <a:rPr lang="en-US" altLang="zh-CN">
                <a:solidFill>
                  <a:srgbClr val="3333FF"/>
                </a:solidFill>
                <a:latin typeface="Times New Roman" panose="02020603050405020304" pitchFamily="18" charset="0"/>
              </a:rPr>
              <a:t>2. </a:t>
            </a:r>
            <a:r>
              <a:rPr lang="en-US" altLang="zh-CN" i="1">
                <a:sym typeface="+mn-ea"/>
              </a:rPr>
              <a:t>n </a:t>
            </a:r>
            <a:r>
              <a:rPr lang="zh-CN" altLang="en-US" dirty="0">
                <a:sym typeface="+mn-ea"/>
              </a:rPr>
              <a:t>阶行列式的每项都是位于不同行</a:t>
            </a:r>
            <a:r>
              <a:rPr lang="en-US" altLang="zh-CN">
                <a:sym typeface="+mn-ea"/>
              </a:rPr>
              <a:t>, </a:t>
            </a:r>
            <a:r>
              <a:rPr lang="zh-CN" altLang="en-US" dirty="0">
                <a:sym typeface="+mn-ea"/>
              </a:rPr>
              <a:t>不同列 </a:t>
            </a:r>
            <a:r>
              <a:rPr lang="en-US" altLang="zh-CN" i="1">
                <a:sym typeface="+mn-ea"/>
              </a:rPr>
              <a:t>n </a:t>
            </a:r>
            <a:r>
              <a:rPr lang="zh-CN" altLang="en-US" dirty="0">
                <a:sym typeface="+mn-ea"/>
              </a:rPr>
              <a:t>个元素的乘积</a:t>
            </a:r>
            <a:r>
              <a:rPr lang="en-US" altLang="zh-CN">
                <a:sym typeface="+mn-ea"/>
              </a:rPr>
              <a:t>,</a:t>
            </a:r>
            <a:r>
              <a:rPr lang="zh-CN" altLang="en-US" dirty="0">
                <a:latin typeface="Times New Roman" panose="02020603050405020304" pitchFamily="18" charset="0"/>
              </a:rPr>
              <a:t> 共</a:t>
            </a:r>
            <a:r>
              <a:rPr lang="en-US" altLang="zh-CN" i="1">
                <a:latin typeface="Times New Roman" panose="02020603050405020304" pitchFamily="18" charset="0"/>
              </a:rPr>
              <a:t>n</a:t>
            </a:r>
            <a:r>
              <a:rPr lang="en-US" altLang="zh-CN">
                <a:latin typeface="Times New Roman" panose="02020603050405020304" pitchFamily="18" charset="0"/>
              </a:rPr>
              <a:t>! </a:t>
            </a:r>
            <a:r>
              <a:rPr lang="zh-CN" altLang="en-US" dirty="0">
                <a:latin typeface="Times New Roman" panose="02020603050405020304" pitchFamily="18" charset="0"/>
              </a:rPr>
              <a:t>项的代数和，</a:t>
            </a:r>
            <a:r>
              <a:rPr lang="zh-CN" altLang="en-US">
                <a:latin typeface="Times New Roman" panose="02020603050405020304" pitchFamily="18" charset="0"/>
              </a:rPr>
              <a:t>正号与取负号的项各占一半</a:t>
            </a:r>
            <a:r>
              <a:rPr lang="en-US" altLang="zh-CN">
                <a:latin typeface="Times New Roman" panose="02020603050405020304" pitchFamily="18" charset="0"/>
              </a:rPr>
              <a:t>;</a:t>
            </a:r>
            <a:endParaRPr lang="en-US" altLang="zh-CN">
              <a:latin typeface="Times New Roman" panose="02020603050405020304" pitchFamily="18" charset="0"/>
            </a:endParaRPr>
          </a:p>
          <a:p>
            <a:pPr>
              <a:lnSpc>
                <a:spcPct val="150000"/>
              </a:lnSpc>
            </a:pPr>
            <a:r>
              <a:rPr lang="en-US" altLang="zh-CN">
                <a:solidFill>
                  <a:srgbClr val="3333FF"/>
                </a:solidFill>
                <a:latin typeface="Times New Roman" panose="02020603050405020304" pitchFamily="18" charset="0"/>
                <a:ea typeface="黑体" panose="02010609060101010101" pitchFamily="2" charset="-122"/>
              </a:rPr>
              <a:t>        </a:t>
            </a:r>
            <a:r>
              <a:rPr lang="zh-CN" altLang="en-US" dirty="0">
                <a:solidFill>
                  <a:srgbClr val="3333FF"/>
                </a:solidFill>
                <a:latin typeface="Times New Roman" panose="02020603050405020304" pitchFamily="18" charset="0"/>
                <a:ea typeface="黑体" panose="02010609060101010101" pitchFamily="2" charset="-122"/>
              </a:rPr>
              <a:t>说明</a:t>
            </a:r>
            <a:r>
              <a:rPr lang="en-US" altLang="zh-CN">
                <a:solidFill>
                  <a:srgbClr val="3333FF"/>
                </a:solidFill>
                <a:latin typeface="Times New Roman" panose="02020603050405020304" pitchFamily="18" charset="0"/>
              </a:rPr>
              <a:t>3. </a:t>
            </a:r>
            <a:r>
              <a:rPr lang="zh-CN" altLang="en-US">
                <a:latin typeface="Times New Roman" panose="02020603050405020304" pitchFamily="18" charset="0"/>
              </a:rPr>
              <a:t>一个行列式中如果有一行（一列）的元素全都为</a:t>
            </a:r>
            <a:r>
              <a:rPr lang="en-US" altLang="zh-CN">
                <a:latin typeface="Times New Roman" panose="02020603050405020304" pitchFamily="18" charset="0"/>
              </a:rPr>
              <a:t>0</a:t>
            </a:r>
            <a:r>
              <a:rPr lang="zh-CN" altLang="en-US">
                <a:latin typeface="Times New Roman" panose="02020603050405020304" pitchFamily="18" charset="0"/>
              </a:rPr>
              <a:t>，则此行列式为</a:t>
            </a:r>
            <a:r>
              <a:rPr lang="en-US" altLang="zh-CN">
                <a:latin typeface="Times New Roman" panose="02020603050405020304" pitchFamily="18" charset="0"/>
              </a:rPr>
              <a:t>0</a:t>
            </a:r>
            <a:r>
              <a:rPr lang="zh-CN" altLang="en-US">
                <a:latin typeface="Times New Roman" panose="02020603050405020304" pitchFamily="18" charset="0"/>
              </a:rPr>
              <a:t>；</a:t>
            </a:r>
            <a:endParaRPr lang="zh-CN" altLang="en-US">
              <a:latin typeface="Times New Roman" panose="02020603050405020304" pitchFamily="18" charset="0"/>
            </a:endParaRPr>
          </a:p>
          <a:p>
            <a:pPr>
              <a:lnSpc>
                <a:spcPct val="150000"/>
              </a:lnSpc>
            </a:pPr>
            <a:r>
              <a:rPr lang="en-US" altLang="zh-CN" dirty="0">
                <a:solidFill>
                  <a:srgbClr val="3333FF"/>
                </a:solidFill>
                <a:ea typeface="黑体" panose="02010609060101010101" pitchFamily="2" charset="-122"/>
                <a:sym typeface="+mn-ea"/>
              </a:rPr>
              <a:t>        </a:t>
            </a:r>
            <a:r>
              <a:rPr lang="zh-CN" altLang="en-US" dirty="0">
                <a:solidFill>
                  <a:srgbClr val="3333FF"/>
                </a:solidFill>
                <a:ea typeface="黑体" panose="02010609060101010101" pitchFamily="2" charset="-122"/>
                <a:sym typeface="+mn-ea"/>
              </a:rPr>
              <a:t>说明</a:t>
            </a:r>
            <a:r>
              <a:rPr lang="en-US" altLang="zh-CN">
                <a:solidFill>
                  <a:srgbClr val="3333FF"/>
                </a:solidFill>
                <a:sym typeface="+mn-ea"/>
              </a:rPr>
              <a:t>4. </a:t>
            </a:r>
            <a:r>
              <a:rPr lang="zh-CN" altLang="en-US">
                <a:sym typeface="+mn-ea"/>
              </a:rPr>
              <a:t>定义中各项乘积是逐行选取不同列的个元素所得，当然也可以按逐列选取不同行的个元素</a:t>
            </a:r>
            <a:r>
              <a:rPr lang="en-US" altLang="zh-CN">
                <a:sym typeface="+mn-ea"/>
              </a:rPr>
              <a:t>.</a:t>
            </a:r>
            <a:endParaRPr lang="en-US" altLang="zh-CN">
              <a:latin typeface="Times New Roman" panose="02020603050405020304" pitchFamily="18" charset="0"/>
            </a:endParaRPr>
          </a:p>
          <a:p>
            <a:pPr>
              <a:lnSpc>
                <a:spcPct val="150000"/>
              </a:lnSpc>
            </a:pPr>
            <a:endParaRPr lang="zh-CN" altLang="en-US">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4759">
                                            <p:txEl>
                                              <p:charRg st="0" end="52"/>
                                            </p:txEl>
                                          </p:spTgt>
                                        </p:tgtEl>
                                        <p:attrNameLst>
                                          <p:attrName>style.visibility</p:attrName>
                                        </p:attrNameLst>
                                      </p:cBhvr>
                                      <p:to>
                                        <p:strVal val="visible"/>
                                      </p:to>
                                    </p:set>
                                    <p:animEffect transition="in" filter="box(out)">
                                      <p:cBhvr>
                                        <p:cTn id="7" dur="500"/>
                                        <p:tgtEl>
                                          <p:spTgt spid="74759">
                                            <p:txEl>
                                              <p:charRg st="0" end="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75778">
                                            <p:txEl>
                                              <p:charRg st="0" end="59"/>
                                            </p:txEl>
                                          </p:spTgt>
                                        </p:tgtEl>
                                        <p:attrNameLst>
                                          <p:attrName>style.visibility</p:attrName>
                                        </p:attrNameLst>
                                      </p:cBhvr>
                                      <p:to>
                                        <p:strVal val="visible"/>
                                      </p:to>
                                    </p:set>
                                    <p:animEffect transition="in" filter="box(out)">
                                      <p:cBhvr>
                                        <p:cTn id="12" dur="500"/>
                                        <p:tgtEl>
                                          <p:spTgt spid="75778">
                                            <p:txEl>
                                              <p:charRg st="0" end="5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5778">
                                            <p:txEl>
                                              <p:charRg st="59" end="90"/>
                                            </p:txEl>
                                          </p:spTgt>
                                        </p:tgtEl>
                                        <p:attrNameLst>
                                          <p:attrName>style.visibility</p:attrName>
                                        </p:attrNameLst>
                                      </p:cBhvr>
                                      <p:to>
                                        <p:strVal val="visible"/>
                                      </p:to>
                                    </p:set>
                                    <p:animEffect transition="in" filter="box(out)">
                                      <p:cBhvr>
                                        <p:cTn id="17" dur="500"/>
                                        <p:tgtEl>
                                          <p:spTgt spid="75778">
                                            <p:txEl>
                                              <p:charRg st="59" end="9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75778">
                                            <p:txEl>
                                              <p:charRg st="90" end="135"/>
                                            </p:txEl>
                                          </p:spTgt>
                                        </p:tgtEl>
                                        <p:attrNameLst>
                                          <p:attrName>style.visibility</p:attrName>
                                        </p:attrNameLst>
                                      </p:cBhvr>
                                      <p:to>
                                        <p:strVal val="visible"/>
                                      </p:to>
                                    </p:set>
                                    <p:animEffect transition="in" filter="box(out)">
                                      <p:cBhvr>
                                        <p:cTn id="22" dur="500"/>
                                        <p:tgtEl>
                                          <p:spTgt spid="75778">
                                            <p:txEl>
                                              <p:charRg st="90" end="13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5778">
                                            <p:txEl>
                                              <p:pRg st="3" end="3"/>
                                            </p:txEl>
                                          </p:spTgt>
                                        </p:tgtEl>
                                        <p:attrNameLst>
                                          <p:attrName>style.visibility</p:attrName>
                                        </p:attrNameLst>
                                      </p:cBhvr>
                                      <p:to>
                                        <p:strVal val="visible"/>
                                      </p:to>
                                    </p:set>
                                    <p:animEffect transition="in" filter="blinds(horizontal)">
                                      <p:cBhvr>
                                        <p:cTn id="27" dur="500"/>
                                        <p:tgtEl>
                                          <p:spTgt spid="7577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9" grpId="0" advAuto="1000" build="p"/>
      <p:bldP spid="75778"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67360" y="1475740"/>
            <a:ext cx="8316595" cy="2844165"/>
          </a:xfrm>
          <a:prstGeom prst="rect">
            <a:avLst/>
          </a:prstGeom>
          <a:noFill/>
        </p:spPr>
        <p:txBody>
          <a:bodyPr wrap="square" rtlCol="0">
            <a:noAutofit/>
          </a:bodyPr>
          <a:p>
            <a:pPr>
              <a:lnSpc>
                <a:spcPct val="120000"/>
              </a:lnSpc>
            </a:pPr>
            <a:r>
              <a:rPr lang="en-US" altLang="zh-CN">
                <a:sym typeface="+mn-ea"/>
              </a:rPr>
              <a:t>    </a:t>
            </a:r>
            <a:r>
              <a:rPr lang="zh-CN" altLang="en-US" dirty="0">
                <a:solidFill>
                  <a:schemeClr val="hlink"/>
                </a:solidFill>
                <a:sym typeface="+mn-ea"/>
              </a:rPr>
              <a:t>解</a:t>
            </a:r>
            <a:r>
              <a:rPr lang="en-US" altLang="zh-CN">
                <a:solidFill>
                  <a:schemeClr val="hlink"/>
                </a:solidFill>
                <a:sym typeface="+mn-ea"/>
              </a:rPr>
              <a:t>:</a:t>
            </a:r>
            <a:r>
              <a:rPr lang="zh-CN" altLang="en-US">
                <a:solidFill>
                  <a:schemeClr val="tx1"/>
                </a:solidFill>
                <a:sym typeface="+mn-ea"/>
              </a:rPr>
              <a:t>（</a:t>
            </a:r>
            <a:r>
              <a:rPr lang="en-US" altLang="zh-CN">
                <a:solidFill>
                  <a:schemeClr val="tx1"/>
                </a:solidFill>
                <a:sym typeface="+mn-ea"/>
              </a:rPr>
              <a:t>1</a:t>
            </a:r>
            <a:r>
              <a:rPr lang="zh-CN" altLang="en-US">
                <a:solidFill>
                  <a:schemeClr val="tx1"/>
                </a:solidFill>
                <a:sym typeface="+mn-ea"/>
              </a:rPr>
              <a:t>）</a:t>
            </a:r>
            <a:r>
              <a:rPr lang="en-US" altLang="zh-CN" i="1">
                <a:solidFill>
                  <a:srgbClr val="FF0000"/>
                </a:solidFill>
                <a:sym typeface="+mn-ea"/>
              </a:rPr>
              <a:t>a</a:t>
            </a:r>
            <a:r>
              <a:rPr lang="en-US" altLang="zh-CN" baseline="-25000">
                <a:solidFill>
                  <a:srgbClr val="FF0000"/>
                </a:solidFill>
                <a:sym typeface="+mn-ea"/>
              </a:rPr>
              <a:t>13</a:t>
            </a:r>
            <a:r>
              <a:rPr lang="en-US" altLang="zh-CN" i="1">
                <a:solidFill>
                  <a:srgbClr val="FF0000"/>
                </a:solidFill>
                <a:sym typeface="+mn-ea"/>
              </a:rPr>
              <a:t>a</a:t>
            </a:r>
            <a:r>
              <a:rPr lang="en-US" altLang="zh-CN" baseline="-25000">
                <a:solidFill>
                  <a:srgbClr val="FF0000"/>
                </a:solidFill>
                <a:sym typeface="+mn-ea"/>
              </a:rPr>
              <a:t>24</a:t>
            </a:r>
            <a:r>
              <a:rPr lang="en-US" altLang="zh-CN" i="1">
                <a:solidFill>
                  <a:srgbClr val="FF0000"/>
                </a:solidFill>
                <a:sym typeface="+mn-ea"/>
              </a:rPr>
              <a:t>a</a:t>
            </a:r>
            <a:r>
              <a:rPr lang="en-US" altLang="zh-CN" baseline="-25000">
                <a:solidFill>
                  <a:srgbClr val="FF0000"/>
                </a:solidFill>
                <a:sym typeface="+mn-ea"/>
              </a:rPr>
              <a:t>31</a:t>
            </a:r>
            <a:r>
              <a:rPr lang="en-US" altLang="zh-CN" i="1">
                <a:solidFill>
                  <a:srgbClr val="FF0000"/>
                </a:solidFill>
                <a:sym typeface="+mn-ea"/>
              </a:rPr>
              <a:t>a</a:t>
            </a:r>
            <a:r>
              <a:rPr lang="en-US" altLang="zh-CN" baseline="-25000">
                <a:solidFill>
                  <a:srgbClr val="FF0000"/>
                </a:solidFill>
                <a:sym typeface="+mn-ea"/>
              </a:rPr>
              <a:t>43</a:t>
            </a:r>
            <a:r>
              <a:rPr lang="en-US" altLang="zh-CN" i="1">
                <a:solidFill>
                  <a:srgbClr val="FF0000"/>
                </a:solidFill>
                <a:sym typeface="+mn-ea"/>
              </a:rPr>
              <a:t>a</a:t>
            </a:r>
            <a:r>
              <a:rPr lang="en-US" altLang="zh-CN" baseline="-25000">
                <a:solidFill>
                  <a:srgbClr val="FF0000"/>
                </a:solidFill>
                <a:sym typeface="+mn-ea"/>
              </a:rPr>
              <a:t>56</a:t>
            </a:r>
            <a:r>
              <a:rPr lang="en-US" altLang="zh-CN" i="1">
                <a:solidFill>
                  <a:srgbClr val="FF0000"/>
                </a:solidFill>
                <a:sym typeface="+mn-ea"/>
              </a:rPr>
              <a:t>a</a:t>
            </a:r>
            <a:r>
              <a:rPr lang="en-US" altLang="zh-CN" baseline="-25000">
                <a:solidFill>
                  <a:srgbClr val="FF0000"/>
                </a:solidFill>
                <a:sym typeface="+mn-ea"/>
              </a:rPr>
              <a:t>65</a:t>
            </a:r>
            <a:r>
              <a:rPr lang="zh-CN" altLang="en-US">
                <a:sym typeface="+mn-ea"/>
              </a:rPr>
              <a:t>的行标</a:t>
            </a:r>
            <a:r>
              <a:rPr lang="en-US" altLang="zh-CN">
                <a:sym typeface="+mn-ea"/>
              </a:rPr>
              <a:t>123456</a:t>
            </a:r>
            <a:r>
              <a:rPr lang="zh-CN" altLang="en-US">
                <a:sym typeface="+mn-ea"/>
              </a:rPr>
              <a:t>，说明取自不同行元素的乘积，但列标341365有两个3，说明两个元素</a:t>
            </a:r>
            <a:r>
              <a:rPr lang="zh-CN" altLang="en-US" dirty="0">
                <a:sym typeface="+mn-ea"/>
              </a:rPr>
              <a:t> </a:t>
            </a:r>
            <a:r>
              <a:rPr lang="en-US" altLang="zh-CN" i="1">
                <a:solidFill>
                  <a:srgbClr val="FF0000"/>
                </a:solidFill>
                <a:sym typeface="+mn-ea"/>
              </a:rPr>
              <a:t>a</a:t>
            </a:r>
            <a:r>
              <a:rPr lang="en-US" altLang="zh-CN" baseline="-25000">
                <a:solidFill>
                  <a:srgbClr val="FF0000"/>
                </a:solidFill>
                <a:sym typeface="+mn-ea"/>
              </a:rPr>
              <a:t>13</a:t>
            </a:r>
            <a:r>
              <a:rPr lang="zh-CN" altLang="en-US" baseline="-25000">
                <a:solidFill>
                  <a:srgbClr val="FF0000"/>
                </a:solidFill>
                <a:sym typeface="+mn-ea"/>
              </a:rPr>
              <a:t>、</a:t>
            </a:r>
            <a:r>
              <a:rPr lang="en-US" altLang="zh-CN" i="1">
                <a:solidFill>
                  <a:srgbClr val="FF0000"/>
                </a:solidFill>
                <a:sym typeface="+mn-ea"/>
              </a:rPr>
              <a:t>a</a:t>
            </a:r>
            <a:r>
              <a:rPr lang="en-US" altLang="zh-CN" baseline="-25000">
                <a:solidFill>
                  <a:srgbClr val="FF0000"/>
                </a:solidFill>
                <a:sym typeface="+mn-ea"/>
              </a:rPr>
              <a:t>43</a:t>
            </a:r>
            <a:r>
              <a:rPr lang="zh-CN" altLang="en-US">
                <a:sym typeface="+mn-ea"/>
              </a:rPr>
              <a:t>取都取自相同列（第</a:t>
            </a:r>
            <a:r>
              <a:rPr lang="en-US" altLang="zh-CN">
                <a:sym typeface="+mn-ea"/>
              </a:rPr>
              <a:t>3</a:t>
            </a:r>
            <a:r>
              <a:rPr lang="zh-CN" altLang="en-US">
                <a:sym typeface="+mn-ea"/>
              </a:rPr>
              <a:t>列）的元素，不符合行列式定义取自不同行不同列的6个元素乘积，</a:t>
            </a:r>
            <a:endParaRPr lang="zh-CN" altLang="en-US">
              <a:sym typeface="+mn-ea"/>
            </a:endParaRPr>
          </a:p>
          <a:p>
            <a:pPr>
              <a:lnSpc>
                <a:spcPct val="120000"/>
              </a:lnSpc>
            </a:pPr>
            <a:endParaRPr lang="zh-CN" altLang="en-US"/>
          </a:p>
        </p:txBody>
      </p:sp>
      <p:sp>
        <p:nvSpPr>
          <p:cNvPr id="4" name="文本框 3"/>
          <p:cNvSpPr txBox="1"/>
          <p:nvPr/>
        </p:nvSpPr>
        <p:spPr>
          <a:xfrm>
            <a:off x="611505" y="116840"/>
            <a:ext cx="8381365" cy="1435100"/>
          </a:xfrm>
          <a:prstGeom prst="rect">
            <a:avLst/>
          </a:prstGeom>
          <a:noFill/>
        </p:spPr>
        <p:txBody>
          <a:bodyPr wrap="square" rtlCol="0" anchor="t">
            <a:noAutofit/>
          </a:bodyPr>
          <a:p>
            <a:r>
              <a:rPr lang="en-US" altLang="zh-CN" dirty="0">
                <a:ea typeface="黑体" panose="02010609060101010101" pitchFamily="2" charset="-122"/>
                <a:sym typeface="+mn-ea"/>
              </a:rPr>
              <a:t> </a:t>
            </a:r>
            <a:r>
              <a:rPr lang="en-US" altLang="zh-CN">
                <a:solidFill>
                  <a:schemeClr val="hlink"/>
                </a:solidFill>
                <a:ea typeface="黑体" panose="02010609060101010101" pitchFamily="2" charset="-122"/>
                <a:sym typeface="+mn-ea"/>
              </a:rPr>
              <a:t>练习1:</a:t>
            </a:r>
            <a:r>
              <a:rPr lang="en-US" altLang="zh-CN">
                <a:ea typeface="黑体" panose="02010609060101010101" pitchFamily="2" charset="-122"/>
                <a:sym typeface="+mn-ea"/>
              </a:rPr>
              <a:t> </a:t>
            </a:r>
            <a:r>
              <a:rPr lang="zh-CN" altLang="en-US" dirty="0">
                <a:sym typeface="+mn-ea"/>
              </a:rPr>
              <a:t>试判断下列项是否六阶行列式中的项</a:t>
            </a:r>
            <a:r>
              <a:rPr lang="zh-CN" altLang="en-US">
                <a:sym typeface="+mn-ea"/>
              </a:rPr>
              <a:t>？</a:t>
            </a:r>
            <a:endParaRPr lang="zh-CN" altLang="en-US">
              <a:sym typeface="+mn-ea"/>
            </a:endParaRPr>
          </a:p>
          <a:p>
            <a:r>
              <a:rPr lang="zh-CN" altLang="en-US">
                <a:sym typeface="+mn-ea"/>
              </a:rPr>
              <a:t>（</a:t>
            </a:r>
            <a:r>
              <a:rPr lang="en-US" altLang="zh-CN">
                <a:sym typeface="+mn-ea"/>
              </a:rPr>
              <a:t>1</a:t>
            </a:r>
            <a:r>
              <a:rPr lang="zh-CN" altLang="en-US">
                <a:sym typeface="+mn-ea"/>
              </a:rPr>
              <a:t>）</a:t>
            </a:r>
            <a:r>
              <a:rPr lang="en-US" altLang="zh-CN" i="1">
                <a:solidFill>
                  <a:schemeClr val="tx1"/>
                </a:solidFill>
                <a:sym typeface="+mn-ea"/>
              </a:rPr>
              <a:t>a</a:t>
            </a:r>
            <a:r>
              <a:rPr lang="en-US" altLang="zh-CN" baseline="-25000">
                <a:solidFill>
                  <a:schemeClr val="tx1"/>
                </a:solidFill>
                <a:sym typeface="+mn-ea"/>
              </a:rPr>
              <a:t>13</a:t>
            </a:r>
            <a:r>
              <a:rPr lang="en-US" altLang="zh-CN" i="1">
                <a:solidFill>
                  <a:schemeClr val="tx1"/>
                </a:solidFill>
                <a:sym typeface="+mn-ea"/>
              </a:rPr>
              <a:t>a</a:t>
            </a:r>
            <a:r>
              <a:rPr lang="en-US" altLang="zh-CN" baseline="-25000">
                <a:solidFill>
                  <a:schemeClr val="tx1"/>
                </a:solidFill>
                <a:sym typeface="+mn-ea"/>
              </a:rPr>
              <a:t>24</a:t>
            </a:r>
            <a:r>
              <a:rPr lang="en-US" altLang="zh-CN" i="1">
                <a:solidFill>
                  <a:schemeClr val="tx1"/>
                </a:solidFill>
                <a:sym typeface="+mn-ea"/>
              </a:rPr>
              <a:t>a</a:t>
            </a:r>
            <a:r>
              <a:rPr lang="en-US" altLang="zh-CN" baseline="-25000">
                <a:solidFill>
                  <a:schemeClr val="tx1"/>
                </a:solidFill>
                <a:sym typeface="+mn-ea"/>
              </a:rPr>
              <a:t>31</a:t>
            </a:r>
            <a:r>
              <a:rPr lang="en-US" altLang="zh-CN" i="1">
                <a:solidFill>
                  <a:schemeClr val="tx1"/>
                </a:solidFill>
                <a:sym typeface="+mn-ea"/>
              </a:rPr>
              <a:t>a</a:t>
            </a:r>
            <a:r>
              <a:rPr lang="en-US" altLang="zh-CN" baseline="-25000">
                <a:solidFill>
                  <a:schemeClr val="tx1"/>
                </a:solidFill>
                <a:sym typeface="+mn-ea"/>
              </a:rPr>
              <a:t>43</a:t>
            </a:r>
            <a:r>
              <a:rPr lang="en-US" altLang="zh-CN" i="1">
                <a:solidFill>
                  <a:schemeClr val="tx1"/>
                </a:solidFill>
                <a:sym typeface="+mn-ea"/>
              </a:rPr>
              <a:t>a</a:t>
            </a:r>
            <a:r>
              <a:rPr lang="en-US" altLang="zh-CN" baseline="-25000">
                <a:solidFill>
                  <a:schemeClr val="tx1"/>
                </a:solidFill>
                <a:sym typeface="+mn-ea"/>
              </a:rPr>
              <a:t>56</a:t>
            </a:r>
            <a:r>
              <a:rPr lang="en-US" altLang="zh-CN" i="1">
                <a:solidFill>
                  <a:schemeClr val="tx1"/>
                </a:solidFill>
                <a:sym typeface="+mn-ea"/>
              </a:rPr>
              <a:t>a</a:t>
            </a:r>
            <a:r>
              <a:rPr lang="en-US" altLang="zh-CN" baseline="-25000">
                <a:solidFill>
                  <a:schemeClr val="tx1"/>
                </a:solidFill>
                <a:sym typeface="+mn-ea"/>
              </a:rPr>
              <a:t>65 </a:t>
            </a:r>
            <a:r>
              <a:rPr lang="zh-CN" altLang="en-US" baseline="-25000">
                <a:solidFill>
                  <a:schemeClr val="tx1"/>
                </a:solidFill>
                <a:sym typeface="+mn-ea"/>
              </a:rPr>
              <a:t>，</a:t>
            </a:r>
            <a:r>
              <a:rPr lang="zh-CN" altLang="en-US">
                <a:solidFill>
                  <a:schemeClr val="tx1"/>
                </a:solidFill>
                <a:sym typeface="+mn-ea"/>
              </a:rPr>
              <a:t>（</a:t>
            </a:r>
            <a:r>
              <a:rPr lang="en-US" altLang="zh-CN">
                <a:solidFill>
                  <a:schemeClr val="tx1"/>
                </a:solidFill>
                <a:sym typeface="+mn-ea"/>
              </a:rPr>
              <a:t>2</a:t>
            </a:r>
            <a:r>
              <a:rPr lang="zh-CN" altLang="en-US">
                <a:solidFill>
                  <a:schemeClr val="tx1"/>
                </a:solidFill>
                <a:sym typeface="+mn-ea"/>
              </a:rPr>
              <a:t>）</a:t>
            </a:r>
            <a:r>
              <a:rPr lang="zh-CN" altLang="en-US" dirty="0">
                <a:solidFill>
                  <a:schemeClr val="tx1"/>
                </a:solidFill>
                <a:sym typeface="+mn-ea"/>
              </a:rPr>
              <a:t> </a:t>
            </a:r>
            <a:r>
              <a:rPr lang="en-US" altLang="zh-CN" i="1">
                <a:solidFill>
                  <a:schemeClr val="tx1"/>
                </a:solidFill>
                <a:sym typeface="+mn-ea"/>
              </a:rPr>
              <a:t>a</a:t>
            </a:r>
            <a:r>
              <a:rPr lang="en-US" altLang="zh-CN" baseline="-25000">
                <a:solidFill>
                  <a:schemeClr val="tx1"/>
                </a:solidFill>
                <a:sym typeface="+mn-ea"/>
              </a:rPr>
              <a:t>14</a:t>
            </a:r>
            <a:r>
              <a:rPr lang="en-US" altLang="zh-CN" i="1">
                <a:solidFill>
                  <a:schemeClr val="tx1"/>
                </a:solidFill>
                <a:sym typeface="+mn-ea"/>
              </a:rPr>
              <a:t>a</a:t>
            </a:r>
            <a:r>
              <a:rPr lang="en-US" altLang="zh-CN" baseline="-25000">
                <a:solidFill>
                  <a:schemeClr val="tx1"/>
                </a:solidFill>
                <a:sym typeface="+mn-ea"/>
              </a:rPr>
              <a:t>23</a:t>
            </a:r>
            <a:r>
              <a:rPr lang="en-US" altLang="zh-CN" i="1">
                <a:solidFill>
                  <a:schemeClr val="tx1"/>
                </a:solidFill>
                <a:sym typeface="+mn-ea"/>
              </a:rPr>
              <a:t>a</a:t>
            </a:r>
            <a:r>
              <a:rPr lang="en-US" altLang="zh-CN" baseline="-25000">
                <a:solidFill>
                  <a:schemeClr val="tx1"/>
                </a:solidFill>
                <a:sym typeface="+mn-ea"/>
              </a:rPr>
              <a:t>31</a:t>
            </a:r>
            <a:r>
              <a:rPr lang="en-US" altLang="zh-CN" i="1">
                <a:solidFill>
                  <a:schemeClr val="tx1"/>
                </a:solidFill>
                <a:sym typeface="+mn-ea"/>
              </a:rPr>
              <a:t>a</a:t>
            </a:r>
            <a:r>
              <a:rPr lang="en-US" altLang="zh-CN" baseline="-25000">
                <a:solidFill>
                  <a:schemeClr val="tx1"/>
                </a:solidFill>
                <a:sym typeface="+mn-ea"/>
              </a:rPr>
              <a:t>42</a:t>
            </a:r>
            <a:r>
              <a:rPr lang="en-US" altLang="zh-CN" i="1">
                <a:solidFill>
                  <a:schemeClr val="tx1"/>
                </a:solidFill>
                <a:sym typeface="+mn-ea"/>
              </a:rPr>
              <a:t>a</a:t>
            </a:r>
            <a:r>
              <a:rPr lang="en-US" altLang="zh-CN" baseline="-25000">
                <a:solidFill>
                  <a:schemeClr val="tx1"/>
                </a:solidFill>
                <a:sym typeface="+mn-ea"/>
              </a:rPr>
              <a:t>56</a:t>
            </a:r>
            <a:r>
              <a:rPr lang="en-US" altLang="zh-CN" i="1">
                <a:solidFill>
                  <a:schemeClr val="tx1"/>
                </a:solidFill>
                <a:sym typeface="+mn-ea"/>
              </a:rPr>
              <a:t>a</a:t>
            </a:r>
            <a:r>
              <a:rPr lang="en-US" altLang="zh-CN" baseline="-25000">
                <a:solidFill>
                  <a:schemeClr val="tx1"/>
                </a:solidFill>
                <a:sym typeface="+mn-ea"/>
              </a:rPr>
              <a:t>65 </a:t>
            </a:r>
            <a:r>
              <a:rPr lang="zh-CN" altLang="en-US" baseline="-25000">
                <a:solidFill>
                  <a:schemeClr val="tx1"/>
                </a:solidFill>
                <a:sym typeface="+mn-ea"/>
              </a:rPr>
              <a:t>，</a:t>
            </a:r>
            <a:endParaRPr lang="en-US" altLang="zh-CN" baseline="-25000">
              <a:solidFill>
                <a:schemeClr val="tx1"/>
              </a:solidFill>
              <a:sym typeface="+mn-ea"/>
            </a:endParaRPr>
          </a:p>
          <a:p>
            <a:r>
              <a:rPr lang="zh-CN" altLang="en-US" dirty="0">
                <a:solidFill>
                  <a:schemeClr val="tx1"/>
                </a:solidFill>
                <a:sym typeface="+mn-ea"/>
              </a:rPr>
              <a:t>（</a:t>
            </a:r>
            <a:r>
              <a:rPr lang="en-US" altLang="zh-CN" dirty="0">
                <a:solidFill>
                  <a:schemeClr val="tx1"/>
                </a:solidFill>
                <a:sym typeface="+mn-ea"/>
              </a:rPr>
              <a:t>3</a:t>
            </a:r>
            <a:r>
              <a:rPr lang="zh-CN" altLang="en-US" dirty="0">
                <a:solidFill>
                  <a:schemeClr val="tx1"/>
                </a:solidFill>
                <a:sym typeface="+mn-ea"/>
              </a:rPr>
              <a:t>）</a:t>
            </a:r>
            <a:r>
              <a:rPr lang="en-US" altLang="zh-CN">
                <a:solidFill>
                  <a:schemeClr val="tx1"/>
                </a:solidFill>
                <a:sym typeface="+mn-ea"/>
              </a:rPr>
              <a:t>–</a:t>
            </a:r>
            <a:r>
              <a:rPr lang="en-US" altLang="zh-CN" i="1">
                <a:solidFill>
                  <a:schemeClr val="tx1"/>
                </a:solidFill>
                <a:sym typeface="+mn-ea"/>
              </a:rPr>
              <a:t>a</a:t>
            </a:r>
            <a:r>
              <a:rPr lang="en-US" altLang="zh-CN" baseline="-25000">
                <a:solidFill>
                  <a:schemeClr val="tx1"/>
                </a:solidFill>
                <a:sym typeface="+mn-ea"/>
              </a:rPr>
              <a:t>32</a:t>
            </a:r>
            <a:r>
              <a:rPr lang="en-US" altLang="zh-CN" i="1">
                <a:solidFill>
                  <a:schemeClr val="tx1"/>
                </a:solidFill>
                <a:sym typeface="+mn-ea"/>
              </a:rPr>
              <a:t>a</a:t>
            </a:r>
            <a:r>
              <a:rPr lang="en-US" altLang="zh-CN" baseline="-25000">
                <a:solidFill>
                  <a:schemeClr val="tx1"/>
                </a:solidFill>
                <a:sym typeface="+mn-ea"/>
              </a:rPr>
              <a:t>43</a:t>
            </a:r>
            <a:r>
              <a:rPr lang="en-US" altLang="zh-CN" i="1">
                <a:solidFill>
                  <a:schemeClr val="tx1"/>
                </a:solidFill>
                <a:sym typeface="+mn-ea"/>
              </a:rPr>
              <a:t>a</a:t>
            </a:r>
            <a:r>
              <a:rPr lang="en-US" altLang="zh-CN" baseline="-25000">
                <a:solidFill>
                  <a:schemeClr val="tx1"/>
                </a:solidFill>
                <a:sym typeface="+mn-ea"/>
              </a:rPr>
              <a:t>14</a:t>
            </a:r>
            <a:r>
              <a:rPr lang="en-US" altLang="zh-CN" i="1">
                <a:solidFill>
                  <a:schemeClr val="tx1"/>
                </a:solidFill>
                <a:sym typeface="+mn-ea"/>
              </a:rPr>
              <a:t>a</a:t>
            </a:r>
            <a:r>
              <a:rPr lang="en-US" altLang="zh-CN" baseline="-25000">
                <a:solidFill>
                  <a:schemeClr val="tx1"/>
                </a:solidFill>
                <a:sym typeface="+mn-ea"/>
              </a:rPr>
              <a:t>51</a:t>
            </a:r>
            <a:r>
              <a:rPr lang="en-US" altLang="zh-CN" i="1">
                <a:solidFill>
                  <a:schemeClr val="tx1"/>
                </a:solidFill>
                <a:sym typeface="+mn-ea"/>
              </a:rPr>
              <a:t>a</a:t>
            </a:r>
            <a:r>
              <a:rPr lang="en-US" altLang="zh-CN" baseline="-25000">
                <a:solidFill>
                  <a:schemeClr val="tx1"/>
                </a:solidFill>
                <a:sym typeface="+mn-ea"/>
              </a:rPr>
              <a:t>25</a:t>
            </a:r>
            <a:r>
              <a:rPr lang="en-US" altLang="zh-CN" i="1">
                <a:solidFill>
                  <a:schemeClr val="tx1"/>
                </a:solidFill>
                <a:sym typeface="+mn-ea"/>
              </a:rPr>
              <a:t>a</a:t>
            </a:r>
            <a:r>
              <a:rPr lang="en-US" altLang="zh-CN" baseline="-25000">
                <a:solidFill>
                  <a:schemeClr val="tx1"/>
                </a:solidFill>
                <a:sym typeface="+mn-ea"/>
              </a:rPr>
              <a:t>66.</a:t>
            </a:r>
            <a:endParaRPr lang="en-US" altLang="zh-CN" baseline="-25000">
              <a:solidFill>
                <a:schemeClr val="tx1"/>
              </a:solidFill>
              <a:sym typeface="+mn-ea"/>
            </a:endParaRPr>
          </a:p>
        </p:txBody>
      </p:sp>
      <p:sp>
        <p:nvSpPr>
          <p:cNvPr id="96259" name="文本框 96258"/>
          <p:cNvSpPr txBox="1"/>
          <p:nvPr/>
        </p:nvSpPr>
        <p:spPr>
          <a:xfrm>
            <a:off x="467360" y="4088765"/>
            <a:ext cx="8315960" cy="2584450"/>
          </a:xfrm>
          <a:prstGeom prst="rect">
            <a:avLst/>
          </a:prstGeom>
          <a:noFill/>
          <a:ln w="9525">
            <a:noFill/>
          </a:ln>
        </p:spPr>
        <p:txBody>
          <a:bodyPr anchor="t" anchorCtr="0">
            <a:noAutofit/>
          </a:bodyPr>
          <a:p>
            <a:pPr>
              <a:lnSpc>
                <a:spcPct val="130000"/>
              </a:lnSpc>
            </a:pPr>
            <a:r>
              <a:rPr lang="en-US" altLang="zh-CN" dirty="0">
                <a:latin typeface="Times New Roman" panose="02020603050405020304" pitchFamily="18" charset="0"/>
              </a:rPr>
              <a:t>    </a:t>
            </a:r>
            <a:r>
              <a:rPr lang="en-US" altLang="zh-CN" dirty="0">
                <a:sym typeface="+mn-ea"/>
              </a:rPr>
              <a:t>(2) </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23</a:t>
            </a:r>
            <a:r>
              <a:rPr lang="en-US" altLang="zh-CN" i="1">
                <a:solidFill>
                  <a:srgbClr val="FF0000"/>
                </a:solidFill>
                <a:sym typeface="+mn-ea"/>
              </a:rPr>
              <a:t>a</a:t>
            </a:r>
            <a:r>
              <a:rPr lang="en-US" altLang="zh-CN" baseline="-25000">
                <a:solidFill>
                  <a:srgbClr val="FF0000"/>
                </a:solidFill>
                <a:sym typeface="+mn-ea"/>
              </a:rPr>
              <a:t>31</a:t>
            </a:r>
            <a:r>
              <a:rPr lang="en-US" altLang="zh-CN" i="1">
                <a:solidFill>
                  <a:srgbClr val="FF0000"/>
                </a:solidFill>
                <a:sym typeface="+mn-ea"/>
              </a:rPr>
              <a:t>a</a:t>
            </a:r>
            <a:r>
              <a:rPr lang="en-US" altLang="zh-CN" baseline="-25000">
                <a:solidFill>
                  <a:srgbClr val="FF0000"/>
                </a:solidFill>
                <a:sym typeface="+mn-ea"/>
              </a:rPr>
              <a:t>42</a:t>
            </a:r>
            <a:r>
              <a:rPr lang="en-US" altLang="zh-CN" i="1">
                <a:solidFill>
                  <a:srgbClr val="FF0000"/>
                </a:solidFill>
                <a:sym typeface="+mn-ea"/>
              </a:rPr>
              <a:t>a</a:t>
            </a:r>
            <a:r>
              <a:rPr lang="en-US" altLang="zh-CN" baseline="-25000">
                <a:solidFill>
                  <a:srgbClr val="FF0000"/>
                </a:solidFill>
                <a:sym typeface="+mn-ea"/>
              </a:rPr>
              <a:t>56</a:t>
            </a:r>
            <a:r>
              <a:rPr lang="en-US" altLang="zh-CN" i="1">
                <a:solidFill>
                  <a:srgbClr val="FF0000"/>
                </a:solidFill>
                <a:sym typeface="+mn-ea"/>
              </a:rPr>
              <a:t>a</a:t>
            </a:r>
            <a:r>
              <a:rPr lang="en-US" altLang="zh-CN" baseline="-25000">
                <a:solidFill>
                  <a:srgbClr val="FF0000"/>
                </a:solidFill>
                <a:sym typeface="+mn-ea"/>
              </a:rPr>
              <a:t>65</a:t>
            </a:r>
            <a:r>
              <a:rPr lang="zh-CN" altLang="en-US">
                <a:solidFill>
                  <a:schemeClr val="tx1"/>
                </a:solidFill>
                <a:sym typeface="+mn-ea"/>
              </a:rPr>
              <a:t>是取自不同行不同列的</a:t>
            </a:r>
            <a:r>
              <a:rPr lang="en-US" altLang="zh-CN">
                <a:solidFill>
                  <a:schemeClr val="tx1"/>
                </a:solidFill>
                <a:sym typeface="+mn-ea"/>
              </a:rPr>
              <a:t>6</a:t>
            </a:r>
            <a:r>
              <a:rPr lang="zh-CN" altLang="en-US">
                <a:solidFill>
                  <a:schemeClr val="tx1"/>
                </a:solidFill>
                <a:sym typeface="+mn-ea"/>
              </a:rPr>
              <a:t>个元素乘积，其</a:t>
            </a:r>
            <a:r>
              <a:rPr lang="zh-CN" altLang="en-US" dirty="0">
                <a:latin typeface="Times New Roman" panose="02020603050405020304" pitchFamily="18" charset="0"/>
              </a:rPr>
              <a:t>行标为自然排列</a:t>
            </a:r>
            <a:r>
              <a:rPr lang="en-US" altLang="zh-CN">
                <a:latin typeface="Times New Roman" panose="02020603050405020304" pitchFamily="18" charset="0"/>
              </a:rPr>
              <a:t>, </a:t>
            </a:r>
            <a:r>
              <a:rPr lang="zh-CN" altLang="en-US">
                <a:latin typeface="Times New Roman" panose="02020603050405020304" pitchFamily="18" charset="0"/>
              </a:rPr>
              <a:t>逆序数为</a:t>
            </a:r>
            <a:r>
              <a:rPr lang="en-US" altLang="zh-CN">
                <a:latin typeface="Times New Roman" panose="02020603050405020304" pitchFamily="18" charset="0"/>
              </a:rPr>
              <a:t>0</a:t>
            </a:r>
            <a:r>
              <a:rPr lang="zh-CN" altLang="en-US">
                <a:latin typeface="Times New Roman" panose="02020603050405020304" pitchFamily="18" charset="0"/>
              </a:rPr>
              <a:t>，</a:t>
            </a:r>
            <a:r>
              <a:rPr lang="zh-CN" altLang="en-US" dirty="0">
                <a:latin typeface="Times New Roman" panose="02020603050405020304" pitchFamily="18" charset="0"/>
              </a:rPr>
              <a:t>列标排列的逆序数为</a:t>
            </a:r>
            <a:r>
              <a:rPr lang="en-US" altLang="zh-CN">
                <a:latin typeface="Times New Roman" panose="02020603050405020304" pitchFamily="18" charset="0"/>
              </a:rPr>
              <a:t>: </a:t>
            </a:r>
            <a:r>
              <a:rPr lang="en-US" altLang="zh-CN" i="1">
                <a:latin typeface="仿宋" panose="02010609060101010101" charset="-122"/>
                <a:ea typeface="仿宋" panose="02010609060101010101" charset="-122"/>
                <a:sym typeface="+mn-ea"/>
              </a:rPr>
              <a:t>τ</a:t>
            </a:r>
            <a:r>
              <a:rPr lang="en-US" altLang="zh-CN">
                <a:sym typeface="+mn-ea"/>
              </a:rPr>
              <a:t>(431265)=3+2+0+0+1+0=6(</a:t>
            </a:r>
            <a:r>
              <a:rPr lang="zh-CN" altLang="en-US" dirty="0">
                <a:sym typeface="+mn-ea"/>
              </a:rPr>
              <a:t>偶数</a:t>
            </a:r>
            <a:r>
              <a:rPr lang="en-US" altLang="zh-CN">
                <a:sym typeface="+mn-ea"/>
              </a:rPr>
              <a:t>),</a:t>
            </a:r>
            <a:endParaRPr lang="en-US" altLang="zh-CN">
              <a:sym typeface="+mn-ea"/>
            </a:endParaRPr>
          </a:p>
          <a:p>
            <a:pPr>
              <a:lnSpc>
                <a:spcPct val="150000"/>
              </a:lnSpc>
            </a:pPr>
            <a:r>
              <a:rPr lang="zh-CN" altLang="en-US" dirty="0">
                <a:sym typeface="+mn-ea"/>
              </a:rPr>
              <a:t>所以 </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23</a:t>
            </a:r>
            <a:r>
              <a:rPr lang="en-US" altLang="zh-CN" i="1">
                <a:solidFill>
                  <a:srgbClr val="FF0000"/>
                </a:solidFill>
                <a:sym typeface="+mn-ea"/>
              </a:rPr>
              <a:t>a</a:t>
            </a:r>
            <a:r>
              <a:rPr lang="en-US" altLang="zh-CN" baseline="-25000">
                <a:solidFill>
                  <a:srgbClr val="FF0000"/>
                </a:solidFill>
                <a:sym typeface="+mn-ea"/>
              </a:rPr>
              <a:t>31</a:t>
            </a:r>
            <a:r>
              <a:rPr lang="en-US" altLang="zh-CN" i="1">
                <a:solidFill>
                  <a:srgbClr val="FF0000"/>
                </a:solidFill>
                <a:sym typeface="+mn-ea"/>
              </a:rPr>
              <a:t>a</a:t>
            </a:r>
            <a:r>
              <a:rPr lang="en-US" altLang="zh-CN" baseline="-25000">
                <a:solidFill>
                  <a:srgbClr val="FF0000"/>
                </a:solidFill>
                <a:sym typeface="+mn-ea"/>
              </a:rPr>
              <a:t>42</a:t>
            </a:r>
            <a:r>
              <a:rPr lang="en-US" altLang="zh-CN" i="1">
                <a:solidFill>
                  <a:srgbClr val="FF0000"/>
                </a:solidFill>
                <a:sym typeface="+mn-ea"/>
              </a:rPr>
              <a:t>a</a:t>
            </a:r>
            <a:r>
              <a:rPr lang="en-US" altLang="zh-CN" baseline="-25000">
                <a:solidFill>
                  <a:srgbClr val="FF0000"/>
                </a:solidFill>
                <a:sym typeface="+mn-ea"/>
              </a:rPr>
              <a:t>56</a:t>
            </a:r>
            <a:r>
              <a:rPr lang="en-US" altLang="zh-CN" i="1">
                <a:solidFill>
                  <a:srgbClr val="FF0000"/>
                </a:solidFill>
                <a:sym typeface="+mn-ea"/>
              </a:rPr>
              <a:t>a</a:t>
            </a:r>
            <a:r>
              <a:rPr lang="en-US" altLang="zh-CN" baseline="-25000">
                <a:solidFill>
                  <a:srgbClr val="FF0000"/>
                </a:solidFill>
                <a:sym typeface="+mn-ea"/>
              </a:rPr>
              <a:t>65</a:t>
            </a:r>
            <a:r>
              <a:rPr lang="zh-CN" altLang="en-US" dirty="0">
                <a:sym typeface="+mn-ea"/>
              </a:rPr>
              <a:t>是六阶行列式中的项</a:t>
            </a:r>
            <a:r>
              <a:rPr lang="en-US" altLang="zh-CN">
                <a:sym typeface="+mn-ea"/>
              </a:rPr>
              <a:t>.</a:t>
            </a:r>
            <a:endParaRPr lang="en-US" altLang="zh-CN">
              <a:latin typeface="Times New Roman" panose="02020603050405020304" pitchFamily="18" charset="0"/>
            </a:endParaRPr>
          </a:p>
          <a:p>
            <a:pPr>
              <a:lnSpc>
                <a:spcPct val="150000"/>
              </a:lnSpc>
            </a:pPr>
            <a:endParaRPr lang="en-US" altLang="zh-CN">
              <a:latin typeface="Times New Roman" panose="02020603050405020304" pitchFamily="18" charset="0"/>
            </a:endParaRPr>
          </a:p>
        </p:txBody>
      </p:sp>
      <p:sp>
        <p:nvSpPr>
          <p:cNvPr id="7" name="文本框 6"/>
          <p:cNvSpPr txBox="1"/>
          <p:nvPr/>
        </p:nvSpPr>
        <p:spPr>
          <a:xfrm>
            <a:off x="612140" y="3524250"/>
            <a:ext cx="7364730" cy="673100"/>
          </a:xfrm>
          <a:prstGeom prst="rect">
            <a:avLst/>
          </a:prstGeom>
          <a:noFill/>
        </p:spPr>
        <p:txBody>
          <a:bodyPr wrap="square" rtlCol="0" anchor="t">
            <a:noAutofit/>
          </a:bodyPr>
          <a:p>
            <a:pPr>
              <a:lnSpc>
                <a:spcPct val="120000"/>
              </a:lnSpc>
            </a:pPr>
            <a:r>
              <a:rPr lang="zh-CN" altLang="en-US">
                <a:sym typeface="+mn-ea"/>
              </a:rPr>
              <a:t>因此</a:t>
            </a:r>
            <a:r>
              <a:rPr lang="en-US" altLang="zh-CN" i="1">
                <a:solidFill>
                  <a:srgbClr val="FF0000"/>
                </a:solidFill>
                <a:sym typeface="+mn-ea"/>
              </a:rPr>
              <a:t>a</a:t>
            </a:r>
            <a:r>
              <a:rPr lang="en-US" altLang="zh-CN" baseline="-25000">
                <a:solidFill>
                  <a:srgbClr val="FF0000"/>
                </a:solidFill>
                <a:sym typeface="+mn-ea"/>
              </a:rPr>
              <a:t>13</a:t>
            </a:r>
            <a:r>
              <a:rPr lang="en-US" altLang="zh-CN" i="1">
                <a:solidFill>
                  <a:srgbClr val="FF0000"/>
                </a:solidFill>
                <a:sym typeface="+mn-ea"/>
              </a:rPr>
              <a:t>a</a:t>
            </a:r>
            <a:r>
              <a:rPr lang="en-US" altLang="zh-CN" baseline="-25000">
                <a:solidFill>
                  <a:srgbClr val="FF0000"/>
                </a:solidFill>
                <a:sym typeface="+mn-ea"/>
              </a:rPr>
              <a:t>24</a:t>
            </a:r>
            <a:r>
              <a:rPr lang="en-US" altLang="zh-CN" i="1">
                <a:solidFill>
                  <a:srgbClr val="FF0000"/>
                </a:solidFill>
                <a:sym typeface="+mn-ea"/>
              </a:rPr>
              <a:t>a</a:t>
            </a:r>
            <a:r>
              <a:rPr lang="en-US" altLang="zh-CN" baseline="-25000">
                <a:solidFill>
                  <a:srgbClr val="FF0000"/>
                </a:solidFill>
                <a:sym typeface="+mn-ea"/>
              </a:rPr>
              <a:t>31</a:t>
            </a:r>
            <a:r>
              <a:rPr lang="en-US" altLang="zh-CN" i="1">
                <a:solidFill>
                  <a:srgbClr val="FF0000"/>
                </a:solidFill>
                <a:sym typeface="+mn-ea"/>
              </a:rPr>
              <a:t>a</a:t>
            </a:r>
            <a:r>
              <a:rPr lang="en-US" altLang="zh-CN" baseline="-25000">
                <a:solidFill>
                  <a:srgbClr val="FF0000"/>
                </a:solidFill>
                <a:sym typeface="+mn-ea"/>
              </a:rPr>
              <a:t>43</a:t>
            </a:r>
            <a:r>
              <a:rPr lang="en-US" altLang="zh-CN" i="1">
                <a:solidFill>
                  <a:srgbClr val="FF0000"/>
                </a:solidFill>
                <a:sym typeface="+mn-ea"/>
              </a:rPr>
              <a:t>a</a:t>
            </a:r>
            <a:r>
              <a:rPr lang="en-US" altLang="zh-CN" baseline="-25000">
                <a:solidFill>
                  <a:srgbClr val="FF0000"/>
                </a:solidFill>
                <a:sym typeface="+mn-ea"/>
              </a:rPr>
              <a:t>56</a:t>
            </a:r>
            <a:r>
              <a:rPr lang="en-US" altLang="zh-CN" i="1">
                <a:solidFill>
                  <a:srgbClr val="FF0000"/>
                </a:solidFill>
                <a:sym typeface="+mn-ea"/>
              </a:rPr>
              <a:t>a</a:t>
            </a:r>
            <a:r>
              <a:rPr lang="en-US" altLang="zh-CN" baseline="-25000">
                <a:solidFill>
                  <a:srgbClr val="FF0000"/>
                </a:solidFill>
                <a:sym typeface="+mn-ea"/>
              </a:rPr>
              <a:t>65</a:t>
            </a:r>
            <a:r>
              <a:rPr lang="en-US" altLang="zh-CN" baseline="-25000">
                <a:sym typeface="+mn-ea"/>
              </a:rPr>
              <a:t> </a:t>
            </a:r>
            <a:r>
              <a:rPr lang="zh-CN" altLang="en-US" dirty="0">
                <a:sym typeface="+mn-ea"/>
              </a:rPr>
              <a:t>不是六阶行列式中的项。</a:t>
            </a:r>
            <a:endParaRPr lang="zh-CN" altLang="en-US"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6259">
                                            <p:txEl>
                                              <p:charRg st="0" end="50"/>
                                            </p:txEl>
                                          </p:spTgt>
                                        </p:tgtEl>
                                        <p:attrNameLst>
                                          <p:attrName>style.visibility</p:attrName>
                                        </p:attrNameLst>
                                      </p:cBhvr>
                                      <p:to>
                                        <p:strVal val="visible"/>
                                      </p:to>
                                    </p:set>
                                    <p:animEffect transition="in" filter="box(out)">
                                      <p:cBhvr>
                                        <p:cTn id="22" dur="500"/>
                                        <p:tgtEl>
                                          <p:spTgt spid="96259">
                                            <p:txEl>
                                              <p:charRg st="0" end="5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6259">
                                            <p:txEl>
                                              <p:pRg st="1" end="1"/>
                                            </p:txEl>
                                          </p:spTgt>
                                        </p:tgtEl>
                                        <p:attrNameLst>
                                          <p:attrName>style.visibility</p:attrName>
                                        </p:attrNameLst>
                                      </p:cBhvr>
                                      <p:to>
                                        <p:strVal val="visible"/>
                                      </p:to>
                                    </p:set>
                                    <p:animEffect transition="in" filter="wipe(down)">
                                      <p:cBhvr>
                                        <p:cTn id="27" dur="500"/>
                                        <p:tgtEl>
                                          <p:spTgt spid="962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p:bldP spid="3" grpId="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60" name="矩形 96259"/>
          <p:cNvSpPr/>
          <p:nvPr/>
        </p:nvSpPr>
        <p:spPr>
          <a:xfrm>
            <a:off x="2098040" y="1890395"/>
            <a:ext cx="5741035" cy="652780"/>
          </a:xfrm>
          <a:prstGeom prst="rect">
            <a:avLst/>
          </a:prstGeom>
          <a:noFill/>
          <a:ln w="9525">
            <a:noFill/>
          </a:ln>
        </p:spPr>
        <p:txBody>
          <a:bodyPr wrap="square" anchor="t" anchorCtr="0">
            <a:noAutofit/>
          </a:bodyPr>
          <a:p>
            <a:pPr algn="l">
              <a:lnSpc>
                <a:spcPct val="110000"/>
              </a:lnSpc>
            </a:pPr>
            <a:endParaRPr lang="en-US" altLang="zh-CN">
              <a:latin typeface="Times New Roman" panose="02020603050405020304" pitchFamily="18" charset="0"/>
            </a:endParaRPr>
          </a:p>
        </p:txBody>
      </p:sp>
      <p:sp>
        <p:nvSpPr>
          <p:cNvPr id="96261" name="矩形 96260"/>
          <p:cNvSpPr/>
          <p:nvPr/>
        </p:nvSpPr>
        <p:spPr>
          <a:xfrm>
            <a:off x="668020" y="2461260"/>
            <a:ext cx="6875780" cy="687070"/>
          </a:xfrm>
          <a:prstGeom prst="rect">
            <a:avLst/>
          </a:prstGeom>
          <a:noFill/>
          <a:ln w="9525">
            <a:noFill/>
          </a:ln>
        </p:spPr>
        <p:txBody>
          <a:bodyPr wrap="none" anchor="t" anchorCtr="0">
            <a:noAutofit/>
          </a:bodyPr>
          <a:p>
            <a:endParaRPr lang="en-US" altLang="zh-CN">
              <a:latin typeface="Times New Roman" panose="02020603050405020304" pitchFamily="18" charset="0"/>
            </a:endParaRPr>
          </a:p>
        </p:txBody>
      </p:sp>
      <p:sp>
        <p:nvSpPr>
          <p:cNvPr id="96262" name="矩形 96261"/>
          <p:cNvSpPr/>
          <p:nvPr/>
        </p:nvSpPr>
        <p:spPr>
          <a:xfrm>
            <a:off x="321310" y="47625"/>
            <a:ext cx="8621395" cy="3764280"/>
          </a:xfrm>
          <a:prstGeom prst="rect">
            <a:avLst/>
          </a:prstGeom>
          <a:noFill/>
          <a:ln w="9525">
            <a:noFill/>
          </a:ln>
        </p:spPr>
        <p:txBody>
          <a:bodyPr wrap="square" anchor="t" anchorCtr="0">
            <a:noAutofit/>
          </a:bodyPr>
          <a:p>
            <a:pPr>
              <a:lnSpc>
                <a:spcPct val="125000"/>
              </a:lnSpc>
            </a:pPr>
            <a:r>
              <a:rPr lang="en-US" altLang="zh-CN" dirty="0">
                <a:latin typeface="Times New Roman" panose="02020603050405020304" pitchFamily="18" charset="0"/>
              </a:rPr>
              <a:t>  (3) </a:t>
            </a:r>
            <a:r>
              <a:rPr lang="zh-CN" altLang="en-US" dirty="0">
                <a:sym typeface="+mn-ea"/>
              </a:rPr>
              <a:t>方法一：</a:t>
            </a:r>
            <a:r>
              <a:rPr lang="en-US" altLang="zh-CN">
                <a:solidFill>
                  <a:srgbClr val="FF0000"/>
                </a:solidFill>
                <a:sym typeface="+mn-ea"/>
              </a:rPr>
              <a:t>–</a:t>
            </a:r>
            <a:r>
              <a:rPr lang="en-US" altLang="zh-CN" i="1">
                <a:solidFill>
                  <a:srgbClr val="FF0000"/>
                </a:solidFill>
                <a:sym typeface="+mn-ea"/>
              </a:rPr>
              <a:t>a</a:t>
            </a:r>
            <a:r>
              <a:rPr lang="en-US" altLang="zh-CN" baseline="-25000">
                <a:solidFill>
                  <a:srgbClr val="FF0000"/>
                </a:solidFill>
                <a:sym typeface="+mn-ea"/>
              </a:rPr>
              <a:t>32</a:t>
            </a:r>
            <a:r>
              <a:rPr lang="en-US" altLang="zh-CN" i="1">
                <a:solidFill>
                  <a:srgbClr val="FF0000"/>
                </a:solidFill>
                <a:sym typeface="+mn-ea"/>
              </a:rPr>
              <a:t>a</a:t>
            </a:r>
            <a:r>
              <a:rPr lang="en-US" altLang="zh-CN" baseline="-25000">
                <a:solidFill>
                  <a:srgbClr val="FF0000"/>
                </a:solidFill>
                <a:sym typeface="+mn-ea"/>
              </a:rPr>
              <a:t>43</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51</a:t>
            </a:r>
            <a:r>
              <a:rPr lang="en-US" altLang="zh-CN" i="1">
                <a:solidFill>
                  <a:srgbClr val="FF0000"/>
                </a:solidFill>
                <a:sym typeface="+mn-ea"/>
              </a:rPr>
              <a:t>a</a:t>
            </a:r>
            <a:r>
              <a:rPr lang="en-US" altLang="zh-CN" baseline="-25000">
                <a:solidFill>
                  <a:srgbClr val="FF0000"/>
                </a:solidFill>
                <a:sym typeface="+mn-ea"/>
              </a:rPr>
              <a:t>25</a:t>
            </a:r>
            <a:r>
              <a:rPr lang="en-US" altLang="zh-CN" i="1">
                <a:solidFill>
                  <a:srgbClr val="FF0000"/>
                </a:solidFill>
                <a:sym typeface="+mn-ea"/>
              </a:rPr>
              <a:t>a</a:t>
            </a:r>
            <a:r>
              <a:rPr lang="en-US" altLang="zh-CN" baseline="-25000">
                <a:solidFill>
                  <a:srgbClr val="FF0000"/>
                </a:solidFill>
                <a:sym typeface="+mn-ea"/>
              </a:rPr>
              <a:t>66</a:t>
            </a:r>
            <a:r>
              <a:rPr lang="zh-CN" altLang="en-US">
                <a:sym typeface="+mn-ea"/>
              </a:rPr>
              <a:t>是取自不同行不同列的</a:t>
            </a:r>
            <a:r>
              <a:rPr lang="en-US" altLang="zh-CN">
                <a:sym typeface="+mn-ea"/>
              </a:rPr>
              <a:t>6</a:t>
            </a:r>
            <a:r>
              <a:rPr lang="zh-CN" altLang="en-US">
                <a:sym typeface="+mn-ea"/>
              </a:rPr>
              <a:t>个元素乘积</a:t>
            </a:r>
            <a:r>
              <a:rPr lang="en-US" altLang="zh-CN">
                <a:sym typeface="+mn-ea"/>
              </a:rPr>
              <a:t>.</a:t>
            </a:r>
            <a:r>
              <a:rPr lang="zh-CN" altLang="en-US">
                <a:sym typeface="+mn-ea"/>
              </a:rPr>
              <a:t>但</a:t>
            </a:r>
            <a:endParaRPr lang="zh-CN" altLang="en-US" dirty="0">
              <a:sym typeface="+mn-ea"/>
            </a:endParaRPr>
          </a:p>
          <a:p>
            <a:pPr>
              <a:lnSpc>
                <a:spcPct val="125000"/>
              </a:lnSpc>
            </a:pPr>
            <a:r>
              <a:rPr lang="zh-CN" altLang="en-US">
                <a:solidFill>
                  <a:schemeClr val="tx1"/>
                </a:solidFill>
                <a:sym typeface="+mn-ea"/>
              </a:rPr>
              <a:t>其</a:t>
            </a:r>
            <a:r>
              <a:rPr lang="zh-CN" altLang="en-US" dirty="0">
                <a:sym typeface="+mn-ea"/>
              </a:rPr>
              <a:t>行标排列的逆序数为</a:t>
            </a:r>
            <a:r>
              <a:rPr lang="en-US" altLang="zh-CN" i="1">
                <a:latin typeface="仿宋" panose="02010609060101010101" charset="-122"/>
                <a:ea typeface="仿宋" panose="02010609060101010101" charset="-122"/>
                <a:sym typeface="+mn-ea"/>
              </a:rPr>
              <a:t>τ</a:t>
            </a:r>
            <a:r>
              <a:rPr lang="en-US" altLang="zh-CN" i="1">
                <a:sym typeface="+mn-ea"/>
              </a:rPr>
              <a:t> </a:t>
            </a:r>
            <a:r>
              <a:rPr lang="en-US" altLang="zh-CN">
                <a:sym typeface="+mn-ea"/>
              </a:rPr>
              <a:t>(341526) = 2+2+0+1+0+0 = 5 , </a:t>
            </a:r>
            <a:endParaRPr lang="en-US" altLang="zh-CN">
              <a:latin typeface="Times New Roman" panose="02020603050405020304" pitchFamily="18" charset="0"/>
            </a:endParaRPr>
          </a:p>
          <a:p>
            <a:pPr>
              <a:lnSpc>
                <a:spcPct val="125000"/>
              </a:lnSpc>
            </a:pPr>
            <a:r>
              <a:rPr lang="zh-CN" altLang="en-US" dirty="0">
                <a:sym typeface="+mn-ea"/>
              </a:rPr>
              <a:t>其列标排列的逆序数为</a:t>
            </a:r>
            <a:r>
              <a:rPr lang="en-US" altLang="zh-CN" i="1">
                <a:latin typeface="仿宋" panose="02010609060101010101" charset="-122"/>
                <a:ea typeface="仿宋" panose="02010609060101010101" charset="-122"/>
                <a:sym typeface="+mn-ea"/>
              </a:rPr>
              <a:t>τ</a:t>
            </a:r>
            <a:r>
              <a:rPr lang="en-US" altLang="zh-CN" i="1">
                <a:sym typeface="+mn-ea"/>
              </a:rPr>
              <a:t> </a:t>
            </a:r>
            <a:r>
              <a:rPr lang="en-US" altLang="zh-CN">
                <a:sym typeface="+mn-ea"/>
              </a:rPr>
              <a:t>(234156) =1+1+1+0+0+0 = 3 </a:t>
            </a:r>
            <a:r>
              <a:rPr lang="zh-CN" altLang="en-US">
                <a:sym typeface="+mn-ea"/>
              </a:rPr>
              <a:t>，</a:t>
            </a:r>
            <a:endParaRPr lang="en-US" altLang="zh-CN">
              <a:latin typeface="Times New Roman" panose="02020603050405020304" pitchFamily="18" charset="0"/>
            </a:endParaRPr>
          </a:p>
          <a:p>
            <a:pPr>
              <a:lnSpc>
                <a:spcPct val="125000"/>
              </a:lnSpc>
            </a:pPr>
            <a:r>
              <a:rPr lang="zh-CN" altLang="en-US" dirty="0">
                <a:sym typeface="+mn-ea"/>
              </a:rPr>
              <a:t>所以 </a:t>
            </a:r>
            <a:r>
              <a:rPr lang="en-US" altLang="zh-CN">
                <a:solidFill>
                  <a:srgbClr val="FF0000"/>
                </a:solidFill>
                <a:sym typeface="+mn-ea"/>
              </a:rPr>
              <a:t>–</a:t>
            </a:r>
            <a:r>
              <a:rPr lang="en-US" altLang="zh-CN" i="1">
                <a:solidFill>
                  <a:srgbClr val="FF0000"/>
                </a:solidFill>
                <a:sym typeface="+mn-ea"/>
              </a:rPr>
              <a:t>a</a:t>
            </a:r>
            <a:r>
              <a:rPr lang="en-US" altLang="zh-CN" baseline="-25000">
                <a:solidFill>
                  <a:srgbClr val="FF0000"/>
                </a:solidFill>
                <a:sym typeface="+mn-ea"/>
              </a:rPr>
              <a:t>32</a:t>
            </a:r>
            <a:r>
              <a:rPr lang="en-US" altLang="zh-CN" i="1">
                <a:solidFill>
                  <a:srgbClr val="FF0000"/>
                </a:solidFill>
                <a:sym typeface="+mn-ea"/>
              </a:rPr>
              <a:t>a</a:t>
            </a:r>
            <a:r>
              <a:rPr lang="en-US" altLang="zh-CN" baseline="-25000">
                <a:solidFill>
                  <a:srgbClr val="FF0000"/>
                </a:solidFill>
                <a:sym typeface="+mn-ea"/>
              </a:rPr>
              <a:t>43</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51</a:t>
            </a:r>
            <a:r>
              <a:rPr lang="en-US" altLang="zh-CN" i="1">
                <a:solidFill>
                  <a:srgbClr val="FF0000"/>
                </a:solidFill>
                <a:sym typeface="+mn-ea"/>
              </a:rPr>
              <a:t>a</a:t>
            </a:r>
            <a:r>
              <a:rPr lang="en-US" altLang="zh-CN" baseline="-25000">
                <a:solidFill>
                  <a:srgbClr val="FF0000"/>
                </a:solidFill>
                <a:sym typeface="+mn-ea"/>
              </a:rPr>
              <a:t>25</a:t>
            </a:r>
            <a:r>
              <a:rPr lang="en-US" altLang="zh-CN" i="1">
                <a:solidFill>
                  <a:srgbClr val="FF0000"/>
                </a:solidFill>
                <a:sym typeface="+mn-ea"/>
              </a:rPr>
              <a:t>a</a:t>
            </a:r>
            <a:r>
              <a:rPr lang="en-US" altLang="zh-CN" baseline="-25000">
                <a:solidFill>
                  <a:srgbClr val="FF0000"/>
                </a:solidFill>
                <a:sym typeface="+mn-ea"/>
              </a:rPr>
              <a:t>66 </a:t>
            </a:r>
            <a:r>
              <a:rPr lang="zh-CN" altLang="en-US" dirty="0">
                <a:sym typeface="+mn-ea"/>
              </a:rPr>
              <a:t>行、列标的逆序数和是</a:t>
            </a:r>
            <a:endParaRPr lang="zh-CN" altLang="en-US" dirty="0">
              <a:sym typeface="+mn-ea"/>
            </a:endParaRPr>
          </a:p>
          <a:p>
            <a:pPr>
              <a:lnSpc>
                <a:spcPct val="115000"/>
              </a:lnSpc>
            </a:pPr>
            <a:r>
              <a:rPr lang="en-US" altLang="zh-CN" i="1">
                <a:latin typeface="仿宋" panose="02010609060101010101" charset="-122"/>
                <a:ea typeface="仿宋" panose="02010609060101010101" charset="-122"/>
                <a:sym typeface="+mn-ea"/>
              </a:rPr>
              <a:t>τ</a:t>
            </a:r>
            <a:r>
              <a:rPr lang="en-US" altLang="zh-CN" i="1">
                <a:sym typeface="+mn-ea"/>
              </a:rPr>
              <a:t> </a:t>
            </a:r>
            <a:r>
              <a:rPr lang="en-US" altLang="zh-CN">
                <a:sym typeface="+mn-ea"/>
              </a:rPr>
              <a:t>(341526) +</a:t>
            </a:r>
            <a:r>
              <a:rPr lang="en-US" altLang="zh-CN" i="1">
                <a:latin typeface="仿宋" panose="02010609060101010101" charset="-122"/>
                <a:ea typeface="仿宋" panose="02010609060101010101" charset="-122"/>
                <a:sym typeface="+mn-ea"/>
              </a:rPr>
              <a:t>τ</a:t>
            </a:r>
            <a:r>
              <a:rPr lang="en-US" altLang="zh-CN" i="1">
                <a:sym typeface="+mn-ea"/>
              </a:rPr>
              <a:t> </a:t>
            </a:r>
            <a:r>
              <a:rPr lang="en-US" altLang="zh-CN">
                <a:sym typeface="+mn-ea"/>
              </a:rPr>
              <a:t>(234156)=5+3=8</a:t>
            </a:r>
            <a:r>
              <a:rPr lang="zh-CN" altLang="en-US">
                <a:sym typeface="+mn-ea"/>
              </a:rPr>
              <a:t>（偶数），</a:t>
            </a:r>
            <a:endParaRPr lang="zh-CN" altLang="en-US">
              <a:sym typeface="+mn-ea"/>
            </a:endParaRPr>
          </a:p>
          <a:p>
            <a:pPr>
              <a:lnSpc>
                <a:spcPct val="125000"/>
              </a:lnSpc>
            </a:pPr>
            <a:r>
              <a:rPr lang="zh-CN" altLang="en-US">
                <a:sym typeface="+mn-ea"/>
              </a:rPr>
              <a:t> </a:t>
            </a:r>
            <a:r>
              <a:rPr lang="en-US" altLang="zh-CN">
                <a:sym typeface="+mn-ea"/>
              </a:rPr>
              <a:t>    </a:t>
            </a:r>
            <a:r>
              <a:rPr lang="zh-CN" altLang="en-US">
                <a:sym typeface="+mn-ea"/>
              </a:rPr>
              <a:t>因此</a:t>
            </a:r>
            <a:r>
              <a:rPr lang="en-US" altLang="zh-CN">
                <a:solidFill>
                  <a:srgbClr val="FF0000"/>
                </a:solidFill>
                <a:sym typeface="+mn-ea"/>
              </a:rPr>
              <a:t>–</a:t>
            </a:r>
            <a:r>
              <a:rPr lang="en-US" altLang="zh-CN" i="1">
                <a:solidFill>
                  <a:srgbClr val="FF0000"/>
                </a:solidFill>
                <a:sym typeface="+mn-ea"/>
              </a:rPr>
              <a:t>a</a:t>
            </a:r>
            <a:r>
              <a:rPr lang="en-US" altLang="zh-CN" baseline="-25000">
                <a:solidFill>
                  <a:srgbClr val="FF0000"/>
                </a:solidFill>
                <a:sym typeface="+mn-ea"/>
              </a:rPr>
              <a:t>32</a:t>
            </a:r>
            <a:r>
              <a:rPr lang="en-US" altLang="zh-CN" i="1">
                <a:solidFill>
                  <a:srgbClr val="FF0000"/>
                </a:solidFill>
                <a:sym typeface="+mn-ea"/>
              </a:rPr>
              <a:t>a</a:t>
            </a:r>
            <a:r>
              <a:rPr lang="en-US" altLang="zh-CN" baseline="-25000">
                <a:solidFill>
                  <a:srgbClr val="FF0000"/>
                </a:solidFill>
                <a:sym typeface="+mn-ea"/>
              </a:rPr>
              <a:t>43</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51</a:t>
            </a:r>
            <a:r>
              <a:rPr lang="en-US" altLang="zh-CN" i="1">
                <a:solidFill>
                  <a:srgbClr val="FF0000"/>
                </a:solidFill>
                <a:sym typeface="+mn-ea"/>
              </a:rPr>
              <a:t>a</a:t>
            </a:r>
            <a:r>
              <a:rPr lang="en-US" altLang="zh-CN" baseline="-25000">
                <a:solidFill>
                  <a:srgbClr val="FF0000"/>
                </a:solidFill>
                <a:sym typeface="+mn-ea"/>
              </a:rPr>
              <a:t>25</a:t>
            </a:r>
            <a:r>
              <a:rPr lang="en-US" altLang="zh-CN" i="1">
                <a:solidFill>
                  <a:srgbClr val="FF0000"/>
                </a:solidFill>
                <a:sym typeface="+mn-ea"/>
              </a:rPr>
              <a:t>a</a:t>
            </a:r>
            <a:r>
              <a:rPr lang="en-US" altLang="zh-CN" baseline="-25000">
                <a:solidFill>
                  <a:srgbClr val="FF0000"/>
                </a:solidFill>
                <a:sym typeface="+mn-ea"/>
              </a:rPr>
              <a:t>66</a:t>
            </a:r>
            <a:r>
              <a:rPr lang="zh-CN" altLang="en-US" dirty="0">
                <a:sym typeface="+mn-ea"/>
              </a:rPr>
              <a:t>不是六阶行列式中的项</a:t>
            </a:r>
            <a:r>
              <a:rPr lang="en-US" altLang="zh-CN">
                <a:sym typeface="+mn-ea"/>
              </a:rPr>
              <a:t>.</a:t>
            </a:r>
            <a:endParaRPr lang="en-US" altLang="zh-CN">
              <a:latin typeface="Times New Roman" panose="02020603050405020304" pitchFamily="18" charset="0"/>
            </a:endParaRPr>
          </a:p>
        </p:txBody>
      </p:sp>
      <p:sp>
        <p:nvSpPr>
          <p:cNvPr id="3" name="文本框 2"/>
          <p:cNvSpPr txBox="1"/>
          <p:nvPr/>
        </p:nvSpPr>
        <p:spPr>
          <a:xfrm>
            <a:off x="321945" y="3734435"/>
            <a:ext cx="8349615" cy="3122930"/>
          </a:xfrm>
          <a:prstGeom prst="rect">
            <a:avLst/>
          </a:prstGeom>
          <a:noFill/>
        </p:spPr>
        <p:txBody>
          <a:bodyPr wrap="square" rtlCol="0" anchor="t">
            <a:noAutofit/>
          </a:bodyPr>
          <a:p>
            <a:pPr>
              <a:lnSpc>
                <a:spcPct val="135000"/>
              </a:lnSpc>
            </a:pPr>
            <a:r>
              <a:rPr lang="en-US" altLang="zh-CN" dirty="0">
                <a:sym typeface="+mn-ea"/>
              </a:rPr>
              <a:t>   </a:t>
            </a:r>
            <a:r>
              <a:rPr lang="zh-CN" altLang="en-US" dirty="0">
                <a:sym typeface="+mn-ea"/>
              </a:rPr>
              <a:t>方法二：</a:t>
            </a:r>
            <a:r>
              <a:rPr lang="en-US" altLang="zh-CN">
                <a:solidFill>
                  <a:srgbClr val="FF0000"/>
                </a:solidFill>
                <a:sym typeface="+mn-ea"/>
              </a:rPr>
              <a:t>–</a:t>
            </a:r>
            <a:r>
              <a:rPr lang="en-US" altLang="zh-CN" i="1">
                <a:solidFill>
                  <a:srgbClr val="FF0000"/>
                </a:solidFill>
                <a:sym typeface="+mn-ea"/>
              </a:rPr>
              <a:t>a</a:t>
            </a:r>
            <a:r>
              <a:rPr lang="en-US" altLang="zh-CN" baseline="-25000">
                <a:solidFill>
                  <a:srgbClr val="FF0000"/>
                </a:solidFill>
                <a:sym typeface="+mn-ea"/>
              </a:rPr>
              <a:t>32</a:t>
            </a:r>
            <a:r>
              <a:rPr lang="en-US" altLang="zh-CN" i="1">
                <a:solidFill>
                  <a:srgbClr val="FF0000"/>
                </a:solidFill>
                <a:sym typeface="+mn-ea"/>
              </a:rPr>
              <a:t>a</a:t>
            </a:r>
            <a:r>
              <a:rPr lang="en-US" altLang="zh-CN" baseline="-25000">
                <a:solidFill>
                  <a:srgbClr val="FF0000"/>
                </a:solidFill>
                <a:sym typeface="+mn-ea"/>
              </a:rPr>
              <a:t>43</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51</a:t>
            </a:r>
            <a:r>
              <a:rPr lang="en-US" altLang="zh-CN" i="1">
                <a:solidFill>
                  <a:srgbClr val="FF0000"/>
                </a:solidFill>
                <a:sym typeface="+mn-ea"/>
              </a:rPr>
              <a:t>a</a:t>
            </a:r>
            <a:r>
              <a:rPr lang="en-US" altLang="zh-CN" baseline="-25000">
                <a:solidFill>
                  <a:srgbClr val="FF0000"/>
                </a:solidFill>
                <a:sym typeface="+mn-ea"/>
              </a:rPr>
              <a:t>25</a:t>
            </a:r>
            <a:r>
              <a:rPr lang="en-US" altLang="zh-CN" i="1">
                <a:solidFill>
                  <a:srgbClr val="FF0000"/>
                </a:solidFill>
                <a:sym typeface="+mn-ea"/>
              </a:rPr>
              <a:t>a</a:t>
            </a:r>
            <a:r>
              <a:rPr lang="en-US" altLang="zh-CN" baseline="-25000">
                <a:solidFill>
                  <a:srgbClr val="FF0000"/>
                </a:solidFill>
                <a:sym typeface="+mn-ea"/>
              </a:rPr>
              <a:t>66</a:t>
            </a:r>
            <a:r>
              <a:rPr lang="zh-CN" altLang="en-US">
                <a:sym typeface="+mn-ea"/>
              </a:rPr>
              <a:t>是取自不同行不同列的</a:t>
            </a:r>
            <a:r>
              <a:rPr lang="en-US" altLang="zh-CN">
                <a:sym typeface="+mn-ea"/>
              </a:rPr>
              <a:t>6</a:t>
            </a:r>
            <a:r>
              <a:rPr lang="zh-CN" altLang="en-US">
                <a:sym typeface="+mn-ea"/>
              </a:rPr>
              <a:t>个元素乘积，</a:t>
            </a:r>
            <a:r>
              <a:rPr lang="zh-CN" altLang="en-US" dirty="0">
                <a:sym typeface="+mn-ea"/>
              </a:rPr>
              <a:t>将</a:t>
            </a:r>
            <a:r>
              <a:rPr lang="en-US" altLang="zh-CN">
                <a:solidFill>
                  <a:srgbClr val="FF0000"/>
                </a:solidFill>
                <a:sym typeface="+mn-ea"/>
              </a:rPr>
              <a:t>–</a:t>
            </a:r>
            <a:r>
              <a:rPr lang="en-US" altLang="zh-CN" i="1">
                <a:solidFill>
                  <a:srgbClr val="FF0000"/>
                </a:solidFill>
                <a:sym typeface="+mn-ea"/>
              </a:rPr>
              <a:t>a</a:t>
            </a:r>
            <a:r>
              <a:rPr lang="en-US" altLang="zh-CN" baseline="-25000">
                <a:solidFill>
                  <a:srgbClr val="FF0000"/>
                </a:solidFill>
                <a:sym typeface="+mn-ea"/>
              </a:rPr>
              <a:t>32</a:t>
            </a:r>
            <a:r>
              <a:rPr lang="en-US" altLang="zh-CN" i="1">
                <a:solidFill>
                  <a:srgbClr val="FF0000"/>
                </a:solidFill>
                <a:sym typeface="+mn-ea"/>
              </a:rPr>
              <a:t>a</a:t>
            </a:r>
            <a:r>
              <a:rPr lang="en-US" altLang="zh-CN" baseline="-25000">
                <a:solidFill>
                  <a:srgbClr val="FF0000"/>
                </a:solidFill>
                <a:sym typeface="+mn-ea"/>
              </a:rPr>
              <a:t>43</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51</a:t>
            </a:r>
            <a:r>
              <a:rPr lang="en-US" altLang="zh-CN" i="1">
                <a:solidFill>
                  <a:srgbClr val="FF0000"/>
                </a:solidFill>
                <a:sym typeface="+mn-ea"/>
              </a:rPr>
              <a:t>a</a:t>
            </a:r>
            <a:r>
              <a:rPr lang="en-US" altLang="zh-CN" baseline="-25000">
                <a:solidFill>
                  <a:srgbClr val="FF0000"/>
                </a:solidFill>
                <a:sym typeface="+mn-ea"/>
              </a:rPr>
              <a:t>25</a:t>
            </a:r>
            <a:r>
              <a:rPr lang="en-US" altLang="zh-CN" i="1">
                <a:solidFill>
                  <a:srgbClr val="FF0000"/>
                </a:solidFill>
                <a:sym typeface="+mn-ea"/>
              </a:rPr>
              <a:t>a</a:t>
            </a:r>
            <a:r>
              <a:rPr lang="en-US" altLang="zh-CN" baseline="-25000">
                <a:solidFill>
                  <a:srgbClr val="FF0000"/>
                </a:solidFill>
                <a:sym typeface="+mn-ea"/>
              </a:rPr>
              <a:t>66</a:t>
            </a:r>
            <a:r>
              <a:rPr lang="zh-CN" altLang="en-US" dirty="0">
                <a:sym typeface="+mn-ea"/>
              </a:rPr>
              <a:t>的行标按自然顺序</a:t>
            </a:r>
            <a:r>
              <a:rPr lang="en-US" altLang="zh-CN">
                <a:solidFill>
                  <a:srgbClr val="FF0000"/>
                </a:solidFill>
                <a:sym typeface="+mn-ea"/>
              </a:rPr>
              <a:t>–</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25</a:t>
            </a:r>
            <a:r>
              <a:rPr lang="en-US" altLang="zh-CN" i="1">
                <a:solidFill>
                  <a:srgbClr val="FF0000"/>
                </a:solidFill>
                <a:sym typeface="+mn-ea"/>
              </a:rPr>
              <a:t>a</a:t>
            </a:r>
            <a:r>
              <a:rPr lang="en-US" altLang="zh-CN" baseline="-25000">
                <a:solidFill>
                  <a:srgbClr val="FF0000"/>
                </a:solidFill>
                <a:sym typeface="+mn-ea"/>
              </a:rPr>
              <a:t>32</a:t>
            </a:r>
            <a:r>
              <a:rPr lang="en-US" altLang="zh-CN" i="1">
                <a:solidFill>
                  <a:srgbClr val="FF0000"/>
                </a:solidFill>
                <a:sym typeface="+mn-ea"/>
              </a:rPr>
              <a:t>a</a:t>
            </a:r>
            <a:r>
              <a:rPr lang="en-US" altLang="zh-CN" baseline="-25000">
                <a:solidFill>
                  <a:srgbClr val="FF0000"/>
                </a:solidFill>
                <a:sym typeface="+mn-ea"/>
              </a:rPr>
              <a:t>43</a:t>
            </a:r>
            <a:r>
              <a:rPr lang="en-US" altLang="zh-CN" i="1">
                <a:solidFill>
                  <a:srgbClr val="FF0000"/>
                </a:solidFill>
                <a:sym typeface="+mn-ea"/>
              </a:rPr>
              <a:t>a</a:t>
            </a:r>
            <a:r>
              <a:rPr lang="en-US" altLang="zh-CN" baseline="-25000">
                <a:solidFill>
                  <a:srgbClr val="FF0000"/>
                </a:solidFill>
                <a:sym typeface="+mn-ea"/>
              </a:rPr>
              <a:t>51</a:t>
            </a:r>
            <a:r>
              <a:rPr lang="en-US" altLang="zh-CN" i="1">
                <a:solidFill>
                  <a:srgbClr val="FF0000"/>
                </a:solidFill>
                <a:sym typeface="+mn-ea"/>
              </a:rPr>
              <a:t>a</a:t>
            </a:r>
            <a:r>
              <a:rPr lang="en-US" altLang="zh-CN" baseline="-25000">
                <a:solidFill>
                  <a:srgbClr val="FF0000"/>
                </a:solidFill>
                <a:sym typeface="+mn-ea"/>
              </a:rPr>
              <a:t>66</a:t>
            </a:r>
            <a:r>
              <a:rPr lang="zh-CN" altLang="en-US" dirty="0">
                <a:sym typeface="+mn-ea"/>
              </a:rPr>
              <a:t>排列</a:t>
            </a:r>
            <a:r>
              <a:rPr lang="en-US" altLang="zh-CN">
                <a:sym typeface="+mn-ea"/>
              </a:rPr>
              <a:t>, </a:t>
            </a:r>
            <a:r>
              <a:rPr lang="zh-CN" altLang="en-US">
                <a:sym typeface="+mn-ea"/>
              </a:rPr>
              <a:t>其行标的逆序数是</a:t>
            </a:r>
            <a:r>
              <a:rPr lang="en-US" altLang="zh-CN">
                <a:sym typeface="+mn-ea"/>
              </a:rPr>
              <a:t>0</a:t>
            </a:r>
            <a:r>
              <a:rPr lang="zh-CN" altLang="en-US">
                <a:sym typeface="+mn-ea"/>
              </a:rPr>
              <a:t>、</a:t>
            </a:r>
            <a:r>
              <a:rPr lang="zh-CN" altLang="en-US" dirty="0">
                <a:sym typeface="+mn-ea"/>
              </a:rPr>
              <a:t>列标排的逆序数为</a:t>
            </a:r>
            <a:r>
              <a:rPr lang="en-US" altLang="zh-CN">
                <a:sym typeface="+mn-ea"/>
              </a:rPr>
              <a:t>:</a:t>
            </a:r>
            <a:r>
              <a:rPr lang="en-US" altLang="zh-CN" i="1">
                <a:latin typeface="仿宋" panose="02010609060101010101" charset="-122"/>
                <a:ea typeface="仿宋" panose="02010609060101010101" charset="-122"/>
                <a:sym typeface="+mn-ea"/>
              </a:rPr>
              <a:t>τ</a:t>
            </a:r>
            <a:r>
              <a:rPr lang="en-US" altLang="zh-CN" i="1">
                <a:sym typeface="+mn-ea"/>
              </a:rPr>
              <a:t> </a:t>
            </a:r>
            <a:r>
              <a:rPr lang="en-US" altLang="zh-CN">
                <a:sym typeface="+mn-ea"/>
              </a:rPr>
              <a:t>(452316) = 3+3+1+1+0+0 = 8 (</a:t>
            </a:r>
            <a:r>
              <a:rPr lang="zh-CN" altLang="en-US" dirty="0">
                <a:sym typeface="+mn-ea"/>
              </a:rPr>
              <a:t>偶数</a:t>
            </a:r>
            <a:r>
              <a:rPr lang="en-US" altLang="zh-CN">
                <a:sym typeface="+mn-ea"/>
              </a:rPr>
              <a:t>)</a:t>
            </a:r>
            <a:r>
              <a:rPr lang="zh-CN" altLang="en-US">
                <a:sym typeface="+mn-ea"/>
              </a:rPr>
              <a:t>，</a:t>
            </a:r>
            <a:endParaRPr lang="en-US" altLang="zh-CN">
              <a:latin typeface="Times New Roman" panose="02020603050405020304" pitchFamily="18" charset="0"/>
            </a:endParaRPr>
          </a:p>
          <a:p>
            <a:pPr>
              <a:lnSpc>
                <a:spcPct val="135000"/>
              </a:lnSpc>
            </a:pPr>
            <a:r>
              <a:rPr lang="en-US" altLang="zh-CN" dirty="0">
                <a:sym typeface="+mn-ea"/>
              </a:rPr>
              <a:t>    </a:t>
            </a:r>
            <a:r>
              <a:rPr lang="zh-CN" altLang="en-US" dirty="0">
                <a:sym typeface="+mn-ea"/>
              </a:rPr>
              <a:t>所以 </a:t>
            </a:r>
            <a:r>
              <a:rPr lang="en-US" altLang="zh-CN">
                <a:solidFill>
                  <a:srgbClr val="FF0000"/>
                </a:solidFill>
                <a:sym typeface="+mn-ea"/>
              </a:rPr>
              <a:t>–</a:t>
            </a:r>
            <a:r>
              <a:rPr lang="en-US" altLang="zh-CN" i="1">
                <a:solidFill>
                  <a:srgbClr val="FF0000"/>
                </a:solidFill>
                <a:sym typeface="+mn-ea"/>
              </a:rPr>
              <a:t>a</a:t>
            </a:r>
            <a:r>
              <a:rPr lang="en-US" altLang="zh-CN" baseline="-25000">
                <a:solidFill>
                  <a:srgbClr val="FF0000"/>
                </a:solidFill>
                <a:sym typeface="+mn-ea"/>
              </a:rPr>
              <a:t>32</a:t>
            </a:r>
            <a:r>
              <a:rPr lang="en-US" altLang="zh-CN" i="1">
                <a:solidFill>
                  <a:srgbClr val="FF0000"/>
                </a:solidFill>
                <a:sym typeface="+mn-ea"/>
              </a:rPr>
              <a:t>a</a:t>
            </a:r>
            <a:r>
              <a:rPr lang="en-US" altLang="zh-CN" baseline="-25000">
                <a:solidFill>
                  <a:srgbClr val="FF0000"/>
                </a:solidFill>
                <a:sym typeface="+mn-ea"/>
              </a:rPr>
              <a:t>43</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51</a:t>
            </a:r>
            <a:r>
              <a:rPr lang="en-US" altLang="zh-CN" i="1">
                <a:solidFill>
                  <a:srgbClr val="FF0000"/>
                </a:solidFill>
                <a:sym typeface="+mn-ea"/>
              </a:rPr>
              <a:t>a</a:t>
            </a:r>
            <a:r>
              <a:rPr lang="en-US" altLang="zh-CN" baseline="-25000">
                <a:solidFill>
                  <a:srgbClr val="FF0000"/>
                </a:solidFill>
                <a:sym typeface="+mn-ea"/>
              </a:rPr>
              <a:t>25</a:t>
            </a:r>
            <a:r>
              <a:rPr lang="en-US" altLang="zh-CN" i="1">
                <a:solidFill>
                  <a:srgbClr val="FF0000"/>
                </a:solidFill>
                <a:sym typeface="+mn-ea"/>
              </a:rPr>
              <a:t>a</a:t>
            </a:r>
            <a:r>
              <a:rPr lang="en-US" altLang="zh-CN" baseline="-25000">
                <a:solidFill>
                  <a:srgbClr val="FF0000"/>
                </a:solidFill>
                <a:sym typeface="+mn-ea"/>
              </a:rPr>
              <a:t>66 </a:t>
            </a:r>
            <a:r>
              <a:rPr lang="zh-CN" altLang="en-US" dirty="0">
                <a:sym typeface="+mn-ea"/>
              </a:rPr>
              <a:t>不是六阶行列式中的项</a:t>
            </a:r>
            <a:r>
              <a:rPr lang="en-US" altLang="zh-CN">
                <a:sym typeface="+mn-ea"/>
              </a:rPr>
              <a:t>.</a:t>
            </a:r>
            <a:endParaRPr lang="en-US" altLang="zh-CN">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6262">
                                            <p:txEl>
                                              <p:charRg st="0" end="53"/>
                                            </p:txEl>
                                          </p:spTgt>
                                        </p:tgtEl>
                                        <p:attrNameLst>
                                          <p:attrName>style.visibility</p:attrName>
                                        </p:attrNameLst>
                                      </p:cBhvr>
                                      <p:to>
                                        <p:strVal val="visible"/>
                                      </p:to>
                                    </p:set>
                                    <p:animEffect transition="in" filter="box(out)">
                                      <p:cBhvr>
                                        <p:cTn id="7" dur="500"/>
                                        <p:tgtEl>
                                          <p:spTgt spid="96262">
                                            <p:txEl>
                                              <p:charRg st="0" end="5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6262">
                                            <p:txEl>
                                              <p:charRg st="1" end="1"/>
                                            </p:txEl>
                                          </p:spTgt>
                                        </p:tgtEl>
                                        <p:attrNameLst>
                                          <p:attrName>style.visibility</p:attrName>
                                        </p:attrNameLst>
                                      </p:cBhvr>
                                      <p:to>
                                        <p:strVal val="visible"/>
                                      </p:to>
                                    </p:set>
                                    <p:animEffect transition="in" filter="box(out)">
                                      <p:cBhvr>
                                        <p:cTn id="12" dur="500"/>
                                        <p:tgtEl>
                                          <p:spTgt spid="96262">
                                            <p:txEl>
                                              <p:char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6262">
                                            <p:txEl>
                                              <p:charRg st="2" end="2"/>
                                            </p:txEl>
                                          </p:spTgt>
                                        </p:tgtEl>
                                        <p:attrNameLst>
                                          <p:attrName>style.visibility</p:attrName>
                                        </p:attrNameLst>
                                      </p:cBhvr>
                                      <p:to>
                                        <p:strVal val="visible"/>
                                      </p:to>
                                    </p:set>
                                    <p:animEffect transition="in" filter="box(out)">
                                      <p:cBhvr>
                                        <p:cTn id="17" dur="500"/>
                                        <p:tgtEl>
                                          <p:spTgt spid="96262">
                                            <p:txEl>
                                              <p:char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6262">
                                            <p:txEl>
                                              <p:charRg st="3" end="3"/>
                                            </p:txEl>
                                          </p:spTgt>
                                        </p:tgtEl>
                                        <p:attrNameLst>
                                          <p:attrName>style.visibility</p:attrName>
                                        </p:attrNameLst>
                                      </p:cBhvr>
                                      <p:to>
                                        <p:strVal val="visible"/>
                                      </p:to>
                                    </p:set>
                                    <p:animEffect transition="in" filter="box(out)">
                                      <p:cBhvr>
                                        <p:cTn id="22" dur="500"/>
                                        <p:tgtEl>
                                          <p:spTgt spid="96262">
                                            <p:txEl>
                                              <p:char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96262">
                                            <p:txEl>
                                              <p:charRg st="4" end="4"/>
                                            </p:txEl>
                                          </p:spTgt>
                                        </p:tgtEl>
                                        <p:attrNameLst>
                                          <p:attrName>style.visibility</p:attrName>
                                        </p:attrNameLst>
                                      </p:cBhvr>
                                      <p:to>
                                        <p:strVal val="visible"/>
                                      </p:to>
                                    </p:set>
                                    <p:animEffect transition="in" filter="box(out)">
                                      <p:cBhvr>
                                        <p:cTn id="27" dur="500"/>
                                        <p:tgtEl>
                                          <p:spTgt spid="96262">
                                            <p:txEl>
                                              <p:char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96262">
                                            <p:txEl>
                                              <p:charRg st="5" end="5"/>
                                            </p:txEl>
                                          </p:spTgt>
                                        </p:tgtEl>
                                        <p:attrNameLst>
                                          <p:attrName>style.visibility</p:attrName>
                                        </p:attrNameLst>
                                      </p:cBhvr>
                                      <p:to>
                                        <p:strVal val="visible"/>
                                      </p:to>
                                    </p:set>
                                    <p:animEffect transition="in" filter="box(out)">
                                      <p:cBhvr>
                                        <p:cTn id="32" dur="500"/>
                                        <p:tgtEl>
                                          <p:spTgt spid="96262">
                                            <p:txEl>
                                              <p:char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animEffect transition="in" filter="wipe(down)">
                                      <p:cBhvr>
                                        <p:cTn id="37" dur="500"/>
                                        <p:tgtEl>
                                          <p:spTgt spid="3">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1" end="1"/>
                                            </p:txEl>
                                          </p:spTgt>
                                        </p:tgtEl>
                                        <p:attrNameLst>
                                          <p:attrName>style.visibility</p:attrName>
                                        </p:attrNameLst>
                                      </p:cBhvr>
                                      <p:to>
                                        <p:strVal val="visible"/>
                                      </p:to>
                                    </p:set>
                                    <p:animEffect transition="in" filter="wipe(down)">
                                      <p:cBhvr>
                                        <p:cTn id="4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advAuto="1000" build="p"/>
      <p:bldP spid="96261" grpId="0" advAuto="1000" build="p"/>
      <p:bldP spid="9626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矩形 97281"/>
          <p:cNvSpPr/>
          <p:nvPr/>
        </p:nvSpPr>
        <p:spPr>
          <a:xfrm>
            <a:off x="683895" y="1717040"/>
            <a:ext cx="7884160" cy="4927600"/>
          </a:xfrm>
          <a:prstGeom prst="rect">
            <a:avLst/>
          </a:prstGeom>
          <a:noFill/>
          <a:ln w="9525">
            <a:noFill/>
          </a:ln>
        </p:spPr>
        <p:txBody>
          <a:bodyPr anchor="t" anchorCtr="0">
            <a:noAutofit/>
          </a:bodyPr>
          <a:p>
            <a:pPr>
              <a:lnSpc>
                <a:spcPct val="135000"/>
              </a:lnSpc>
            </a:pPr>
            <a:r>
              <a:rPr lang="en-US" altLang="zh-CN" dirty="0">
                <a:latin typeface="Times New Roman" panose="02020603050405020304" pitchFamily="18" charset="0"/>
                <a:ea typeface="黑体" panose="02010609060101010101" pitchFamily="2" charset="-122"/>
              </a:rPr>
              <a:t>      </a:t>
            </a:r>
            <a:r>
              <a:rPr lang="zh-CN" altLang="en-US" dirty="0">
                <a:solidFill>
                  <a:schemeClr val="hlink"/>
                </a:solidFill>
                <a:latin typeface="Times New Roman" panose="02020603050405020304" pitchFamily="18" charset="0"/>
                <a:ea typeface="黑体" panose="02010609060101010101" pitchFamily="2" charset="-122"/>
              </a:rPr>
              <a:t>解</a:t>
            </a:r>
            <a:r>
              <a:rPr lang="en-US" altLang="zh-CN">
                <a:solidFill>
                  <a:schemeClr val="hlink"/>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ea typeface="黑体" panose="02010609060101010101" pitchFamily="2" charset="-122"/>
              </a:rPr>
              <a:t> </a:t>
            </a:r>
            <a:r>
              <a:rPr lang="zh-CN" altLang="en-US">
                <a:latin typeface="Times New Roman" panose="02020603050405020304" pitchFamily="18" charset="0"/>
                <a:ea typeface="黑体" panose="02010609060101010101" pitchFamily="2" charset="-122"/>
              </a:rPr>
              <a:t>（</a:t>
            </a:r>
            <a:r>
              <a:rPr lang="en-US" altLang="zh-CN">
                <a:latin typeface="Times New Roman" panose="02020603050405020304" pitchFamily="18" charset="0"/>
                <a:ea typeface="黑体" panose="02010609060101010101" pitchFamily="2" charset="-122"/>
              </a:rPr>
              <a:t>1</a:t>
            </a:r>
            <a:r>
              <a:rPr lang="zh-CN" altLang="en-US">
                <a:latin typeface="Times New Roman" panose="02020603050405020304" pitchFamily="18" charset="0"/>
                <a:ea typeface="黑体" panose="02010609060101010101" pitchFamily="2" charset="-122"/>
              </a:rPr>
              <a:t>）</a:t>
            </a:r>
            <a:r>
              <a:rPr lang="zh-CN" altLang="en-US" dirty="0">
                <a:latin typeface="Times New Roman" panose="02020603050405020304" pitchFamily="18" charset="0"/>
              </a:rPr>
              <a:t>方法一：</a:t>
            </a:r>
            <a:r>
              <a:rPr lang="zh-CN" altLang="en-US" dirty="0">
                <a:sym typeface="+mn-ea"/>
              </a:rPr>
              <a:t>项</a:t>
            </a:r>
            <a:r>
              <a:rPr lang="en-US" altLang="zh-CN" i="1">
                <a:solidFill>
                  <a:srgbClr val="FF0000"/>
                </a:solidFill>
                <a:sym typeface="+mn-ea"/>
              </a:rPr>
              <a:t>a</a:t>
            </a:r>
            <a:r>
              <a:rPr lang="en-US" altLang="zh-CN" baseline="-25000">
                <a:solidFill>
                  <a:srgbClr val="FF0000"/>
                </a:solidFill>
                <a:sym typeface="+mn-ea"/>
              </a:rPr>
              <a:t>23</a:t>
            </a:r>
            <a:r>
              <a:rPr lang="en-US" altLang="zh-CN" i="1">
                <a:solidFill>
                  <a:srgbClr val="FF0000"/>
                </a:solidFill>
                <a:sym typeface="+mn-ea"/>
              </a:rPr>
              <a:t>a</a:t>
            </a:r>
            <a:r>
              <a:rPr lang="en-US" altLang="zh-CN" baseline="-25000">
                <a:solidFill>
                  <a:srgbClr val="FF0000"/>
                </a:solidFill>
                <a:sym typeface="+mn-ea"/>
              </a:rPr>
              <a:t>31</a:t>
            </a:r>
            <a:r>
              <a:rPr lang="en-US" altLang="zh-CN" i="1">
                <a:solidFill>
                  <a:srgbClr val="FF0000"/>
                </a:solidFill>
                <a:sym typeface="+mn-ea"/>
              </a:rPr>
              <a:t>a</a:t>
            </a:r>
            <a:r>
              <a:rPr lang="en-US" altLang="zh-CN" baseline="-25000">
                <a:solidFill>
                  <a:srgbClr val="FF0000"/>
                </a:solidFill>
                <a:sym typeface="+mn-ea"/>
              </a:rPr>
              <a:t>42</a:t>
            </a:r>
            <a:r>
              <a:rPr lang="en-US" altLang="zh-CN" i="1">
                <a:solidFill>
                  <a:srgbClr val="FF0000"/>
                </a:solidFill>
                <a:sym typeface="+mn-ea"/>
              </a:rPr>
              <a:t>a</a:t>
            </a:r>
            <a:r>
              <a:rPr lang="en-US" altLang="zh-CN" baseline="-25000">
                <a:solidFill>
                  <a:srgbClr val="FF0000"/>
                </a:solidFill>
                <a:sym typeface="+mn-ea"/>
              </a:rPr>
              <a:t>56</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65</a:t>
            </a:r>
            <a:r>
              <a:rPr lang="zh-CN" altLang="en-US" dirty="0">
                <a:sym typeface="+mn-ea"/>
              </a:rPr>
              <a:t>的行下标与列下标的逆序数之和为</a:t>
            </a:r>
            <a:r>
              <a:rPr lang="en-US" altLang="zh-CN" i="1">
                <a:latin typeface="仿宋" panose="02010609060101010101" charset="-122"/>
                <a:ea typeface="仿宋" panose="02010609060101010101" charset="-122"/>
                <a:sym typeface="+mn-ea"/>
              </a:rPr>
              <a:t>τ</a:t>
            </a:r>
            <a:r>
              <a:rPr lang="en-US" altLang="zh-CN" i="1">
                <a:sym typeface="+mn-ea"/>
              </a:rPr>
              <a:t> </a:t>
            </a:r>
            <a:r>
              <a:rPr lang="en-US" altLang="zh-CN">
                <a:sym typeface="+mn-ea"/>
              </a:rPr>
              <a:t>(234516)+</a:t>
            </a:r>
            <a:r>
              <a:rPr lang="en-US" altLang="zh-CN" i="1">
                <a:latin typeface="仿宋" panose="02010609060101010101" charset="-122"/>
                <a:ea typeface="仿宋" panose="02010609060101010101" charset="-122"/>
                <a:sym typeface="+mn-ea"/>
              </a:rPr>
              <a:t>τ</a:t>
            </a:r>
            <a:r>
              <a:rPr lang="en-US" altLang="zh-CN" i="1">
                <a:sym typeface="+mn-ea"/>
              </a:rPr>
              <a:t> </a:t>
            </a:r>
            <a:r>
              <a:rPr lang="en-US" altLang="zh-CN">
                <a:sym typeface="+mn-ea"/>
              </a:rPr>
              <a:t>(312645) =</a:t>
            </a:r>
            <a:r>
              <a:rPr lang="zh-CN" altLang="en-US">
                <a:sym typeface="+mn-ea"/>
              </a:rPr>
              <a:t>（</a:t>
            </a:r>
            <a:r>
              <a:rPr lang="en-US" altLang="zh-CN">
                <a:latin typeface="Times New Roman" panose="02020603050405020304" pitchFamily="18" charset="0"/>
              </a:rPr>
              <a:t>1+</a:t>
            </a:r>
            <a:r>
              <a:rPr lang="en-US" altLang="zh-CN">
                <a:sym typeface="+mn-ea"/>
              </a:rPr>
              <a:t>1+1+1 +0）+</a:t>
            </a:r>
            <a:r>
              <a:rPr lang="zh-CN" altLang="en-US">
                <a:sym typeface="+mn-ea"/>
              </a:rPr>
              <a:t>（</a:t>
            </a:r>
            <a:r>
              <a:rPr lang="en-US" altLang="zh-CN">
                <a:sym typeface="+mn-ea"/>
              </a:rPr>
              <a:t>2+</a:t>
            </a:r>
            <a:r>
              <a:rPr lang="en-US" altLang="zh-CN">
                <a:sym typeface="+mn-ea"/>
              </a:rPr>
              <a:t>0+0+2+0</a:t>
            </a:r>
            <a:r>
              <a:rPr lang="zh-CN" altLang="en-US">
                <a:sym typeface="+mn-ea"/>
              </a:rPr>
              <a:t>）</a:t>
            </a:r>
            <a:r>
              <a:rPr lang="en-US" altLang="zh-CN">
                <a:sym typeface="+mn-ea"/>
              </a:rPr>
              <a:t> =8</a:t>
            </a:r>
            <a:r>
              <a:rPr lang="zh-CN" altLang="en-US">
                <a:sym typeface="+mn-ea"/>
              </a:rPr>
              <a:t>（偶数），</a:t>
            </a:r>
            <a:r>
              <a:rPr lang="en-US" altLang="zh-CN">
                <a:sym typeface="+mn-ea"/>
              </a:rPr>
              <a:t>       </a:t>
            </a:r>
            <a:r>
              <a:rPr lang="zh-CN" altLang="en-US" dirty="0">
                <a:sym typeface="+mn-ea"/>
              </a:rPr>
              <a:t>所以 </a:t>
            </a:r>
            <a:r>
              <a:rPr lang="en-US" altLang="zh-CN" i="1">
                <a:solidFill>
                  <a:srgbClr val="FF0000"/>
                </a:solidFill>
                <a:sym typeface="+mn-ea"/>
              </a:rPr>
              <a:t>a</a:t>
            </a:r>
            <a:r>
              <a:rPr lang="en-US" altLang="zh-CN" baseline="-25000">
                <a:solidFill>
                  <a:srgbClr val="FF0000"/>
                </a:solidFill>
                <a:sym typeface="+mn-ea"/>
              </a:rPr>
              <a:t>23</a:t>
            </a:r>
            <a:r>
              <a:rPr lang="en-US" altLang="zh-CN" i="1">
                <a:solidFill>
                  <a:srgbClr val="FF0000"/>
                </a:solidFill>
                <a:sym typeface="+mn-ea"/>
              </a:rPr>
              <a:t>a</a:t>
            </a:r>
            <a:r>
              <a:rPr lang="en-US" altLang="zh-CN" baseline="-25000">
                <a:solidFill>
                  <a:srgbClr val="FF0000"/>
                </a:solidFill>
                <a:sym typeface="+mn-ea"/>
              </a:rPr>
              <a:t>31</a:t>
            </a:r>
            <a:r>
              <a:rPr lang="en-US" altLang="zh-CN" i="1">
                <a:solidFill>
                  <a:srgbClr val="FF0000"/>
                </a:solidFill>
                <a:sym typeface="+mn-ea"/>
              </a:rPr>
              <a:t>a</a:t>
            </a:r>
            <a:r>
              <a:rPr lang="en-US" altLang="zh-CN" baseline="-25000">
                <a:solidFill>
                  <a:srgbClr val="FF0000"/>
                </a:solidFill>
                <a:sym typeface="+mn-ea"/>
              </a:rPr>
              <a:t>42</a:t>
            </a:r>
            <a:r>
              <a:rPr lang="en-US" altLang="zh-CN" i="1">
                <a:solidFill>
                  <a:srgbClr val="FF0000"/>
                </a:solidFill>
                <a:sym typeface="+mn-ea"/>
              </a:rPr>
              <a:t>a</a:t>
            </a:r>
            <a:r>
              <a:rPr lang="en-US" altLang="zh-CN" baseline="-25000">
                <a:solidFill>
                  <a:srgbClr val="FF0000"/>
                </a:solidFill>
                <a:sym typeface="+mn-ea"/>
              </a:rPr>
              <a:t>56</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65 </a:t>
            </a:r>
            <a:r>
              <a:rPr lang="zh-CN" altLang="en-US" dirty="0">
                <a:sym typeface="+mn-ea"/>
              </a:rPr>
              <a:t>的前边应带正号</a:t>
            </a:r>
            <a:r>
              <a:rPr lang="en-US" altLang="zh-CN">
                <a:sym typeface="+mn-ea"/>
              </a:rPr>
              <a:t>.</a:t>
            </a:r>
            <a:endParaRPr lang="en-US" altLang="zh-CN">
              <a:latin typeface="Times New Roman" panose="02020603050405020304" pitchFamily="18" charset="0"/>
            </a:endParaRPr>
          </a:p>
          <a:p>
            <a:pPr>
              <a:lnSpc>
                <a:spcPct val="135000"/>
              </a:lnSpc>
            </a:pPr>
            <a:r>
              <a:rPr lang="en-US" altLang="zh-CN" dirty="0">
                <a:latin typeface="Times New Roman" panose="02020603050405020304" pitchFamily="18" charset="0"/>
              </a:rPr>
              <a:t>     </a:t>
            </a:r>
            <a:r>
              <a:rPr lang="zh-CN" altLang="en-US" dirty="0">
                <a:latin typeface="Times New Roman" panose="02020603050405020304" pitchFamily="18" charset="0"/>
              </a:rPr>
              <a:t>方法二：将</a:t>
            </a:r>
            <a:r>
              <a:rPr lang="en-US" altLang="zh-CN" i="1">
                <a:solidFill>
                  <a:srgbClr val="FF0000"/>
                </a:solidFill>
                <a:sym typeface="+mn-ea"/>
              </a:rPr>
              <a:t>a</a:t>
            </a:r>
            <a:r>
              <a:rPr lang="en-US" altLang="zh-CN" baseline="-25000">
                <a:solidFill>
                  <a:srgbClr val="FF0000"/>
                </a:solidFill>
                <a:sym typeface="+mn-ea"/>
              </a:rPr>
              <a:t>23</a:t>
            </a:r>
            <a:r>
              <a:rPr lang="en-US" altLang="zh-CN" i="1">
                <a:solidFill>
                  <a:srgbClr val="FF0000"/>
                </a:solidFill>
                <a:sym typeface="+mn-ea"/>
              </a:rPr>
              <a:t>a</a:t>
            </a:r>
            <a:r>
              <a:rPr lang="en-US" altLang="zh-CN" baseline="-25000">
                <a:solidFill>
                  <a:srgbClr val="FF0000"/>
                </a:solidFill>
                <a:sym typeface="+mn-ea"/>
              </a:rPr>
              <a:t>31</a:t>
            </a:r>
            <a:r>
              <a:rPr lang="en-US" altLang="zh-CN" i="1">
                <a:solidFill>
                  <a:srgbClr val="FF0000"/>
                </a:solidFill>
                <a:sym typeface="+mn-ea"/>
              </a:rPr>
              <a:t>a</a:t>
            </a:r>
            <a:r>
              <a:rPr lang="en-US" altLang="zh-CN" baseline="-25000">
                <a:solidFill>
                  <a:srgbClr val="FF0000"/>
                </a:solidFill>
                <a:sym typeface="+mn-ea"/>
              </a:rPr>
              <a:t>42</a:t>
            </a:r>
            <a:r>
              <a:rPr lang="en-US" altLang="zh-CN" i="1">
                <a:solidFill>
                  <a:srgbClr val="FF0000"/>
                </a:solidFill>
                <a:sym typeface="+mn-ea"/>
              </a:rPr>
              <a:t>a</a:t>
            </a:r>
            <a:r>
              <a:rPr lang="en-US" altLang="zh-CN" baseline="-25000">
                <a:solidFill>
                  <a:srgbClr val="FF0000"/>
                </a:solidFill>
                <a:sym typeface="+mn-ea"/>
              </a:rPr>
              <a:t>56</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65</a:t>
            </a:r>
            <a:r>
              <a:rPr lang="zh-CN" altLang="en-US" dirty="0">
                <a:latin typeface="Times New Roman" panose="02020603050405020304" pitchFamily="18" charset="0"/>
              </a:rPr>
              <a:t>的行标按自然顺序</a:t>
            </a:r>
            <a:r>
              <a:rPr lang="en-US" altLang="zh-CN" i="1">
                <a:solidFill>
                  <a:srgbClr val="FF0000"/>
                </a:solidFill>
                <a:sym typeface="+mn-ea"/>
              </a:rPr>
              <a:t>a</a:t>
            </a:r>
            <a:r>
              <a:rPr lang="en-US" altLang="zh-CN" baseline="-25000">
                <a:solidFill>
                  <a:srgbClr val="FF0000"/>
                </a:solidFill>
                <a:sym typeface="+mn-ea"/>
              </a:rPr>
              <a:t>14</a:t>
            </a:r>
            <a:r>
              <a:rPr lang="en-US" altLang="zh-CN" i="1">
                <a:solidFill>
                  <a:srgbClr val="FF0000"/>
                </a:solidFill>
                <a:sym typeface="+mn-ea"/>
              </a:rPr>
              <a:t>a</a:t>
            </a:r>
            <a:r>
              <a:rPr lang="en-US" altLang="zh-CN" baseline="-25000">
                <a:solidFill>
                  <a:srgbClr val="FF0000"/>
                </a:solidFill>
                <a:sym typeface="+mn-ea"/>
              </a:rPr>
              <a:t>23</a:t>
            </a:r>
            <a:r>
              <a:rPr lang="en-US" altLang="zh-CN" i="1">
                <a:solidFill>
                  <a:srgbClr val="FF0000"/>
                </a:solidFill>
                <a:sym typeface="+mn-ea"/>
              </a:rPr>
              <a:t>a</a:t>
            </a:r>
            <a:r>
              <a:rPr lang="en-US" altLang="zh-CN" baseline="-25000">
                <a:solidFill>
                  <a:srgbClr val="FF0000"/>
                </a:solidFill>
                <a:sym typeface="+mn-ea"/>
              </a:rPr>
              <a:t>31</a:t>
            </a:r>
            <a:r>
              <a:rPr lang="en-US" altLang="zh-CN" i="1">
                <a:solidFill>
                  <a:srgbClr val="FF0000"/>
                </a:solidFill>
                <a:sym typeface="+mn-ea"/>
              </a:rPr>
              <a:t>a</a:t>
            </a:r>
            <a:r>
              <a:rPr lang="en-US" altLang="zh-CN" baseline="-25000">
                <a:solidFill>
                  <a:srgbClr val="FF0000"/>
                </a:solidFill>
                <a:sym typeface="+mn-ea"/>
              </a:rPr>
              <a:t>42</a:t>
            </a:r>
            <a:r>
              <a:rPr lang="en-US" altLang="zh-CN" i="1">
                <a:solidFill>
                  <a:srgbClr val="FF0000"/>
                </a:solidFill>
                <a:sym typeface="+mn-ea"/>
              </a:rPr>
              <a:t>a</a:t>
            </a:r>
            <a:r>
              <a:rPr lang="en-US" altLang="zh-CN" baseline="-25000">
                <a:solidFill>
                  <a:srgbClr val="FF0000"/>
                </a:solidFill>
                <a:sym typeface="+mn-ea"/>
              </a:rPr>
              <a:t>56</a:t>
            </a:r>
            <a:r>
              <a:rPr lang="en-US" altLang="zh-CN" i="1">
                <a:solidFill>
                  <a:srgbClr val="FF0000"/>
                </a:solidFill>
                <a:sym typeface="+mn-ea"/>
              </a:rPr>
              <a:t>a</a:t>
            </a:r>
            <a:r>
              <a:rPr lang="en-US" altLang="zh-CN" baseline="-25000">
                <a:solidFill>
                  <a:srgbClr val="FF0000"/>
                </a:solidFill>
                <a:sym typeface="+mn-ea"/>
              </a:rPr>
              <a:t>65</a:t>
            </a:r>
            <a:r>
              <a:rPr lang="zh-CN" altLang="en-US" dirty="0">
                <a:latin typeface="Times New Roman" panose="02020603050405020304" pitchFamily="18" charset="0"/>
              </a:rPr>
              <a:t>排列</a:t>
            </a:r>
            <a:r>
              <a:rPr lang="en-US" altLang="zh-CN">
                <a:latin typeface="Times New Roman" panose="02020603050405020304" pitchFamily="18" charset="0"/>
              </a:rPr>
              <a:t>, </a:t>
            </a:r>
            <a:r>
              <a:rPr lang="zh-CN" altLang="en-US" dirty="0">
                <a:latin typeface="Times New Roman" panose="02020603050405020304" pitchFamily="18" charset="0"/>
              </a:rPr>
              <a:t>则其列标排列的逆序数为</a:t>
            </a:r>
            <a:r>
              <a:rPr lang="en-US" altLang="zh-CN">
                <a:latin typeface="Times New Roman" panose="02020603050405020304" pitchFamily="18" charset="0"/>
              </a:rPr>
              <a:t>:</a:t>
            </a:r>
            <a:endParaRPr lang="en-US" altLang="zh-CN">
              <a:latin typeface="Times New Roman" panose="02020603050405020304" pitchFamily="18" charset="0"/>
            </a:endParaRPr>
          </a:p>
          <a:p>
            <a:pPr algn="ctr">
              <a:lnSpc>
                <a:spcPct val="135000"/>
              </a:lnSpc>
            </a:pPr>
            <a:r>
              <a:rPr lang="en-US" altLang="zh-CN" i="1">
                <a:latin typeface="仿宋" panose="02010609060101010101" charset="-122"/>
                <a:ea typeface="仿宋" panose="02010609060101010101" charset="-122"/>
                <a:sym typeface="+mn-ea"/>
              </a:rPr>
              <a:t>τ</a:t>
            </a:r>
            <a:r>
              <a:rPr lang="en-US" altLang="zh-CN">
                <a:latin typeface="Times New Roman" panose="02020603050405020304" pitchFamily="18" charset="0"/>
              </a:rPr>
              <a:t>(431265) = 3+2+0+0+1 = 6 (</a:t>
            </a:r>
            <a:r>
              <a:rPr lang="zh-CN" altLang="en-US" dirty="0">
                <a:latin typeface="Times New Roman" panose="02020603050405020304" pitchFamily="18" charset="0"/>
              </a:rPr>
              <a:t>偶数</a:t>
            </a:r>
            <a:r>
              <a:rPr lang="en-US" altLang="zh-CN">
                <a:latin typeface="Times New Roman" panose="02020603050405020304" pitchFamily="18" charset="0"/>
              </a:rPr>
              <a:t>)</a:t>
            </a:r>
            <a:endParaRPr lang="en-US" altLang="zh-CN">
              <a:latin typeface="Times New Roman" panose="02020603050405020304" pitchFamily="18" charset="0"/>
            </a:endParaRPr>
          </a:p>
          <a:p>
            <a:pPr>
              <a:lnSpc>
                <a:spcPct val="135000"/>
              </a:lnSpc>
            </a:pPr>
            <a:r>
              <a:rPr lang="zh-CN" altLang="en-US" dirty="0">
                <a:latin typeface="Times New Roman" panose="02020603050405020304" pitchFamily="18" charset="0"/>
              </a:rPr>
              <a:t>所以 </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23</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31</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42</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56</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14</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65 </a:t>
            </a:r>
            <a:r>
              <a:rPr lang="zh-CN" altLang="en-US" dirty="0">
                <a:latin typeface="Times New Roman" panose="02020603050405020304" pitchFamily="18" charset="0"/>
              </a:rPr>
              <a:t>的前边应带正号</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97283" name="文本框 97282"/>
          <p:cNvSpPr txBox="1"/>
          <p:nvPr/>
        </p:nvSpPr>
        <p:spPr>
          <a:xfrm>
            <a:off x="683895" y="404813"/>
            <a:ext cx="7984490" cy="1210945"/>
          </a:xfrm>
          <a:prstGeom prst="rect">
            <a:avLst/>
          </a:prstGeom>
          <a:noFill/>
          <a:ln w="9525">
            <a:noFill/>
          </a:ln>
        </p:spPr>
        <p:txBody>
          <a:bodyPr wrap="none" anchor="t" anchorCtr="0">
            <a:spAutoFit/>
          </a:bodyPr>
          <a:p>
            <a:pPr algn="l">
              <a:lnSpc>
                <a:spcPct val="130000"/>
              </a:lnSpc>
            </a:pPr>
            <a:r>
              <a:rPr lang="en-US" altLang="zh-CN">
                <a:solidFill>
                  <a:schemeClr val="hlink"/>
                </a:solidFill>
                <a:ea typeface="黑体" panose="02010609060101010101" pitchFamily="2" charset="-122"/>
                <a:sym typeface="+mn-ea"/>
              </a:rPr>
              <a:t>练习2:</a:t>
            </a:r>
            <a:r>
              <a:rPr lang="en-US" altLang="zh-CN">
                <a:latin typeface="Times New Roman" panose="02020603050405020304" pitchFamily="18" charset="0"/>
              </a:rPr>
              <a:t> </a:t>
            </a:r>
            <a:r>
              <a:rPr lang="zh-CN" altLang="en-US" dirty="0">
                <a:latin typeface="Times New Roman" panose="02020603050405020304" pitchFamily="18" charset="0"/>
              </a:rPr>
              <a:t>在六阶行列式中</a:t>
            </a:r>
            <a:r>
              <a:rPr lang="en-US" altLang="zh-CN">
                <a:latin typeface="Times New Roman" panose="02020603050405020304" pitchFamily="18" charset="0"/>
              </a:rPr>
              <a:t>, </a:t>
            </a:r>
            <a:r>
              <a:rPr lang="zh-CN" altLang="en-US" dirty="0">
                <a:latin typeface="Times New Roman" panose="02020603050405020304" pitchFamily="18" charset="0"/>
              </a:rPr>
              <a:t>下列两项各应带什么符号</a:t>
            </a:r>
            <a:r>
              <a:rPr lang="en-US" altLang="zh-CN">
                <a:latin typeface="Times New Roman" panose="02020603050405020304" pitchFamily="18" charset="0"/>
              </a:rPr>
              <a:t>.</a:t>
            </a:r>
            <a:endParaRPr lang="en-US" altLang="zh-CN">
              <a:latin typeface="Times New Roman" panose="02020603050405020304" pitchFamily="18" charset="0"/>
            </a:endParaRPr>
          </a:p>
          <a:p>
            <a:pPr algn="l">
              <a:lnSpc>
                <a:spcPct val="130000"/>
              </a:lnSpc>
            </a:pPr>
            <a:r>
              <a:rPr lang="en-US" altLang="zh-CN">
                <a:latin typeface="Times New Roman" panose="02020603050405020304" pitchFamily="18" charset="0"/>
              </a:rPr>
              <a:t>(1) </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23</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31</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42</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56</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14</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65</a:t>
            </a:r>
            <a:r>
              <a:rPr lang="en-US" altLang="zh-CN">
                <a:latin typeface="Times New Roman" panose="02020603050405020304" pitchFamily="18" charset="0"/>
              </a:rPr>
              <a:t>;   (2) </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32</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43</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14</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51</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66</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25 </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97283"/>
                                        </p:tgtEl>
                                        <p:attrNameLst>
                                          <p:attrName>style.visibility</p:attrName>
                                        </p:attrNameLst>
                                      </p:cBhvr>
                                      <p:to>
                                        <p:strVal val="visible"/>
                                      </p:to>
                                    </p:set>
                                    <p:animEffect transition="in" filter="box(out)">
                                      <p:cBhvr>
                                        <p:cTn id="7" dur="500"/>
                                        <p:tgtEl>
                                          <p:spTgt spid="9728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7282">
                                            <p:txEl>
                                              <p:charRg st="0" end="55"/>
                                            </p:txEl>
                                          </p:spTgt>
                                        </p:tgtEl>
                                        <p:attrNameLst>
                                          <p:attrName>style.visibility</p:attrName>
                                        </p:attrNameLst>
                                      </p:cBhvr>
                                      <p:to>
                                        <p:strVal val="visible"/>
                                      </p:to>
                                    </p:set>
                                    <p:animEffect transition="in" filter="box(out)">
                                      <p:cBhvr>
                                        <p:cTn id="12" dur="500"/>
                                        <p:tgtEl>
                                          <p:spTgt spid="97282">
                                            <p:txEl>
                                              <p:charRg st="0" end="5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7282">
                                            <p:txEl>
                                              <p:charRg st="1" end="1"/>
                                            </p:txEl>
                                          </p:spTgt>
                                        </p:tgtEl>
                                        <p:attrNameLst>
                                          <p:attrName>style.visibility</p:attrName>
                                        </p:attrNameLst>
                                      </p:cBhvr>
                                      <p:to>
                                        <p:strVal val="visible"/>
                                      </p:to>
                                    </p:set>
                                    <p:animEffect transition="in" filter="box(out)">
                                      <p:cBhvr>
                                        <p:cTn id="17" dur="500"/>
                                        <p:tgtEl>
                                          <p:spTgt spid="97282">
                                            <p:txEl>
                                              <p:char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7282">
                                            <p:txEl>
                                              <p:charRg st="55" end="89"/>
                                            </p:txEl>
                                          </p:spTgt>
                                        </p:tgtEl>
                                        <p:attrNameLst>
                                          <p:attrName>style.visibility</p:attrName>
                                        </p:attrNameLst>
                                      </p:cBhvr>
                                      <p:to>
                                        <p:strVal val="visible"/>
                                      </p:to>
                                    </p:set>
                                    <p:animEffect transition="in" filter="box(out)">
                                      <p:cBhvr>
                                        <p:cTn id="22" dur="500"/>
                                        <p:tgtEl>
                                          <p:spTgt spid="97282">
                                            <p:txEl>
                                              <p:charRg st="55" end="8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97282">
                                            <p:txEl>
                                              <p:charRg st="89" end="120"/>
                                            </p:txEl>
                                          </p:spTgt>
                                        </p:tgtEl>
                                        <p:attrNameLst>
                                          <p:attrName>style.visibility</p:attrName>
                                        </p:attrNameLst>
                                      </p:cBhvr>
                                      <p:to>
                                        <p:strVal val="visible"/>
                                      </p:to>
                                    </p:set>
                                    <p:animEffect transition="in" filter="box(out)">
                                      <p:cBhvr>
                                        <p:cTn id="27" dur="500"/>
                                        <p:tgtEl>
                                          <p:spTgt spid="97282">
                                            <p:txEl>
                                              <p:charRg st="89" end="1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build="p"/>
      <p:bldP spid="9728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矩形 98305"/>
          <p:cNvSpPr/>
          <p:nvPr/>
        </p:nvSpPr>
        <p:spPr>
          <a:xfrm>
            <a:off x="358775" y="730250"/>
            <a:ext cx="8456930" cy="1601470"/>
          </a:xfrm>
          <a:prstGeom prst="rect">
            <a:avLst/>
          </a:prstGeom>
          <a:noFill/>
          <a:ln w="9525">
            <a:noFill/>
          </a:ln>
        </p:spPr>
        <p:txBody>
          <a:bodyPr anchor="t" anchorCtr="0">
            <a:noAutofit/>
          </a:bodyPr>
          <a:p>
            <a:pPr>
              <a:lnSpc>
                <a:spcPct val="110000"/>
              </a:lnSpc>
            </a:pPr>
            <a:r>
              <a:rPr lang="en-US" altLang="zh-CN" dirty="0">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ea typeface="黑体" panose="02010609060101010101" pitchFamily="2" charset="-122"/>
              </a:rPr>
              <a:t>（</a:t>
            </a:r>
            <a:r>
              <a:rPr lang="en-US" altLang="zh-CN" dirty="0">
                <a:latin typeface="Times New Roman" panose="02020603050405020304" pitchFamily="18" charset="0"/>
                <a:ea typeface="黑体" panose="02010609060101010101" pitchFamily="2" charset="-122"/>
              </a:rPr>
              <a:t>2</a:t>
            </a:r>
            <a:r>
              <a:rPr lang="zh-CN" altLang="en-US" dirty="0">
                <a:latin typeface="Times New Roman" panose="02020603050405020304" pitchFamily="18" charset="0"/>
                <a:ea typeface="黑体" panose="02010609060101010101" pitchFamily="2" charset="-122"/>
              </a:rPr>
              <a:t>）项</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32</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43</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14</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51</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66</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25</a:t>
            </a:r>
            <a:r>
              <a:rPr lang="zh-CN" altLang="en-US" dirty="0">
                <a:latin typeface="Times New Roman" panose="02020603050405020304" pitchFamily="18" charset="0"/>
              </a:rPr>
              <a:t>的行下标与列下标的逆序数之和为</a:t>
            </a:r>
            <a:endParaRPr lang="zh-CN" altLang="en-US" dirty="0">
              <a:latin typeface="Times New Roman" panose="02020603050405020304" pitchFamily="18" charset="0"/>
            </a:endParaRPr>
          </a:p>
          <a:p>
            <a:pPr>
              <a:lnSpc>
                <a:spcPct val="110000"/>
              </a:lnSpc>
            </a:pPr>
            <a:r>
              <a:rPr lang="zh-CN" altLang="en-US">
                <a:latin typeface="Times New Roman" panose="02020603050405020304" pitchFamily="18" charset="0"/>
              </a:rPr>
              <a:t>         </a:t>
            </a:r>
            <a:r>
              <a:rPr lang="en-US" altLang="zh-CN" i="1">
                <a:latin typeface="仿宋" panose="02010609060101010101" charset="-122"/>
                <a:ea typeface="仿宋" panose="02010609060101010101" charset="-122"/>
                <a:sym typeface="+mn-ea"/>
              </a:rPr>
              <a:t>τ</a:t>
            </a:r>
            <a:r>
              <a:rPr lang="en-US" altLang="zh-CN" i="1">
                <a:latin typeface="Times New Roman" panose="02020603050405020304" pitchFamily="18" charset="0"/>
              </a:rPr>
              <a:t> </a:t>
            </a:r>
            <a:r>
              <a:rPr lang="en-US" altLang="zh-CN">
                <a:latin typeface="Times New Roman" panose="02020603050405020304" pitchFamily="18" charset="0"/>
              </a:rPr>
              <a:t>(341562)+</a:t>
            </a:r>
            <a:r>
              <a:rPr lang="en-US" altLang="zh-CN" i="1">
                <a:latin typeface="仿宋" panose="02010609060101010101" charset="-122"/>
                <a:ea typeface="仿宋" panose="02010609060101010101" charset="-122"/>
                <a:sym typeface="+mn-ea"/>
              </a:rPr>
              <a:t>τ</a:t>
            </a:r>
            <a:r>
              <a:rPr lang="en-US" altLang="zh-CN" i="1">
                <a:latin typeface="Times New Roman" panose="02020603050405020304" pitchFamily="18" charset="0"/>
              </a:rPr>
              <a:t> </a:t>
            </a:r>
            <a:r>
              <a:rPr lang="en-US" altLang="zh-CN">
                <a:latin typeface="Times New Roman" panose="02020603050405020304" pitchFamily="18" charset="0"/>
              </a:rPr>
              <a:t>(234165)</a:t>
            </a:r>
            <a:r>
              <a:rPr lang="en-US" altLang="zh-CN" i="1">
                <a:latin typeface="Times New Roman" panose="02020603050405020304" pitchFamily="18" charset="0"/>
              </a:rPr>
              <a:t>         </a:t>
            </a:r>
            <a:endParaRPr lang="en-US" altLang="zh-CN" i="1">
              <a:latin typeface="Times New Roman" panose="02020603050405020304" pitchFamily="18" charset="0"/>
            </a:endParaRPr>
          </a:p>
        </p:txBody>
      </p:sp>
      <p:sp>
        <p:nvSpPr>
          <p:cNvPr id="98307" name="矩形 98306"/>
          <p:cNvSpPr/>
          <p:nvPr/>
        </p:nvSpPr>
        <p:spPr>
          <a:xfrm>
            <a:off x="358775" y="2225040"/>
            <a:ext cx="8456930" cy="1718945"/>
          </a:xfrm>
          <a:prstGeom prst="rect">
            <a:avLst/>
          </a:prstGeom>
          <a:noFill/>
          <a:ln w="9525">
            <a:noFill/>
          </a:ln>
        </p:spPr>
        <p:txBody>
          <a:bodyPr>
            <a:noAutofit/>
          </a:bodyPr>
          <a:p>
            <a:pPr>
              <a:lnSpc>
                <a:spcPct val="150000"/>
              </a:lnSpc>
            </a:pPr>
            <a:r>
              <a:rPr lang="en-US" altLang="zh-CN">
                <a:latin typeface="Times New Roman" panose="02020603050405020304" pitchFamily="18" charset="0"/>
              </a:rPr>
              <a:t>     =(2+2+0+1+1)+(1+1+1+0+1)= 6+4 = 10 (</a:t>
            </a:r>
            <a:r>
              <a:rPr lang="zh-CN" altLang="en-US" dirty="0">
                <a:latin typeface="Times New Roman" panose="02020603050405020304" pitchFamily="18" charset="0"/>
              </a:rPr>
              <a:t>偶数</a:t>
            </a:r>
            <a:r>
              <a:rPr lang="en-US" altLang="zh-CN">
                <a:latin typeface="Times New Roman" panose="02020603050405020304" pitchFamily="18" charset="0"/>
              </a:rPr>
              <a:t>)</a:t>
            </a:r>
            <a:endParaRPr lang="en-US" altLang="zh-CN">
              <a:latin typeface="Times New Roman" panose="02020603050405020304" pitchFamily="18" charset="0"/>
            </a:endParaRPr>
          </a:p>
          <a:p>
            <a:pPr>
              <a:lnSpc>
                <a:spcPct val="150000"/>
              </a:lnSpc>
            </a:pPr>
            <a:r>
              <a:rPr lang="zh-CN" altLang="en-US" dirty="0">
                <a:latin typeface="Times New Roman" panose="02020603050405020304" pitchFamily="18" charset="0"/>
              </a:rPr>
              <a:t>所以 </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32</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43</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14</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51</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66</a:t>
            </a:r>
            <a:r>
              <a:rPr lang="en-US" altLang="zh-CN" i="1">
                <a:solidFill>
                  <a:srgbClr val="FF0000"/>
                </a:solidFill>
                <a:latin typeface="Times New Roman" panose="02020603050405020304" pitchFamily="18" charset="0"/>
              </a:rPr>
              <a:t>a</a:t>
            </a:r>
            <a:r>
              <a:rPr lang="en-US" altLang="zh-CN" baseline="-25000">
                <a:solidFill>
                  <a:srgbClr val="FF0000"/>
                </a:solidFill>
                <a:latin typeface="Times New Roman" panose="02020603050405020304" pitchFamily="18" charset="0"/>
              </a:rPr>
              <a:t>25</a:t>
            </a:r>
            <a:r>
              <a:rPr lang="zh-CN" altLang="en-US" dirty="0">
                <a:latin typeface="Times New Roman" panose="02020603050405020304" pitchFamily="18" charset="0"/>
              </a:rPr>
              <a:t>的前边应带正号</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98306">
                                            <p:txEl>
                                              <p:charRg st="0" end="43"/>
                                            </p:txEl>
                                          </p:spTgt>
                                        </p:tgtEl>
                                        <p:attrNameLst>
                                          <p:attrName>style.visibility</p:attrName>
                                        </p:attrNameLst>
                                      </p:cBhvr>
                                      <p:to>
                                        <p:strVal val="visible"/>
                                      </p:to>
                                    </p:set>
                                    <p:animEffect transition="in" filter="box(out)">
                                      <p:cBhvr>
                                        <p:cTn id="7" dur="500"/>
                                        <p:tgtEl>
                                          <p:spTgt spid="98306">
                                            <p:txEl>
                                              <p:charRg st="0" end="43"/>
                                            </p:txEl>
                                          </p:spTgt>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98306">
                                            <p:txEl>
                                              <p:charRg st="43" end="83"/>
                                            </p:txEl>
                                          </p:spTgt>
                                        </p:tgtEl>
                                        <p:attrNameLst>
                                          <p:attrName>style.visibility</p:attrName>
                                        </p:attrNameLst>
                                      </p:cBhvr>
                                      <p:to>
                                        <p:strVal val="visible"/>
                                      </p:to>
                                    </p:set>
                                    <p:animEffect transition="in" filter="box(out)">
                                      <p:cBhvr>
                                        <p:cTn id="11" dur="500"/>
                                        <p:tgtEl>
                                          <p:spTgt spid="98306">
                                            <p:txEl>
                                              <p:charRg st="43" end="8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98307">
                                            <p:txEl>
                                              <p:charRg st="0" end="49"/>
                                            </p:txEl>
                                          </p:spTgt>
                                        </p:tgtEl>
                                        <p:attrNameLst>
                                          <p:attrName>style.visibility</p:attrName>
                                        </p:attrNameLst>
                                      </p:cBhvr>
                                      <p:to>
                                        <p:strVal val="visible"/>
                                      </p:to>
                                    </p:set>
                                    <p:animEffect transition="in" filter="box(out)">
                                      <p:cBhvr>
                                        <p:cTn id="16" dur="500"/>
                                        <p:tgtEl>
                                          <p:spTgt spid="98307">
                                            <p:txEl>
                                              <p:charRg st="0" end="4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98307">
                                            <p:txEl>
                                              <p:charRg st="49" end="79"/>
                                            </p:txEl>
                                          </p:spTgt>
                                        </p:tgtEl>
                                        <p:attrNameLst>
                                          <p:attrName>style.visibility</p:attrName>
                                        </p:attrNameLst>
                                      </p:cBhvr>
                                      <p:to>
                                        <p:strVal val="visible"/>
                                      </p:to>
                                    </p:set>
                                    <p:animEffect transition="in" filter="box(out)">
                                      <p:cBhvr>
                                        <p:cTn id="21" dur="500"/>
                                        <p:tgtEl>
                                          <p:spTgt spid="98307">
                                            <p:txEl>
                                              <p:charRg st="49" end="7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dvAuto="1000" build="p"/>
      <p:bldP spid="98307"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文本框 19"/>
          <p:cNvSpPr txBox="1"/>
          <p:nvPr/>
        </p:nvSpPr>
        <p:spPr>
          <a:xfrm>
            <a:off x="755650" y="476250"/>
            <a:ext cx="4229100" cy="521970"/>
          </a:xfrm>
          <a:prstGeom prst="rect">
            <a:avLst/>
          </a:prstGeom>
          <a:noFill/>
          <a:ln w="9525">
            <a:noFill/>
          </a:ln>
        </p:spPr>
        <p:txBody>
          <a:bodyPr wrap="square" anchor="t" anchorCtr="0">
            <a:spAutoFit/>
          </a:bodyPr>
          <a:p>
            <a:r>
              <a:rPr lang="zh-CN" altLang="en-US">
                <a:solidFill>
                  <a:srgbClr val="FF0000"/>
                </a:solidFill>
                <a:latin typeface="Times New Roman" panose="02020603050405020304" pitchFamily="18" charset="0"/>
                <a:ea typeface="黑体" panose="02010609060101010101" pitchFamily="2" charset="-122"/>
              </a:rPr>
              <a:t>例</a:t>
            </a:r>
            <a:r>
              <a:rPr lang="en-US" altLang="zh-CN">
                <a:solidFill>
                  <a:srgbClr val="FF0000"/>
                </a:solidFill>
                <a:latin typeface="Times New Roman" panose="02020603050405020304" pitchFamily="18" charset="0"/>
                <a:ea typeface="黑体" panose="02010609060101010101" pitchFamily="2" charset="-122"/>
              </a:rPr>
              <a:t>1.1.6</a:t>
            </a:r>
            <a:r>
              <a:rPr lang="en-US" altLang="zh-CN">
                <a:latin typeface="Times New Roman" panose="02020603050405020304" pitchFamily="18" charset="0"/>
              </a:rPr>
              <a:t> </a:t>
            </a:r>
            <a:r>
              <a:rPr lang="zh-CN" altLang="en-US" dirty="0">
                <a:latin typeface="Times New Roman" panose="02020603050405020304" pitchFamily="18" charset="0"/>
              </a:rPr>
              <a:t>计算</a:t>
            </a:r>
            <a:r>
              <a:rPr lang="en-US" altLang="zh-CN">
                <a:latin typeface="Times New Roman" panose="02020603050405020304" pitchFamily="18" charset="0"/>
              </a:rPr>
              <a:t>4</a:t>
            </a:r>
            <a:r>
              <a:rPr lang="zh-CN" altLang="en-US">
                <a:latin typeface="Times New Roman" panose="02020603050405020304" pitchFamily="18" charset="0"/>
              </a:rPr>
              <a:t>阶行列式</a:t>
            </a:r>
            <a:r>
              <a:rPr lang="en-US" altLang="zh-CN">
                <a:latin typeface="Times New Roman" panose="02020603050405020304" pitchFamily="18" charset="0"/>
              </a:rPr>
              <a:t> D=</a:t>
            </a:r>
            <a:endParaRPr lang="en-US" altLang="zh-CN">
              <a:latin typeface="Times New Roman" panose="02020603050405020304" pitchFamily="18" charset="0"/>
            </a:endParaRPr>
          </a:p>
        </p:txBody>
      </p:sp>
      <p:sp>
        <p:nvSpPr>
          <p:cNvPr id="21" name="文本框 20"/>
          <p:cNvSpPr txBox="1"/>
          <p:nvPr/>
        </p:nvSpPr>
        <p:spPr>
          <a:xfrm>
            <a:off x="504825" y="1772920"/>
            <a:ext cx="8322945" cy="2460625"/>
          </a:xfrm>
          <a:prstGeom prst="rect">
            <a:avLst/>
          </a:prstGeom>
          <a:noFill/>
          <a:ln w="9525">
            <a:noFill/>
          </a:ln>
        </p:spPr>
        <p:txBody>
          <a:bodyPr wrap="square" anchor="t" anchorCtr="0">
            <a:spAutoFit/>
          </a:bodyPr>
          <a:p>
            <a:pPr>
              <a:lnSpc>
                <a:spcPct val="110000"/>
              </a:lnSpc>
            </a:pPr>
            <a:r>
              <a:rPr lang="en-US" altLang="zh-CN" dirty="0">
                <a:solidFill>
                  <a:srgbClr val="3333FF"/>
                </a:solidFill>
                <a:latin typeface="Times New Roman" panose="02020603050405020304" pitchFamily="18" charset="0"/>
                <a:ea typeface="黑体" panose="02010609060101010101" pitchFamily="2" charset="-122"/>
              </a:rPr>
              <a:t>     </a:t>
            </a:r>
            <a:r>
              <a:rPr lang="zh-CN" altLang="en-US" dirty="0">
                <a:solidFill>
                  <a:srgbClr val="3333FF"/>
                </a:solidFill>
                <a:latin typeface="Times New Roman" panose="02020603050405020304" pitchFamily="18" charset="0"/>
                <a:ea typeface="黑体" panose="02010609060101010101" pitchFamily="2" charset="-122"/>
              </a:rPr>
              <a:t>解</a:t>
            </a:r>
            <a:r>
              <a:rPr lang="en-US" altLang="zh-CN">
                <a:solidFill>
                  <a:srgbClr val="3333FF"/>
                </a:solidFill>
                <a:latin typeface="Times New Roman" panose="02020603050405020304" pitchFamily="18" charset="0"/>
                <a:ea typeface="黑体" panose="02010609060101010101" pitchFamily="2" charset="-122"/>
              </a:rPr>
              <a:t>:</a:t>
            </a:r>
            <a:r>
              <a:rPr lang="zh-CN" altLang="en-US">
                <a:solidFill>
                  <a:srgbClr val="3333FF"/>
                </a:solidFill>
                <a:latin typeface="Times New Roman" panose="02020603050405020304" pitchFamily="18" charset="0"/>
                <a:ea typeface="黑体" panose="02010609060101010101" pitchFamily="2" charset="-122"/>
              </a:rPr>
              <a:t>法</a:t>
            </a:r>
            <a:r>
              <a:rPr lang="en-US" altLang="zh-CN">
                <a:latin typeface="Times New Roman" panose="02020603050405020304" pitchFamily="18" charset="0"/>
                <a:ea typeface="黑体" panose="02010609060101010101" pitchFamily="2" charset="-122"/>
              </a:rPr>
              <a:t> </a:t>
            </a:r>
            <a:r>
              <a:rPr lang="en-US" altLang="zh-CN">
                <a:latin typeface="Times New Roman" panose="02020603050405020304" pitchFamily="18" charset="0"/>
              </a:rPr>
              <a:t>(</a:t>
            </a:r>
            <a:r>
              <a:rPr lang="en-US" altLang="zh-CN">
                <a:latin typeface="Times New Roman" panose="02020603050405020304" pitchFamily="18" charset="0"/>
              </a:rPr>
              <a:t>1)</a:t>
            </a:r>
            <a:r>
              <a:rPr lang="zh-CN" altLang="en-US">
                <a:latin typeface="Times New Roman" panose="02020603050405020304" pitchFamily="18" charset="0"/>
              </a:rPr>
              <a:t>据行列式的定义，</a:t>
            </a:r>
            <a:r>
              <a:rPr lang="en-US" altLang="zh-CN">
                <a:latin typeface="Times New Roman" panose="02020603050405020304" pitchFamily="18" charset="0"/>
              </a:rPr>
              <a:t>D</a:t>
            </a:r>
            <a:r>
              <a:rPr lang="zh-CN" altLang="en-US">
                <a:latin typeface="Times New Roman" panose="02020603050405020304" pitchFamily="18" charset="0"/>
              </a:rPr>
              <a:t>是</a:t>
            </a:r>
            <a:r>
              <a:rPr lang="en-US" altLang="zh-CN">
                <a:sym typeface="+mn-ea"/>
              </a:rPr>
              <a:t>4!</a:t>
            </a:r>
            <a:r>
              <a:rPr lang="zh-CN" altLang="en-US">
                <a:latin typeface="Times New Roman" panose="02020603050405020304" pitchFamily="18" charset="0"/>
              </a:rPr>
              <a:t>项的代数和，然而在这个代数和中取自</a:t>
            </a:r>
            <a:r>
              <a:rPr lang="zh-CN" altLang="en-US" dirty="0">
                <a:solidFill>
                  <a:srgbClr val="3333FF"/>
                </a:solidFill>
                <a:latin typeface="Times New Roman" panose="02020603050405020304" pitchFamily="18" charset="0"/>
                <a:ea typeface="黑体" panose="02010609060101010101" pitchFamily="2" charset="-122"/>
              </a:rPr>
              <a:t>不同行不同列</a:t>
            </a:r>
            <a:r>
              <a:rPr lang="zh-CN" altLang="en-US">
                <a:latin typeface="Times New Roman" panose="02020603050405020304" pitchFamily="18" charset="0"/>
              </a:rPr>
              <a:t>的非零乘积项只有</a:t>
            </a:r>
            <a:r>
              <a:rPr lang="en-US" altLang="zh-CN">
                <a:latin typeface="Times New Roman" panose="02020603050405020304" pitchFamily="18" charset="0"/>
              </a:rPr>
              <a:t>                               </a:t>
            </a:r>
            <a:r>
              <a:rPr lang="zh-CN" altLang="en-US">
                <a:latin typeface="Times New Roman" panose="02020603050405020304" pitchFamily="18" charset="0"/>
              </a:rPr>
              <a:t>，这个非零乘积项</a:t>
            </a:r>
            <a:r>
              <a:rPr lang="en-US" altLang="zh-CN" i="1">
                <a:solidFill>
                  <a:srgbClr val="FF0000"/>
                </a:solidFill>
                <a:sym typeface="+mn-ea"/>
              </a:rPr>
              <a:t>a</a:t>
            </a:r>
            <a:r>
              <a:rPr lang="en-US" altLang="zh-CN" baseline="-25000">
                <a:solidFill>
                  <a:srgbClr val="FF0000"/>
                </a:solidFill>
                <a:sym typeface="+mn-ea"/>
              </a:rPr>
              <a:t>31</a:t>
            </a:r>
            <a:r>
              <a:rPr lang="en-US" altLang="zh-CN" i="1">
                <a:solidFill>
                  <a:srgbClr val="FF0000"/>
                </a:solidFill>
                <a:sym typeface="+mn-ea"/>
              </a:rPr>
              <a:t>a</a:t>
            </a:r>
            <a:r>
              <a:rPr lang="en-US" altLang="zh-CN" baseline="-25000">
                <a:solidFill>
                  <a:srgbClr val="FF0000"/>
                </a:solidFill>
                <a:sym typeface="+mn-ea"/>
              </a:rPr>
              <a:t>22</a:t>
            </a:r>
            <a:r>
              <a:rPr lang="en-US" altLang="zh-CN" i="1">
                <a:solidFill>
                  <a:srgbClr val="FF0000"/>
                </a:solidFill>
                <a:sym typeface="+mn-ea"/>
              </a:rPr>
              <a:t>a</a:t>
            </a:r>
            <a:r>
              <a:rPr lang="en-US" altLang="zh-CN" baseline="-25000">
                <a:solidFill>
                  <a:srgbClr val="FF0000"/>
                </a:solidFill>
                <a:sym typeface="+mn-ea"/>
              </a:rPr>
              <a:t>13</a:t>
            </a:r>
            <a:r>
              <a:rPr lang="en-US" altLang="zh-CN" i="1">
                <a:solidFill>
                  <a:srgbClr val="FF0000"/>
                </a:solidFill>
                <a:sym typeface="+mn-ea"/>
              </a:rPr>
              <a:t>a</a:t>
            </a:r>
            <a:r>
              <a:rPr lang="en-US" altLang="zh-CN" baseline="-25000">
                <a:solidFill>
                  <a:srgbClr val="FF0000"/>
                </a:solidFill>
                <a:sym typeface="+mn-ea"/>
              </a:rPr>
              <a:t>44</a:t>
            </a:r>
            <a:r>
              <a:rPr lang="zh-CN" altLang="en-US">
                <a:latin typeface="Times New Roman" panose="02020603050405020304" pitchFamily="18" charset="0"/>
              </a:rPr>
              <a:t>的元素所在位置的</a:t>
            </a:r>
            <a:r>
              <a:rPr lang="zh-CN" altLang="en-US" dirty="0">
                <a:solidFill>
                  <a:srgbClr val="3333FF"/>
                </a:solidFill>
                <a:latin typeface="Times New Roman" panose="02020603050405020304" pitchFamily="18" charset="0"/>
                <a:ea typeface="黑体" panose="02010609060101010101" pitchFamily="2" charset="-122"/>
              </a:rPr>
              <a:t>行标和列标排列的逆序数之和</a:t>
            </a:r>
            <a:r>
              <a:rPr lang="zh-CN" altLang="en-US">
                <a:latin typeface="Times New Roman" panose="02020603050405020304" pitchFamily="18" charset="0"/>
              </a:rPr>
              <a:t>为</a:t>
            </a:r>
            <a:r>
              <a:rPr lang="en-US" altLang="zh-CN">
                <a:latin typeface="Times New Roman" panose="02020603050405020304" pitchFamily="18" charset="0"/>
              </a:rPr>
              <a:t>                                   </a:t>
            </a:r>
            <a:endParaRPr lang="zh-CN" altLang="en-US">
              <a:latin typeface="Times New Roman" panose="02020603050405020304" pitchFamily="18" charset="0"/>
            </a:endParaRPr>
          </a:p>
          <a:p>
            <a:pPr>
              <a:lnSpc>
                <a:spcPct val="110000"/>
              </a:lnSpc>
            </a:pPr>
            <a:r>
              <a:rPr lang="en-US" altLang="zh-CN">
                <a:latin typeface="Times New Roman" panose="02020603050405020304" pitchFamily="18" charset="0"/>
              </a:rPr>
              <a:t>                                                         </a:t>
            </a:r>
            <a:r>
              <a:rPr lang="zh-CN" altLang="en-US">
                <a:latin typeface="Times New Roman" panose="02020603050405020304" pitchFamily="18" charset="0"/>
              </a:rPr>
              <a:t>所以行列式的值</a:t>
            </a:r>
            <a:r>
              <a:rPr lang="en-US" altLang="zh-CN">
                <a:latin typeface="Times New Roman" panose="02020603050405020304" pitchFamily="18" charset="0"/>
              </a:rPr>
              <a:t>            </a:t>
            </a:r>
            <a:r>
              <a:rPr lang="en-US" altLang="zh-CN">
                <a:sym typeface="+mn-ea"/>
              </a:rPr>
              <a:t>                                                           </a:t>
            </a:r>
            <a:endParaRPr lang="en-US" altLang="zh-CN">
              <a:latin typeface="Times New Roman" panose="02020603050405020304" pitchFamily="18" charset="0"/>
            </a:endParaRPr>
          </a:p>
        </p:txBody>
      </p:sp>
      <p:sp>
        <p:nvSpPr>
          <p:cNvPr id="22" name="文本框 21"/>
          <p:cNvSpPr txBox="1"/>
          <p:nvPr/>
        </p:nvSpPr>
        <p:spPr>
          <a:xfrm>
            <a:off x="358775" y="5043488"/>
            <a:ext cx="541338" cy="519112"/>
          </a:xfrm>
          <a:prstGeom prst="rect">
            <a:avLst/>
          </a:prstGeom>
          <a:noFill/>
          <a:ln w="9525">
            <a:noFill/>
          </a:ln>
        </p:spPr>
        <p:txBody>
          <a:bodyPr wrap="none" anchor="t" anchorCtr="0">
            <a:spAutoFit/>
          </a:bodyPr>
          <a:p>
            <a:r>
              <a:rPr lang="zh-CN" altLang="en-US" dirty="0">
                <a:latin typeface="Times New Roman" panose="02020603050405020304" pitchFamily="18" charset="0"/>
              </a:rPr>
              <a:t>即</a:t>
            </a:r>
            <a:endParaRPr lang="zh-CN" altLang="en-US" dirty="0">
              <a:latin typeface="Times New Roman" panose="02020603050405020304" pitchFamily="18" charset="0"/>
            </a:endParaRPr>
          </a:p>
        </p:txBody>
      </p:sp>
      <p:graphicFrame>
        <p:nvGraphicFramePr>
          <p:cNvPr id="23" name="对象 -2147482458"/>
          <p:cNvGraphicFramePr>
            <a:graphicFrameLocks noChangeAspect="1"/>
          </p:cNvGraphicFramePr>
          <p:nvPr/>
        </p:nvGraphicFramePr>
        <p:xfrm>
          <a:off x="4935220" y="47625"/>
          <a:ext cx="2506980" cy="1842135"/>
        </p:xfrm>
        <a:graphic>
          <a:graphicData uri="http://schemas.openxmlformats.org/presentationml/2006/ole">
            <mc:AlternateContent xmlns:mc="http://schemas.openxmlformats.org/markup-compatibility/2006">
              <mc:Choice xmlns:v="urn:schemas-microsoft-com:vml" Requires="v">
                <p:oleObj spid="_x0000_s24" name="" r:id="rId1" imgW="901700" imgH="914400" progId="Equation.DSMT4">
                  <p:embed/>
                </p:oleObj>
              </mc:Choice>
              <mc:Fallback>
                <p:oleObj name="" r:id="rId1" imgW="901700" imgH="914400" progId="Equation.DSMT4">
                  <p:embed/>
                  <p:pic>
                    <p:nvPicPr>
                      <p:cNvPr id="0" name="图片 3075"/>
                      <p:cNvPicPr/>
                      <p:nvPr/>
                    </p:nvPicPr>
                    <p:blipFill>
                      <a:blip r:embed="rId2"/>
                      <a:stretch>
                        <a:fillRect/>
                      </a:stretch>
                    </p:blipFill>
                    <p:spPr>
                      <a:xfrm>
                        <a:off x="4935220" y="47625"/>
                        <a:ext cx="2506980" cy="1842135"/>
                      </a:xfrm>
                      <a:prstGeom prst="rect">
                        <a:avLst/>
                      </a:prstGeom>
                      <a:noFill/>
                      <a:ln w="38100">
                        <a:noFill/>
                        <a:miter/>
                      </a:ln>
                    </p:spPr>
                  </p:pic>
                </p:oleObj>
              </mc:Fallback>
            </mc:AlternateContent>
          </a:graphicData>
        </a:graphic>
      </p:graphicFrame>
      <p:graphicFrame>
        <p:nvGraphicFramePr>
          <p:cNvPr id="25" name="对象 -2147482454"/>
          <p:cNvGraphicFramePr>
            <a:graphicFrameLocks noChangeAspect="1"/>
          </p:cNvGraphicFramePr>
          <p:nvPr/>
        </p:nvGraphicFramePr>
        <p:xfrm>
          <a:off x="640080" y="3676650"/>
          <a:ext cx="4797425" cy="592455"/>
        </p:xfrm>
        <a:graphic>
          <a:graphicData uri="http://schemas.openxmlformats.org/presentationml/2006/ole">
            <mc:AlternateContent xmlns:mc="http://schemas.openxmlformats.org/markup-compatibility/2006">
              <mc:Choice xmlns:v="urn:schemas-microsoft-com:vml" Requires="v">
                <p:oleObj spid="_x0000_s26" name="" r:id="rId3" imgW="5211445" imgH="546735" progId="Equation.DSMT4">
                  <p:embed/>
                </p:oleObj>
              </mc:Choice>
              <mc:Fallback>
                <p:oleObj name="" r:id="rId3" imgW="5211445" imgH="546735" progId="Equation.DSMT4">
                  <p:embed/>
                  <p:pic>
                    <p:nvPicPr>
                      <p:cNvPr id="0" name="图片 3"/>
                      <p:cNvPicPr/>
                      <p:nvPr/>
                    </p:nvPicPr>
                    <p:blipFill>
                      <a:blip r:embed="rId4"/>
                      <a:stretch>
                        <a:fillRect/>
                      </a:stretch>
                    </p:blipFill>
                    <p:spPr>
                      <a:xfrm>
                        <a:off x="640080" y="3676650"/>
                        <a:ext cx="4797425" cy="592455"/>
                      </a:xfrm>
                      <a:prstGeom prst="rect">
                        <a:avLst/>
                      </a:prstGeom>
                      <a:noFill/>
                      <a:ln w="38100">
                        <a:noFill/>
                        <a:miter/>
                      </a:ln>
                    </p:spPr>
                  </p:pic>
                </p:oleObj>
              </mc:Fallback>
            </mc:AlternateContent>
          </a:graphicData>
        </a:graphic>
      </p:graphicFrame>
      <p:graphicFrame>
        <p:nvGraphicFramePr>
          <p:cNvPr id="27" name="对象 -2147482453"/>
          <p:cNvGraphicFramePr>
            <a:graphicFrameLocks noChangeAspect="1"/>
          </p:cNvGraphicFramePr>
          <p:nvPr/>
        </p:nvGraphicFramePr>
        <p:xfrm>
          <a:off x="1261110" y="4166235"/>
          <a:ext cx="6396355" cy="652145"/>
        </p:xfrm>
        <a:graphic>
          <a:graphicData uri="http://schemas.openxmlformats.org/presentationml/2006/ole">
            <mc:AlternateContent xmlns:mc="http://schemas.openxmlformats.org/markup-compatibility/2006">
              <mc:Choice xmlns:v="urn:schemas-microsoft-com:vml" Requires="v">
                <p:oleObj spid="_x0000_s28" name="" r:id="rId5" imgW="6215380" imgH="623570" progId="Equation.DSMT4">
                  <p:embed/>
                </p:oleObj>
              </mc:Choice>
              <mc:Fallback>
                <p:oleObj name="" r:id="rId5" imgW="6215380" imgH="623570" progId="Equation.DSMT4">
                  <p:embed/>
                  <p:pic>
                    <p:nvPicPr>
                      <p:cNvPr id="0" name="图片 4"/>
                      <p:cNvPicPr/>
                      <p:nvPr/>
                    </p:nvPicPr>
                    <p:blipFill>
                      <a:blip r:embed="rId6"/>
                      <a:stretch>
                        <a:fillRect/>
                      </a:stretch>
                    </p:blipFill>
                    <p:spPr>
                      <a:xfrm>
                        <a:off x="1261110" y="4166235"/>
                        <a:ext cx="6396355" cy="652145"/>
                      </a:xfrm>
                      <a:prstGeom prst="rect">
                        <a:avLst/>
                      </a:prstGeom>
                      <a:noFill/>
                      <a:ln w="38100">
                        <a:noFill/>
                        <a:miter/>
                      </a:ln>
                    </p:spPr>
                  </p:pic>
                </p:oleObj>
              </mc:Fallback>
            </mc:AlternateContent>
          </a:graphicData>
        </a:graphic>
      </p:graphicFrame>
      <p:graphicFrame>
        <p:nvGraphicFramePr>
          <p:cNvPr id="29" name="对象 -2147482458"/>
          <p:cNvGraphicFramePr>
            <a:graphicFrameLocks noChangeAspect="1"/>
          </p:cNvGraphicFramePr>
          <p:nvPr/>
        </p:nvGraphicFramePr>
        <p:xfrm>
          <a:off x="1093470" y="4773295"/>
          <a:ext cx="7110730" cy="1936115"/>
        </p:xfrm>
        <a:graphic>
          <a:graphicData uri="http://schemas.openxmlformats.org/presentationml/2006/ole">
            <mc:AlternateContent xmlns:mc="http://schemas.openxmlformats.org/markup-compatibility/2006">
              <mc:Choice xmlns:v="urn:schemas-microsoft-com:vml" Requires="v">
                <p:oleObj spid="_x0000_s30" name="" r:id="rId7" imgW="2895600" imgH="914400" progId="Equation.DSMT4">
                  <p:embed/>
                </p:oleObj>
              </mc:Choice>
              <mc:Fallback>
                <p:oleObj name="" r:id="rId7" imgW="2895600" imgH="914400" progId="Equation.DSMT4">
                  <p:embed/>
                  <p:pic>
                    <p:nvPicPr>
                      <p:cNvPr id="0" name="图片 3075"/>
                      <p:cNvPicPr/>
                      <p:nvPr/>
                    </p:nvPicPr>
                    <p:blipFill>
                      <a:blip r:embed="rId8"/>
                      <a:stretch>
                        <a:fillRect/>
                      </a:stretch>
                    </p:blipFill>
                    <p:spPr>
                      <a:xfrm>
                        <a:off x="1093470" y="4773295"/>
                        <a:ext cx="7110730" cy="1936115"/>
                      </a:xfrm>
                      <a:prstGeom prst="rect">
                        <a:avLst/>
                      </a:prstGeom>
                      <a:noFill/>
                      <a:ln w="38100">
                        <a:noFill/>
                        <a:miter/>
                      </a:ln>
                    </p:spPr>
                  </p:pic>
                </p:oleObj>
              </mc:Fallback>
            </mc:AlternateContent>
          </a:graphicData>
        </a:graphic>
      </p:graphicFrame>
      <p:graphicFrame>
        <p:nvGraphicFramePr>
          <p:cNvPr id="31" name="对象 -2147482455"/>
          <p:cNvGraphicFramePr>
            <a:graphicFrameLocks noChangeAspect="1"/>
          </p:cNvGraphicFramePr>
          <p:nvPr/>
        </p:nvGraphicFramePr>
        <p:xfrm>
          <a:off x="1359535" y="2705100"/>
          <a:ext cx="2630170" cy="596900"/>
        </p:xfrm>
        <a:graphic>
          <a:graphicData uri="http://schemas.openxmlformats.org/presentationml/2006/ole">
            <mc:AlternateContent xmlns:mc="http://schemas.openxmlformats.org/markup-compatibility/2006">
              <mc:Choice xmlns:v="urn:schemas-microsoft-com:vml" Requires="v">
                <p:oleObj spid="_x0000_s32" name="" r:id="rId9" imgW="1155700" imgH="177165" progId="Equation.DSMT4">
                  <p:embed/>
                </p:oleObj>
              </mc:Choice>
              <mc:Fallback>
                <p:oleObj name="" r:id="rId9" imgW="1155700" imgH="177165" progId="Equation.DSMT4">
                  <p:embed/>
                  <p:pic>
                    <p:nvPicPr>
                      <p:cNvPr id="0" name="图片 2"/>
                      <p:cNvPicPr/>
                      <p:nvPr/>
                    </p:nvPicPr>
                    <p:blipFill>
                      <a:blip r:embed="rId10"/>
                      <a:stretch>
                        <a:fillRect/>
                      </a:stretch>
                    </p:blipFill>
                    <p:spPr>
                      <a:xfrm>
                        <a:off x="1359535" y="2705100"/>
                        <a:ext cx="2630170" cy="596900"/>
                      </a:xfrm>
                      <a:prstGeom prst="rect">
                        <a:avLst/>
                      </a:prstGeom>
                      <a:noFill/>
                      <a:ln w="38100">
                        <a:noFill/>
                        <a:miter/>
                      </a:ln>
                    </p:spPr>
                  </p:pic>
                </p:oleObj>
              </mc:Fallback>
            </mc:AlternateContent>
          </a:graphicData>
        </a:graphic>
      </p:graphicFrame>
      <p:sp>
        <p:nvSpPr>
          <p:cNvPr id="33" name="文本框 32"/>
          <p:cNvSpPr txBox="1"/>
          <p:nvPr/>
        </p:nvSpPr>
        <p:spPr>
          <a:xfrm>
            <a:off x="4740910" y="1109345"/>
            <a:ext cx="3048000" cy="521970"/>
          </a:xfrm>
          <a:prstGeom prst="rect">
            <a:avLst/>
          </a:prstGeom>
          <a:noFill/>
        </p:spPr>
        <p:txBody>
          <a:bodyPr wrap="square" rtlCol="0">
            <a:spAutoFit/>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
                                            <p:txEl>
                                              <p:charRg st="0" end="12"/>
                                            </p:txEl>
                                          </p:spTgt>
                                        </p:tgtEl>
                                        <p:attrNameLst>
                                          <p:attrName>style.visibility</p:attrName>
                                        </p:attrNameLst>
                                      </p:cBhvr>
                                      <p:to>
                                        <p:strVal val="visible"/>
                                      </p:to>
                                    </p:set>
                                    <p:animEffect transition="in" filter="box(out)">
                                      <p:cBhvr>
                                        <p:cTn id="7" dur="500"/>
                                        <p:tgtEl>
                                          <p:spTgt spid="20">
                                            <p:txEl>
                                              <p:charRg st="0" end="1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down)">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21">
                                            <p:txEl>
                                              <p:charRg st="0" end="7"/>
                                            </p:txEl>
                                          </p:spTgt>
                                        </p:tgtEl>
                                        <p:attrNameLst>
                                          <p:attrName>style.visibility</p:attrName>
                                        </p:attrNameLst>
                                      </p:cBhvr>
                                      <p:to>
                                        <p:strVal val="visible"/>
                                      </p:to>
                                    </p:set>
                                    <p:animEffect transition="in" filter="box(out)">
                                      <p:cBhvr>
                                        <p:cTn id="15" dur="500"/>
                                        <p:tgtEl>
                                          <p:spTgt spid="21">
                                            <p:txEl>
                                              <p:charRg st="0" end="7"/>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blinds(horizontal)">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blinds(horizontal)">
                                      <p:cBhvr>
                                        <p:cTn id="23" dur="500"/>
                                        <p:tgtEl>
                                          <p:spTgt spid="2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1">
                                            <p:txEl>
                                              <p:pRg st="1" end="1"/>
                                            </p:txEl>
                                          </p:spTgt>
                                        </p:tgtEl>
                                        <p:attrNameLst>
                                          <p:attrName>style.visibility</p:attrName>
                                        </p:attrNameLst>
                                      </p:cBhvr>
                                      <p:to>
                                        <p:strVal val="visible"/>
                                      </p:to>
                                    </p:set>
                                    <p:animEffect transition="in" filter="wipe(down)">
                                      <p:cBhvr>
                                        <p:cTn id="28" dur="500"/>
                                        <p:tgtEl>
                                          <p:spTgt spid="21">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down)">
                                      <p:cBhvr>
                                        <p:cTn id="33" dur="500"/>
                                        <p:tgtEl>
                                          <p:spTgt spid="29"/>
                                        </p:tgtEl>
                                      </p:cBhvr>
                                    </p:animEffect>
                                  </p:childTnLst>
                                </p:cTn>
                              </p:par>
                              <p:par>
                                <p:cTn id="34" presetID="22" presetClass="entr" presetSubtype="4"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wipe(down)">
                                      <p:cBhvr>
                                        <p:cTn id="36" dur="500"/>
                                        <p:tgtEl>
                                          <p:spTgt spid="27"/>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grpId="0" nodeType="clickEffect">
                                  <p:stCondLst>
                                    <p:cond delay="0"/>
                                  </p:stCondLst>
                                  <p:childTnLst>
                                    <p:set>
                                      <p:cBhvr>
                                        <p:cTn id="40" dur="1" fill="hold">
                                          <p:stCondLst>
                                            <p:cond delay="0"/>
                                          </p:stCondLst>
                                        </p:cTn>
                                        <p:tgtEl>
                                          <p:spTgt spid="22">
                                            <p:txEl>
                                              <p:charRg st="0" end="2"/>
                                            </p:txEl>
                                          </p:spTgt>
                                        </p:tgtEl>
                                        <p:attrNameLst>
                                          <p:attrName>style.visibility</p:attrName>
                                        </p:attrNameLst>
                                      </p:cBhvr>
                                      <p:to>
                                        <p:strVal val="visible"/>
                                      </p:to>
                                    </p:set>
                                    <p:animEffect transition="in" filter="box(out)">
                                      <p:cBhvr>
                                        <p:cTn id="41" dur="500"/>
                                        <p:tgtEl>
                                          <p:spTgt spid="22">
                                            <p:txEl>
                                              <p:charRg st="0"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P spid="21" grpId="0" build="p"/>
      <p:bldP spid="2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3" name="文本框 76802"/>
          <p:cNvSpPr txBox="1"/>
          <p:nvPr/>
        </p:nvSpPr>
        <p:spPr>
          <a:xfrm>
            <a:off x="827405" y="476250"/>
            <a:ext cx="3663315" cy="521970"/>
          </a:xfrm>
          <a:prstGeom prst="rect">
            <a:avLst/>
          </a:prstGeom>
          <a:noFill/>
          <a:ln w="9525">
            <a:noFill/>
          </a:ln>
        </p:spPr>
        <p:txBody>
          <a:bodyPr wrap="none" anchor="t" anchorCtr="0">
            <a:spAutoFit/>
          </a:bodyPr>
          <a:p>
            <a:r>
              <a:rPr lang="zh-CN" altLang="en-US">
                <a:solidFill>
                  <a:srgbClr val="FF0000"/>
                </a:solidFill>
                <a:latin typeface="Times New Roman" panose="02020603050405020304" pitchFamily="18" charset="0"/>
                <a:ea typeface="黑体" panose="02010609060101010101" pitchFamily="2" charset="-122"/>
              </a:rPr>
              <a:t>例</a:t>
            </a:r>
            <a:r>
              <a:rPr lang="en-US" altLang="zh-CN">
                <a:solidFill>
                  <a:srgbClr val="FF0000"/>
                </a:solidFill>
                <a:latin typeface="Times New Roman" panose="02020603050405020304" pitchFamily="18" charset="0"/>
                <a:ea typeface="黑体" panose="02010609060101010101" pitchFamily="2" charset="-122"/>
              </a:rPr>
              <a:t>1.1.6</a:t>
            </a:r>
            <a:r>
              <a:rPr lang="en-US" altLang="zh-CN">
                <a:latin typeface="Times New Roman" panose="02020603050405020304" pitchFamily="18" charset="0"/>
              </a:rPr>
              <a:t> </a:t>
            </a:r>
            <a:r>
              <a:rPr lang="zh-CN" altLang="en-US" dirty="0">
                <a:latin typeface="Times New Roman" panose="02020603050405020304" pitchFamily="18" charset="0"/>
              </a:rPr>
              <a:t>计算</a:t>
            </a:r>
            <a:r>
              <a:rPr lang="en-US" altLang="zh-CN">
                <a:latin typeface="Times New Roman" panose="02020603050405020304" pitchFamily="18" charset="0"/>
              </a:rPr>
              <a:t>4</a:t>
            </a:r>
            <a:r>
              <a:rPr lang="zh-CN" altLang="en-US">
                <a:latin typeface="Times New Roman" panose="02020603050405020304" pitchFamily="18" charset="0"/>
              </a:rPr>
              <a:t>阶行列式</a:t>
            </a:r>
            <a:endParaRPr lang="zh-CN" altLang="en-US">
              <a:latin typeface="Times New Roman" panose="02020603050405020304" pitchFamily="18" charset="0"/>
            </a:endParaRPr>
          </a:p>
        </p:txBody>
      </p:sp>
      <p:sp>
        <p:nvSpPr>
          <p:cNvPr id="76805" name="文本框 76804"/>
          <p:cNvSpPr txBox="1"/>
          <p:nvPr/>
        </p:nvSpPr>
        <p:spPr>
          <a:xfrm>
            <a:off x="249555" y="1884045"/>
            <a:ext cx="8579485" cy="2984500"/>
          </a:xfrm>
          <a:prstGeom prst="rect">
            <a:avLst/>
          </a:prstGeom>
          <a:noFill/>
          <a:ln w="9525">
            <a:noFill/>
          </a:ln>
        </p:spPr>
        <p:txBody>
          <a:bodyPr wrap="square" anchor="t" anchorCtr="0">
            <a:noAutofit/>
          </a:bodyPr>
          <a:p>
            <a:pPr>
              <a:lnSpc>
                <a:spcPct val="110000"/>
              </a:lnSpc>
            </a:pPr>
            <a:r>
              <a:rPr lang="en-US" altLang="zh-CN" dirty="0">
                <a:solidFill>
                  <a:srgbClr val="3333FF"/>
                </a:solidFill>
                <a:latin typeface="Times New Roman" panose="02020603050405020304" pitchFamily="18" charset="0"/>
                <a:ea typeface="黑体" panose="02010609060101010101" pitchFamily="2" charset="-122"/>
              </a:rPr>
              <a:t>   </a:t>
            </a:r>
            <a:r>
              <a:rPr lang="zh-CN" altLang="en-US" dirty="0">
                <a:solidFill>
                  <a:srgbClr val="3333FF"/>
                </a:solidFill>
                <a:latin typeface="Times New Roman" panose="02020603050405020304" pitchFamily="18" charset="0"/>
                <a:ea typeface="黑体" panose="02010609060101010101" pitchFamily="2" charset="-122"/>
              </a:rPr>
              <a:t>解</a:t>
            </a:r>
            <a:r>
              <a:rPr lang="en-US" altLang="zh-CN">
                <a:solidFill>
                  <a:srgbClr val="3333FF"/>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ea typeface="黑体" panose="02010609060101010101" pitchFamily="2" charset="-122"/>
              </a:rPr>
              <a:t> </a:t>
            </a:r>
            <a:r>
              <a:rPr lang="zh-CN" altLang="en-US" dirty="0">
                <a:solidFill>
                  <a:srgbClr val="3333FF"/>
                </a:solidFill>
                <a:latin typeface="Times New Roman" panose="02020603050405020304" pitchFamily="18" charset="0"/>
                <a:ea typeface="黑体" panose="02010609060101010101" pitchFamily="2" charset="-122"/>
              </a:rPr>
              <a:t>法</a:t>
            </a:r>
            <a:r>
              <a:rPr lang="en-US" altLang="zh-CN">
                <a:latin typeface="Times New Roman" panose="02020603050405020304" pitchFamily="18" charset="0"/>
                <a:ea typeface="黑体" panose="02010609060101010101" pitchFamily="2" charset="-122"/>
              </a:rPr>
              <a:t>(2)</a:t>
            </a:r>
            <a:r>
              <a:rPr lang="zh-CN" altLang="en-US">
                <a:latin typeface="Times New Roman" panose="02020603050405020304" pitchFamily="18" charset="0"/>
              </a:rPr>
              <a:t>根据行列式的定义，</a:t>
            </a:r>
            <a:r>
              <a:rPr lang="en-US" altLang="zh-CN">
                <a:latin typeface="Times New Roman" panose="02020603050405020304" pitchFamily="18" charset="0"/>
              </a:rPr>
              <a:t>D</a:t>
            </a:r>
            <a:r>
              <a:rPr lang="zh-CN" altLang="en-US">
                <a:latin typeface="Times New Roman" panose="02020603050405020304" pitchFamily="18" charset="0"/>
              </a:rPr>
              <a:t>是</a:t>
            </a:r>
            <a:r>
              <a:rPr lang="en-US" altLang="zh-CN">
                <a:sym typeface="+mn-ea"/>
              </a:rPr>
              <a:t>4!</a:t>
            </a:r>
            <a:r>
              <a:rPr lang="zh-CN" altLang="en-US">
                <a:latin typeface="Times New Roman" panose="02020603050405020304" pitchFamily="18" charset="0"/>
              </a:rPr>
              <a:t>项的代数和，然而在这个代数和中取自</a:t>
            </a:r>
            <a:r>
              <a:rPr lang="zh-CN" altLang="en-US" dirty="0">
                <a:solidFill>
                  <a:srgbClr val="3333FF"/>
                </a:solidFill>
                <a:latin typeface="Times New Roman" panose="02020603050405020304" pitchFamily="18" charset="0"/>
                <a:ea typeface="黑体" panose="02010609060101010101" pitchFamily="2" charset="-122"/>
              </a:rPr>
              <a:t>不同行不同列</a:t>
            </a:r>
            <a:r>
              <a:rPr lang="zh-CN" altLang="en-US">
                <a:latin typeface="Times New Roman" panose="02020603050405020304" pitchFamily="18" charset="0"/>
              </a:rPr>
              <a:t>的非零乘积项只有</a:t>
            </a:r>
            <a:r>
              <a:rPr lang="en-US" altLang="zh-CN">
                <a:latin typeface="Times New Roman" panose="02020603050405020304" pitchFamily="18" charset="0"/>
              </a:rPr>
              <a:t>                                </a:t>
            </a:r>
            <a:r>
              <a:rPr lang="zh-CN" altLang="en-US">
                <a:latin typeface="Times New Roman" panose="02020603050405020304" pitchFamily="18" charset="0"/>
              </a:rPr>
              <a:t>，将这个非零乘积项</a:t>
            </a:r>
            <a:r>
              <a:rPr lang="en-US" altLang="zh-CN" i="1">
                <a:solidFill>
                  <a:srgbClr val="FF0000"/>
                </a:solidFill>
                <a:sym typeface="+mn-ea"/>
              </a:rPr>
              <a:t>a</a:t>
            </a:r>
            <a:r>
              <a:rPr lang="en-US" altLang="zh-CN" baseline="-25000">
                <a:solidFill>
                  <a:srgbClr val="FF0000"/>
                </a:solidFill>
                <a:sym typeface="+mn-ea"/>
              </a:rPr>
              <a:t>31</a:t>
            </a:r>
            <a:r>
              <a:rPr lang="en-US" altLang="zh-CN" i="1">
                <a:solidFill>
                  <a:srgbClr val="FF0000"/>
                </a:solidFill>
                <a:sym typeface="+mn-ea"/>
              </a:rPr>
              <a:t>a</a:t>
            </a:r>
            <a:r>
              <a:rPr lang="en-US" altLang="zh-CN" baseline="-25000">
                <a:solidFill>
                  <a:srgbClr val="FF0000"/>
                </a:solidFill>
                <a:sym typeface="+mn-ea"/>
              </a:rPr>
              <a:t>22</a:t>
            </a:r>
            <a:r>
              <a:rPr lang="en-US" altLang="zh-CN" i="1">
                <a:solidFill>
                  <a:srgbClr val="FF0000"/>
                </a:solidFill>
                <a:sym typeface="+mn-ea"/>
              </a:rPr>
              <a:t>a</a:t>
            </a:r>
            <a:r>
              <a:rPr lang="en-US" altLang="zh-CN" baseline="-25000">
                <a:solidFill>
                  <a:srgbClr val="FF0000"/>
                </a:solidFill>
                <a:sym typeface="+mn-ea"/>
              </a:rPr>
              <a:t>13</a:t>
            </a:r>
            <a:r>
              <a:rPr lang="en-US" altLang="zh-CN" i="1">
                <a:solidFill>
                  <a:srgbClr val="FF0000"/>
                </a:solidFill>
                <a:sym typeface="+mn-ea"/>
              </a:rPr>
              <a:t>a</a:t>
            </a:r>
            <a:r>
              <a:rPr lang="en-US" altLang="zh-CN" baseline="-25000">
                <a:solidFill>
                  <a:srgbClr val="FF0000"/>
                </a:solidFill>
                <a:sym typeface="+mn-ea"/>
              </a:rPr>
              <a:t>44</a:t>
            </a:r>
            <a:r>
              <a:rPr lang="zh-CN" altLang="en-US">
                <a:latin typeface="Times New Roman" panose="02020603050405020304" pitchFamily="18" charset="0"/>
              </a:rPr>
              <a:t>的元素所在位置的行标按自然顺序</a:t>
            </a:r>
            <a:r>
              <a:rPr lang="en-US" altLang="zh-CN" i="1">
                <a:solidFill>
                  <a:srgbClr val="FF0000"/>
                </a:solidFill>
                <a:sym typeface="+mn-ea"/>
              </a:rPr>
              <a:t>a</a:t>
            </a:r>
            <a:r>
              <a:rPr lang="en-US" altLang="zh-CN" baseline="-25000">
                <a:solidFill>
                  <a:srgbClr val="FF0000"/>
                </a:solidFill>
                <a:sym typeface="+mn-ea"/>
              </a:rPr>
              <a:t>13</a:t>
            </a:r>
            <a:r>
              <a:rPr lang="en-US" altLang="zh-CN" i="1">
                <a:solidFill>
                  <a:srgbClr val="FF0000"/>
                </a:solidFill>
                <a:sym typeface="+mn-ea"/>
              </a:rPr>
              <a:t>a</a:t>
            </a:r>
            <a:r>
              <a:rPr lang="en-US" altLang="zh-CN" baseline="-25000">
                <a:solidFill>
                  <a:srgbClr val="FF0000"/>
                </a:solidFill>
                <a:sym typeface="+mn-ea"/>
              </a:rPr>
              <a:t>22</a:t>
            </a:r>
            <a:r>
              <a:rPr lang="en-US" altLang="zh-CN" i="1">
                <a:solidFill>
                  <a:srgbClr val="FF0000"/>
                </a:solidFill>
                <a:sym typeface="+mn-ea"/>
              </a:rPr>
              <a:t>a</a:t>
            </a:r>
            <a:r>
              <a:rPr lang="en-US" altLang="zh-CN" baseline="-25000">
                <a:solidFill>
                  <a:srgbClr val="FF0000"/>
                </a:solidFill>
                <a:sym typeface="+mn-ea"/>
              </a:rPr>
              <a:t>31</a:t>
            </a:r>
            <a:r>
              <a:rPr lang="en-US" altLang="zh-CN" i="1">
                <a:solidFill>
                  <a:srgbClr val="FF0000"/>
                </a:solidFill>
                <a:sym typeface="+mn-ea"/>
              </a:rPr>
              <a:t>a</a:t>
            </a:r>
            <a:r>
              <a:rPr lang="en-US" altLang="zh-CN" baseline="-25000">
                <a:solidFill>
                  <a:srgbClr val="FF0000"/>
                </a:solidFill>
                <a:sym typeface="+mn-ea"/>
              </a:rPr>
              <a:t>44</a:t>
            </a:r>
            <a:r>
              <a:rPr lang="zh-CN" altLang="en-US">
                <a:latin typeface="Times New Roman" panose="02020603050405020304" pitchFamily="18" charset="0"/>
              </a:rPr>
              <a:t>排列后，列标的排列为</a:t>
            </a:r>
            <a:r>
              <a:rPr lang="en-US" altLang="zh-CN">
                <a:latin typeface="Times New Roman" panose="02020603050405020304" pitchFamily="18" charset="0"/>
              </a:rPr>
              <a:t>3214</a:t>
            </a:r>
            <a:r>
              <a:rPr lang="zh-CN" altLang="en-US">
                <a:latin typeface="Times New Roman" panose="02020603050405020304" pitchFamily="18" charset="0"/>
              </a:rPr>
              <a:t>，其逆序数</a:t>
            </a:r>
            <a:endParaRPr lang="zh-CN" altLang="en-US">
              <a:latin typeface="Times New Roman" panose="02020603050405020304" pitchFamily="18" charset="0"/>
            </a:endParaRPr>
          </a:p>
          <a:p>
            <a:pPr>
              <a:lnSpc>
                <a:spcPct val="110000"/>
              </a:lnSpc>
            </a:pPr>
            <a:r>
              <a:rPr lang="zh-CN" altLang="en-US">
                <a:latin typeface="Times New Roman" panose="02020603050405020304" pitchFamily="18" charset="0"/>
              </a:rPr>
              <a:t>所以行列式的值</a:t>
            </a:r>
            <a:r>
              <a:rPr lang="en-US" altLang="zh-CN">
                <a:latin typeface="Times New Roman" panose="02020603050405020304" pitchFamily="18" charset="0"/>
              </a:rPr>
              <a:t>                                                               .    </a:t>
            </a:r>
            <a:endParaRPr lang="en-US" altLang="zh-CN">
              <a:latin typeface="Times New Roman" panose="02020603050405020304" pitchFamily="18" charset="0"/>
            </a:endParaRPr>
          </a:p>
        </p:txBody>
      </p:sp>
      <p:sp>
        <p:nvSpPr>
          <p:cNvPr id="76818" name="文本框 76817"/>
          <p:cNvSpPr txBox="1"/>
          <p:nvPr/>
        </p:nvSpPr>
        <p:spPr>
          <a:xfrm>
            <a:off x="358775" y="5043488"/>
            <a:ext cx="541338" cy="519112"/>
          </a:xfrm>
          <a:prstGeom prst="rect">
            <a:avLst/>
          </a:prstGeom>
          <a:noFill/>
          <a:ln w="9525">
            <a:noFill/>
          </a:ln>
        </p:spPr>
        <p:txBody>
          <a:bodyPr wrap="none" anchor="t" anchorCtr="0">
            <a:spAutoFit/>
          </a:bodyPr>
          <a:p>
            <a:r>
              <a:rPr lang="zh-CN" altLang="en-US" dirty="0">
                <a:latin typeface="Times New Roman" panose="02020603050405020304" pitchFamily="18" charset="0"/>
              </a:rPr>
              <a:t>即</a:t>
            </a:r>
            <a:endParaRPr lang="zh-CN" altLang="en-US" dirty="0">
              <a:latin typeface="Times New Roman" panose="02020603050405020304" pitchFamily="18" charset="0"/>
            </a:endParaRPr>
          </a:p>
        </p:txBody>
      </p:sp>
      <p:graphicFrame>
        <p:nvGraphicFramePr>
          <p:cNvPr id="3" name="对象 -2147482458"/>
          <p:cNvGraphicFramePr>
            <a:graphicFrameLocks noChangeAspect="1"/>
          </p:cNvGraphicFramePr>
          <p:nvPr/>
        </p:nvGraphicFramePr>
        <p:xfrm>
          <a:off x="4727575" y="99695"/>
          <a:ext cx="2223135" cy="1846580"/>
        </p:xfrm>
        <a:graphic>
          <a:graphicData uri="http://schemas.openxmlformats.org/presentationml/2006/ole">
            <mc:AlternateContent xmlns:mc="http://schemas.openxmlformats.org/markup-compatibility/2006">
              <mc:Choice xmlns:v="urn:schemas-microsoft-com:vml" Requires="v">
                <p:oleObj spid="_x0000_s3076" name="" r:id="rId1" imgW="901700" imgH="914400" progId="Equation.DSMT4">
                  <p:embed/>
                </p:oleObj>
              </mc:Choice>
              <mc:Fallback>
                <p:oleObj name="" r:id="rId1" imgW="901700" imgH="914400" progId="Equation.DSMT4">
                  <p:embed/>
                  <p:pic>
                    <p:nvPicPr>
                      <p:cNvPr id="0" name="图片 3075"/>
                      <p:cNvPicPr/>
                      <p:nvPr/>
                    </p:nvPicPr>
                    <p:blipFill>
                      <a:blip r:embed="rId2"/>
                      <a:stretch>
                        <a:fillRect/>
                      </a:stretch>
                    </p:blipFill>
                    <p:spPr>
                      <a:xfrm>
                        <a:off x="4727575" y="99695"/>
                        <a:ext cx="2223135" cy="1846580"/>
                      </a:xfrm>
                      <a:prstGeom prst="rect">
                        <a:avLst/>
                      </a:prstGeom>
                      <a:noFill/>
                      <a:ln w="38100">
                        <a:noFill/>
                        <a:miter/>
                      </a:ln>
                    </p:spPr>
                  </p:pic>
                </p:oleObj>
              </mc:Fallback>
            </mc:AlternateContent>
          </a:graphicData>
        </a:graphic>
      </p:graphicFrame>
      <p:graphicFrame>
        <p:nvGraphicFramePr>
          <p:cNvPr id="4" name="对象 -2147482455"/>
          <p:cNvGraphicFramePr>
            <a:graphicFrameLocks noChangeAspect="1"/>
          </p:cNvGraphicFramePr>
          <p:nvPr/>
        </p:nvGraphicFramePr>
        <p:xfrm>
          <a:off x="694055" y="2816225"/>
          <a:ext cx="2831465" cy="578485"/>
        </p:xfrm>
        <a:graphic>
          <a:graphicData uri="http://schemas.openxmlformats.org/presentationml/2006/ole">
            <mc:AlternateContent xmlns:mc="http://schemas.openxmlformats.org/markup-compatibility/2006">
              <mc:Choice xmlns:v="urn:schemas-microsoft-com:vml" Requires="v">
                <p:oleObj spid="_x0000_s5" name="" r:id="rId3" imgW="1155700" imgH="177165" progId="Equation.DSMT4">
                  <p:embed/>
                </p:oleObj>
              </mc:Choice>
              <mc:Fallback>
                <p:oleObj name="" r:id="rId3" imgW="1155700" imgH="177165" progId="Equation.DSMT4">
                  <p:embed/>
                  <p:pic>
                    <p:nvPicPr>
                      <p:cNvPr id="0" name="图片 2"/>
                      <p:cNvPicPr/>
                      <p:nvPr/>
                    </p:nvPicPr>
                    <p:blipFill>
                      <a:blip r:embed="rId4"/>
                      <a:stretch>
                        <a:fillRect/>
                      </a:stretch>
                    </p:blipFill>
                    <p:spPr>
                      <a:xfrm>
                        <a:off x="694055" y="2816225"/>
                        <a:ext cx="2831465" cy="578485"/>
                      </a:xfrm>
                      <a:prstGeom prst="rect">
                        <a:avLst/>
                      </a:prstGeom>
                      <a:noFill/>
                      <a:ln w="38100">
                        <a:noFill/>
                        <a:miter/>
                      </a:ln>
                    </p:spPr>
                  </p:pic>
                </p:oleObj>
              </mc:Fallback>
            </mc:AlternateContent>
          </a:graphicData>
        </a:graphic>
      </p:graphicFrame>
      <p:graphicFrame>
        <p:nvGraphicFramePr>
          <p:cNvPr id="6" name="对象 -2147482454"/>
          <p:cNvGraphicFramePr>
            <a:graphicFrameLocks noChangeAspect="1"/>
          </p:cNvGraphicFramePr>
          <p:nvPr/>
        </p:nvGraphicFramePr>
        <p:xfrm>
          <a:off x="4989830" y="3768090"/>
          <a:ext cx="3469005" cy="611505"/>
        </p:xfrm>
        <a:graphic>
          <a:graphicData uri="http://schemas.openxmlformats.org/presentationml/2006/ole">
            <mc:AlternateContent xmlns:mc="http://schemas.openxmlformats.org/markup-compatibility/2006">
              <mc:Choice xmlns:v="urn:schemas-microsoft-com:vml" Requires="v">
                <p:oleObj spid="_x0000_s7" name="" r:id="rId5" imgW="1193800" imgH="203200" progId="Equation.DSMT4">
                  <p:embed/>
                </p:oleObj>
              </mc:Choice>
              <mc:Fallback>
                <p:oleObj name="" r:id="rId5" imgW="1193800" imgH="203200" progId="Equation.DSMT4">
                  <p:embed/>
                  <p:pic>
                    <p:nvPicPr>
                      <p:cNvPr id="0" name="图片 3"/>
                      <p:cNvPicPr/>
                      <p:nvPr/>
                    </p:nvPicPr>
                    <p:blipFill>
                      <a:blip r:embed="rId6"/>
                      <a:stretch>
                        <a:fillRect/>
                      </a:stretch>
                    </p:blipFill>
                    <p:spPr>
                      <a:xfrm>
                        <a:off x="4989830" y="3768090"/>
                        <a:ext cx="3469005" cy="611505"/>
                      </a:xfrm>
                      <a:prstGeom prst="rect">
                        <a:avLst/>
                      </a:prstGeom>
                      <a:noFill/>
                      <a:ln w="38100">
                        <a:noFill/>
                        <a:miter/>
                      </a:ln>
                    </p:spPr>
                  </p:pic>
                </p:oleObj>
              </mc:Fallback>
            </mc:AlternateContent>
          </a:graphicData>
        </a:graphic>
      </p:graphicFrame>
      <p:graphicFrame>
        <p:nvGraphicFramePr>
          <p:cNvPr id="8" name="对象 -2147482453"/>
          <p:cNvGraphicFramePr>
            <a:graphicFrameLocks noChangeAspect="1"/>
          </p:cNvGraphicFramePr>
          <p:nvPr/>
        </p:nvGraphicFramePr>
        <p:xfrm>
          <a:off x="2934970" y="4239260"/>
          <a:ext cx="5426075" cy="629285"/>
        </p:xfrm>
        <a:graphic>
          <a:graphicData uri="http://schemas.openxmlformats.org/presentationml/2006/ole">
            <mc:AlternateContent xmlns:mc="http://schemas.openxmlformats.org/markup-compatibility/2006">
              <mc:Choice xmlns:v="urn:schemas-microsoft-com:vml" Requires="v">
                <p:oleObj spid="_x0000_s9" name="" r:id="rId7" imgW="3060065" imgH="228600" progId="Equation.DSMT4">
                  <p:embed/>
                </p:oleObj>
              </mc:Choice>
              <mc:Fallback>
                <p:oleObj name="" r:id="rId7" imgW="3060065" imgH="228600" progId="Equation.DSMT4">
                  <p:embed/>
                  <p:pic>
                    <p:nvPicPr>
                      <p:cNvPr id="0" name="图片 4"/>
                      <p:cNvPicPr/>
                      <p:nvPr/>
                    </p:nvPicPr>
                    <p:blipFill>
                      <a:blip r:embed="rId8"/>
                      <a:stretch>
                        <a:fillRect/>
                      </a:stretch>
                    </p:blipFill>
                    <p:spPr>
                      <a:xfrm>
                        <a:off x="2934970" y="4239260"/>
                        <a:ext cx="5426075" cy="629285"/>
                      </a:xfrm>
                      <a:prstGeom prst="rect">
                        <a:avLst/>
                      </a:prstGeom>
                      <a:noFill/>
                      <a:ln w="38100">
                        <a:noFill/>
                        <a:miter/>
                      </a:ln>
                    </p:spPr>
                  </p:pic>
                </p:oleObj>
              </mc:Fallback>
            </mc:AlternateContent>
          </a:graphicData>
        </a:graphic>
      </p:graphicFrame>
      <p:graphicFrame>
        <p:nvGraphicFramePr>
          <p:cNvPr id="10" name="对象 -2147482458"/>
          <p:cNvGraphicFramePr>
            <a:graphicFrameLocks noChangeAspect="1"/>
          </p:cNvGraphicFramePr>
          <p:nvPr/>
        </p:nvGraphicFramePr>
        <p:xfrm>
          <a:off x="882015" y="4762500"/>
          <a:ext cx="7610475" cy="1917065"/>
        </p:xfrm>
        <a:graphic>
          <a:graphicData uri="http://schemas.openxmlformats.org/presentationml/2006/ole">
            <mc:AlternateContent xmlns:mc="http://schemas.openxmlformats.org/markup-compatibility/2006">
              <mc:Choice xmlns:v="urn:schemas-microsoft-com:vml" Requires="v">
                <p:oleObj spid="_x0000_s11" name="" r:id="rId9" imgW="2895600" imgH="914400" progId="Equation.DSMT4">
                  <p:embed/>
                </p:oleObj>
              </mc:Choice>
              <mc:Fallback>
                <p:oleObj name="" r:id="rId9" imgW="2895600" imgH="914400" progId="Equation.DSMT4">
                  <p:embed/>
                  <p:pic>
                    <p:nvPicPr>
                      <p:cNvPr id="0" name="图片 3075"/>
                      <p:cNvPicPr/>
                      <p:nvPr/>
                    </p:nvPicPr>
                    <p:blipFill>
                      <a:blip r:embed="rId10"/>
                      <a:stretch>
                        <a:fillRect/>
                      </a:stretch>
                    </p:blipFill>
                    <p:spPr>
                      <a:xfrm>
                        <a:off x="882015" y="4762500"/>
                        <a:ext cx="7610475" cy="191706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6803">
                                            <p:txEl>
                                              <p:charRg st="0" end="12"/>
                                            </p:txEl>
                                          </p:spTgt>
                                        </p:tgtEl>
                                        <p:attrNameLst>
                                          <p:attrName>style.visibility</p:attrName>
                                        </p:attrNameLst>
                                      </p:cBhvr>
                                      <p:to>
                                        <p:strVal val="visible"/>
                                      </p:to>
                                    </p:set>
                                    <p:animEffect transition="in" filter="box(out)">
                                      <p:cBhvr>
                                        <p:cTn id="7" dur="500"/>
                                        <p:tgtEl>
                                          <p:spTgt spid="76803">
                                            <p:txEl>
                                              <p:charRg st="0" end="1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76805">
                                            <p:txEl>
                                              <p:charRg st="0" end="7"/>
                                            </p:txEl>
                                          </p:spTgt>
                                        </p:tgtEl>
                                        <p:attrNameLst>
                                          <p:attrName>style.visibility</p:attrName>
                                        </p:attrNameLst>
                                      </p:cBhvr>
                                      <p:to>
                                        <p:strVal val="visible"/>
                                      </p:to>
                                    </p:set>
                                    <p:animEffect transition="in" filter="box(out)">
                                      <p:cBhvr>
                                        <p:cTn id="15" dur="500"/>
                                        <p:tgtEl>
                                          <p:spTgt spid="76805">
                                            <p:txEl>
                                              <p:charRg st="0" end="7"/>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76805">
                                            <p:txEl>
                                              <p:charRg st="1" end="1"/>
                                            </p:txEl>
                                          </p:spTgt>
                                        </p:tgtEl>
                                        <p:attrNameLst>
                                          <p:attrName>style.visibility</p:attrName>
                                        </p:attrNameLst>
                                      </p:cBhvr>
                                      <p:to>
                                        <p:strVal val="visible"/>
                                      </p:to>
                                    </p:set>
                                    <p:animEffect transition="in" filter="box(out)">
                                      <p:cBhvr>
                                        <p:cTn id="23" dur="500"/>
                                        <p:tgtEl>
                                          <p:spTgt spid="76805">
                                            <p:txEl>
                                              <p:charRg st="1" end="1"/>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linds(horizontal)">
                                      <p:cBhvr>
                                        <p:cTn id="26" dur="500"/>
                                        <p:tgtEl>
                                          <p:spTgt spid="6"/>
                                        </p:tgtEl>
                                      </p:cBhvr>
                                    </p:animEffect>
                                  </p:childTnLst>
                                </p:cTn>
                              </p:par>
                              <p:par>
                                <p:cTn id="27" presetID="22" presetClass="entr" presetSubtype="4"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down)">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76818">
                                            <p:txEl>
                                              <p:charRg st="0" end="2"/>
                                            </p:txEl>
                                          </p:spTgt>
                                        </p:tgtEl>
                                        <p:attrNameLst>
                                          <p:attrName>style.visibility</p:attrName>
                                        </p:attrNameLst>
                                      </p:cBhvr>
                                      <p:to>
                                        <p:strVal val="visible"/>
                                      </p:to>
                                    </p:set>
                                    <p:animEffect transition="in" filter="box(out)">
                                      <p:cBhvr>
                                        <p:cTn id="34" dur="500"/>
                                        <p:tgtEl>
                                          <p:spTgt spid="76818">
                                            <p:txEl>
                                              <p:charRg st="0"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down)">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down)">
                                      <p:cBhvr>
                                        <p:cTn id="4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P spid="76805" grpId="0" uiExpand="1" build="p"/>
      <p:bldP spid="76818"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矩形 77825"/>
          <p:cNvSpPr/>
          <p:nvPr/>
        </p:nvSpPr>
        <p:spPr>
          <a:xfrm>
            <a:off x="741045" y="776605"/>
            <a:ext cx="4886960" cy="521970"/>
          </a:xfrm>
          <a:prstGeom prst="rect">
            <a:avLst/>
          </a:prstGeom>
          <a:noFill/>
          <a:ln w="9525">
            <a:noFill/>
          </a:ln>
        </p:spPr>
        <p:txBody>
          <a:bodyPr wrap="square" anchor="t" anchorCtr="0">
            <a:spAutoFit/>
          </a:bodyPr>
          <a:p>
            <a:r>
              <a:rPr lang="zh-CN" altLang="en-US" dirty="0">
                <a:solidFill>
                  <a:srgbClr val="FF0000"/>
                </a:solidFill>
                <a:latin typeface="Times New Roman" panose="02020603050405020304" pitchFamily="18" charset="0"/>
                <a:ea typeface="黑体" panose="02010609060101010101" pitchFamily="2" charset="-122"/>
              </a:rPr>
              <a:t>例</a:t>
            </a:r>
            <a:r>
              <a:rPr lang="en-US" altLang="zh-CN">
                <a:solidFill>
                  <a:srgbClr val="FF0000"/>
                </a:solidFill>
                <a:latin typeface="Times New Roman" panose="02020603050405020304" pitchFamily="18" charset="0"/>
                <a:ea typeface="黑体" panose="02010609060101010101" pitchFamily="2" charset="-122"/>
              </a:rPr>
              <a:t>1.1.7</a:t>
            </a:r>
            <a:r>
              <a:rPr lang="en-US" altLang="zh-CN">
                <a:latin typeface="Times New Roman" panose="02020603050405020304" pitchFamily="18" charset="0"/>
              </a:rPr>
              <a:t> </a:t>
            </a:r>
            <a:r>
              <a:rPr lang="zh-CN" altLang="en-US" dirty="0">
                <a:latin typeface="Times New Roman" panose="02020603050405020304" pitchFamily="18" charset="0"/>
              </a:rPr>
              <a:t>计算</a:t>
            </a:r>
            <a:r>
              <a:rPr lang="zh-CN" altLang="en-US" dirty="0">
                <a:solidFill>
                  <a:srgbClr val="FF3300"/>
                </a:solidFill>
                <a:latin typeface="Times New Roman" panose="02020603050405020304" pitchFamily="18" charset="0"/>
              </a:rPr>
              <a:t>上三角行列式</a:t>
            </a:r>
            <a:r>
              <a:rPr lang="en-US" altLang="zh-CN" dirty="0">
                <a:solidFill>
                  <a:srgbClr val="FF3300"/>
                </a:solidFill>
                <a:latin typeface="Times New Roman" panose="02020603050405020304" pitchFamily="18" charset="0"/>
              </a:rPr>
              <a:t>D=</a:t>
            </a:r>
            <a:endParaRPr lang="en-US" altLang="zh-CN" dirty="0">
              <a:solidFill>
                <a:srgbClr val="FF3300"/>
              </a:solidFill>
              <a:latin typeface="Times New Roman" panose="02020603050405020304" pitchFamily="18" charset="0"/>
            </a:endParaRPr>
          </a:p>
        </p:txBody>
      </p:sp>
      <p:graphicFrame>
        <p:nvGraphicFramePr>
          <p:cNvPr id="77827" name="对象 77826"/>
          <p:cNvGraphicFramePr/>
          <p:nvPr/>
        </p:nvGraphicFramePr>
        <p:xfrm>
          <a:off x="5398135" y="173990"/>
          <a:ext cx="3035300" cy="1727200"/>
        </p:xfrm>
        <a:graphic>
          <a:graphicData uri="http://schemas.openxmlformats.org/presentationml/2006/ole">
            <mc:AlternateContent xmlns:mc="http://schemas.openxmlformats.org/markup-compatibility/2006">
              <mc:Choice xmlns:v="urn:schemas-microsoft-com:vml" Requires="v">
                <p:oleObj spid="_x0000_s3214" name="" r:id="rId1" imgW="3035300" imgH="1727200" progId="Equation.3">
                  <p:embed/>
                </p:oleObj>
              </mc:Choice>
              <mc:Fallback>
                <p:oleObj name="" r:id="rId1" imgW="3035300" imgH="1727200" progId="Equation.3">
                  <p:embed/>
                  <p:pic>
                    <p:nvPicPr>
                      <p:cNvPr id="0" name="图片 3213"/>
                      <p:cNvPicPr/>
                      <p:nvPr/>
                    </p:nvPicPr>
                    <p:blipFill>
                      <a:blip r:embed="rId2"/>
                      <a:stretch>
                        <a:fillRect/>
                      </a:stretch>
                    </p:blipFill>
                    <p:spPr>
                      <a:xfrm>
                        <a:off x="5398135" y="173990"/>
                        <a:ext cx="3035300" cy="1727200"/>
                      </a:xfrm>
                      <a:prstGeom prst="rect">
                        <a:avLst/>
                      </a:prstGeom>
                      <a:noFill/>
                      <a:ln w="38100">
                        <a:noFill/>
                        <a:miter/>
                      </a:ln>
                    </p:spPr>
                  </p:pic>
                </p:oleObj>
              </mc:Fallback>
            </mc:AlternateContent>
          </a:graphicData>
        </a:graphic>
      </p:graphicFrame>
      <p:sp>
        <p:nvSpPr>
          <p:cNvPr id="77828" name="文本框 77827"/>
          <p:cNvSpPr txBox="1"/>
          <p:nvPr/>
        </p:nvSpPr>
        <p:spPr>
          <a:xfrm>
            <a:off x="899795" y="2014855"/>
            <a:ext cx="747395" cy="521970"/>
          </a:xfrm>
          <a:prstGeom prst="rect">
            <a:avLst/>
          </a:prstGeom>
          <a:noFill/>
          <a:ln w="9525">
            <a:noFill/>
          </a:ln>
        </p:spPr>
        <p:txBody>
          <a:bodyPr wrap="none" anchor="t" anchorCtr="0">
            <a:spAutoFit/>
          </a:bodyPr>
          <a:p>
            <a:r>
              <a:rPr lang="zh-CN" altLang="en-US" dirty="0">
                <a:solidFill>
                  <a:srgbClr val="FF0000"/>
                </a:solidFill>
                <a:latin typeface="Times New Roman" panose="02020603050405020304" pitchFamily="18" charset="0"/>
                <a:ea typeface="黑体" panose="02010609060101010101" pitchFamily="2" charset="-122"/>
              </a:rPr>
              <a:t>解</a:t>
            </a:r>
            <a:r>
              <a:rPr lang="en-US" altLang="zh-CN">
                <a:solidFill>
                  <a:srgbClr val="FF0000"/>
                </a:solidFill>
                <a:latin typeface="Times New Roman" panose="02020603050405020304" pitchFamily="18" charset="0"/>
                <a:ea typeface="黑体" panose="02010609060101010101" pitchFamily="2" charset="-122"/>
              </a:rPr>
              <a:t>: </a:t>
            </a:r>
            <a:endParaRPr lang="en-US" altLang="zh-CN">
              <a:solidFill>
                <a:srgbClr val="FF0000"/>
              </a:solidFill>
              <a:latin typeface="Times New Roman" panose="02020603050405020304" pitchFamily="18" charset="0"/>
              <a:ea typeface="黑体" panose="02010609060101010101" pitchFamily="2" charset="-122"/>
            </a:endParaRPr>
          </a:p>
        </p:txBody>
      </p:sp>
      <p:sp>
        <p:nvSpPr>
          <p:cNvPr id="77829" name="矩形 77828"/>
          <p:cNvSpPr/>
          <p:nvPr/>
        </p:nvSpPr>
        <p:spPr>
          <a:xfrm>
            <a:off x="1764030" y="2060575"/>
            <a:ext cx="4263390" cy="521970"/>
          </a:xfrm>
          <a:prstGeom prst="rect">
            <a:avLst/>
          </a:prstGeom>
          <a:noFill/>
          <a:ln w="9525">
            <a:noFill/>
          </a:ln>
        </p:spPr>
        <p:txBody>
          <a:bodyPr wrap="square" anchor="t" anchorCtr="0">
            <a:spAutoFit/>
          </a:bodyPr>
          <a:p>
            <a:r>
              <a:rPr lang="zh-CN" altLang="en-US" dirty="0">
                <a:latin typeface="Times New Roman" panose="02020603050405020304" pitchFamily="18" charset="0"/>
              </a:rPr>
              <a:t>展开式中项的一般形式是</a:t>
            </a:r>
            <a:endParaRPr lang="zh-CN" altLang="en-US" dirty="0">
              <a:latin typeface="Times New Roman" panose="02020603050405020304" pitchFamily="18" charset="0"/>
            </a:endParaRPr>
          </a:p>
        </p:txBody>
      </p:sp>
      <p:graphicFrame>
        <p:nvGraphicFramePr>
          <p:cNvPr id="77830" name="对象 77829"/>
          <p:cNvGraphicFramePr/>
          <p:nvPr/>
        </p:nvGraphicFramePr>
        <p:xfrm>
          <a:off x="5925185" y="2014855"/>
          <a:ext cx="2207895" cy="590550"/>
        </p:xfrm>
        <a:graphic>
          <a:graphicData uri="http://schemas.openxmlformats.org/presentationml/2006/ole">
            <mc:AlternateContent xmlns:mc="http://schemas.openxmlformats.org/markup-compatibility/2006">
              <mc:Choice xmlns:v="urn:schemas-microsoft-com:vml" Requires="v">
                <p:oleObj spid="_x0000_s3213" name="" r:id="rId3" imgW="889000" imgH="241300" progId="Equation.3">
                  <p:embed/>
                </p:oleObj>
              </mc:Choice>
              <mc:Fallback>
                <p:oleObj name="" r:id="rId3" imgW="889000" imgH="241300" progId="Equation.3">
                  <p:embed/>
                  <p:pic>
                    <p:nvPicPr>
                      <p:cNvPr id="0" name="图片 3212"/>
                      <p:cNvPicPr/>
                      <p:nvPr/>
                    </p:nvPicPr>
                    <p:blipFill>
                      <a:blip r:embed="rId4"/>
                      <a:stretch>
                        <a:fillRect/>
                      </a:stretch>
                    </p:blipFill>
                    <p:spPr>
                      <a:xfrm>
                        <a:off x="5925185" y="2014855"/>
                        <a:ext cx="2207895" cy="590550"/>
                      </a:xfrm>
                      <a:prstGeom prst="rect">
                        <a:avLst/>
                      </a:prstGeom>
                      <a:noFill/>
                      <a:ln w="38100">
                        <a:noFill/>
                        <a:miter/>
                      </a:ln>
                    </p:spPr>
                  </p:pic>
                </p:oleObj>
              </mc:Fallback>
            </mc:AlternateContent>
          </a:graphicData>
        </a:graphic>
      </p:graphicFrame>
      <p:sp>
        <p:nvSpPr>
          <p:cNvPr id="77831" name="文本框 77830"/>
          <p:cNvSpPr txBox="1"/>
          <p:nvPr/>
        </p:nvSpPr>
        <p:spPr>
          <a:xfrm>
            <a:off x="586105" y="3810000"/>
            <a:ext cx="6365875" cy="521970"/>
          </a:xfrm>
          <a:prstGeom prst="rect">
            <a:avLst/>
          </a:prstGeom>
          <a:noFill/>
          <a:ln w="9525">
            <a:noFill/>
          </a:ln>
        </p:spPr>
        <p:txBody>
          <a:bodyPr wrap="square" anchor="t" anchorCtr="0">
            <a:spAutoFit/>
          </a:bodyPr>
          <a:p>
            <a:r>
              <a:rPr lang="zh-CN" altLang="en-US" dirty="0">
                <a:latin typeface="Times New Roman" panose="02020603050405020304" pitchFamily="18" charset="0"/>
              </a:rPr>
              <a:t>所以非零的项只可能是</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baseline="-25000">
                <a:latin typeface="Times New Roman" panose="02020603050405020304" pitchFamily="18" charset="0"/>
              </a:rPr>
              <a:t>11 </a:t>
            </a:r>
            <a:r>
              <a:rPr lang="en-US" altLang="zh-CN" i="1">
                <a:latin typeface="Times New Roman" panose="02020603050405020304" pitchFamily="18" charset="0"/>
              </a:rPr>
              <a:t>a</a:t>
            </a:r>
            <a:r>
              <a:rPr lang="en-US" altLang="zh-CN" baseline="-25000">
                <a:latin typeface="Times New Roman" panose="02020603050405020304" pitchFamily="18" charset="0"/>
              </a:rPr>
              <a:t>22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err="1">
                <a:latin typeface="Times New Roman" panose="02020603050405020304" pitchFamily="18" charset="0"/>
              </a:rPr>
              <a:t>a</a:t>
            </a:r>
            <a:r>
              <a:rPr lang="en-US" altLang="zh-CN" i="1" baseline="-25000" err="1">
                <a:latin typeface="Times New Roman" panose="02020603050405020304" pitchFamily="18" charset="0"/>
              </a:rPr>
              <a:t>nn</a:t>
            </a:r>
            <a:r>
              <a:rPr lang="en-US" altLang="zh-CN" baseline="-25000">
                <a:latin typeface="Times New Roman" panose="02020603050405020304" pitchFamily="18" charset="0"/>
              </a:rPr>
              <a:t> </a:t>
            </a:r>
            <a:r>
              <a:rPr lang="en-US" altLang="zh-CN">
                <a:latin typeface="Times New Roman" panose="02020603050405020304" pitchFamily="18" charset="0"/>
              </a:rPr>
              <a:t>.</a:t>
            </a:r>
            <a:endParaRPr lang="en-US" altLang="zh-CN" baseline="-25000">
              <a:latin typeface="Times New Roman" panose="02020603050405020304" pitchFamily="18" charset="0"/>
            </a:endParaRPr>
          </a:p>
        </p:txBody>
      </p:sp>
      <p:sp>
        <p:nvSpPr>
          <p:cNvPr id="77832" name="文本框 77831"/>
          <p:cNvSpPr txBox="1"/>
          <p:nvPr/>
        </p:nvSpPr>
        <p:spPr>
          <a:xfrm>
            <a:off x="573405" y="2708275"/>
            <a:ext cx="5536565" cy="521970"/>
          </a:xfrm>
          <a:prstGeom prst="rect">
            <a:avLst/>
          </a:prstGeom>
          <a:noFill/>
          <a:ln w="9525">
            <a:noFill/>
          </a:ln>
        </p:spPr>
        <p:txBody>
          <a:bodyPr wrap="square" anchor="t" anchorCtr="0">
            <a:spAutoFit/>
          </a:bodyPr>
          <a:p>
            <a:r>
              <a:rPr lang="zh-CN" altLang="en-US" dirty="0">
                <a:latin typeface="Times New Roman" panose="02020603050405020304" pitchFamily="18" charset="0"/>
              </a:rPr>
              <a:t>从最后一行开始讨论非零项</a:t>
            </a:r>
            <a:r>
              <a:rPr lang="en-US" altLang="zh-CN">
                <a:latin typeface="Times New Roman" panose="02020603050405020304" pitchFamily="18" charset="0"/>
              </a:rPr>
              <a:t>. </a:t>
            </a:r>
            <a:r>
              <a:rPr lang="zh-CN" altLang="en-US" dirty="0">
                <a:latin typeface="Times New Roman" panose="02020603050405020304" pitchFamily="18" charset="0"/>
              </a:rPr>
              <a:t>显然</a:t>
            </a:r>
            <a:endParaRPr lang="zh-CN" altLang="en-US">
              <a:latin typeface="Times New Roman" panose="02020603050405020304" pitchFamily="18" charset="0"/>
            </a:endParaRPr>
          </a:p>
        </p:txBody>
      </p:sp>
      <p:sp>
        <p:nvSpPr>
          <p:cNvPr id="77833" name="矩形 77832"/>
          <p:cNvSpPr/>
          <p:nvPr/>
        </p:nvSpPr>
        <p:spPr>
          <a:xfrm>
            <a:off x="1447800" y="3214688"/>
            <a:ext cx="6245225" cy="521970"/>
          </a:xfrm>
          <a:prstGeom prst="rect">
            <a:avLst/>
          </a:prstGeom>
          <a:noFill/>
          <a:ln w="9525">
            <a:noFill/>
          </a:ln>
        </p:spPr>
        <p:txBody>
          <a:bodyPr wrap="none" anchor="t" anchorCtr="0">
            <a:spAutoFit/>
          </a:bodyPr>
          <a:p>
            <a:r>
              <a:rPr lang="en-US" altLang="zh-CN" i="1" err="1">
                <a:latin typeface="Times New Roman" panose="02020603050405020304" pitchFamily="18" charset="0"/>
              </a:rPr>
              <a:t>k</a:t>
            </a:r>
            <a:r>
              <a:rPr lang="en-US" altLang="zh-CN" i="1" baseline="-25000" err="1">
                <a:latin typeface="Times New Roman" panose="02020603050405020304" pitchFamily="18" charset="0"/>
              </a:rPr>
              <a:t>n</a:t>
            </a:r>
            <a:r>
              <a:rPr lang="en-US" altLang="zh-CN">
                <a:latin typeface="Times New Roman" panose="02020603050405020304" pitchFamily="18" charset="0"/>
              </a:rPr>
              <a:t>=</a:t>
            </a:r>
            <a:r>
              <a:rPr lang="en-US" altLang="zh-CN" i="1">
                <a:latin typeface="Times New Roman" panose="02020603050405020304" pitchFamily="18" charset="0"/>
              </a:rPr>
              <a:t>n</a:t>
            </a:r>
            <a:r>
              <a:rPr lang="en-US" altLang="zh-CN">
                <a:latin typeface="Times New Roman" panose="02020603050405020304" pitchFamily="18" charset="0"/>
              </a:rPr>
              <a:t>, </a:t>
            </a:r>
            <a:r>
              <a:rPr lang="en-US" altLang="zh-CN" i="1" err="1">
                <a:latin typeface="Times New Roman" panose="02020603050405020304" pitchFamily="18" charset="0"/>
              </a:rPr>
              <a:t>k</a:t>
            </a:r>
            <a:r>
              <a:rPr lang="en-US" altLang="zh-CN" i="1" baseline="-25000" err="1">
                <a:latin typeface="Times New Roman" panose="02020603050405020304" pitchFamily="18" charset="0"/>
              </a:rPr>
              <a:t>n</a:t>
            </a:r>
            <a:r>
              <a:rPr lang="en-US" altLang="zh-CN" baseline="-25000">
                <a:latin typeface="Times New Roman" panose="02020603050405020304" pitchFamily="18" charset="0"/>
              </a:rPr>
              <a:t>–1</a:t>
            </a:r>
            <a:r>
              <a:rPr lang="en-US" altLang="zh-CN">
                <a:latin typeface="Times New Roman" panose="02020603050405020304" pitchFamily="18" charset="0"/>
              </a:rPr>
              <a:t>=</a:t>
            </a:r>
            <a:r>
              <a:rPr lang="en-US" altLang="zh-CN" i="1">
                <a:latin typeface="Times New Roman" panose="02020603050405020304" pitchFamily="18" charset="0"/>
              </a:rPr>
              <a:t>n</a:t>
            </a:r>
            <a:r>
              <a:rPr lang="en-US" altLang="zh-CN">
                <a:latin typeface="Times New Roman" panose="02020603050405020304" pitchFamily="18" charset="0"/>
              </a:rPr>
              <a:t>–1, </a:t>
            </a:r>
            <a:r>
              <a:rPr lang="en-US" altLang="zh-CN" i="1" err="1">
                <a:latin typeface="Times New Roman" panose="02020603050405020304" pitchFamily="18" charset="0"/>
              </a:rPr>
              <a:t>k</a:t>
            </a:r>
            <a:r>
              <a:rPr lang="en-US" altLang="zh-CN" i="1" baseline="-25000" err="1">
                <a:latin typeface="Times New Roman" panose="02020603050405020304" pitchFamily="18" charset="0"/>
              </a:rPr>
              <a:t>n</a:t>
            </a:r>
            <a:r>
              <a:rPr lang="en-US" altLang="zh-CN" baseline="-25000">
                <a:latin typeface="Times New Roman" panose="02020603050405020304" pitchFamily="18" charset="0"/>
              </a:rPr>
              <a:t>–2</a:t>
            </a:r>
            <a:r>
              <a:rPr lang="en-US" altLang="zh-CN">
                <a:latin typeface="Times New Roman" panose="02020603050405020304" pitchFamily="18" charset="0"/>
              </a:rPr>
              <a:t>=</a:t>
            </a:r>
            <a:r>
              <a:rPr lang="en-US" altLang="zh-CN" i="1">
                <a:latin typeface="Times New Roman" panose="02020603050405020304" pitchFamily="18" charset="0"/>
              </a:rPr>
              <a:t>n</a:t>
            </a:r>
            <a:r>
              <a:rPr lang="en-US" altLang="zh-CN">
                <a:latin typeface="Times New Roman" panose="02020603050405020304" pitchFamily="18" charset="0"/>
              </a:rPr>
              <a:t>–2,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 </a:t>
            </a:r>
            <a:r>
              <a:rPr lang="en-US" altLang="zh-CN" i="1">
                <a:latin typeface="Times New Roman" panose="02020603050405020304" pitchFamily="18" charset="0"/>
              </a:rPr>
              <a:t>k</a:t>
            </a:r>
            <a:r>
              <a:rPr lang="en-US" altLang="zh-CN" baseline="-25000">
                <a:latin typeface="Times New Roman" panose="02020603050405020304" pitchFamily="18" charset="0"/>
              </a:rPr>
              <a:t>2</a:t>
            </a:r>
            <a:r>
              <a:rPr lang="en-US" altLang="zh-CN">
                <a:latin typeface="Times New Roman" panose="02020603050405020304" pitchFamily="18" charset="0"/>
              </a:rPr>
              <a:t>=2, </a:t>
            </a:r>
            <a:r>
              <a:rPr lang="en-US" altLang="zh-CN" i="1">
                <a:latin typeface="Times New Roman" panose="02020603050405020304" pitchFamily="18" charset="0"/>
              </a:rPr>
              <a:t>k</a:t>
            </a:r>
            <a:r>
              <a:rPr lang="en-US" altLang="zh-CN" baseline="-25000">
                <a:latin typeface="Times New Roman" panose="02020603050405020304" pitchFamily="18" charset="0"/>
              </a:rPr>
              <a:t>1</a:t>
            </a:r>
            <a:r>
              <a:rPr lang="en-US" altLang="zh-CN">
                <a:latin typeface="Times New Roman" panose="02020603050405020304" pitchFamily="18" charset="0"/>
              </a:rPr>
              <a:t>=1,</a:t>
            </a:r>
            <a:endParaRPr lang="en-US" altLang="zh-CN">
              <a:latin typeface="Times New Roman" panose="02020603050405020304" pitchFamily="18" charset="0"/>
            </a:endParaRPr>
          </a:p>
        </p:txBody>
      </p:sp>
      <p:graphicFrame>
        <p:nvGraphicFramePr>
          <p:cNvPr id="77834" name="对象 77833"/>
          <p:cNvGraphicFramePr/>
          <p:nvPr/>
        </p:nvGraphicFramePr>
        <p:xfrm>
          <a:off x="4377690" y="4727575"/>
          <a:ext cx="3967480" cy="652145"/>
        </p:xfrm>
        <a:graphic>
          <a:graphicData uri="http://schemas.openxmlformats.org/presentationml/2006/ole">
            <mc:AlternateContent xmlns:mc="http://schemas.openxmlformats.org/markup-compatibility/2006">
              <mc:Choice xmlns:v="urn:schemas-microsoft-com:vml" Requires="v">
                <p:oleObj spid="_x0000_s3209" name="" r:id="rId5" imgW="1435100" imgH="254000" progId="Equation.3">
                  <p:embed/>
                </p:oleObj>
              </mc:Choice>
              <mc:Fallback>
                <p:oleObj name="" r:id="rId5" imgW="1435100" imgH="254000" progId="Equation.3">
                  <p:embed/>
                  <p:pic>
                    <p:nvPicPr>
                      <p:cNvPr id="0" name="图片 3208"/>
                      <p:cNvPicPr/>
                      <p:nvPr/>
                    </p:nvPicPr>
                    <p:blipFill>
                      <a:blip r:embed="rId6"/>
                      <a:stretch>
                        <a:fillRect/>
                      </a:stretch>
                    </p:blipFill>
                    <p:spPr>
                      <a:xfrm>
                        <a:off x="4377690" y="4727575"/>
                        <a:ext cx="3967480" cy="652145"/>
                      </a:xfrm>
                      <a:prstGeom prst="rect">
                        <a:avLst/>
                      </a:prstGeom>
                      <a:noFill/>
                      <a:ln w="38100">
                        <a:noFill/>
                        <a:miter/>
                      </a:ln>
                    </p:spPr>
                  </p:pic>
                </p:oleObj>
              </mc:Fallback>
            </mc:AlternateContent>
          </a:graphicData>
        </a:graphic>
      </p:graphicFrame>
      <p:graphicFrame>
        <p:nvGraphicFramePr>
          <p:cNvPr id="77835" name="对象 77834"/>
          <p:cNvGraphicFramePr/>
          <p:nvPr/>
        </p:nvGraphicFramePr>
        <p:xfrm>
          <a:off x="4377690" y="5652770"/>
          <a:ext cx="3004820" cy="920115"/>
        </p:xfrm>
        <a:graphic>
          <a:graphicData uri="http://schemas.openxmlformats.org/presentationml/2006/ole">
            <mc:AlternateContent xmlns:mc="http://schemas.openxmlformats.org/markup-compatibility/2006">
              <mc:Choice xmlns:v="urn:schemas-microsoft-com:vml" Requires="v">
                <p:oleObj spid="_x0000_s3208" name="" r:id="rId7" imgW="889000" imgH="228600" progId="Equation.3">
                  <p:embed/>
                </p:oleObj>
              </mc:Choice>
              <mc:Fallback>
                <p:oleObj name="" r:id="rId7" imgW="889000" imgH="228600" progId="Equation.3">
                  <p:embed/>
                  <p:pic>
                    <p:nvPicPr>
                      <p:cNvPr id="0" name="图片 3207"/>
                      <p:cNvPicPr/>
                      <p:nvPr/>
                    </p:nvPicPr>
                    <p:blipFill>
                      <a:blip r:embed="rId8"/>
                      <a:stretch>
                        <a:fillRect/>
                      </a:stretch>
                    </p:blipFill>
                    <p:spPr>
                      <a:xfrm>
                        <a:off x="4377690" y="5652770"/>
                        <a:ext cx="3004820" cy="920115"/>
                      </a:xfrm>
                      <a:prstGeom prst="rect">
                        <a:avLst/>
                      </a:prstGeom>
                      <a:noFill/>
                      <a:ln w="38100">
                        <a:noFill/>
                        <a:miter/>
                      </a:ln>
                    </p:spPr>
                  </p:pic>
                </p:oleObj>
              </mc:Fallback>
            </mc:AlternateContent>
          </a:graphicData>
        </a:graphic>
      </p:graphicFrame>
      <p:graphicFrame>
        <p:nvGraphicFramePr>
          <p:cNvPr id="77836" name="对象 77835"/>
          <p:cNvGraphicFramePr/>
          <p:nvPr/>
        </p:nvGraphicFramePr>
        <p:xfrm>
          <a:off x="1448435" y="4293235"/>
          <a:ext cx="2882265" cy="1727200"/>
        </p:xfrm>
        <a:graphic>
          <a:graphicData uri="http://schemas.openxmlformats.org/presentationml/2006/ole">
            <mc:AlternateContent xmlns:mc="http://schemas.openxmlformats.org/markup-compatibility/2006">
              <mc:Choice xmlns:v="urn:schemas-microsoft-com:vml" Requires="v">
                <p:oleObj spid="_x0000_s3215" name="" r:id="rId9" imgW="2946400" imgH="1727200" progId="Equation.3">
                  <p:embed/>
                </p:oleObj>
              </mc:Choice>
              <mc:Fallback>
                <p:oleObj name="" r:id="rId9" imgW="2946400" imgH="1727200" progId="Equation.3">
                  <p:embed/>
                  <p:pic>
                    <p:nvPicPr>
                      <p:cNvPr id="0" name="图片 3214"/>
                      <p:cNvPicPr/>
                      <p:nvPr/>
                    </p:nvPicPr>
                    <p:blipFill>
                      <a:blip r:embed="rId10"/>
                      <a:stretch>
                        <a:fillRect/>
                      </a:stretch>
                    </p:blipFill>
                    <p:spPr>
                      <a:xfrm>
                        <a:off x="1448435" y="4293235"/>
                        <a:ext cx="2882265" cy="1727200"/>
                      </a:xfrm>
                      <a:prstGeom prst="rect">
                        <a:avLst/>
                      </a:prstGeom>
                      <a:noFill/>
                      <a:ln w="38100">
                        <a:noFill/>
                        <a:miter/>
                      </a:ln>
                    </p:spPr>
                  </p:pic>
                </p:oleObj>
              </mc:Fallback>
            </mc:AlternateContent>
          </a:graphicData>
        </a:graphic>
      </p:graphicFrame>
      <p:sp>
        <p:nvSpPr>
          <p:cNvPr id="77837" name="文本框 77836"/>
          <p:cNvSpPr txBox="1"/>
          <p:nvPr/>
        </p:nvSpPr>
        <p:spPr>
          <a:xfrm>
            <a:off x="373380" y="4840605"/>
            <a:ext cx="1273175" cy="584835"/>
          </a:xfrm>
          <a:prstGeom prst="rect">
            <a:avLst/>
          </a:prstGeom>
          <a:noFill/>
          <a:ln w="9525">
            <a:noFill/>
          </a:ln>
        </p:spPr>
        <p:txBody>
          <a:bodyPr wrap="square" anchor="t" anchorCtr="0">
            <a:noAutofit/>
          </a:bodyPr>
          <a:p>
            <a:r>
              <a:rPr lang="zh-CN" altLang="en-US" dirty="0">
                <a:latin typeface="Times New Roman" panose="02020603050405020304" pitchFamily="18" charset="0"/>
              </a:rPr>
              <a:t>即</a:t>
            </a:r>
            <a:r>
              <a:rPr lang="en-US" altLang="zh-CN" dirty="0">
                <a:latin typeface="Times New Roman" panose="02020603050405020304" pitchFamily="18" charset="0"/>
              </a:rPr>
              <a:t> D=</a:t>
            </a:r>
            <a:endParaRPr lang="en-US" altLang="zh-CN"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7826">
                                            <p:txEl>
                                              <p:charRg st="0" end="13"/>
                                            </p:txEl>
                                          </p:spTgt>
                                        </p:tgtEl>
                                        <p:attrNameLst>
                                          <p:attrName>style.visibility</p:attrName>
                                        </p:attrNameLst>
                                      </p:cBhvr>
                                      <p:to>
                                        <p:strVal val="visible"/>
                                      </p:to>
                                    </p:set>
                                    <p:animEffect transition="in" filter="box(out)">
                                      <p:cBhvr>
                                        <p:cTn id="7" dur="500"/>
                                        <p:tgtEl>
                                          <p:spTgt spid="77826">
                                            <p:txEl>
                                              <p:charRg st="0" end="13"/>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77827"/>
                                        </p:tgtEl>
                                        <p:attrNameLst>
                                          <p:attrName>style.visibility</p:attrName>
                                        </p:attrNameLst>
                                      </p:cBhvr>
                                      <p:to>
                                        <p:strVal val="visible"/>
                                      </p:to>
                                    </p:set>
                                    <p:animEffect transition="in" filter="box(out)">
                                      <p:cBhvr>
                                        <p:cTn id="11" dur="500"/>
                                        <p:tgtEl>
                                          <p:spTgt spid="77827"/>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77828">
                                            <p:txEl>
                                              <p:charRg st="0" end="6"/>
                                            </p:txEl>
                                          </p:spTgt>
                                        </p:tgtEl>
                                        <p:attrNameLst>
                                          <p:attrName>style.visibility</p:attrName>
                                        </p:attrNameLst>
                                      </p:cBhvr>
                                      <p:to>
                                        <p:strVal val="visible"/>
                                      </p:to>
                                    </p:set>
                                    <p:animEffect transition="in" filter="box(out)">
                                      <p:cBhvr>
                                        <p:cTn id="16" dur="500"/>
                                        <p:tgtEl>
                                          <p:spTgt spid="77828">
                                            <p:txEl>
                                              <p:charRg st="0"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77829">
                                            <p:txEl>
                                              <p:charRg st="0" end="12"/>
                                            </p:txEl>
                                          </p:spTgt>
                                        </p:tgtEl>
                                        <p:attrNameLst>
                                          <p:attrName>style.visibility</p:attrName>
                                        </p:attrNameLst>
                                      </p:cBhvr>
                                      <p:to>
                                        <p:strVal val="visible"/>
                                      </p:to>
                                    </p:set>
                                    <p:animEffect transition="in" filter="box(out)">
                                      <p:cBhvr>
                                        <p:cTn id="21" dur="500"/>
                                        <p:tgtEl>
                                          <p:spTgt spid="77829">
                                            <p:txEl>
                                              <p:charRg st="0" end="12"/>
                                            </p:txEl>
                                          </p:spTgt>
                                        </p:tgtEl>
                                      </p:cBhvr>
                                    </p:animEffect>
                                  </p:childTnLst>
                                </p:cTn>
                              </p:par>
                            </p:childTnLst>
                          </p:cTn>
                        </p:par>
                        <p:par>
                          <p:cTn id="22" fill="hold">
                            <p:stCondLst>
                              <p:cond delay="500"/>
                            </p:stCondLst>
                            <p:childTnLst>
                              <p:par>
                                <p:cTn id="23" presetID="4" presetClass="entr" presetSubtype="32" fill="hold" nodeType="afterEffect">
                                  <p:stCondLst>
                                    <p:cond delay="0"/>
                                  </p:stCondLst>
                                  <p:childTnLst>
                                    <p:set>
                                      <p:cBhvr>
                                        <p:cTn id="24" dur="1" fill="hold">
                                          <p:stCondLst>
                                            <p:cond delay="0"/>
                                          </p:stCondLst>
                                        </p:cTn>
                                        <p:tgtEl>
                                          <p:spTgt spid="77830"/>
                                        </p:tgtEl>
                                        <p:attrNameLst>
                                          <p:attrName>style.visibility</p:attrName>
                                        </p:attrNameLst>
                                      </p:cBhvr>
                                      <p:to>
                                        <p:strVal val="visible"/>
                                      </p:to>
                                    </p:set>
                                    <p:animEffect transition="in" filter="box(out)">
                                      <p:cBhvr>
                                        <p:cTn id="25" dur="500"/>
                                        <p:tgtEl>
                                          <p:spTgt spid="77830"/>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77832">
                                            <p:txEl>
                                              <p:charRg st="0" end="17"/>
                                            </p:txEl>
                                          </p:spTgt>
                                        </p:tgtEl>
                                        <p:attrNameLst>
                                          <p:attrName>style.visibility</p:attrName>
                                        </p:attrNameLst>
                                      </p:cBhvr>
                                      <p:to>
                                        <p:strVal val="visible"/>
                                      </p:to>
                                    </p:set>
                                    <p:animEffect transition="in" filter="box(out)">
                                      <p:cBhvr>
                                        <p:cTn id="30" dur="500"/>
                                        <p:tgtEl>
                                          <p:spTgt spid="77832">
                                            <p:txEl>
                                              <p:charRg st="0" end="17"/>
                                            </p:txEl>
                                          </p:spTgt>
                                        </p:tgtEl>
                                      </p:cBhvr>
                                    </p:animEffect>
                                  </p:childTnLst>
                                </p:cTn>
                              </p:par>
                            </p:childTnLst>
                          </p:cTn>
                        </p:par>
                        <p:par>
                          <p:cTn id="31" fill="hold">
                            <p:stCondLst>
                              <p:cond delay="500"/>
                            </p:stCondLst>
                            <p:childTnLst>
                              <p:par>
                                <p:cTn id="32" presetID="4" presetClass="entr" presetSubtype="32" fill="hold" grpId="0" nodeType="afterEffect">
                                  <p:stCondLst>
                                    <p:cond delay="0"/>
                                  </p:stCondLst>
                                  <p:childTnLst>
                                    <p:set>
                                      <p:cBhvr>
                                        <p:cTn id="33" dur="1" fill="hold">
                                          <p:stCondLst>
                                            <p:cond delay="0"/>
                                          </p:stCondLst>
                                        </p:cTn>
                                        <p:tgtEl>
                                          <p:spTgt spid="77833">
                                            <p:txEl>
                                              <p:charRg st="0" end="44"/>
                                            </p:txEl>
                                          </p:spTgt>
                                        </p:tgtEl>
                                        <p:attrNameLst>
                                          <p:attrName>style.visibility</p:attrName>
                                        </p:attrNameLst>
                                      </p:cBhvr>
                                      <p:to>
                                        <p:strVal val="visible"/>
                                      </p:to>
                                    </p:set>
                                    <p:animEffect transition="in" filter="box(out)">
                                      <p:cBhvr>
                                        <p:cTn id="34" dur="500"/>
                                        <p:tgtEl>
                                          <p:spTgt spid="77833">
                                            <p:txEl>
                                              <p:charRg st="0" end="4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77831">
                                            <p:txEl>
                                              <p:charRg st="0" end="30"/>
                                            </p:txEl>
                                          </p:spTgt>
                                        </p:tgtEl>
                                        <p:attrNameLst>
                                          <p:attrName>style.visibility</p:attrName>
                                        </p:attrNameLst>
                                      </p:cBhvr>
                                      <p:to>
                                        <p:strVal val="visible"/>
                                      </p:to>
                                    </p:set>
                                    <p:animEffect transition="in" filter="box(out)">
                                      <p:cBhvr>
                                        <p:cTn id="39" dur="500"/>
                                        <p:tgtEl>
                                          <p:spTgt spid="77831">
                                            <p:txEl>
                                              <p:charRg st="0" end="3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77837">
                                            <p:txEl>
                                              <p:charRg st="0" end="2"/>
                                            </p:txEl>
                                          </p:spTgt>
                                        </p:tgtEl>
                                        <p:attrNameLst>
                                          <p:attrName>style.visibility</p:attrName>
                                        </p:attrNameLst>
                                      </p:cBhvr>
                                      <p:to>
                                        <p:strVal val="visible"/>
                                      </p:to>
                                    </p:set>
                                    <p:animEffect transition="in" filter="box(out)">
                                      <p:cBhvr>
                                        <p:cTn id="44" dur="500"/>
                                        <p:tgtEl>
                                          <p:spTgt spid="77837">
                                            <p:txEl>
                                              <p:charRg st="0" end="2"/>
                                            </p:txEl>
                                          </p:spTgt>
                                        </p:tgtEl>
                                      </p:cBhvr>
                                    </p:animEffect>
                                  </p:childTnLst>
                                </p:cTn>
                              </p:par>
                            </p:childTnLst>
                          </p:cTn>
                        </p:par>
                        <p:par>
                          <p:cTn id="45" fill="hold">
                            <p:stCondLst>
                              <p:cond delay="500"/>
                            </p:stCondLst>
                            <p:childTnLst>
                              <p:par>
                                <p:cTn id="46" presetID="4" presetClass="entr" presetSubtype="32" fill="hold" nodeType="afterEffect">
                                  <p:stCondLst>
                                    <p:cond delay="0"/>
                                  </p:stCondLst>
                                  <p:childTnLst>
                                    <p:set>
                                      <p:cBhvr>
                                        <p:cTn id="47" dur="1" fill="hold">
                                          <p:stCondLst>
                                            <p:cond delay="0"/>
                                          </p:stCondLst>
                                        </p:cTn>
                                        <p:tgtEl>
                                          <p:spTgt spid="77836"/>
                                        </p:tgtEl>
                                        <p:attrNameLst>
                                          <p:attrName>style.visibility</p:attrName>
                                        </p:attrNameLst>
                                      </p:cBhvr>
                                      <p:to>
                                        <p:strVal val="visible"/>
                                      </p:to>
                                    </p:set>
                                    <p:animEffect transition="in" filter="box(out)">
                                      <p:cBhvr>
                                        <p:cTn id="48" dur="500"/>
                                        <p:tgtEl>
                                          <p:spTgt spid="77836"/>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32" fill="hold" nodeType="clickEffect">
                                  <p:stCondLst>
                                    <p:cond delay="0"/>
                                  </p:stCondLst>
                                  <p:childTnLst>
                                    <p:set>
                                      <p:cBhvr>
                                        <p:cTn id="52" dur="1" fill="hold">
                                          <p:stCondLst>
                                            <p:cond delay="0"/>
                                          </p:stCondLst>
                                        </p:cTn>
                                        <p:tgtEl>
                                          <p:spTgt spid="77834"/>
                                        </p:tgtEl>
                                        <p:attrNameLst>
                                          <p:attrName>style.visibility</p:attrName>
                                        </p:attrNameLst>
                                      </p:cBhvr>
                                      <p:to>
                                        <p:strVal val="visible"/>
                                      </p:to>
                                    </p:set>
                                    <p:animEffect transition="in" filter="box(out)">
                                      <p:cBhvr>
                                        <p:cTn id="53" dur="500"/>
                                        <p:tgtEl>
                                          <p:spTgt spid="77834"/>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32" fill="hold" nodeType="clickEffect">
                                  <p:stCondLst>
                                    <p:cond delay="0"/>
                                  </p:stCondLst>
                                  <p:childTnLst>
                                    <p:set>
                                      <p:cBhvr>
                                        <p:cTn id="57" dur="1" fill="hold">
                                          <p:stCondLst>
                                            <p:cond delay="0"/>
                                          </p:stCondLst>
                                        </p:cTn>
                                        <p:tgtEl>
                                          <p:spTgt spid="77835"/>
                                        </p:tgtEl>
                                        <p:attrNameLst>
                                          <p:attrName>style.visibility</p:attrName>
                                        </p:attrNameLst>
                                      </p:cBhvr>
                                      <p:to>
                                        <p:strVal val="visible"/>
                                      </p:to>
                                    </p:set>
                                    <p:animEffect transition="in" filter="box(out)">
                                      <p:cBhvr>
                                        <p:cTn id="58" dur="500"/>
                                        <p:tgtEl>
                                          <p:spTgt spid="77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advAuto="1000" build="p"/>
      <p:bldP spid="77828" grpId="0" build="p"/>
      <p:bldP spid="77829" grpId="0" build="p"/>
      <p:bldP spid="77831" grpId="0" build="p"/>
      <p:bldP spid="77832" grpId="0" build="p"/>
      <p:bldP spid="77833" grpId="0" advAuto="1000" build="p"/>
      <p:bldP spid="77837"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8850" name="对象 78849"/>
          <p:cNvGraphicFramePr/>
          <p:nvPr/>
        </p:nvGraphicFramePr>
        <p:xfrm>
          <a:off x="1960563" y="304800"/>
          <a:ext cx="2679700" cy="1473200"/>
        </p:xfrm>
        <a:graphic>
          <a:graphicData uri="http://schemas.openxmlformats.org/presentationml/2006/ole">
            <mc:AlternateContent xmlns:mc="http://schemas.openxmlformats.org/markup-compatibility/2006">
              <mc:Choice xmlns:v="urn:schemas-microsoft-com:vml" Requires="v">
                <p:oleObj spid="_x0000_s3210" name="" r:id="rId1" imgW="2679700" imgH="1473200" progId="Equation.3">
                  <p:embed/>
                </p:oleObj>
              </mc:Choice>
              <mc:Fallback>
                <p:oleObj name="" r:id="rId1" imgW="2679700" imgH="1473200" progId="Equation.3">
                  <p:embed/>
                  <p:pic>
                    <p:nvPicPr>
                      <p:cNvPr id="0" name="图片 3209"/>
                      <p:cNvPicPr/>
                      <p:nvPr/>
                    </p:nvPicPr>
                    <p:blipFill>
                      <a:blip r:embed="rId2"/>
                      <a:stretch>
                        <a:fillRect/>
                      </a:stretch>
                    </p:blipFill>
                    <p:spPr>
                      <a:xfrm>
                        <a:off x="1960563" y="304800"/>
                        <a:ext cx="2679700" cy="1473200"/>
                      </a:xfrm>
                      <a:prstGeom prst="rect">
                        <a:avLst/>
                      </a:prstGeom>
                      <a:noFill/>
                      <a:ln w="38100">
                        <a:noFill/>
                        <a:miter/>
                      </a:ln>
                    </p:spPr>
                  </p:pic>
                </p:oleObj>
              </mc:Fallback>
            </mc:AlternateContent>
          </a:graphicData>
        </a:graphic>
      </p:graphicFrame>
      <p:sp>
        <p:nvSpPr>
          <p:cNvPr id="78851" name="矩形 78850"/>
          <p:cNvSpPr/>
          <p:nvPr/>
        </p:nvSpPr>
        <p:spPr>
          <a:xfrm>
            <a:off x="611188" y="620713"/>
            <a:ext cx="895350" cy="519112"/>
          </a:xfrm>
          <a:prstGeom prst="rect">
            <a:avLst/>
          </a:prstGeom>
          <a:noFill/>
          <a:ln w="9525">
            <a:noFill/>
          </a:ln>
        </p:spPr>
        <p:txBody>
          <a:bodyPr wrap="none" anchor="t" anchorCtr="0">
            <a:spAutoFit/>
          </a:bodyPr>
          <a:p>
            <a:r>
              <a:rPr lang="zh-CN" altLang="en-US" dirty="0">
                <a:latin typeface="Times New Roman" panose="02020603050405020304" pitchFamily="18" charset="0"/>
              </a:rPr>
              <a:t>显然</a:t>
            </a:r>
            <a:endParaRPr lang="zh-CN" altLang="en-US" dirty="0">
              <a:latin typeface="Times New Roman" panose="02020603050405020304" pitchFamily="18" charset="0"/>
            </a:endParaRPr>
          </a:p>
        </p:txBody>
      </p:sp>
      <p:sp>
        <p:nvSpPr>
          <p:cNvPr id="78852" name="文本框 78851"/>
          <p:cNvSpPr txBox="1"/>
          <p:nvPr/>
        </p:nvSpPr>
        <p:spPr>
          <a:xfrm>
            <a:off x="4703763" y="762000"/>
            <a:ext cx="1773237" cy="519113"/>
          </a:xfrm>
          <a:prstGeom prst="rect">
            <a:avLst/>
          </a:prstGeom>
          <a:noFill/>
          <a:ln w="9525">
            <a:noFill/>
          </a:ln>
        </p:spPr>
        <p:txBody>
          <a:bodyPr wrap="none" anchor="t" anchorCtr="0">
            <a:spAutoFit/>
          </a:bodyPr>
          <a:p>
            <a:r>
              <a:rPr lang="en-US" altLang="zh-CN">
                <a:latin typeface="Times New Roman" panose="02020603050405020304" pitchFamily="18" charset="0"/>
              </a:rPr>
              <a:t>= 1</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4</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5</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8</a:t>
            </a:r>
            <a:endParaRPr lang="en-US" altLang="zh-CN">
              <a:latin typeface="Times New Roman" panose="02020603050405020304" pitchFamily="18" charset="0"/>
            </a:endParaRPr>
          </a:p>
        </p:txBody>
      </p:sp>
      <p:graphicFrame>
        <p:nvGraphicFramePr>
          <p:cNvPr id="78853" name="对象 78852"/>
          <p:cNvGraphicFramePr/>
          <p:nvPr/>
        </p:nvGraphicFramePr>
        <p:xfrm>
          <a:off x="684213" y="2997200"/>
          <a:ext cx="4773612" cy="2297113"/>
        </p:xfrm>
        <a:graphic>
          <a:graphicData uri="http://schemas.openxmlformats.org/presentationml/2006/ole">
            <mc:AlternateContent xmlns:mc="http://schemas.openxmlformats.org/markup-compatibility/2006">
              <mc:Choice xmlns:v="urn:schemas-microsoft-com:vml" Requires="v">
                <p:oleObj spid="_x0000_s3218" name="" r:id="rId3" imgW="4775200" imgH="2298700" progId="Equation.3">
                  <p:embed/>
                </p:oleObj>
              </mc:Choice>
              <mc:Fallback>
                <p:oleObj name="" r:id="rId3" imgW="4775200" imgH="2298700" progId="Equation.3">
                  <p:embed/>
                  <p:pic>
                    <p:nvPicPr>
                      <p:cNvPr id="0" name="图片 3217"/>
                      <p:cNvPicPr/>
                      <p:nvPr/>
                    </p:nvPicPr>
                    <p:blipFill>
                      <a:blip r:embed="rId4"/>
                      <a:stretch>
                        <a:fillRect/>
                      </a:stretch>
                    </p:blipFill>
                    <p:spPr>
                      <a:xfrm>
                        <a:off x="684213" y="2997200"/>
                        <a:ext cx="4773612" cy="2297113"/>
                      </a:xfrm>
                      <a:prstGeom prst="rect">
                        <a:avLst/>
                      </a:prstGeom>
                      <a:noFill/>
                      <a:ln w="38100">
                        <a:noFill/>
                        <a:miter/>
                      </a:ln>
                    </p:spPr>
                  </p:pic>
                </p:oleObj>
              </mc:Fallback>
            </mc:AlternateContent>
          </a:graphicData>
        </a:graphic>
      </p:graphicFrame>
      <p:graphicFrame>
        <p:nvGraphicFramePr>
          <p:cNvPr id="78854" name="对象 78853"/>
          <p:cNvGraphicFramePr/>
          <p:nvPr/>
        </p:nvGraphicFramePr>
        <p:xfrm>
          <a:off x="5651500" y="3933825"/>
          <a:ext cx="2044700" cy="431800"/>
        </p:xfrm>
        <a:graphic>
          <a:graphicData uri="http://schemas.openxmlformats.org/presentationml/2006/ole">
            <mc:AlternateContent xmlns:mc="http://schemas.openxmlformats.org/markup-compatibility/2006">
              <mc:Choice xmlns:v="urn:schemas-microsoft-com:vml" Requires="v">
                <p:oleObj spid="_x0000_s3217" name="" r:id="rId5" imgW="2044065" imgH="431800" progId="Equation.3">
                  <p:embed/>
                </p:oleObj>
              </mc:Choice>
              <mc:Fallback>
                <p:oleObj name="" r:id="rId5" imgW="2044065" imgH="431800" progId="Equation.3">
                  <p:embed/>
                  <p:pic>
                    <p:nvPicPr>
                      <p:cNvPr id="0" name="图片 3216"/>
                      <p:cNvPicPr/>
                      <p:nvPr/>
                    </p:nvPicPr>
                    <p:blipFill>
                      <a:blip r:embed="rId6"/>
                      <a:stretch>
                        <a:fillRect/>
                      </a:stretch>
                    </p:blipFill>
                    <p:spPr>
                      <a:xfrm>
                        <a:off x="5651500" y="3933825"/>
                        <a:ext cx="2044700" cy="431800"/>
                      </a:xfrm>
                      <a:prstGeom prst="rect">
                        <a:avLst/>
                      </a:prstGeom>
                      <a:noFill/>
                      <a:ln w="38100">
                        <a:noFill/>
                        <a:miter/>
                      </a:ln>
                    </p:spPr>
                  </p:pic>
                </p:oleObj>
              </mc:Fallback>
            </mc:AlternateContent>
          </a:graphicData>
        </a:graphic>
      </p:graphicFrame>
      <p:sp>
        <p:nvSpPr>
          <p:cNvPr id="78855" name="矩形 78854"/>
          <p:cNvSpPr/>
          <p:nvPr/>
        </p:nvSpPr>
        <p:spPr>
          <a:xfrm>
            <a:off x="539750" y="2133600"/>
            <a:ext cx="3740150" cy="519113"/>
          </a:xfrm>
          <a:prstGeom prst="rect">
            <a:avLst/>
          </a:prstGeom>
          <a:noFill/>
          <a:ln w="9525">
            <a:noFill/>
          </a:ln>
        </p:spPr>
        <p:txBody>
          <a:bodyPr wrap="none" anchor="t" anchorCtr="0">
            <a:spAutoFit/>
          </a:bodyPr>
          <a:p>
            <a:r>
              <a:rPr lang="zh-CN" altLang="en-US" dirty="0">
                <a:latin typeface="Times New Roman" panose="02020603050405020304" pitchFamily="18" charset="0"/>
              </a:rPr>
              <a:t>同理可得</a:t>
            </a:r>
            <a:r>
              <a:rPr lang="zh-CN" altLang="en-US" dirty="0">
                <a:solidFill>
                  <a:srgbClr val="FF3300"/>
                </a:solidFill>
                <a:latin typeface="Times New Roman" panose="02020603050405020304" pitchFamily="18" charset="0"/>
              </a:rPr>
              <a:t>下三角行列式</a:t>
            </a:r>
            <a:endParaRPr lang="zh-CN" altLang="en-US" dirty="0">
              <a:solidFill>
                <a:srgbClr val="FF33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8851">
                                            <p:txEl>
                                              <p:charRg st="0" end="3"/>
                                            </p:txEl>
                                          </p:spTgt>
                                        </p:tgtEl>
                                        <p:attrNameLst>
                                          <p:attrName>style.visibility</p:attrName>
                                        </p:attrNameLst>
                                      </p:cBhvr>
                                      <p:to>
                                        <p:strVal val="visible"/>
                                      </p:to>
                                    </p:set>
                                    <p:animEffect transition="in" filter="box(out)">
                                      <p:cBhvr>
                                        <p:cTn id="7" dur="500"/>
                                        <p:tgtEl>
                                          <p:spTgt spid="78851">
                                            <p:txEl>
                                              <p:charRg st="0" end="3"/>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78850"/>
                                        </p:tgtEl>
                                        <p:attrNameLst>
                                          <p:attrName>style.visibility</p:attrName>
                                        </p:attrNameLst>
                                      </p:cBhvr>
                                      <p:to>
                                        <p:strVal val="visible"/>
                                      </p:to>
                                    </p:set>
                                    <p:animEffect transition="in" filter="box(out)">
                                      <p:cBhvr>
                                        <p:cTn id="11" dur="500"/>
                                        <p:tgtEl>
                                          <p:spTgt spid="78850"/>
                                        </p:tgtEl>
                                      </p:cBhvr>
                                    </p:animEffect>
                                  </p:childTnLst>
                                </p:cTn>
                              </p:par>
                            </p:childTnLst>
                          </p:cTn>
                        </p:par>
                        <p:par>
                          <p:cTn id="12" fill="hold">
                            <p:stCondLst>
                              <p:cond delay="1000"/>
                            </p:stCondLst>
                            <p:childTnLst>
                              <p:par>
                                <p:cTn id="13" presetID="4" presetClass="entr" presetSubtype="32" fill="hold" grpId="0" nodeType="afterEffect">
                                  <p:stCondLst>
                                    <p:cond delay="0"/>
                                  </p:stCondLst>
                                  <p:childTnLst>
                                    <p:set>
                                      <p:cBhvr>
                                        <p:cTn id="14" dur="1" fill="hold">
                                          <p:stCondLst>
                                            <p:cond delay="0"/>
                                          </p:stCondLst>
                                        </p:cTn>
                                        <p:tgtEl>
                                          <p:spTgt spid="78852">
                                            <p:txEl>
                                              <p:charRg st="0" end="10"/>
                                            </p:txEl>
                                          </p:spTgt>
                                        </p:tgtEl>
                                        <p:attrNameLst>
                                          <p:attrName>style.visibility</p:attrName>
                                        </p:attrNameLst>
                                      </p:cBhvr>
                                      <p:to>
                                        <p:strVal val="visible"/>
                                      </p:to>
                                    </p:set>
                                    <p:animEffect transition="in" filter="box(out)">
                                      <p:cBhvr>
                                        <p:cTn id="15" dur="500"/>
                                        <p:tgtEl>
                                          <p:spTgt spid="78852">
                                            <p:txEl>
                                              <p:charRg st="0" end="1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78855">
                                            <p:txEl>
                                              <p:charRg st="0" end="11"/>
                                            </p:txEl>
                                          </p:spTgt>
                                        </p:tgtEl>
                                        <p:attrNameLst>
                                          <p:attrName>style.visibility</p:attrName>
                                        </p:attrNameLst>
                                      </p:cBhvr>
                                      <p:to>
                                        <p:strVal val="visible"/>
                                      </p:to>
                                    </p:set>
                                    <p:animEffect transition="in" filter="box(out)">
                                      <p:cBhvr>
                                        <p:cTn id="20" dur="500"/>
                                        <p:tgtEl>
                                          <p:spTgt spid="78855">
                                            <p:txEl>
                                              <p:charRg st="0" end="1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78853"/>
                                        </p:tgtEl>
                                        <p:attrNameLst>
                                          <p:attrName>style.visibility</p:attrName>
                                        </p:attrNameLst>
                                      </p:cBhvr>
                                      <p:to>
                                        <p:strVal val="visible"/>
                                      </p:to>
                                    </p:set>
                                    <p:animEffect transition="in" filter="box(out)">
                                      <p:cBhvr>
                                        <p:cTn id="25" dur="500"/>
                                        <p:tgtEl>
                                          <p:spTgt spid="78853"/>
                                        </p:tgtEl>
                                      </p:cBhvr>
                                    </p:animEffect>
                                  </p:childTnLst>
                                </p:cTn>
                              </p:par>
                            </p:childTnLst>
                          </p:cTn>
                        </p:par>
                        <p:par>
                          <p:cTn id="26" fill="hold">
                            <p:stCondLst>
                              <p:cond delay="500"/>
                            </p:stCondLst>
                            <p:childTnLst>
                              <p:par>
                                <p:cTn id="27" presetID="4" presetClass="entr" presetSubtype="32" fill="hold" nodeType="afterEffect">
                                  <p:stCondLst>
                                    <p:cond delay="0"/>
                                  </p:stCondLst>
                                  <p:childTnLst>
                                    <p:set>
                                      <p:cBhvr>
                                        <p:cTn id="28" dur="1" fill="hold">
                                          <p:stCondLst>
                                            <p:cond delay="0"/>
                                          </p:stCondLst>
                                        </p:cTn>
                                        <p:tgtEl>
                                          <p:spTgt spid="78854"/>
                                        </p:tgtEl>
                                        <p:attrNameLst>
                                          <p:attrName>style.visibility</p:attrName>
                                        </p:attrNameLst>
                                      </p:cBhvr>
                                      <p:to>
                                        <p:strVal val="visible"/>
                                      </p:to>
                                    </p:set>
                                    <p:animEffect transition="in" filter="box(out)">
                                      <p:cBhvr>
                                        <p:cTn id="29" dur="500"/>
                                        <p:tgtEl>
                                          <p:spTgt spid="78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advAuto="1000" build="p"/>
      <p:bldP spid="78852" grpId="0" advAuto="1000" build="p"/>
      <p:bldP spid="7885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矩形 79873"/>
          <p:cNvSpPr/>
          <p:nvPr/>
        </p:nvSpPr>
        <p:spPr>
          <a:xfrm>
            <a:off x="539750" y="404813"/>
            <a:ext cx="1962150" cy="519112"/>
          </a:xfrm>
          <a:prstGeom prst="rect">
            <a:avLst/>
          </a:prstGeom>
          <a:noFill/>
          <a:ln w="9525">
            <a:noFill/>
          </a:ln>
        </p:spPr>
        <p:txBody>
          <a:bodyPr wrap="none" anchor="t" anchorCtr="0">
            <a:spAutoFit/>
          </a:bodyPr>
          <a:p>
            <a:r>
              <a:rPr lang="zh-CN" altLang="en-US" dirty="0">
                <a:solidFill>
                  <a:srgbClr val="0000FF"/>
                </a:solidFill>
                <a:latin typeface="Times New Roman" panose="02020603050405020304" pitchFamily="18" charset="0"/>
                <a:ea typeface="黑体" panose="02010609060101010101" pitchFamily="2" charset="-122"/>
              </a:rPr>
              <a:t>对角行列式</a:t>
            </a:r>
            <a:endParaRPr lang="zh-CN" altLang="en-US" dirty="0">
              <a:solidFill>
                <a:srgbClr val="0000FF"/>
              </a:solidFill>
              <a:latin typeface="Times New Roman" panose="02020603050405020304" pitchFamily="18" charset="0"/>
              <a:ea typeface="黑体" panose="02010609060101010101" pitchFamily="2" charset="-122"/>
            </a:endParaRPr>
          </a:p>
        </p:txBody>
      </p:sp>
      <p:graphicFrame>
        <p:nvGraphicFramePr>
          <p:cNvPr id="79875" name="对象 79874"/>
          <p:cNvGraphicFramePr/>
          <p:nvPr/>
        </p:nvGraphicFramePr>
        <p:xfrm>
          <a:off x="4067810" y="1628458"/>
          <a:ext cx="1765300" cy="431800"/>
        </p:xfrm>
        <a:graphic>
          <a:graphicData uri="http://schemas.openxmlformats.org/presentationml/2006/ole">
            <mc:AlternateContent xmlns:mc="http://schemas.openxmlformats.org/markup-compatibility/2006">
              <mc:Choice xmlns:v="urn:schemas-microsoft-com:vml" Requires="v">
                <p:oleObj spid="_x0000_s3265" name="" r:id="rId1" imgW="1764665" imgH="431800" progId="Equation.3">
                  <p:embed/>
                </p:oleObj>
              </mc:Choice>
              <mc:Fallback>
                <p:oleObj name="" r:id="rId1" imgW="1764665" imgH="431800" progId="Equation.3">
                  <p:embed/>
                  <p:pic>
                    <p:nvPicPr>
                      <p:cNvPr id="0" name="图片 3264"/>
                      <p:cNvPicPr/>
                      <p:nvPr/>
                    </p:nvPicPr>
                    <p:blipFill>
                      <a:blip r:embed="rId2"/>
                      <a:stretch>
                        <a:fillRect/>
                      </a:stretch>
                    </p:blipFill>
                    <p:spPr>
                      <a:xfrm>
                        <a:off x="4067810" y="1628458"/>
                        <a:ext cx="1765300" cy="431800"/>
                      </a:xfrm>
                      <a:prstGeom prst="rect">
                        <a:avLst/>
                      </a:prstGeom>
                      <a:noFill/>
                      <a:ln w="38100">
                        <a:noFill/>
                        <a:miter/>
                      </a:ln>
                    </p:spPr>
                  </p:pic>
                </p:oleObj>
              </mc:Fallback>
            </mc:AlternateContent>
          </a:graphicData>
        </a:graphic>
      </p:graphicFrame>
      <p:graphicFrame>
        <p:nvGraphicFramePr>
          <p:cNvPr id="79876" name="对象 79875"/>
          <p:cNvGraphicFramePr/>
          <p:nvPr/>
        </p:nvGraphicFramePr>
        <p:xfrm>
          <a:off x="965835" y="924560"/>
          <a:ext cx="3026410" cy="2061210"/>
        </p:xfrm>
        <a:graphic>
          <a:graphicData uri="http://schemas.openxmlformats.org/presentationml/2006/ole">
            <mc:AlternateContent xmlns:mc="http://schemas.openxmlformats.org/markup-compatibility/2006">
              <mc:Choice xmlns:v="urn:schemas-microsoft-com:vml" Requires="v">
                <p:oleObj spid="_x0000_s3260" name="" r:id="rId3" imgW="1143000" imgH="939800" progId="Equation.3">
                  <p:embed/>
                </p:oleObj>
              </mc:Choice>
              <mc:Fallback>
                <p:oleObj name="" r:id="rId3" imgW="1143000" imgH="939800" progId="Equation.3">
                  <p:embed/>
                  <p:pic>
                    <p:nvPicPr>
                      <p:cNvPr id="0" name="图片 3259"/>
                      <p:cNvPicPr/>
                      <p:nvPr/>
                    </p:nvPicPr>
                    <p:blipFill>
                      <a:blip r:embed="rId4"/>
                      <a:stretch>
                        <a:fillRect/>
                      </a:stretch>
                    </p:blipFill>
                    <p:spPr>
                      <a:xfrm>
                        <a:off x="965835" y="924560"/>
                        <a:ext cx="3026410" cy="2061210"/>
                      </a:xfrm>
                      <a:prstGeom prst="rect">
                        <a:avLst/>
                      </a:prstGeom>
                      <a:noFill/>
                      <a:ln w="38100">
                        <a:noFill/>
                        <a:miter/>
                      </a:ln>
                    </p:spPr>
                  </p:pic>
                </p:oleObj>
              </mc:Fallback>
            </mc:AlternateContent>
          </a:graphicData>
        </a:graphic>
      </p:graphicFrame>
      <p:graphicFrame>
        <p:nvGraphicFramePr>
          <p:cNvPr id="2" name="对象 -2147482422"/>
          <p:cNvGraphicFramePr>
            <a:graphicFrameLocks noChangeAspect="1"/>
          </p:cNvGraphicFramePr>
          <p:nvPr/>
        </p:nvGraphicFramePr>
        <p:xfrm>
          <a:off x="971550" y="3789045"/>
          <a:ext cx="6385560" cy="2538095"/>
        </p:xfrm>
        <a:graphic>
          <a:graphicData uri="http://schemas.openxmlformats.org/presentationml/2006/ole">
            <mc:AlternateContent xmlns:mc="http://schemas.openxmlformats.org/markup-compatibility/2006">
              <mc:Choice xmlns:v="urn:schemas-microsoft-com:vml" Requires="v">
                <p:oleObj spid="_x0000_s3076" name="" r:id="rId5" imgW="2870200" imgH="939800" progId="Equation.3">
                  <p:embed/>
                </p:oleObj>
              </mc:Choice>
              <mc:Fallback>
                <p:oleObj name="" r:id="rId5" imgW="2870200" imgH="939800" progId="Equation.3">
                  <p:embed/>
                  <p:pic>
                    <p:nvPicPr>
                      <p:cNvPr id="0" name="图片 3075"/>
                      <p:cNvPicPr/>
                      <p:nvPr/>
                    </p:nvPicPr>
                    <p:blipFill>
                      <a:blip r:embed="rId6"/>
                      <a:stretch>
                        <a:fillRect/>
                      </a:stretch>
                    </p:blipFill>
                    <p:spPr>
                      <a:xfrm>
                        <a:off x="971550" y="3789045"/>
                        <a:ext cx="6385560" cy="2538095"/>
                      </a:xfrm>
                      <a:prstGeom prst="rect">
                        <a:avLst/>
                      </a:prstGeom>
                      <a:noFill/>
                      <a:ln w="38100">
                        <a:noFill/>
                        <a:miter/>
                      </a:ln>
                    </p:spPr>
                  </p:pic>
                </p:oleObj>
              </mc:Fallback>
            </mc:AlternateContent>
          </a:graphicData>
        </a:graphic>
      </p:graphicFrame>
      <p:sp>
        <p:nvSpPr>
          <p:cNvPr id="3" name="矩形 2"/>
          <p:cNvSpPr/>
          <p:nvPr/>
        </p:nvSpPr>
        <p:spPr>
          <a:xfrm>
            <a:off x="666750" y="3269615"/>
            <a:ext cx="2327910" cy="579120"/>
          </a:xfrm>
          <a:prstGeom prst="rect">
            <a:avLst/>
          </a:prstGeom>
          <a:noFill/>
          <a:ln w="9525">
            <a:noFill/>
          </a:ln>
        </p:spPr>
        <p:txBody>
          <a:bodyPr wrap="none" anchor="t" anchorCtr="0">
            <a:noAutofit/>
          </a:bodyPr>
          <a:p>
            <a:r>
              <a:rPr lang="zh-CN" altLang="en-US" dirty="0">
                <a:solidFill>
                  <a:srgbClr val="0000FF"/>
                </a:solidFill>
                <a:latin typeface="Times New Roman" panose="02020603050405020304" pitchFamily="18" charset="0"/>
                <a:ea typeface="黑体" panose="02010609060101010101" pitchFamily="2" charset="-122"/>
              </a:rPr>
              <a:t>反对角行列式</a:t>
            </a:r>
            <a:endParaRPr lang="zh-CN" altLang="en-US" dirty="0">
              <a:solidFill>
                <a:srgbClr val="0000FF"/>
              </a:solidFill>
              <a:latin typeface="Times New Roman" panose="02020603050405020304" pitchFamily="18"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9874">
                                            <p:txEl>
                                              <p:charRg st="0" end="6"/>
                                            </p:txEl>
                                          </p:spTgt>
                                        </p:tgtEl>
                                        <p:attrNameLst>
                                          <p:attrName>style.visibility</p:attrName>
                                        </p:attrNameLst>
                                      </p:cBhvr>
                                      <p:to>
                                        <p:strVal val="visible"/>
                                      </p:to>
                                    </p:set>
                                    <p:animEffect transition="in" filter="box(out)">
                                      <p:cBhvr>
                                        <p:cTn id="7" dur="500"/>
                                        <p:tgtEl>
                                          <p:spTgt spid="79874">
                                            <p:txEl>
                                              <p:charRg st="0" end="6"/>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79876"/>
                                        </p:tgtEl>
                                        <p:attrNameLst>
                                          <p:attrName>style.visibility</p:attrName>
                                        </p:attrNameLst>
                                      </p:cBhvr>
                                      <p:to>
                                        <p:strVal val="visible"/>
                                      </p:to>
                                    </p:set>
                                    <p:animEffect transition="in" filter="box(out)">
                                      <p:cBhvr>
                                        <p:cTn id="11" dur="500"/>
                                        <p:tgtEl>
                                          <p:spTgt spid="7987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79875"/>
                                        </p:tgtEl>
                                        <p:attrNameLst>
                                          <p:attrName>style.visibility</p:attrName>
                                        </p:attrNameLst>
                                      </p:cBhvr>
                                      <p:to>
                                        <p:strVal val="visible"/>
                                      </p:to>
                                    </p:set>
                                    <p:animEffect transition="in" filter="box(out)">
                                      <p:cBhvr>
                                        <p:cTn id="16" dur="500"/>
                                        <p:tgtEl>
                                          <p:spTgt spid="7987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2">
                                            <p:txEl>
                                              <p:charRg st="0" end="6"/>
                                            </p:txEl>
                                          </p:spTgt>
                                        </p:tgtEl>
                                        <p:attrNameLst>
                                          <p:attrName>style.visibility</p:attrName>
                                        </p:attrNameLst>
                                      </p:cBhvr>
                                      <p:to>
                                        <p:strVal val="visible"/>
                                      </p:to>
                                    </p:set>
                                    <p:animEffect transition="in" filter="box(out)">
                                      <p:cBhvr>
                                        <p:cTn id="26" dur="500"/>
                                        <p:tgtEl>
                                          <p:spTgt spid="2">
                                            <p:txEl>
                                              <p:charRg st="0"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build="p"/>
      <p:bldP spid="2" grpId="0" build="p"/>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矩形 79873"/>
          <p:cNvSpPr/>
          <p:nvPr/>
        </p:nvSpPr>
        <p:spPr>
          <a:xfrm>
            <a:off x="539750" y="404813"/>
            <a:ext cx="2327910" cy="521970"/>
          </a:xfrm>
          <a:prstGeom prst="rect">
            <a:avLst/>
          </a:prstGeom>
          <a:noFill/>
          <a:ln w="9525">
            <a:noFill/>
          </a:ln>
        </p:spPr>
        <p:txBody>
          <a:bodyPr wrap="none" anchor="t" anchorCtr="0">
            <a:spAutoFit/>
          </a:bodyPr>
          <a:p>
            <a:r>
              <a:rPr lang="zh-CN" altLang="en-US" dirty="0">
                <a:solidFill>
                  <a:srgbClr val="0000FF"/>
                </a:solidFill>
                <a:latin typeface="Times New Roman" panose="02020603050405020304" pitchFamily="18" charset="0"/>
                <a:ea typeface="黑体" panose="02010609060101010101" pitchFamily="2" charset="-122"/>
              </a:rPr>
              <a:t>反三角行列式</a:t>
            </a:r>
            <a:endParaRPr lang="zh-CN" altLang="en-US" dirty="0">
              <a:solidFill>
                <a:srgbClr val="0000FF"/>
              </a:solidFill>
              <a:latin typeface="Times New Roman" panose="02020603050405020304" pitchFamily="18" charset="0"/>
              <a:ea typeface="黑体" panose="02010609060101010101" pitchFamily="2" charset="-122"/>
            </a:endParaRPr>
          </a:p>
        </p:txBody>
      </p:sp>
      <p:graphicFrame>
        <p:nvGraphicFramePr>
          <p:cNvPr id="2" name="对象 -2147482424"/>
          <p:cNvGraphicFramePr>
            <a:graphicFrameLocks noChangeAspect="1"/>
          </p:cNvGraphicFramePr>
          <p:nvPr/>
        </p:nvGraphicFramePr>
        <p:xfrm>
          <a:off x="611505" y="1085215"/>
          <a:ext cx="8309610" cy="2421255"/>
        </p:xfrm>
        <a:graphic>
          <a:graphicData uri="http://schemas.openxmlformats.org/presentationml/2006/ole">
            <mc:AlternateContent xmlns:mc="http://schemas.openxmlformats.org/markup-compatibility/2006">
              <mc:Choice xmlns:v="urn:schemas-microsoft-com:vml" Requires="v">
                <p:oleObj spid="_x0000_s3076" name="" r:id="rId1" imgW="3225800" imgH="939800" progId="Equation.3">
                  <p:embed/>
                </p:oleObj>
              </mc:Choice>
              <mc:Fallback>
                <p:oleObj name="" r:id="rId1" imgW="3225800" imgH="939800" progId="Equation.3">
                  <p:embed/>
                  <p:pic>
                    <p:nvPicPr>
                      <p:cNvPr id="0" name="图片 3075"/>
                      <p:cNvPicPr/>
                      <p:nvPr/>
                    </p:nvPicPr>
                    <p:blipFill>
                      <a:blip r:embed="rId2"/>
                      <a:stretch>
                        <a:fillRect/>
                      </a:stretch>
                    </p:blipFill>
                    <p:spPr>
                      <a:xfrm>
                        <a:off x="611505" y="1085215"/>
                        <a:ext cx="8309610" cy="2421255"/>
                      </a:xfrm>
                      <a:prstGeom prst="rect">
                        <a:avLst/>
                      </a:prstGeom>
                      <a:noFill/>
                      <a:ln w="38100">
                        <a:noFill/>
                        <a:miter/>
                      </a:ln>
                    </p:spPr>
                  </p:pic>
                </p:oleObj>
              </mc:Fallback>
            </mc:AlternateContent>
          </a:graphicData>
        </a:graphic>
      </p:graphicFrame>
      <p:graphicFrame>
        <p:nvGraphicFramePr>
          <p:cNvPr id="3" name="对象 -2147482423"/>
          <p:cNvGraphicFramePr>
            <a:graphicFrameLocks noChangeAspect="1"/>
          </p:cNvGraphicFramePr>
          <p:nvPr/>
        </p:nvGraphicFramePr>
        <p:xfrm>
          <a:off x="539750" y="3789045"/>
          <a:ext cx="8469630" cy="2633980"/>
        </p:xfrm>
        <a:graphic>
          <a:graphicData uri="http://schemas.openxmlformats.org/presentationml/2006/ole">
            <mc:AlternateContent xmlns:mc="http://schemas.openxmlformats.org/markup-compatibility/2006">
              <mc:Choice xmlns:v="urn:schemas-microsoft-com:vml" Requires="v">
                <p:oleObj spid="_x0000_s4" name="" r:id="rId3" imgW="3022600" imgH="939800" progId="Equation.3">
                  <p:embed/>
                </p:oleObj>
              </mc:Choice>
              <mc:Fallback>
                <p:oleObj name="" r:id="rId3" imgW="3022600" imgH="939800" progId="Equation.3">
                  <p:embed/>
                  <p:pic>
                    <p:nvPicPr>
                      <p:cNvPr id="0" name="图片 1"/>
                      <p:cNvPicPr/>
                      <p:nvPr/>
                    </p:nvPicPr>
                    <p:blipFill>
                      <a:blip r:embed="rId4"/>
                      <a:stretch>
                        <a:fillRect/>
                      </a:stretch>
                    </p:blipFill>
                    <p:spPr>
                      <a:xfrm>
                        <a:off x="539750" y="3789045"/>
                        <a:ext cx="8469630" cy="26339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79874">
                                            <p:txEl>
                                              <p:charRg st="0" end="6"/>
                                            </p:txEl>
                                          </p:spTgt>
                                        </p:tgtEl>
                                        <p:attrNameLst>
                                          <p:attrName>style.visibility</p:attrName>
                                        </p:attrNameLst>
                                      </p:cBhvr>
                                      <p:to>
                                        <p:strVal val="visible"/>
                                      </p:to>
                                    </p:set>
                                    <p:animEffect transition="in" filter="box(out)">
                                      <p:cBhvr>
                                        <p:cTn id="7" dur="500"/>
                                        <p:tgtEl>
                                          <p:spTgt spid="79874">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矩形 80897"/>
          <p:cNvSpPr/>
          <p:nvPr/>
        </p:nvSpPr>
        <p:spPr>
          <a:xfrm>
            <a:off x="539750" y="1332865"/>
            <a:ext cx="3683000" cy="749300"/>
          </a:xfrm>
          <a:prstGeom prst="rect">
            <a:avLst/>
          </a:prstGeom>
          <a:noFill/>
          <a:ln w="9525">
            <a:noFill/>
          </a:ln>
        </p:spPr>
        <p:txBody>
          <a:bodyPr wrap="none" anchor="t" anchorCtr="0">
            <a:noAutofit/>
          </a:bodyPr>
          <a:p>
            <a:pPr algn="l"/>
            <a:r>
              <a:rPr lang="zh-CN" altLang="en-US" dirty="0">
                <a:solidFill>
                  <a:srgbClr val="FF0000"/>
                </a:solidFill>
                <a:latin typeface="Times New Roman" panose="02020603050405020304" pitchFamily="18" charset="0"/>
                <a:ea typeface="黑体" panose="02010609060101010101" pitchFamily="2" charset="-122"/>
              </a:rPr>
              <a:t>例1.1.8</a:t>
            </a:r>
            <a:r>
              <a:rPr lang="zh-CN" altLang="en-US" dirty="0">
                <a:solidFill>
                  <a:srgbClr val="0000FF"/>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计算</a:t>
            </a:r>
            <a:r>
              <a:rPr lang="en-US" altLang="zh-CN" i="1">
                <a:sym typeface="+mn-ea"/>
              </a:rPr>
              <a:t>n</a:t>
            </a:r>
            <a:r>
              <a:rPr lang="zh-CN" altLang="en-US" dirty="0">
                <a:latin typeface="Times New Roman" panose="02020603050405020304" pitchFamily="18" charset="0"/>
              </a:rPr>
              <a:t>阶行列式</a:t>
            </a:r>
            <a:endParaRPr lang="zh-CN" altLang="en-US" dirty="0">
              <a:latin typeface="Times New Roman" panose="02020603050405020304" pitchFamily="18" charset="0"/>
            </a:endParaRPr>
          </a:p>
        </p:txBody>
      </p:sp>
      <p:sp>
        <p:nvSpPr>
          <p:cNvPr id="80901" name="矩形 80900"/>
          <p:cNvSpPr/>
          <p:nvPr/>
        </p:nvSpPr>
        <p:spPr>
          <a:xfrm>
            <a:off x="539750" y="2828925"/>
            <a:ext cx="8218170" cy="2793365"/>
          </a:xfrm>
          <a:prstGeom prst="rect">
            <a:avLst/>
          </a:prstGeom>
          <a:noFill/>
          <a:ln w="9525">
            <a:noFill/>
          </a:ln>
        </p:spPr>
        <p:txBody>
          <a:bodyPr wrap="square" anchor="t" anchorCtr="0">
            <a:noAutofit/>
          </a:bodyPr>
          <a:p>
            <a:pPr algn="l">
              <a:lnSpc>
                <a:spcPct val="110000"/>
              </a:lnSpc>
            </a:pPr>
            <a:r>
              <a:rPr lang="zh-CN" altLang="en-US">
                <a:latin typeface="Times New Roman" panose="02020603050405020304" pitchFamily="18" charset="0"/>
              </a:rPr>
              <a:t>解</a:t>
            </a:r>
            <a:r>
              <a:rPr lang="en-US" altLang="zh-CN">
                <a:latin typeface="Times New Roman" panose="02020603050405020304" pitchFamily="18" charset="0"/>
              </a:rPr>
              <a:t>: </a:t>
            </a:r>
            <a:r>
              <a:rPr lang="zh-CN" altLang="en-US">
                <a:latin typeface="Times New Roman" panose="02020603050405020304" pitchFamily="18" charset="0"/>
              </a:rPr>
              <a:t>根据行列式的定义，</a:t>
            </a:r>
            <a:r>
              <a:rPr lang="en-US" altLang="zh-CN">
                <a:latin typeface="Times New Roman" panose="02020603050405020304" pitchFamily="18" charset="0"/>
              </a:rPr>
              <a:t>D</a:t>
            </a:r>
            <a:r>
              <a:rPr lang="zh-CN" altLang="en-US">
                <a:latin typeface="Times New Roman" panose="02020603050405020304" pitchFamily="18" charset="0"/>
              </a:rPr>
              <a:t>是</a:t>
            </a:r>
            <a:r>
              <a:rPr lang="en-US" altLang="zh-CN" i="1">
                <a:sym typeface="+mn-ea"/>
              </a:rPr>
              <a:t>n</a:t>
            </a:r>
            <a:r>
              <a:rPr lang="en-US" altLang="zh-CN">
                <a:sym typeface="+mn-ea"/>
              </a:rPr>
              <a:t>! </a:t>
            </a:r>
            <a:r>
              <a:rPr lang="zh-CN" altLang="en-US">
                <a:latin typeface="Times New Roman" panose="02020603050405020304" pitchFamily="18" charset="0"/>
              </a:rPr>
              <a:t>项的代数和，然而在这个代数和中取自不同行不同列的非零乘积项的只有</a:t>
            </a:r>
            <a:r>
              <a:rPr lang="en-US" altLang="zh-CN">
                <a:latin typeface="Times New Roman" panose="02020603050405020304" pitchFamily="18" charset="0"/>
              </a:rPr>
              <a:t>                           </a:t>
            </a:r>
            <a:r>
              <a:rPr lang="zh-CN" altLang="en-US">
                <a:latin typeface="Times New Roman" panose="02020603050405020304" pitchFamily="18" charset="0"/>
              </a:rPr>
              <a:t>，将这个非零乘积项的元素所在位置的行标按自然顺序排列后，列标的排列为</a:t>
            </a:r>
            <a:r>
              <a:rPr lang="en-US" altLang="zh-CN">
                <a:latin typeface="Times New Roman" panose="02020603050405020304" pitchFamily="18" charset="0"/>
              </a:rPr>
              <a:t>                                 </a:t>
            </a:r>
            <a:r>
              <a:rPr lang="zh-CN" altLang="en-US">
                <a:latin typeface="Times New Roman" panose="02020603050405020304" pitchFamily="18" charset="0"/>
              </a:rPr>
              <a:t>，其逆序数为</a:t>
            </a:r>
            <a:endParaRPr lang="zh-CN" altLang="en-US">
              <a:latin typeface="Times New Roman" panose="02020603050405020304" pitchFamily="18" charset="0"/>
            </a:endParaRPr>
          </a:p>
          <a:p>
            <a:pPr algn="l"/>
            <a:r>
              <a:rPr lang="zh-CN" altLang="en-US">
                <a:latin typeface="Times New Roman" panose="02020603050405020304" pitchFamily="18" charset="0"/>
              </a:rPr>
              <a:t>所以行列式的值为</a:t>
            </a:r>
            <a:r>
              <a:rPr lang="en-US" altLang="zh-CN">
                <a:latin typeface="Times New Roman" panose="02020603050405020304" pitchFamily="18" charset="0"/>
              </a:rPr>
              <a:t>                                          </a:t>
            </a:r>
            <a:endParaRPr lang="en-US" altLang="zh-CN">
              <a:latin typeface="Times New Roman" panose="02020603050405020304" pitchFamily="18" charset="0"/>
            </a:endParaRPr>
          </a:p>
        </p:txBody>
      </p:sp>
      <p:graphicFrame>
        <p:nvGraphicFramePr>
          <p:cNvPr id="2" name="对象 -2147482441"/>
          <p:cNvGraphicFramePr>
            <a:graphicFrameLocks noChangeAspect="1"/>
          </p:cNvGraphicFramePr>
          <p:nvPr/>
        </p:nvGraphicFramePr>
        <p:xfrm>
          <a:off x="4222115" y="335915"/>
          <a:ext cx="3842385" cy="2493645"/>
        </p:xfrm>
        <a:graphic>
          <a:graphicData uri="http://schemas.openxmlformats.org/presentationml/2006/ole">
            <mc:AlternateContent xmlns:mc="http://schemas.openxmlformats.org/markup-compatibility/2006">
              <mc:Choice xmlns:v="urn:schemas-microsoft-com:vml" Requires="v">
                <p:oleObj spid="_x0000_s3076" name="" r:id="rId1" imgW="1562100" imgH="1143000" progId="Equation.DSMT4">
                  <p:embed/>
                </p:oleObj>
              </mc:Choice>
              <mc:Fallback>
                <p:oleObj name="" r:id="rId1" imgW="1562100" imgH="1143000" progId="Equation.DSMT4">
                  <p:embed/>
                  <p:pic>
                    <p:nvPicPr>
                      <p:cNvPr id="0" name="图片 3075"/>
                      <p:cNvPicPr/>
                      <p:nvPr/>
                    </p:nvPicPr>
                    <p:blipFill>
                      <a:blip r:embed="rId2"/>
                      <a:stretch>
                        <a:fillRect/>
                      </a:stretch>
                    </p:blipFill>
                    <p:spPr>
                      <a:xfrm>
                        <a:off x="4222115" y="335915"/>
                        <a:ext cx="3842385" cy="2493645"/>
                      </a:xfrm>
                      <a:prstGeom prst="rect">
                        <a:avLst/>
                      </a:prstGeom>
                      <a:noFill/>
                      <a:ln w="38100">
                        <a:noFill/>
                        <a:miter/>
                      </a:ln>
                    </p:spPr>
                  </p:pic>
                </p:oleObj>
              </mc:Fallback>
            </mc:AlternateContent>
          </a:graphicData>
        </a:graphic>
      </p:graphicFrame>
      <p:graphicFrame>
        <p:nvGraphicFramePr>
          <p:cNvPr id="3" name="对象 -2147482438"/>
          <p:cNvGraphicFramePr>
            <a:graphicFrameLocks noChangeAspect="1"/>
          </p:cNvGraphicFramePr>
          <p:nvPr/>
        </p:nvGraphicFramePr>
        <p:xfrm>
          <a:off x="971550" y="3764280"/>
          <a:ext cx="2420620" cy="563880"/>
        </p:xfrm>
        <a:graphic>
          <a:graphicData uri="http://schemas.openxmlformats.org/presentationml/2006/ole">
            <mc:AlternateContent xmlns:mc="http://schemas.openxmlformats.org/markup-compatibility/2006">
              <mc:Choice xmlns:v="urn:schemas-microsoft-com:vml" Requires="v">
                <p:oleObj spid="_x0000_s4" name="" r:id="rId3" imgW="1002665" imgH="177165" progId="Equation.DSMT4">
                  <p:embed/>
                </p:oleObj>
              </mc:Choice>
              <mc:Fallback>
                <p:oleObj name="" r:id="rId3" imgW="1002665" imgH="177165" progId="Equation.DSMT4">
                  <p:embed/>
                  <p:pic>
                    <p:nvPicPr>
                      <p:cNvPr id="0" name="图片 1"/>
                      <p:cNvPicPr/>
                      <p:nvPr/>
                    </p:nvPicPr>
                    <p:blipFill>
                      <a:blip r:embed="rId4"/>
                      <a:stretch>
                        <a:fillRect/>
                      </a:stretch>
                    </p:blipFill>
                    <p:spPr>
                      <a:xfrm>
                        <a:off x="971550" y="3764280"/>
                        <a:ext cx="2420620" cy="563880"/>
                      </a:xfrm>
                      <a:prstGeom prst="rect">
                        <a:avLst/>
                      </a:prstGeom>
                      <a:noFill/>
                      <a:ln w="38100">
                        <a:noFill/>
                        <a:miter/>
                      </a:ln>
                    </p:spPr>
                  </p:pic>
                </p:oleObj>
              </mc:Fallback>
            </mc:AlternateContent>
          </a:graphicData>
        </a:graphic>
      </p:graphicFrame>
      <p:graphicFrame>
        <p:nvGraphicFramePr>
          <p:cNvPr id="5" name="对象 -2147482437"/>
          <p:cNvGraphicFramePr>
            <a:graphicFrameLocks noChangeAspect="1"/>
          </p:cNvGraphicFramePr>
          <p:nvPr/>
        </p:nvGraphicFramePr>
        <p:xfrm>
          <a:off x="1064260" y="4690110"/>
          <a:ext cx="2854325" cy="556895"/>
        </p:xfrm>
        <a:graphic>
          <a:graphicData uri="http://schemas.openxmlformats.org/presentationml/2006/ole">
            <mc:AlternateContent xmlns:mc="http://schemas.openxmlformats.org/markup-compatibility/2006">
              <mc:Choice xmlns:v="urn:schemas-microsoft-com:vml" Requires="v">
                <p:oleObj spid="_x0000_s6" name="" r:id="rId5" imgW="1192530" imgH="203200" progId="Equation.DSMT4">
                  <p:embed/>
                </p:oleObj>
              </mc:Choice>
              <mc:Fallback>
                <p:oleObj name="" r:id="rId5" imgW="1192530" imgH="203200" progId="Equation.DSMT4">
                  <p:embed/>
                  <p:pic>
                    <p:nvPicPr>
                      <p:cNvPr id="0" name="图片 2"/>
                      <p:cNvPicPr/>
                      <p:nvPr/>
                    </p:nvPicPr>
                    <p:blipFill>
                      <a:blip r:embed="rId6"/>
                      <a:stretch>
                        <a:fillRect/>
                      </a:stretch>
                    </p:blipFill>
                    <p:spPr>
                      <a:xfrm>
                        <a:off x="1064260" y="4690110"/>
                        <a:ext cx="2854325" cy="556895"/>
                      </a:xfrm>
                      <a:prstGeom prst="rect">
                        <a:avLst/>
                      </a:prstGeom>
                      <a:noFill/>
                      <a:ln w="38100">
                        <a:noFill/>
                        <a:miter/>
                      </a:ln>
                    </p:spPr>
                  </p:pic>
                </p:oleObj>
              </mc:Fallback>
            </mc:AlternateContent>
          </a:graphicData>
        </a:graphic>
      </p:graphicFrame>
      <p:graphicFrame>
        <p:nvGraphicFramePr>
          <p:cNvPr id="7" name="对象 -2147482436"/>
          <p:cNvGraphicFramePr>
            <a:graphicFrameLocks noChangeAspect="1"/>
          </p:cNvGraphicFramePr>
          <p:nvPr/>
        </p:nvGraphicFramePr>
        <p:xfrm>
          <a:off x="6036310" y="4658360"/>
          <a:ext cx="2081530" cy="781685"/>
        </p:xfrm>
        <a:graphic>
          <a:graphicData uri="http://schemas.openxmlformats.org/presentationml/2006/ole">
            <mc:AlternateContent xmlns:mc="http://schemas.openxmlformats.org/markup-compatibility/2006">
              <mc:Choice xmlns:v="urn:schemas-microsoft-com:vml" Requires="v">
                <p:oleObj spid="_x0000_s8" name="" r:id="rId7" imgW="876300" imgH="393700" progId="Equation.DSMT4">
                  <p:embed/>
                </p:oleObj>
              </mc:Choice>
              <mc:Fallback>
                <p:oleObj name="" r:id="rId7" imgW="876300" imgH="393700" progId="Equation.DSMT4">
                  <p:embed/>
                  <p:pic>
                    <p:nvPicPr>
                      <p:cNvPr id="0" name="图片 3"/>
                      <p:cNvPicPr/>
                      <p:nvPr/>
                    </p:nvPicPr>
                    <p:blipFill>
                      <a:blip r:embed="rId8"/>
                      <a:stretch>
                        <a:fillRect/>
                      </a:stretch>
                    </p:blipFill>
                    <p:spPr>
                      <a:xfrm>
                        <a:off x="6036310" y="4658360"/>
                        <a:ext cx="2081530" cy="781685"/>
                      </a:xfrm>
                      <a:prstGeom prst="rect">
                        <a:avLst/>
                      </a:prstGeom>
                      <a:noFill/>
                      <a:ln w="38100">
                        <a:noFill/>
                        <a:miter/>
                      </a:ln>
                    </p:spPr>
                  </p:pic>
                </p:oleObj>
              </mc:Fallback>
            </mc:AlternateContent>
          </a:graphicData>
        </a:graphic>
      </p:graphicFrame>
      <p:graphicFrame>
        <p:nvGraphicFramePr>
          <p:cNvPr id="9" name="对象 -2147482435"/>
          <p:cNvGraphicFramePr>
            <a:graphicFrameLocks noChangeAspect="1"/>
          </p:cNvGraphicFramePr>
          <p:nvPr/>
        </p:nvGraphicFramePr>
        <p:xfrm>
          <a:off x="1513205" y="5440045"/>
          <a:ext cx="5744210" cy="1019175"/>
        </p:xfrm>
        <a:graphic>
          <a:graphicData uri="http://schemas.openxmlformats.org/presentationml/2006/ole">
            <mc:AlternateContent xmlns:mc="http://schemas.openxmlformats.org/markup-compatibility/2006">
              <mc:Choice xmlns:v="urn:schemas-microsoft-com:vml" Requires="v">
                <p:oleObj spid="_x0000_s10" name="" r:id="rId9" imgW="2438400" imgH="330200" progId="Equation.DSMT4">
                  <p:embed/>
                </p:oleObj>
              </mc:Choice>
              <mc:Fallback>
                <p:oleObj name="" r:id="rId9" imgW="2438400" imgH="330200" progId="Equation.DSMT4">
                  <p:embed/>
                  <p:pic>
                    <p:nvPicPr>
                      <p:cNvPr id="0" name="图片 4"/>
                      <p:cNvPicPr/>
                      <p:nvPr/>
                    </p:nvPicPr>
                    <p:blipFill>
                      <a:blip r:embed="rId10"/>
                      <a:stretch>
                        <a:fillRect/>
                      </a:stretch>
                    </p:blipFill>
                    <p:spPr>
                      <a:xfrm>
                        <a:off x="1513205" y="5440045"/>
                        <a:ext cx="5744210" cy="10191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0898">
                                            <p:txEl>
                                              <p:charRg st="0" end="6"/>
                                            </p:txEl>
                                          </p:spTgt>
                                        </p:tgtEl>
                                        <p:attrNameLst>
                                          <p:attrName>style.visibility</p:attrName>
                                        </p:attrNameLst>
                                      </p:cBhvr>
                                      <p:to>
                                        <p:strVal val="visible"/>
                                      </p:to>
                                    </p:set>
                                    <p:animEffect transition="in" filter="box(out)">
                                      <p:cBhvr>
                                        <p:cTn id="7" dur="500"/>
                                        <p:tgtEl>
                                          <p:spTgt spid="80898">
                                            <p:txEl>
                                              <p:charRg st="0" end="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80901">
                                            <p:txEl>
                                              <p:charRg st="0" end="11"/>
                                            </p:txEl>
                                          </p:spTgt>
                                        </p:tgtEl>
                                        <p:attrNameLst>
                                          <p:attrName>style.visibility</p:attrName>
                                        </p:attrNameLst>
                                      </p:cBhvr>
                                      <p:to>
                                        <p:strVal val="visible"/>
                                      </p:to>
                                    </p:set>
                                    <p:animEffect transition="in" filter="box(out)">
                                      <p:cBhvr>
                                        <p:cTn id="15" dur="500"/>
                                        <p:tgtEl>
                                          <p:spTgt spid="80901">
                                            <p:txEl>
                                              <p:charRg st="0" end="11"/>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par>
                                <p:cTn id="19" presetID="3" presetClass="entr" presetSubtype="1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par>
                                <p:cTn id="22" presetID="22" presetClass="entr" presetSubtype="4"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80901">
                                            <p:txEl>
                                              <p:pRg st="1" end="1"/>
                                            </p:txEl>
                                          </p:spTgt>
                                        </p:tgtEl>
                                        <p:attrNameLst>
                                          <p:attrName>style.visibility</p:attrName>
                                        </p:attrNameLst>
                                      </p:cBhvr>
                                      <p:to>
                                        <p:strVal val="visible"/>
                                      </p:to>
                                    </p:set>
                                    <p:animEffect transition="in" filter="wipe(down)">
                                      <p:cBhvr>
                                        <p:cTn id="29" dur="500"/>
                                        <p:tgtEl>
                                          <p:spTgt spid="80901">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linds(horizontal)">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uild="p"/>
      <p:bldP spid="80901" grpId="0" advAuto="100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6018" name="对象 86017"/>
          <p:cNvGraphicFramePr/>
          <p:nvPr>
            <p:custDataLst>
              <p:tags r:id="rId1"/>
            </p:custDataLst>
          </p:nvPr>
        </p:nvGraphicFramePr>
        <p:xfrm>
          <a:off x="1981200" y="3060700"/>
          <a:ext cx="3708400" cy="1828800"/>
        </p:xfrm>
        <a:graphic>
          <a:graphicData uri="http://schemas.openxmlformats.org/presentationml/2006/ole">
            <mc:AlternateContent xmlns:mc="http://schemas.openxmlformats.org/markup-compatibility/2006">
              <mc:Choice xmlns:v="urn:schemas-microsoft-com:vml" Requires="v">
                <p:oleObj spid="_x0000_s3268" name="" r:id="rId2" imgW="3708400" imgH="1828800" progId="Equation.3">
                  <p:embed/>
                </p:oleObj>
              </mc:Choice>
              <mc:Fallback>
                <p:oleObj name="" r:id="rId2" imgW="3708400" imgH="1828800" progId="Equation.3">
                  <p:embed/>
                  <p:pic>
                    <p:nvPicPr>
                      <p:cNvPr id="0" name="图片 3267"/>
                      <p:cNvPicPr/>
                      <p:nvPr/>
                    </p:nvPicPr>
                    <p:blipFill>
                      <a:blip r:embed="rId3"/>
                      <a:stretch>
                        <a:fillRect/>
                      </a:stretch>
                    </p:blipFill>
                    <p:spPr>
                      <a:xfrm>
                        <a:off x="1981200" y="3060700"/>
                        <a:ext cx="3708400" cy="1828800"/>
                      </a:xfrm>
                      <a:prstGeom prst="rect">
                        <a:avLst/>
                      </a:prstGeom>
                      <a:noFill/>
                      <a:ln w="38100">
                        <a:noFill/>
                        <a:miter/>
                      </a:ln>
                    </p:spPr>
                  </p:pic>
                </p:oleObj>
              </mc:Fallback>
            </mc:AlternateContent>
          </a:graphicData>
        </a:graphic>
      </p:graphicFrame>
      <p:sp>
        <p:nvSpPr>
          <p:cNvPr id="86019" name="文本框 86018"/>
          <p:cNvSpPr txBox="1"/>
          <p:nvPr/>
        </p:nvSpPr>
        <p:spPr>
          <a:xfrm>
            <a:off x="1079500" y="241300"/>
            <a:ext cx="1408113" cy="579438"/>
          </a:xfrm>
          <a:prstGeom prst="rect">
            <a:avLst/>
          </a:prstGeom>
          <a:noFill/>
          <a:ln w="9525">
            <a:noFill/>
          </a:ln>
        </p:spPr>
        <p:txBody>
          <a:bodyPr wrap="none" anchor="t" anchorCtr="0">
            <a:spAutoFit/>
          </a:bodyPr>
          <a:p>
            <a:r>
              <a:rPr lang="zh-CN" altLang="en-US" sz="3200" dirty="0">
                <a:solidFill>
                  <a:srgbClr val="0000FF"/>
                </a:solidFill>
                <a:effectLst>
                  <a:outerShdw blurRad="38100" dist="38100" dir="2700000">
                    <a:srgbClr val="000000"/>
                  </a:outerShdw>
                </a:effectLst>
                <a:latin typeface="Times New Roman" panose="02020603050405020304" pitchFamily="18" charset="0"/>
                <a:ea typeface="黑体" panose="02010609060101010101" pitchFamily="2" charset="-122"/>
              </a:rPr>
              <a:t>思考题</a:t>
            </a:r>
            <a:endParaRPr lang="zh-CN" altLang="en-US" sz="3200">
              <a:solidFill>
                <a:srgbClr val="0000FF"/>
              </a:solidFill>
              <a:effectLst>
                <a:outerShdw blurRad="38100" dist="38100" dir="2700000">
                  <a:srgbClr val="000000"/>
                </a:outerShdw>
              </a:effectLst>
              <a:latin typeface="Times New Roman" panose="02020603050405020304" pitchFamily="18" charset="0"/>
              <a:ea typeface="黑体" panose="02010609060101010101" pitchFamily="2" charset="-122"/>
            </a:endParaRPr>
          </a:p>
        </p:txBody>
      </p:sp>
      <p:sp>
        <p:nvSpPr>
          <p:cNvPr id="86020" name="文本框 86019"/>
          <p:cNvSpPr txBox="1"/>
          <p:nvPr/>
        </p:nvSpPr>
        <p:spPr>
          <a:xfrm>
            <a:off x="1079500" y="1003300"/>
            <a:ext cx="1970088" cy="519113"/>
          </a:xfrm>
          <a:prstGeom prst="rect">
            <a:avLst/>
          </a:prstGeom>
          <a:noFill/>
          <a:ln w="9525">
            <a:noFill/>
          </a:ln>
        </p:spPr>
        <p:txBody>
          <a:bodyPr wrap="none" anchor="t" anchorCtr="0">
            <a:spAutoFit/>
          </a:bodyPr>
          <a:p>
            <a:r>
              <a:rPr lang="zh-CN" altLang="en-US" dirty="0">
                <a:latin typeface="Times New Roman" panose="02020603050405020304" pitchFamily="18" charset="0"/>
              </a:rPr>
              <a:t>已知多项式</a:t>
            </a:r>
            <a:endParaRPr lang="zh-CN" altLang="en-US">
              <a:latin typeface="Times New Roman" panose="02020603050405020304" pitchFamily="18" charset="0"/>
            </a:endParaRPr>
          </a:p>
        </p:txBody>
      </p:sp>
      <p:graphicFrame>
        <p:nvGraphicFramePr>
          <p:cNvPr id="86021" name="对象 86020"/>
          <p:cNvGraphicFramePr/>
          <p:nvPr/>
        </p:nvGraphicFramePr>
        <p:xfrm>
          <a:off x="2971800" y="393700"/>
          <a:ext cx="3708400" cy="1828800"/>
        </p:xfrm>
        <a:graphic>
          <a:graphicData uri="http://schemas.openxmlformats.org/presentationml/2006/ole">
            <mc:AlternateContent xmlns:mc="http://schemas.openxmlformats.org/markup-compatibility/2006">
              <mc:Choice xmlns:v="urn:schemas-microsoft-com:vml" Requires="v">
                <p:oleObj spid="_x0000_s3269" name="" r:id="rId4" imgW="3708400" imgH="1828800" progId="Equation.3">
                  <p:embed/>
                </p:oleObj>
              </mc:Choice>
              <mc:Fallback>
                <p:oleObj name="" r:id="rId4" imgW="3708400" imgH="1828800" progId="Equation.3">
                  <p:embed/>
                  <p:pic>
                    <p:nvPicPr>
                      <p:cNvPr id="0" name="图片 3268"/>
                      <p:cNvPicPr/>
                      <p:nvPr/>
                    </p:nvPicPr>
                    <p:blipFill>
                      <a:blip r:embed="rId3"/>
                      <a:stretch>
                        <a:fillRect/>
                      </a:stretch>
                    </p:blipFill>
                    <p:spPr>
                      <a:xfrm>
                        <a:off x="2971800" y="393700"/>
                        <a:ext cx="3708400" cy="1828800"/>
                      </a:xfrm>
                      <a:prstGeom prst="rect">
                        <a:avLst/>
                      </a:prstGeom>
                      <a:noFill/>
                      <a:ln w="38100">
                        <a:noFill/>
                        <a:miter/>
                      </a:ln>
                    </p:spPr>
                  </p:pic>
                </p:oleObj>
              </mc:Fallback>
            </mc:AlternateContent>
          </a:graphicData>
        </a:graphic>
      </p:graphicFrame>
      <p:sp>
        <p:nvSpPr>
          <p:cNvPr id="86022" name="文本框 86021"/>
          <p:cNvSpPr txBox="1"/>
          <p:nvPr/>
        </p:nvSpPr>
        <p:spPr>
          <a:xfrm>
            <a:off x="6705600" y="1003300"/>
            <a:ext cx="2149475" cy="519113"/>
          </a:xfrm>
          <a:prstGeom prst="rect">
            <a:avLst/>
          </a:prstGeom>
          <a:noFill/>
          <a:ln w="9525">
            <a:noFill/>
          </a:ln>
        </p:spPr>
        <p:txBody>
          <a:bodyPr wrap="none" anchor="t" anchorCtr="0">
            <a:spAutoFit/>
          </a:bodyPr>
          <a:p>
            <a:r>
              <a:rPr lang="zh-CN" altLang="en-US" dirty="0">
                <a:latin typeface="Times New Roman" panose="02020603050405020304" pitchFamily="18" charset="0"/>
              </a:rPr>
              <a:t>求 </a:t>
            </a:r>
            <a:r>
              <a:rPr lang="en-US" altLang="zh-CN" i="1">
                <a:latin typeface="Times New Roman" panose="02020603050405020304" pitchFamily="18" charset="0"/>
              </a:rPr>
              <a:t>x</a:t>
            </a:r>
            <a:r>
              <a:rPr lang="en-US" altLang="zh-CN" baseline="30000">
                <a:latin typeface="Times New Roman" panose="02020603050405020304" pitchFamily="18" charset="0"/>
              </a:rPr>
              <a:t>3 </a:t>
            </a:r>
            <a:r>
              <a:rPr lang="zh-CN" altLang="en-US" dirty="0">
                <a:latin typeface="Times New Roman" panose="02020603050405020304" pitchFamily="18" charset="0"/>
              </a:rPr>
              <a:t>的系数</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86023" name="文本框 86022"/>
          <p:cNvSpPr txBox="1"/>
          <p:nvPr>
            <p:custDataLst>
              <p:tags r:id="rId5"/>
            </p:custDataLst>
          </p:nvPr>
        </p:nvSpPr>
        <p:spPr>
          <a:xfrm>
            <a:off x="1079500" y="1993900"/>
            <a:ext cx="2224088" cy="579438"/>
          </a:xfrm>
          <a:prstGeom prst="rect">
            <a:avLst/>
          </a:prstGeom>
          <a:noFill/>
          <a:ln w="9525">
            <a:noFill/>
          </a:ln>
        </p:spPr>
        <p:txBody>
          <a:bodyPr wrap="none" anchor="t" anchorCtr="0">
            <a:spAutoFit/>
          </a:bodyPr>
          <a:p>
            <a:r>
              <a:rPr lang="zh-CN" altLang="en-US" sz="3200" dirty="0">
                <a:solidFill>
                  <a:srgbClr val="0000FF"/>
                </a:solidFill>
                <a:latin typeface="Times New Roman" panose="02020603050405020304" pitchFamily="18" charset="0"/>
                <a:ea typeface="黑体" panose="02010609060101010101" pitchFamily="2" charset="-122"/>
              </a:rPr>
              <a:t>思考题解答</a:t>
            </a:r>
            <a:endParaRPr lang="zh-CN" altLang="en-US" sz="3200">
              <a:solidFill>
                <a:srgbClr val="0000FF"/>
              </a:solidFill>
              <a:latin typeface="Times New Roman" panose="02020603050405020304" pitchFamily="18" charset="0"/>
              <a:ea typeface="黑体" panose="02010609060101010101" pitchFamily="2" charset="-122"/>
            </a:endParaRPr>
          </a:p>
        </p:txBody>
      </p:sp>
      <p:sp>
        <p:nvSpPr>
          <p:cNvPr id="86024" name="文本框 86023"/>
          <p:cNvSpPr txBox="1"/>
          <p:nvPr>
            <p:custDataLst>
              <p:tags r:id="rId6"/>
            </p:custDataLst>
          </p:nvPr>
        </p:nvSpPr>
        <p:spPr>
          <a:xfrm>
            <a:off x="1079500" y="2527300"/>
            <a:ext cx="3667125" cy="519113"/>
          </a:xfrm>
          <a:prstGeom prst="rect">
            <a:avLst/>
          </a:prstGeom>
          <a:noFill/>
          <a:ln w="9525">
            <a:noFill/>
          </a:ln>
        </p:spPr>
        <p:txBody>
          <a:bodyPr wrap="none" anchor="t" anchorCtr="0">
            <a:spAutoFit/>
          </a:bodyPr>
          <a:p>
            <a:r>
              <a:rPr lang="zh-CN" altLang="en-US" dirty="0">
                <a:latin typeface="Times New Roman" panose="02020603050405020304" pitchFamily="18" charset="0"/>
              </a:rPr>
              <a:t>含 </a:t>
            </a:r>
            <a:r>
              <a:rPr lang="en-US" altLang="zh-CN" i="1">
                <a:latin typeface="Times New Roman" panose="02020603050405020304" pitchFamily="18" charset="0"/>
              </a:rPr>
              <a:t>x</a:t>
            </a:r>
            <a:r>
              <a:rPr lang="en-US" altLang="zh-CN" baseline="30000">
                <a:latin typeface="Times New Roman" panose="02020603050405020304" pitchFamily="18" charset="0"/>
              </a:rPr>
              <a:t>3 </a:t>
            </a:r>
            <a:r>
              <a:rPr lang="zh-CN" altLang="en-US" dirty="0">
                <a:latin typeface="Times New Roman" panose="02020603050405020304" pitchFamily="18" charset="0"/>
              </a:rPr>
              <a:t>的项有仅两项</a:t>
            </a:r>
            <a:r>
              <a:rPr lang="en-US" altLang="zh-CN">
                <a:latin typeface="Times New Roman" panose="02020603050405020304" pitchFamily="18" charset="0"/>
              </a:rPr>
              <a:t>, </a:t>
            </a:r>
            <a:r>
              <a:rPr lang="zh-CN" altLang="en-US" dirty="0">
                <a:latin typeface="Times New Roman" panose="02020603050405020304" pitchFamily="18" charset="0"/>
              </a:rPr>
              <a:t>即</a:t>
            </a:r>
            <a:endParaRPr lang="zh-CN" altLang="en-US">
              <a:latin typeface="Times New Roman" panose="02020603050405020304" pitchFamily="18" charset="0"/>
            </a:endParaRPr>
          </a:p>
        </p:txBody>
      </p:sp>
      <p:sp>
        <p:nvSpPr>
          <p:cNvPr id="86025" name="直接连接符 86024"/>
          <p:cNvSpPr/>
          <p:nvPr>
            <p:custDataLst>
              <p:tags r:id="rId7"/>
            </p:custDataLst>
          </p:nvPr>
        </p:nvSpPr>
        <p:spPr>
          <a:xfrm>
            <a:off x="3352800" y="3213100"/>
            <a:ext cx="1905000" cy="1524000"/>
          </a:xfrm>
          <a:prstGeom prst="line">
            <a:avLst/>
          </a:prstGeom>
          <a:ln w="28575" cap="flat" cmpd="sng">
            <a:solidFill>
              <a:srgbClr val="FF0000"/>
            </a:solidFill>
            <a:prstDash val="solid"/>
            <a:headEnd type="none" w="med" len="med"/>
            <a:tailEnd type="none" w="med" len="med"/>
          </a:ln>
        </p:spPr>
      </p:sp>
      <p:sp>
        <p:nvSpPr>
          <p:cNvPr id="86026" name="任意多边形 86025"/>
          <p:cNvSpPr/>
          <p:nvPr>
            <p:custDataLst>
              <p:tags r:id="rId8"/>
            </p:custDataLst>
          </p:nvPr>
        </p:nvSpPr>
        <p:spPr>
          <a:xfrm>
            <a:off x="3394075" y="3213100"/>
            <a:ext cx="1993900" cy="1447800"/>
          </a:xfrm>
          <a:custGeom>
            <a:avLst/>
            <a:gdLst/>
            <a:ahLst/>
            <a:cxnLst/>
            <a:pathLst>
              <a:path w="1256" h="912">
                <a:moveTo>
                  <a:pt x="0" y="0"/>
                </a:moveTo>
                <a:cubicBezTo>
                  <a:pt x="92" y="120"/>
                  <a:pt x="184" y="240"/>
                  <a:pt x="384" y="336"/>
                </a:cubicBezTo>
                <a:cubicBezTo>
                  <a:pt x="584" y="432"/>
                  <a:pt x="1144" y="480"/>
                  <a:pt x="1200" y="576"/>
                </a:cubicBezTo>
                <a:cubicBezTo>
                  <a:pt x="1256" y="672"/>
                  <a:pt x="800" y="856"/>
                  <a:pt x="720" y="912"/>
                </a:cubicBezTo>
              </a:path>
            </a:pathLst>
          </a:custGeom>
          <a:noFill/>
          <a:ln w="28575" cap="flat" cmpd="sng">
            <a:solidFill>
              <a:srgbClr val="0000FF"/>
            </a:solidFill>
            <a:prstDash val="solid"/>
            <a:headEnd type="none" w="med" len="med"/>
            <a:tailEnd type="none" w="med" len="med"/>
          </a:ln>
        </p:spPr>
        <p:txBody>
          <a:bodyPr/>
          <a:p>
            <a:endParaRPr lang="zh-CN" altLang="en-US"/>
          </a:p>
        </p:txBody>
      </p:sp>
      <p:sp>
        <p:nvSpPr>
          <p:cNvPr id="86027" name="文本框 86026"/>
          <p:cNvSpPr txBox="1"/>
          <p:nvPr>
            <p:custDataLst>
              <p:tags r:id="rId9"/>
            </p:custDataLst>
          </p:nvPr>
        </p:nvSpPr>
        <p:spPr>
          <a:xfrm>
            <a:off x="358775" y="4648200"/>
            <a:ext cx="1255713" cy="519113"/>
          </a:xfrm>
          <a:prstGeom prst="rect">
            <a:avLst/>
          </a:prstGeom>
          <a:noFill/>
          <a:ln w="9525">
            <a:noFill/>
          </a:ln>
        </p:spPr>
        <p:txBody>
          <a:bodyPr wrap="none" anchor="t" anchorCtr="0">
            <a:spAutoFit/>
          </a:bodyPr>
          <a:p>
            <a:r>
              <a:rPr lang="zh-CN" altLang="en-US" dirty="0">
                <a:latin typeface="Times New Roman" panose="02020603050405020304" pitchFamily="18" charset="0"/>
              </a:rPr>
              <a:t>对应于</a:t>
            </a:r>
            <a:endParaRPr lang="zh-CN" altLang="en-US">
              <a:latin typeface="Times New Roman" panose="02020603050405020304" pitchFamily="18" charset="0"/>
            </a:endParaRPr>
          </a:p>
        </p:txBody>
      </p:sp>
      <p:sp>
        <p:nvSpPr>
          <p:cNvPr id="86028" name="文本框 86027"/>
          <p:cNvSpPr txBox="1"/>
          <p:nvPr>
            <p:custDataLst>
              <p:tags r:id="rId10"/>
            </p:custDataLst>
          </p:nvPr>
        </p:nvSpPr>
        <p:spPr>
          <a:xfrm>
            <a:off x="6858000" y="5105400"/>
            <a:ext cx="945515" cy="521970"/>
          </a:xfrm>
          <a:prstGeom prst="rect">
            <a:avLst/>
          </a:prstGeom>
          <a:noFill/>
          <a:ln w="9525">
            <a:noFill/>
          </a:ln>
        </p:spPr>
        <p:txBody>
          <a:bodyPr wrap="none" anchor="t" anchorCtr="0">
            <a:spAutoFit/>
          </a:bodyPr>
          <a:p>
            <a:r>
              <a:rPr lang="en-US" altLang="zh-CN">
                <a:latin typeface="Times New Roman" panose="02020603050405020304" pitchFamily="18" charset="0"/>
              </a:rPr>
              <a:t>  = </a:t>
            </a:r>
            <a:r>
              <a:rPr lang="en-US" altLang="zh-CN" i="1">
                <a:latin typeface="Times New Roman" panose="02020603050405020304" pitchFamily="18" charset="0"/>
              </a:rPr>
              <a:t>x</a:t>
            </a:r>
            <a:r>
              <a:rPr lang="en-US" altLang="zh-CN" baseline="30000">
                <a:latin typeface="Times New Roman" panose="02020603050405020304" pitchFamily="18" charset="0"/>
              </a:rPr>
              <a:t>3</a:t>
            </a:r>
            <a:endParaRPr lang="en-US" altLang="zh-CN" baseline="30000">
              <a:latin typeface="Times New Roman" panose="02020603050405020304" pitchFamily="18" charset="0"/>
            </a:endParaRPr>
          </a:p>
        </p:txBody>
      </p:sp>
      <p:sp>
        <p:nvSpPr>
          <p:cNvPr id="86029" name="文本框 86028"/>
          <p:cNvSpPr txBox="1"/>
          <p:nvPr>
            <p:custDataLst>
              <p:tags r:id="rId11"/>
            </p:custDataLst>
          </p:nvPr>
        </p:nvSpPr>
        <p:spPr>
          <a:xfrm>
            <a:off x="7668260" y="5119688"/>
            <a:ext cx="1368425" cy="519112"/>
          </a:xfrm>
          <a:prstGeom prst="rect">
            <a:avLst/>
          </a:prstGeom>
          <a:noFill/>
          <a:ln w="9525">
            <a:noFill/>
          </a:ln>
        </p:spPr>
        <p:txBody>
          <a:bodyPr wrap="none" anchor="t" anchorCtr="0">
            <a:spAutoFit/>
          </a:bodyPr>
          <a:p>
            <a:r>
              <a:rPr lang="en-US" altLang="zh-CN">
                <a:latin typeface="Times New Roman" panose="02020603050405020304" pitchFamily="18" charset="0"/>
              </a:rPr>
              <a:t>+ (–2</a:t>
            </a:r>
            <a:r>
              <a:rPr lang="en-US" altLang="zh-CN" i="1">
                <a:latin typeface="Times New Roman" panose="02020603050405020304" pitchFamily="18" charset="0"/>
              </a:rPr>
              <a:t>x</a:t>
            </a:r>
            <a:r>
              <a:rPr lang="en-US" altLang="zh-CN" baseline="30000">
                <a:latin typeface="Times New Roman" panose="02020603050405020304" pitchFamily="18" charset="0"/>
              </a:rPr>
              <a:t>3</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86030" name="文本框 86029"/>
          <p:cNvSpPr txBox="1"/>
          <p:nvPr>
            <p:custDataLst>
              <p:tags r:id="rId12"/>
            </p:custDataLst>
          </p:nvPr>
        </p:nvSpPr>
        <p:spPr>
          <a:xfrm>
            <a:off x="1079500" y="5805488"/>
            <a:ext cx="2943860" cy="521970"/>
          </a:xfrm>
          <a:prstGeom prst="rect">
            <a:avLst/>
          </a:prstGeom>
          <a:noFill/>
          <a:ln w="9525">
            <a:noFill/>
          </a:ln>
        </p:spPr>
        <p:txBody>
          <a:bodyPr wrap="none" anchor="t" anchorCtr="0">
            <a:spAutoFit/>
          </a:bodyPr>
          <a:p>
            <a:r>
              <a:rPr lang="zh-CN" altLang="en-US" dirty="0">
                <a:latin typeface="Times New Roman" panose="02020603050405020304" pitchFamily="18" charset="0"/>
              </a:rPr>
              <a:t>故 </a:t>
            </a:r>
            <a:r>
              <a:rPr lang="en-US" altLang="zh-CN" i="1">
                <a:latin typeface="Times New Roman" panose="02020603050405020304" pitchFamily="18" charset="0"/>
              </a:rPr>
              <a:t>x</a:t>
            </a:r>
            <a:r>
              <a:rPr lang="en-US" altLang="zh-CN" baseline="30000">
                <a:latin typeface="Times New Roman" panose="02020603050405020304" pitchFamily="18" charset="0"/>
              </a:rPr>
              <a:t>3 </a:t>
            </a:r>
            <a:r>
              <a:rPr lang="zh-CN" altLang="en-US" dirty="0">
                <a:latin typeface="Times New Roman" panose="02020603050405020304" pitchFamily="18" charset="0"/>
              </a:rPr>
              <a:t>的系数为</a:t>
            </a:r>
            <a:r>
              <a:rPr lang="en-US" altLang="zh-CN" dirty="0">
                <a:latin typeface="Times New Roman" panose="02020603050405020304" pitchFamily="18" charset="0"/>
              </a:rPr>
              <a:t> </a:t>
            </a:r>
            <a:r>
              <a:rPr lang="en-US" altLang="zh-CN">
                <a:latin typeface="Times New Roman" panose="02020603050405020304" pitchFamily="18" charset="0"/>
              </a:rPr>
              <a:t>–1.</a:t>
            </a:r>
            <a:endParaRPr lang="en-US" altLang="zh-CN">
              <a:latin typeface="Times New Roman" panose="02020603050405020304" pitchFamily="18" charset="0"/>
            </a:endParaRPr>
          </a:p>
        </p:txBody>
      </p:sp>
      <p:sp>
        <p:nvSpPr>
          <p:cNvPr id="86031" name="文本框 86030"/>
          <p:cNvSpPr txBox="1"/>
          <p:nvPr>
            <p:custDataLst>
              <p:tags r:id="rId13"/>
            </p:custDataLst>
          </p:nvPr>
        </p:nvSpPr>
        <p:spPr>
          <a:xfrm>
            <a:off x="323215" y="5105400"/>
            <a:ext cx="3364230" cy="521970"/>
          </a:xfrm>
          <a:prstGeom prst="rect">
            <a:avLst/>
          </a:prstGeom>
          <a:noFill/>
          <a:ln w="9525">
            <a:noFill/>
          </a:ln>
        </p:spPr>
        <p:txBody>
          <a:bodyPr wrap="none" anchor="t" anchorCtr="0">
            <a:spAutoFit/>
          </a:bodyPr>
          <a:p>
            <a:pPr algn="l"/>
            <a:r>
              <a:rPr lang="en-US" altLang="zh-CN">
                <a:latin typeface="Times New Roman" panose="02020603050405020304" pitchFamily="18" charset="0"/>
              </a:rPr>
              <a:t>(–1)</a:t>
            </a:r>
            <a:r>
              <a:rPr lang="en-US" altLang="zh-CN" i="1">
                <a:latin typeface="仿宋" panose="02010609060101010101" charset="-122"/>
                <a:ea typeface="仿宋" panose="02010609060101010101" charset="-122"/>
                <a:sym typeface="+mn-ea"/>
              </a:rPr>
              <a:t>τ</a:t>
            </a:r>
            <a:r>
              <a:rPr lang="en-US" altLang="zh-CN" baseline="30000">
                <a:latin typeface="Times New Roman" panose="02020603050405020304" pitchFamily="18" charset="0"/>
              </a:rPr>
              <a:t>(1234)</a:t>
            </a:r>
            <a:r>
              <a:rPr lang="en-US" altLang="zh-CN" i="1">
                <a:latin typeface="Times New Roman" panose="02020603050405020304" pitchFamily="18" charset="0"/>
              </a:rPr>
              <a:t>a</a:t>
            </a:r>
            <a:r>
              <a:rPr lang="en-US" altLang="zh-CN" baseline="-25000">
                <a:latin typeface="Times New Roman" panose="02020603050405020304" pitchFamily="18" charset="0"/>
              </a:rPr>
              <a:t>11</a:t>
            </a:r>
            <a:r>
              <a:rPr lang="en-US" altLang="zh-CN" i="1">
                <a:latin typeface="Times New Roman" panose="02020603050405020304" pitchFamily="18" charset="0"/>
              </a:rPr>
              <a:t>a</a:t>
            </a:r>
            <a:r>
              <a:rPr lang="en-US" altLang="zh-CN" baseline="-25000">
                <a:latin typeface="Times New Roman" panose="02020603050405020304" pitchFamily="18" charset="0"/>
              </a:rPr>
              <a:t>22</a:t>
            </a:r>
            <a:r>
              <a:rPr lang="en-US" altLang="zh-CN" i="1">
                <a:latin typeface="Times New Roman" panose="02020603050405020304" pitchFamily="18" charset="0"/>
              </a:rPr>
              <a:t>a</a:t>
            </a:r>
            <a:r>
              <a:rPr lang="en-US" altLang="zh-CN" baseline="-25000">
                <a:latin typeface="Times New Roman" panose="02020603050405020304" pitchFamily="18" charset="0"/>
              </a:rPr>
              <a:t>33</a:t>
            </a:r>
            <a:r>
              <a:rPr lang="en-US" altLang="zh-CN" i="1">
                <a:latin typeface="Times New Roman" panose="02020603050405020304" pitchFamily="18" charset="0"/>
              </a:rPr>
              <a:t>a</a:t>
            </a:r>
            <a:r>
              <a:rPr lang="en-US" altLang="zh-CN" baseline="-25000">
                <a:latin typeface="Times New Roman" panose="02020603050405020304" pitchFamily="18" charset="0"/>
              </a:rPr>
              <a:t>44</a:t>
            </a:r>
            <a:endParaRPr lang="en-US" altLang="zh-CN">
              <a:latin typeface="Times New Roman" panose="02020603050405020304" pitchFamily="18" charset="0"/>
            </a:endParaRPr>
          </a:p>
        </p:txBody>
      </p:sp>
      <p:sp>
        <p:nvSpPr>
          <p:cNvPr id="86032" name="文本框 86031"/>
          <p:cNvSpPr txBox="1"/>
          <p:nvPr>
            <p:custDataLst>
              <p:tags r:id="rId14"/>
            </p:custDataLst>
          </p:nvPr>
        </p:nvSpPr>
        <p:spPr>
          <a:xfrm>
            <a:off x="3505200" y="5119688"/>
            <a:ext cx="3655695" cy="521970"/>
          </a:xfrm>
          <a:prstGeom prst="rect">
            <a:avLst/>
          </a:prstGeom>
          <a:noFill/>
          <a:ln w="9525">
            <a:noFill/>
          </a:ln>
        </p:spPr>
        <p:txBody>
          <a:bodyPr wrap="none" anchor="t" anchorCtr="0">
            <a:spAutoFit/>
          </a:bodyPr>
          <a:p>
            <a:pPr algn="l"/>
            <a:r>
              <a:rPr lang="en-US" altLang="zh-CN">
                <a:latin typeface="Times New Roman" panose="02020603050405020304" pitchFamily="18" charset="0"/>
              </a:rPr>
              <a:t>+ (–1)</a:t>
            </a:r>
            <a:r>
              <a:rPr lang="en-US" altLang="zh-CN" i="1">
                <a:latin typeface="仿宋" panose="02010609060101010101" charset="-122"/>
                <a:ea typeface="仿宋" panose="02010609060101010101" charset="-122"/>
                <a:sym typeface="+mn-ea"/>
              </a:rPr>
              <a:t>τ</a:t>
            </a:r>
            <a:r>
              <a:rPr lang="en-US" altLang="zh-CN" baseline="30000">
                <a:latin typeface="Times New Roman" panose="02020603050405020304" pitchFamily="18" charset="0"/>
              </a:rPr>
              <a:t>(1243)</a:t>
            </a:r>
            <a:r>
              <a:rPr lang="en-US" altLang="zh-CN" i="1">
                <a:latin typeface="Times New Roman" panose="02020603050405020304" pitchFamily="18" charset="0"/>
              </a:rPr>
              <a:t>a</a:t>
            </a:r>
            <a:r>
              <a:rPr lang="en-US" altLang="zh-CN" baseline="-25000">
                <a:latin typeface="Times New Roman" panose="02020603050405020304" pitchFamily="18" charset="0"/>
              </a:rPr>
              <a:t>11</a:t>
            </a:r>
            <a:r>
              <a:rPr lang="en-US" altLang="zh-CN" i="1">
                <a:latin typeface="Times New Roman" panose="02020603050405020304" pitchFamily="18" charset="0"/>
              </a:rPr>
              <a:t>a</a:t>
            </a:r>
            <a:r>
              <a:rPr lang="en-US" altLang="zh-CN" baseline="-25000">
                <a:latin typeface="Times New Roman" panose="02020603050405020304" pitchFamily="18" charset="0"/>
              </a:rPr>
              <a:t>22</a:t>
            </a:r>
            <a:r>
              <a:rPr lang="en-US" altLang="zh-CN" i="1">
                <a:latin typeface="Times New Roman" panose="02020603050405020304" pitchFamily="18" charset="0"/>
              </a:rPr>
              <a:t>a</a:t>
            </a:r>
            <a:r>
              <a:rPr lang="en-US" altLang="zh-CN" baseline="-25000">
                <a:latin typeface="Times New Roman" panose="02020603050405020304" pitchFamily="18" charset="0"/>
              </a:rPr>
              <a:t>34</a:t>
            </a:r>
            <a:r>
              <a:rPr lang="en-US" altLang="zh-CN" i="1">
                <a:latin typeface="Times New Roman" panose="02020603050405020304" pitchFamily="18" charset="0"/>
              </a:rPr>
              <a:t>a</a:t>
            </a:r>
            <a:r>
              <a:rPr lang="en-US" altLang="zh-CN" baseline="-25000">
                <a:latin typeface="Times New Roman" panose="02020603050405020304" pitchFamily="18" charset="0"/>
              </a:rPr>
              <a:t>43</a:t>
            </a:r>
            <a:endParaRPr lang="en-US" altLang="zh-CN">
              <a:latin typeface="Times New Roman" panose="02020603050405020304" pitchFamily="18" charset="0"/>
            </a:endParaRPr>
          </a:p>
        </p:txBody>
      </p:sp>
      <p:sp>
        <p:nvSpPr>
          <p:cNvPr id="2" name="文本框 1"/>
          <p:cNvSpPr txBox="1"/>
          <p:nvPr/>
        </p:nvSpPr>
        <p:spPr>
          <a:xfrm>
            <a:off x="7073900" y="5815965"/>
            <a:ext cx="1103630" cy="541655"/>
          </a:xfrm>
          <a:prstGeom prst="rect">
            <a:avLst/>
          </a:prstGeom>
          <a:noFill/>
        </p:spPr>
        <p:txBody>
          <a:bodyPr wrap="square" rtlCol="0" anchor="t">
            <a:noAutofit/>
          </a:bodyPr>
          <a:p>
            <a:r>
              <a:rPr lang="en-US" altLang="zh-CN">
                <a:sym typeface="+mn-ea"/>
              </a:rPr>
              <a:t>= –</a:t>
            </a:r>
            <a:r>
              <a:rPr lang="en-US" altLang="zh-CN" i="1">
                <a:sym typeface="+mn-ea"/>
              </a:rPr>
              <a:t>x</a:t>
            </a:r>
            <a:r>
              <a:rPr lang="en-US" altLang="zh-CN" baseline="30000">
                <a:sym typeface="+mn-ea"/>
              </a:rPr>
              <a:t>3</a:t>
            </a:r>
            <a:endParaRPr lang="en-US" altLang="zh-CN" baseline="3000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86019">
                                            <p:txEl>
                                              <p:charRg st="0" end="4"/>
                                            </p:txEl>
                                          </p:spTgt>
                                        </p:tgtEl>
                                        <p:attrNameLst>
                                          <p:attrName>style.visibility</p:attrName>
                                        </p:attrNameLst>
                                      </p:cBhvr>
                                      <p:to>
                                        <p:strVal val="visible"/>
                                      </p:to>
                                    </p:set>
                                    <p:animEffect transition="in" filter="box(out)">
                                      <p:cBhvr>
                                        <p:cTn id="7" dur="500"/>
                                        <p:tgtEl>
                                          <p:spTgt spid="86019">
                                            <p:txEl>
                                              <p:charRg st="0" end="4"/>
                                            </p:txEl>
                                          </p:spTgt>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86020">
                                            <p:txEl>
                                              <p:charRg st="0" end="6"/>
                                            </p:txEl>
                                          </p:spTgt>
                                        </p:tgtEl>
                                        <p:attrNameLst>
                                          <p:attrName>style.visibility</p:attrName>
                                        </p:attrNameLst>
                                      </p:cBhvr>
                                      <p:to>
                                        <p:strVal val="visible"/>
                                      </p:to>
                                    </p:set>
                                    <p:animEffect transition="in" filter="box(out)">
                                      <p:cBhvr>
                                        <p:cTn id="11" dur="500"/>
                                        <p:tgtEl>
                                          <p:spTgt spid="86020">
                                            <p:txEl>
                                              <p:charRg st="0" end="6"/>
                                            </p:txEl>
                                          </p:spTgt>
                                        </p:tgtEl>
                                      </p:cBhvr>
                                    </p:animEffect>
                                  </p:childTnLst>
                                </p:cTn>
                              </p:par>
                            </p:childTnLst>
                          </p:cTn>
                        </p:par>
                        <p:par>
                          <p:cTn id="12" fill="hold">
                            <p:stCondLst>
                              <p:cond delay="1000"/>
                            </p:stCondLst>
                            <p:childTnLst>
                              <p:par>
                                <p:cTn id="13" presetID="4" presetClass="entr" presetSubtype="32" fill="hold" nodeType="afterEffect">
                                  <p:stCondLst>
                                    <p:cond delay="0"/>
                                  </p:stCondLst>
                                  <p:childTnLst>
                                    <p:set>
                                      <p:cBhvr>
                                        <p:cTn id="14" dur="1" fill="hold">
                                          <p:stCondLst>
                                            <p:cond delay="0"/>
                                          </p:stCondLst>
                                        </p:cTn>
                                        <p:tgtEl>
                                          <p:spTgt spid="86021"/>
                                        </p:tgtEl>
                                        <p:attrNameLst>
                                          <p:attrName>style.visibility</p:attrName>
                                        </p:attrNameLst>
                                      </p:cBhvr>
                                      <p:to>
                                        <p:strVal val="visible"/>
                                      </p:to>
                                    </p:set>
                                    <p:animEffect transition="in" filter="box(out)">
                                      <p:cBhvr>
                                        <p:cTn id="15" dur="500"/>
                                        <p:tgtEl>
                                          <p:spTgt spid="86021"/>
                                        </p:tgtEl>
                                      </p:cBhvr>
                                    </p:animEffect>
                                  </p:childTnLst>
                                </p:cTn>
                              </p:par>
                            </p:childTnLst>
                          </p:cTn>
                        </p:par>
                        <p:par>
                          <p:cTn id="16" fill="hold">
                            <p:stCondLst>
                              <p:cond delay="1500"/>
                            </p:stCondLst>
                            <p:childTnLst>
                              <p:par>
                                <p:cTn id="17" presetID="4" presetClass="entr" presetSubtype="32" fill="hold" grpId="0" nodeType="afterEffect">
                                  <p:stCondLst>
                                    <p:cond delay="0"/>
                                  </p:stCondLst>
                                  <p:childTnLst>
                                    <p:set>
                                      <p:cBhvr>
                                        <p:cTn id="18" dur="1" fill="hold">
                                          <p:stCondLst>
                                            <p:cond delay="0"/>
                                          </p:stCondLst>
                                        </p:cTn>
                                        <p:tgtEl>
                                          <p:spTgt spid="86022">
                                            <p:txEl>
                                              <p:charRg st="0" end="10"/>
                                            </p:txEl>
                                          </p:spTgt>
                                        </p:tgtEl>
                                        <p:attrNameLst>
                                          <p:attrName>style.visibility</p:attrName>
                                        </p:attrNameLst>
                                      </p:cBhvr>
                                      <p:to>
                                        <p:strVal val="visible"/>
                                      </p:to>
                                    </p:set>
                                    <p:animEffect transition="in" filter="box(out)">
                                      <p:cBhvr>
                                        <p:cTn id="19" dur="500"/>
                                        <p:tgtEl>
                                          <p:spTgt spid="86022">
                                            <p:txEl>
                                              <p:charRg st="0" end="1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86023">
                                            <p:txEl>
                                              <p:charRg st="0" end="6"/>
                                            </p:txEl>
                                          </p:spTgt>
                                        </p:tgtEl>
                                        <p:attrNameLst>
                                          <p:attrName>style.visibility</p:attrName>
                                        </p:attrNameLst>
                                      </p:cBhvr>
                                      <p:to>
                                        <p:strVal val="visible"/>
                                      </p:to>
                                    </p:set>
                                    <p:animEffect transition="in" filter="box(out)">
                                      <p:cBhvr>
                                        <p:cTn id="24" dur="500"/>
                                        <p:tgtEl>
                                          <p:spTgt spid="86023">
                                            <p:txEl>
                                              <p:charRg st="0"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86024">
                                            <p:txEl>
                                              <p:charRg st="0" end="15"/>
                                            </p:txEl>
                                          </p:spTgt>
                                        </p:tgtEl>
                                        <p:attrNameLst>
                                          <p:attrName>style.visibility</p:attrName>
                                        </p:attrNameLst>
                                      </p:cBhvr>
                                      <p:to>
                                        <p:strVal val="visible"/>
                                      </p:to>
                                    </p:set>
                                    <p:animEffect transition="in" filter="box(out)">
                                      <p:cBhvr>
                                        <p:cTn id="29" dur="500"/>
                                        <p:tgtEl>
                                          <p:spTgt spid="86024">
                                            <p:txEl>
                                              <p:charRg st="0" end="15"/>
                                            </p:txEl>
                                          </p:spTgt>
                                        </p:tgtEl>
                                      </p:cBhvr>
                                    </p:animEffect>
                                  </p:childTnLst>
                                </p:cTn>
                              </p:par>
                            </p:childTnLst>
                          </p:cTn>
                        </p:par>
                        <p:par>
                          <p:cTn id="30" fill="hold">
                            <p:stCondLst>
                              <p:cond delay="500"/>
                            </p:stCondLst>
                            <p:childTnLst>
                              <p:par>
                                <p:cTn id="31" presetID="4" presetClass="entr" presetSubtype="32" fill="hold" nodeType="afterEffect">
                                  <p:stCondLst>
                                    <p:cond delay="0"/>
                                  </p:stCondLst>
                                  <p:childTnLst>
                                    <p:set>
                                      <p:cBhvr>
                                        <p:cTn id="32" dur="1" fill="hold">
                                          <p:stCondLst>
                                            <p:cond delay="0"/>
                                          </p:stCondLst>
                                        </p:cTn>
                                        <p:tgtEl>
                                          <p:spTgt spid="86018"/>
                                        </p:tgtEl>
                                        <p:attrNameLst>
                                          <p:attrName>style.visibility</p:attrName>
                                        </p:attrNameLst>
                                      </p:cBhvr>
                                      <p:to>
                                        <p:strVal val="visible"/>
                                      </p:to>
                                    </p:set>
                                    <p:animEffect transition="in" filter="box(out)">
                                      <p:cBhvr>
                                        <p:cTn id="33" dur="500"/>
                                        <p:tgtEl>
                                          <p:spTgt spid="86018"/>
                                        </p:tgtEl>
                                      </p:cBhvr>
                                    </p:animEffect>
                                  </p:childTnLst>
                                </p:cTn>
                              </p:par>
                            </p:childTnLst>
                          </p:cTn>
                        </p:par>
                        <p:par>
                          <p:cTn id="34" fill="hold">
                            <p:stCondLst>
                              <p:cond delay="1000"/>
                            </p:stCondLst>
                            <p:childTnLst>
                              <p:par>
                                <p:cTn id="35" presetID="4" presetClass="entr" presetSubtype="32" fill="hold" nodeType="afterEffect">
                                  <p:stCondLst>
                                    <p:cond delay="0"/>
                                  </p:stCondLst>
                                  <p:childTnLst>
                                    <p:set>
                                      <p:cBhvr>
                                        <p:cTn id="36" dur="1" fill="hold">
                                          <p:stCondLst>
                                            <p:cond delay="0"/>
                                          </p:stCondLst>
                                        </p:cTn>
                                        <p:tgtEl>
                                          <p:spTgt spid="86025"/>
                                        </p:tgtEl>
                                        <p:attrNameLst>
                                          <p:attrName>style.visibility</p:attrName>
                                        </p:attrNameLst>
                                      </p:cBhvr>
                                      <p:to>
                                        <p:strVal val="visible"/>
                                      </p:to>
                                    </p:set>
                                    <p:animEffect transition="in" filter="box(out)">
                                      <p:cBhvr>
                                        <p:cTn id="37" dur="500"/>
                                        <p:tgtEl>
                                          <p:spTgt spid="86025"/>
                                        </p:tgtEl>
                                      </p:cBhvr>
                                    </p:animEffect>
                                  </p:childTnLst>
                                </p:cTn>
                              </p:par>
                            </p:childTnLst>
                          </p:cTn>
                        </p:par>
                        <p:par>
                          <p:cTn id="38" fill="hold">
                            <p:stCondLst>
                              <p:cond delay="1500"/>
                            </p:stCondLst>
                            <p:childTnLst>
                              <p:par>
                                <p:cTn id="39" presetID="4" presetClass="entr" presetSubtype="32" fill="hold" nodeType="afterEffect">
                                  <p:stCondLst>
                                    <p:cond delay="0"/>
                                  </p:stCondLst>
                                  <p:childTnLst>
                                    <p:set>
                                      <p:cBhvr>
                                        <p:cTn id="40" dur="1" fill="hold">
                                          <p:stCondLst>
                                            <p:cond delay="0"/>
                                          </p:stCondLst>
                                        </p:cTn>
                                        <p:tgtEl>
                                          <p:spTgt spid="86026"/>
                                        </p:tgtEl>
                                        <p:attrNameLst>
                                          <p:attrName>style.visibility</p:attrName>
                                        </p:attrNameLst>
                                      </p:cBhvr>
                                      <p:to>
                                        <p:strVal val="visible"/>
                                      </p:to>
                                    </p:set>
                                    <p:animEffect transition="in" filter="box(out)">
                                      <p:cBhvr>
                                        <p:cTn id="41" dur="500"/>
                                        <p:tgtEl>
                                          <p:spTgt spid="86026"/>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86027">
                                            <p:txEl>
                                              <p:charRg st="0" end="4"/>
                                            </p:txEl>
                                          </p:spTgt>
                                        </p:tgtEl>
                                        <p:attrNameLst>
                                          <p:attrName>style.visibility</p:attrName>
                                        </p:attrNameLst>
                                      </p:cBhvr>
                                      <p:to>
                                        <p:strVal val="visible"/>
                                      </p:to>
                                    </p:set>
                                    <p:animEffect transition="in" filter="box(out)">
                                      <p:cBhvr>
                                        <p:cTn id="46" dur="500"/>
                                        <p:tgtEl>
                                          <p:spTgt spid="86027">
                                            <p:txEl>
                                              <p:charRg st="0" end="4"/>
                                            </p:txEl>
                                          </p:spTgt>
                                        </p:tgtEl>
                                      </p:cBhvr>
                                    </p:animEffect>
                                  </p:childTnLst>
                                </p:cTn>
                              </p:par>
                            </p:childTnLst>
                          </p:cTn>
                        </p:par>
                        <p:par>
                          <p:cTn id="47" fill="hold">
                            <p:stCondLst>
                              <p:cond delay="500"/>
                            </p:stCondLst>
                            <p:childTnLst>
                              <p:par>
                                <p:cTn id="48" presetID="4" presetClass="entr" presetSubtype="32" fill="hold" grpId="0" nodeType="afterEffect">
                                  <p:stCondLst>
                                    <p:cond delay="0"/>
                                  </p:stCondLst>
                                  <p:childTnLst>
                                    <p:set>
                                      <p:cBhvr>
                                        <p:cTn id="49" dur="1" fill="hold">
                                          <p:stCondLst>
                                            <p:cond delay="0"/>
                                          </p:stCondLst>
                                        </p:cTn>
                                        <p:tgtEl>
                                          <p:spTgt spid="86031">
                                            <p:txEl>
                                              <p:charRg st="0" end="24"/>
                                            </p:txEl>
                                          </p:spTgt>
                                        </p:tgtEl>
                                        <p:attrNameLst>
                                          <p:attrName>style.visibility</p:attrName>
                                        </p:attrNameLst>
                                      </p:cBhvr>
                                      <p:to>
                                        <p:strVal val="visible"/>
                                      </p:to>
                                    </p:set>
                                    <p:animEffect transition="in" filter="box(out)">
                                      <p:cBhvr>
                                        <p:cTn id="50" dur="500"/>
                                        <p:tgtEl>
                                          <p:spTgt spid="86031">
                                            <p:txEl>
                                              <p:charRg st="0" end="2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86032">
                                            <p:txEl>
                                              <p:charRg st="0" end="26"/>
                                            </p:txEl>
                                          </p:spTgt>
                                        </p:tgtEl>
                                        <p:attrNameLst>
                                          <p:attrName>style.visibility</p:attrName>
                                        </p:attrNameLst>
                                      </p:cBhvr>
                                      <p:to>
                                        <p:strVal val="visible"/>
                                      </p:to>
                                    </p:set>
                                    <p:animEffect transition="in" filter="box(out)">
                                      <p:cBhvr>
                                        <p:cTn id="55" dur="500"/>
                                        <p:tgtEl>
                                          <p:spTgt spid="86032">
                                            <p:txEl>
                                              <p:charRg st="0" end="26"/>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4" presetClass="entr" presetSubtype="32" fill="hold" grpId="0" nodeType="clickEffect">
                                  <p:stCondLst>
                                    <p:cond delay="0"/>
                                  </p:stCondLst>
                                  <p:childTnLst>
                                    <p:set>
                                      <p:cBhvr>
                                        <p:cTn id="59" dur="1" fill="hold">
                                          <p:stCondLst>
                                            <p:cond delay="0"/>
                                          </p:stCondLst>
                                        </p:cTn>
                                        <p:tgtEl>
                                          <p:spTgt spid="86028">
                                            <p:txEl>
                                              <p:charRg st="0" end="5"/>
                                            </p:txEl>
                                          </p:spTgt>
                                        </p:tgtEl>
                                        <p:attrNameLst>
                                          <p:attrName>style.visibility</p:attrName>
                                        </p:attrNameLst>
                                      </p:cBhvr>
                                      <p:to>
                                        <p:strVal val="visible"/>
                                      </p:to>
                                    </p:set>
                                    <p:animEffect transition="in" filter="box(out)">
                                      <p:cBhvr>
                                        <p:cTn id="60" dur="500"/>
                                        <p:tgtEl>
                                          <p:spTgt spid="86028">
                                            <p:txEl>
                                              <p:charRg st="0" end="5"/>
                                            </p:txEl>
                                          </p:spTgt>
                                        </p:tgtEl>
                                      </p:cBhvr>
                                    </p:animEffect>
                                  </p:childTnLst>
                                </p:cTn>
                              </p:par>
                              <p:par>
                                <p:cTn id="61" presetID="4" presetClass="entr" presetSubtype="32" fill="hold" grpId="0" nodeType="withEffect">
                                  <p:stCondLst>
                                    <p:cond delay="0"/>
                                  </p:stCondLst>
                                  <p:childTnLst>
                                    <p:set>
                                      <p:cBhvr>
                                        <p:cTn id="62" dur="1" fill="hold">
                                          <p:stCondLst>
                                            <p:cond delay="0"/>
                                          </p:stCondLst>
                                        </p:cTn>
                                        <p:tgtEl>
                                          <p:spTgt spid="86029">
                                            <p:txEl>
                                              <p:charRg st="0" end="9"/>
                                            </p:txEl>
                                          </p:spTgt>
                                        </p:tgtEl>
                                        <p:attrNameLst>
                                          <p:attrName>style.visibility</p:attrName>
                                        </p:attrNameLst>
                                      </p:cBhvr>
                                      <p:to>
                                        <p:strVal val="visible"/>
                                      </p:to>
                                    </p:set>
                                    <p:animEffect transition="in" filter="box(out)">
                                      <p:cBhvr>
                                        <p:cTn id="63" dur="500"/>
                                        <p:tgtEl>
                                          <p:spTgt spid="86029">
                                            <p:txEl>
                                              <p:charRg st="0" end="9"/>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wipe(down)">
                                      <p:cBhvr>
                                        <p:cTn id="68" dur="500"/>
                                        <p:tgtEl>
                                          <p:spTgt spid="2"/>
                                        </p:tgtEl>
                                      </p:cBhvr>
                                    </p:animEffect>
                                  </p:child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86030">
                                            <p:txEl>
                                              <p:charRg st="0" end="15"/>
                                            </p:txEl>
                                          </p:spTgt>
                                        </p:tgtEl>
                                        <p:attrNameLst>
                                          <p:attrName>style.visibility</p:attrName>
                                        </p:attrNameLst>
                                      </p:cBhvr>
                                      <p:to>
                                        <p:strVal val="visible"/>
                                      </p:to>
                                    </p:set>
                                    <p:animEffect transition="in" filter="box(out)">
                                      <p:cBhvr>
                                        <p:cTn id="73" dur="500"/>
                                        <p:tgtEl>
                                          <p:spTgt spid="86030">
                                            <p:txEl>
                                              <p:charRg st="0"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advAuto="1000" build="p"/>
      <p:bldP spid="86020" grpId="0" advAuto="1000" build="p"/>
      <p:bldP spid="86022" grpId="0" advAuto="1000" build="p"/>
      <p:bldP spid="86023" grpId="0" build="p"/>
      <p:bldP spid="86024" grpId="0" build="p"/>
      <p:bldP spid="86027" grpId="0" build="p"/>
      <p:bldP spid="86028" grpId="0" build="p"/>
      <p:bldP spid="86029" grpId="0" build="p"/>
      <p:bldP spid="86030" grpId="0" build="p"/>
      <p:bldP spid="86031" grpId="0" advAuto="1000" build="p"/>
      <p:bldP spid="86032" grpId="0" build="p"/>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矩形 102401"/>
          <p:cNvSpPr/>
          <p:nvPr/>
        </p:nvSpPr>
        <p:spPr>
          <a:xfrm>
            <a:off x="2133600" y="517525"/>
            <a:ext cx="4899660" cy="706755"/>
          </a:xfrm>
          <a:prstGeom prst="rect">
            <a:avLst/>
          </a:prstGeom>
          <a:noFill/>
          <a:ln w="9525">
            <a:noFill/>
          </a:ln>
        </p:spPr>
        <p:txBody>
          <a:bodyPr wrap="none" anchor="t" anchorCtr="0">
            <a:spAutoFit/>
          </a:bodyPr>
          <a:p>
            <a:r>
              <a:rPr lang="zh-CN" altLang="en-US" sz="4000">
                <a:solidFill>
                  <a:srgbClr val="FF0000"/>
                </a:solidFill>
                <a:latin typeface="Times New Roman" panose="02020603050405020304" pitchFamily="18" charset="0"/>
              </a:rPr>
              <a:t>§</a:t>
            </a:r>
            <a:r>
              <a:rPr lang="en-US" altLang="zh-CN" sz="4000">
                <a:solidFill>
                  <a:srgbClr val="FF0000"/>
                </a:solidFill>
                <a:latin typeface="Times New Roman" panose="02020603050405020304" pitchFamily="18" charset="0"/>
              </a:rPr>
              <a:t>1.2  </a:t>
            </a:r>
            <a:r>
              <a:rPr lang="zh-CN" altLang="en-US" sz="4000" dirty="0">
                <a:solidFill>
                  <a:srgbClr val="FF0000"/>
                </a:solidFill>
                <a:latin typeface="Times New Roman" panose="02020603050405020304" pitchFamily="18" charset="0"/>
                <a:ea typeface="黑体" panose="02010609060101010101" pitchFamily="2" charset="-122"/>
              </a:rPr>
              <a:t>行列式的性质  </a:t>
            </a:r>
            <a:endParaRPr lang="zh-CN" altLang="en-US" sz="4000" dirty="0">
              <a:solidFill>
                <a:srgbClr val="FF0000"/>
              </a:solidFill>
              <a:latin typeface="Times New Roman" panose="02020603050405020304" pitchFamily="18" charset="0"/>
              <a:ea typeface="黑体" panose="02010609060101010101" pitchFamily="2" charset="-122"/>
            </a:endParaRPr>
          </a:p>
        </p:txBody>
      </p:sp>
      <p:sp>
        <p:nvSpPr>
          <p:cNvPr id="102403" name="矩形 102402"/>
          <p:cNvSpPr/>
          <p:nvPr/>
        </p:nvSpPr>
        <p:spPr>
          <a:xfrm>
            <a:off x="1079500" y="1339850"/>
            <a:ext cx="5076825" cy="641350"/>
          </a:xfrm>
          <a:prstGeom prst="rect">
            <a:avLst/>
          </a:prstGeom>
          <a:noFill/>
          <a:ln w="9525">
            <a:noFill/>
          </a:ln>
        </p:spPr>
        <p:txBody>
          <a:bodyPr>
            <a:spAutoFit/>
          </a:bodyPr>
          <a:p>
            <a:r>
              <a:rPr lang="zh-CN" altLang="en-US" sz="3600" dirty="0">
                <a:solidFill>
                  <a:srgbClr val="0000FF"/>
                </a:solidFill>
                <a:latin typeface="Times New Roman" panose="02020603050405020304" pitchFamily="18" charset="0"/>
                <a:ea typeface="黑体" panose="02010609060101010101" pitchFamily="2" charset="-122"/>
              </a:rPr>
              <a:t>一、行列式的性质</a:t>
            </a:r>
            <a:endParaRPr lang="zh-CN" altLang="en-US" sz="3600" dirty="0">
              <a:solidFill>
                <a:srgbClr val="0000FF"/>
              </a:solidFill>
              <a:latin typeface="Times New Roman" panose="02020603050405020304" pitchFamily="18" charset="0"/>
              <a:ea typeface="黑体" panose="02010609060101010101" pitchFamily="2" charset="-122"/>
            </a:endParaRPr>
          </a:p>
        </p:txBody>
      </p:sp>
      <p:sp>
        <p:nvSpPr>
          <p:cNvPr id="102404" name="矩形 102403"/>
          <p:cNvSpPr/>
          <p:nvPr/>
        </p:nvSpPr>
        <p:spPr>
          <a:xfrm>
            <a:off x="827405" y="5448935"/>
            <a:ext cx="6290945" cy="612140"/>
          </a:xfrm>
          <a:prstGeom prst="rect">
            <a:avLst/>
          </a:prstGeom>
          <a:noFill/>
          <a:ln w="9525">
            <a:noFill/>
          </a:ln>
        </p:spPr>
        <p:txBody>
          <a:bodyPr wrap="none" anchor="t" anchorCtr="0">
            <a:noAutofit/>
          </a:bodyPr>
          <a:p>
            <a:r>
              <a:rPr lang="zh-CN" altLang="en-US" dirty="0">
                <a:latin typeface="Times New Roman" panose="02020603050405020304" pitchFamily="18" charset="0"/>
              </a:rPr>
              <a:t>行列式</a:t>
            </a:r>
            <a:r>
              <a:rPr lang="en-US" altLang="zh-CN" i="1">
                <a:latin typeface="Times New Roman" panose="02020603050405020304" pitchFamily="18" charset="0"/>
              </a:rPr>
              <a:t>D</a:t>
            </a:r>
            <a:r>
              <a:rPr lang="en-US" altLang="zh-CN" i="1" baseline="30000">
                <a:latin typeface="Times New Roman" panose="02020603050405020304" pitchFamily="18" charset="0"/>
              </a:rPr>
              <a:t>T</a:t>
            </a:r>
            <a:r>
              <a:rPr lang="zh-CN" altLang="en-US" dirty="0">
                <a:latin typeface="Times New Roman" panose="02020603050405020304" pitchFamily="18" charset="0"/>
              </a:rPr>
              <a:t>称为行列式</a:t>
            </a:r>
            <a:r>
              <a:rPr lang="en-US" altLang="zh-CN" i="1">
                <a:latin typeface="Times New Roman" panose="02020603050405020304" pitchFamily="18" charset="0"/>
              </a:rPr>
              <a:t>D</a:t>
            </a:r>
            <a:r>
              <a:rPr lang="zh-CN" altLang="en-US" dirty="0">
                <a:latin typeface="Times New Roman" panose="02020603050405020304" pitchFamily="18" charset="0"/>
              </a:rPr>
              <a:t>的</a:t>
            </a:r>
            <a:r>
              <a:rPr lang="zh-CN" altLang="en-US" dirty="0">
                <a:solidFill>
                  <a:srgbClr val="FF0000"/>
                </a:solidFill>
                <a:latin typeface="Times New Roman" panose="02020603050405020304" pitchFamily="18" charset="0"/>
              </a:rPr>
              <a:t>转置行列式</a:t>
            </a:r>
            <a:r>
              <a:rPr lang="en-US" altLang="zh-CN">
                <a:latin typeface="Times New Roman" panose="02020603050405020304" pitchFamily="18" charset="0"/>
              </a:rPr>
              <a:t>.    </a:t>
            </a:r>
            <a:endParaRPr lang="en-US" altLang="zh-CN">
              <a:latin typeface="Times New Roman" panose="02020603050405020304" pitchFamily="18" charset="0"/>
            </a:endParaRPr>
          </a:p>
        </p:txBody>
      </p:sp>
      <p:sp>
        <p:nvSpPr>
          <p:cNvPr id="102414" name="矩形 102413"/>
          <p:cNvSpPr/>
          <p:nvPr/>
        </p:nvSpPr>
        <p:spPr>
          <a:xfrm>
            <a:off x="1079500" y="1995488"/>
            <a:ext cx="2144395" cy="521970"/>
          </a:xfrm>
          <a:prstGeom prst="rect">
            <a:avLst/>
          </a:prstGeom>
          <a:noFill/>
          <a:ln w="9525">
            <a:noFill/>
          </a:ln>
        </p:spPr>
        <p:txBody>
          <a:bodyPr wrap="none" anchor="t" anchorCtr="0">
            <a:spAutoFit/>
          </a:bodyPr>
          <a:p>
            <a:r>
              <a:rPr lang="zh-CN" altLang="en-US" dirty="0">
                <a:solidFill>
                  <a:srgbClr val="FF3300"/>
                </a:solidFill>
                <a:latin typeface="Times New Roman" panose="02020603050405020304" pitchFamily="18" charset="0"/>
              </a:rPr>
              <a:t>定义</a:t>
            </a:r>
            <a:r>
              <a:rPr lang="en-US" altLang="zh-CN" dirty="0">
                <a:solidFill>
                  <a:srgbClr val="FF3300"/>
                </a:solidFill>
                <a:latin typeface="Times New Roman" panose="02020603050405020304" pitchFamily="18" charset="0"/>
              </a:rPr>
              <a:t>1.2.1  </a:t>
            </a:r>
            <a:r>
              <a:rPr lang="zh-CN" altLang="en-US" dirty="0">
                <a:latin typeface="Times New Roman" panose="02020603050405020304" pitchFamily="18" charset="0"/>
              </a:rPr>
              <a:t>记</a:t>
            </a:r>
            <a:endParaRPr lang="zh-CN" altLang="en-US" dirty="0">
              <a:latin typeface="Times New Roman" panose="02020603050405020304" pitchFamily="18" charset="0"/>
            </a:endParaRPr>
          </a:p>
        </p:txBody>
      </p:sp>
      <p:grpSp>
        <p:nvGrpSpPr>
          <p:cNvPr id="102415" name="组合 102414"/>
          <p:cNvGrpSpPr/>
          <p:nvPr/>
        </p:nvGrpSpPr>
        <p:grpSpPr>
          <a:xfrm>
            <a:off x="971550" y="4797425"/>
            <a:ext cx="4450715" cy="522605"/>
            <a:chOff x="612" y="3022"/>
            <a:chExt cx="2609" cy="329"/>
          </a:xfrm>
        </p:grpSpPr>
        <p:sp>
          <p:nvSpPr>
            <p:cNvPr id="102416" name="文本框 102415"/>
            <p:cNvSpPr txBox="1"/>
            <p:nvPr/>
          </p:nvSpPr>
          <p:spPr>
            <a:xfrm>
              <a:off x="612" y="3022"/>
              <a:ext cx="2529" cy="329"/>
            </a:xfrm>
            <a:prstGeom prst="rect">
              <a:avLst/>
            </a:prstGeom>
            <a:noFill/>
            <a:ln w="9525">
              <a:noFill/>
            </a:ln>
          </p:spPr>
          <p:txBody>
            <a:bodyPr wrap="square" anchor="t" anchorCtr="0">
              <a:spAutoFit/>
            </a:bodyPr>
            <a:p>
              <a:r>
                <a:rPr lang="zh-CN" altLang="en-US" dirty="0">
                  <a:latin typeface="Times New Roman" panose="02020603050405020304" pitchFamily="18" charset="0"/>
                </a:rPr>
                <a:t>将</a:t>
              </a:r>
              <a:r>
                <a:rPr lang="en-US" altLang="zh-CN" i="1">
                  <a:latin typeface="Times New Roman" panose="02020603050405020304" pitchFamily="18" charset="0"/>
                </a:rPr>
                <a:t>D</a:t>
              </a:r>
              <a:r>
                <a:rPr lang="zh-CN" altLang="en-US" dirty="0">
                  <a:latin typeface="Times New Roman" panose="02020603050405020304" pitchFamily="18" charset="0"/>
                </a:rPr>
                <a:t>的行、列互换就得到</a:t>
              </a:r>
              <a:endParaRPr lang="zh-CN" altLang="en-US" dirty="0">
                <a:latin typeface="Times New Roman" panose="02020603050405020304" pitchFamily="18" charset="0"/>
              </a:endParaRPr>
            </a:p>
          </p:txBody>
        </p:sp>
        <p:graphicFrame>
          <p:nvGraphicFramePr>
            <p:cNvPr id="102417" name="对象 102416"/>
            <p:cNvGraphicFramePr/>
            <p:nvPr/>
          </p:nvGraphicFramePr>
          <p:xfrm>
            <a:off x="2925" y="3067"/>
            <a:ext cx="296" cy="232"/>
          </p:xfrm>
          <a:graphic>
            <a:graphicData uri="http://schemas.openxmlformats.org/presentationml/2006/ole">
              <mc:AlternateContent xmlns:mc="http://schemas.openxmlformats.org/markup-compatibility/2006">
                <mc:Choice xmlns:v="urn:schemas-microsoft-com:vml" Requires="v">
                  <p:oleObj spid="_x0000_s3304" name="" r:id="rId1" imgW="469900" imgH="368300" progId="Equation.DSMT4">
                    <p:embed/>
                  </p:oleObj>
                </mc:Choice>
                <mc:Fallback>
                  <p:oleObj name="" r:id="rId1" imgW="469900" imgH="368300" progId="Equation.DSMT4">
                    <p:embed/>
                    <p:pic>
                      <p:nvPicPr>
                        <p:cNvPr id="0" name="图片 3303"/>
                        <p:cNvPicPr/>
                        <p:nvPr/>
                      </p:nvPicPr>
                      <p:blipFill>
                        <a:blip r:embed="rId2"/>
                        <a:stretch>
                          <a:fillRect/>
                        </a:stretch>
                      </p:blipFill>
                      <p:spPr>
                        <a:xfrm>
                          <a:off x="2925" y="3067"/>
                          <a:ext cx="296" cy="232"/>
                        </a:xfrm>
                        <a:prstGeom prst="rect">
                          <a:avLst/>
                        </a:prstGeom>
                        <a:noFill/>
                        <a:ln w="38100">
                          <a:noFill/>
                          <a:miter/>
                        </a:ln>
                      </p:spPr>
                    </p:pic>
                  </p:oleObj>
                </mc:Fallback>
              </mc:AlternateContent>
            </a:graphicData>
          </a:graphic>
        </p:graphicFrame>
      </p:grpSp>
      <p:graphicFrame>
        <p:nvGraphicFramePr>
          <p:cNvPr id="2" name="对象 -2147482402"/>
          <p:cNvGraphicFramePr>
            <a:graphicFrameLocks noChangeAspect="1"/>
          </p:cNvGraphicFramePr>
          <p:nvPr/>
        </p:nvGraphicFramePr>
        <p:xfrm>
          <a:off x="920115" y="2544445"/>
          <a:ext cx="3462020" cy="2134870"/>
        </p:xfrm>
        <a:graphic>
          <a:graphicData uri="http://schemas.openxmlformats.org/presentationml/2006/ole">
            <mc:AlternateContent xmlns:mc="http://schemas.openxmlformats.org/markup-compatibility/2006">
              <mc:Choice xmlns:v="urn:schemas-microsoft-com:vml" Requires="v">
                <p:oleObj spid="_x0000_s3076" name="" r:id="rId3" imgW="1524000" imgH="939800" progId="Equation.DSMT4">
                  <p:embed/>
                </p:oleObj>
              </mc:Choice>
              <mc:Fallback>
                <p:oleObj name="" r:id="rId3" imgW="1524000" imgH="939800" progId="Equation.DSMT4">
                  <p:embed/>
                  <p:pic>
                    <p:nvPicPr>
                      <p:cNvPr id="0" name="图片 3075"/>
                      <p:cNvPicPr/>
                      <p:nvPr/>
                    </p:nvPicPr>
                    <p:blipFill>
                      <a:blip r:embed="rId4"/>
                      <a:stretch>
                        <a:fillRect/>
                      </a:stretch>
                    </p:blipFill>
                    <p:spPr>
                      <a:xfrm>
                        <a:off x="920115" y="2544445"/>
                        <a:ext cx="3462020" cy="2134870"/>
                      </a:xfrm>
                      <a:prstGeom prst="rect">
                        <a:avLst/>
                      </a:prstGeom>
                      <a:noFill/>
                      <a:ln w="38100">
                        <a:noFill/>
                        <a:miter/>
                      </a:ln>
                    </p:spPr>
                  </p:pic>
                </p:oleObj>
              </mc:Fallback>
            </mc:AlternateContent>
          </a:graphicData>
        </a:graphic>
      </p:graphicFrame>
      <p:graphicFrame>
        <p:nvGraphicFramePr>
          <p:cNvPr id="3" name="对象 -2147482401"/>
          <p:cNvGraphicFramePr>
            <a:graphicFrameLocks noChangeAspect="1"/>
          </p:cNvGraphicFramePr>
          <p:nvPr/>
        </p:nvGraphicFramePr>
        <p:xfrm>
          <a:off x="4787900" y="2544445"/>
          <a:ext cx="3500755" cy="2124710"/>
        </p:xfrm>
        <a:graphic>
          <a:graphicData uri="http://schemas.openxmlformats.org/presentationml/2006/ole">
            <mc:AlternateContent xmlns:mc="http://schemas.openxmlformats.org/markup-compatibility/2006">
              <mc:Choice xmlns:v="urn:schemas-microsoft-com:vml" Requires="v">
                <p:oleObj spid="_x0000_s7" name="" r:id="rId5" imgW="1548765" imgH="939800" progId="Equation.3">
                  <p:embed/>
                </p:oleObj>
              </mc:Choice>
              <mc:Fallback>
                <p:oleObj name="" r:id="rId5" imgW="1548765" imgH="939800" progId="Equation.3">
                  <p:embed/>
                  <p:pic>
                    <p:nvPicPr>
                      <p:cNvPr id="0" name="图片 6"/>
                      <p:cNvPicPr/>
                      <p:nvPr/>
                    </p:nvPicPr>
                    <p:blipFill>
                      <a:blip r:embed="rId6"/>
                      <a:stretch>
                        <a:fillRect/>
                      </a:stretch>
                    </p:blipFill>
                    <p:spPr>
                      <a:xfrm>
                        <a:off x="4787900" y="2544445"/>
                        <a:ext cx="3500755" cy="212471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2403">
                                            <p:txEl>
                                              <p:charRg st="0" end="9"/>
                                            </p:txEl>
                                          </p:spTgt>
                                        </p:tgtEl>
                                        <p:attrNameLst>
                                          <p:attrName>style.visibility</p:attrName>
                                        </p:attrNameLst>
                                      </p:cBhvr>
                                      <p:to>
                                        <p:strVal val="visible"/>
                                      </p:to>
                                    </p:set>
                                    <p:animEffect transition="in" filter="box(out)">
                                      <p:cBhvr>
                                        <p:cTn id="7" dur="500"/>
                                        <p:tgtEl>
                                          <p:spTgt spid="102403">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2414">
                                            <p:txEl>
                                              <p:charRg st="0" end="2"/>
                                            </p:txEl>
                                          </p:spTgt>
                                        </p:tgtEl>
                                        <p:attrNameLst>
                                          <p:attrName>style.visibility</p:attrName>
                                        </p:attrNameLst>
                                      </p:cBhvr>
                                      <p:to>
                                        <p:strVal val="visible"/>
                                      </p:to>
                                    </p:set>
                                    <p:animEffect transition="in" filter="box(out)">
                                      <p:cBhvr>
                                        <p:cTn id="12" dur="500"/>
                                        <p:tgtEl>
                                          <p:spTgt spid="102414">
                                            <p:txEl>
                                              <p:charRg st="0"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2415"/>
                                        </p:tgtEl>
                                        <p:attrNameLst>
                                          <p:attrName>style.visibility</p:attrName>
                                        </p:attrNameLst>
                                      </p:cBhvr>
                                      <p:to>
                                        <p:strVal val="visible"/>
                                      </p:to>
                                    </p:set>
                                    <p:animEffect transition="in" filter="wipe(left)">
                                      <p:cBhvr>
                                        <p:cTn id="27" dur="500"/>
                                        <p:tgtEl>
                                          <p:spTgt spid="10241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02404">
                                            <p:txEl>
                                              <p:charRg st="0" end="23"/>
                                            </p:txEl>
                                          </p:spTgt>
                                        </p:tgtEl>
                                        <p:attrNameLst>
                                          <p:attrName>style.visibility</p:attrName>
                                        </p:attrNameLst>
                                      </p:cBhvr>
                                      <p:to>
                                        <p:strVal val="visible"/>
                                      </p:to>
                                    </p:set>
                                    <p:animEffect transition="in" filter="box(out)">
                                      <p:cBhvr>
                                        <p:cTn id="32" dur="500"/>
                                        <p:tgtEl>
                                          <p:spTgt spid="102404">
                                            <p:txEl>
                                              <p:charRg st="0"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p:bldP spid="102404" grpId="0" build="p"/>
      <p:bldP spid="102414"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文本框 103425"/>
          <p:cNvSpPr txBox="1"/>
          <p:nvPr/>
        </p:nvSpPr>
        <p:spPr>
          <a:xfrm>
            <a:off x="684213" y="1341438"/>
            <a:ext cx="6796087" cy="519112"/>
          </a:xfrm>
          <a:prstGeom prst="rect">
            <a:avLst/>
          </a:prstGeom>
          <a:noFill/>
          <a:ln w="9525">
            <a:noFill/>
          </a:ln>
        </p:spPr>
        <p:txBody>
          <a:bodyPr wrap="none" anchor="t" anchorCtr="0">
            <a:spAutoFit/>
          </a:bodyPr>
          <a:p>
            <a:r>
              <a:rPr lang="zh-CN" altLang="en-US" dirty="0">
                <a:solidFill>
                  <a:srgbClr val="FF0000"/>
                </a:solidFill>
                <a:latin typeface="Times New Roman" panose="02020603050405020304" pitchFamily="18" charset="0"/>
                <a:ea typeface="黑体" panose="02010609060101010101" pitchFamily="2" charset="-122"/>
              </a:rPr>
              <a:t>证明</a:t>
            </a:r>
            <a:r>
              <a:rPr lang="en-US" altLang="zh-CN">
                <a:solidFill>
                  <a:srgbClr val="FF0000"/>
                </a:solidFill>
                <a:latin typeface="Times New Roman" panose="02020603050405020304" pitchFamily="18" charset="0"/>
                <a:ea typeface="黑体" panose="02010609060101010101" pitchFamily="2" charset="-122"/>
              </a:rPr>
              <a:t>:</a:t>
            </a:r>
            <a:r>
              <a:rPr lang="en-US" altLang="zh-CN">
                <a:solidFill>
                  <a:srgbClr val="0000FF"/>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记行列式 </a:t>
            </a:r>
            <a:r>
              <a:rPr lang="en-US" altLang="zh-CN" i="1">
                <a:latin typeface="Times New Roman" panose="02020603050405020304" pitchFamily="18" charset="0"/>
              </a:rPr>
              <a:t>D</a:t>
            </a:r>
            <a:r>
              <a:rPr lang="en-US" altLang="zh-CN">
                <a:latin typeface="Times New Roman" panose="02020603050405020304" pitchFamily="18" charset="0"/>
              </a:rPr>
              <a:t>=</a:t>
            </a:r>
            <a:r>
              <a:rPr lang="en-US" altLang="zh-CN" err="1">
                <a:latin typeface="Times New Roman" panose="02020603050405020304" pitchFamily="18" charset="0"/>
              </a:rPr>
              <a:t>det(</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a:latin typeface="Times New Roman" panose="02020603050405020304" pitchFamily="18" charset="0"/>
              </a:rPr>
              <a:t>) </a:t>
            </a:r>
            <a:r>
              <a:rPr lang="zh-CN" altLang="en-US" dirty="0">
                <a:latin typeface="Times New Roman" panose="02020603050405020304" pitchFamily="18" charset="0"/>
              </a:rPr>
              <a:t>的转置行列式为</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03427" name="矩形 103426"/>
          <p:cNvSpPr/>
          <p:nvPr/>
        </p:nvSpPr>
        <p:spPr>
          <a:xfrm>
            <a:off x="546735" y="405130"/>
            <a:ext cx="8251190" cy="521970"/>
          </a:xfrm>
          <a:prstGeom prst="rect">
            <a:avLst/>
          </a:prstGeom>
          <a:noFill/>
          <a:ln w="9525">
            <a:noFill/>
          </a:ln>
        </p:spPr>
        <p:txBody>
          <a:bodyPr wrap="square" anchor="t" anchorCtr="0">
            <a:spAutoFit/>
          </a:bodyPr>
          <a:p>
            <a:r>
              <a:rPr lang="zh-CN" altLang="en-US"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性质</a:t>
            </a:r>
            <a:r>
              <a:rPr lang="en-US" altLang="zh-CN">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1.2.1:</a:t>
            </a:r>
            <a:r>
              <a:rPr lang="en-US" altLang="zh-CN">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行列式与它的转置行列式相等</a:t>
            </a:r>
            <a:r>
              <a:rPr lang="en-US" altLang="zh-CN">
                <a:latin typeface="Times New Roman" panose="02020603050405020304" pitchFamily="18" charset="0"/>
              </a:rPr>
              <a:t>, </a:t>
            </a:r>
            <a:r>
              <a:rPr lang="zh-CN" altLang="en-US" dirty="0">
                <a:latin typeface="Times New Roman" panose="02020603050405020304" pitchFamily="18" charset="0"/>
              </a:rPr>
              <a:t>即</a:t>
            </a:r>
            <a:r>
              <a:rPr lang="en-US" altLang="zh-CN" i="1">
                <a:latin typeface="Times New Roman" panose="02020603050405020304" pitchFamily="18" charset="0"/>
              </a:rPr>
              <a:t>D</a:t>
            </a:r>
            <a:r>
              <a:rPr lang="en-US" altLang="zh-CN" i="1" baseline="30000">
                <a:latin typeface="Times New Roman" panose="02020603050405020304" pitchFamily="18" charset="0"/>
              </a:rPr>
              <a:t>T</a:t>
            </a:r>
            <a:r>
              <a:rPr lang="en-US" altLang="zh-CN">
                <a:latin typeface="Times New Roman" panose="02020603050405020304" pitchFamily="18" charset="0"/>
              </a:rPr>
              <a:t> = </a:t>
            </a:r>
            <a:r>
              <a:rPr lang="en-US" altLang="zh-CN" i="1">
                <a:latin typeface="Times New Roman" panose="02020603050405020304" pitchFamily="18" charset="0"/>
              </a:rPr>
              <a:t>D</a:t>
            </a:r>
            <a:r>
              <a:rPr lang="en-US" altLang="zh-CN">
                <a:latin typeface="Times New Roman" panose="02020603050405020304" pitchFamily="18" charset="0"/>
                <a:ea typeface="黑体" panose="02010609060101010101" pitchFamily="2" charset="-122"/>
              </a:rPr>
              <a:t>.</a:t>
            </a:r>
            <a:endParaRPr lang="en-US" altLang="zh-CN">
              <a:latin typeface="Times New Roman" panose="02020603050405020304" pitchFamily="18" charset="0"/>
              <a:ea typeface="黑体" panose="02010609060101010101" pitchFamily="2" charset="-122"/>
            </a:endParaRPr>
          </a:p>
        </p:txBody>
      </p:sp>
      <p:graphicFrame>
        <p:nvGraphicFramePr>
          <p:cNvPr id="103428" name="对象 103427"/>
          <p:cNvGraphicFramePr/>
          <p:nvPr/>
        </p:nvGraphicFramePr>
        <p:xfrm>
          <a:off x="2268538" y="1989138"/>
          <a:ext cx="4051300" cy="1701800"/>
        </p:xfrm>
        <a:graphic>
          <a:graphicData uri="http://schemas.openxmlformats.org/presentationml/2006/ole">
            <mc:AlternateContent xmlns:mc="http://schemas.openxmlformats.org/markup-compatibility/2006">
              <mc:Choice xmlns:v="urn:schemas-microsoft-com:vml" Requires="v">
                <p:oleObj spid="_x0000_s3305" name="" r:id="rId1" imgW="4051300" imgH="1701800" progId="Equation.3">
                  <p:embed/>
                </p:oleObj>
              </mc:Choice>
              <mc:Fallback>
                <p:oleObj name="" r:id="rId1" imgW="4051300" imgH="1701800" progId="Equation.3">
                  <p:embed/>
                  <p:pic>
                    <p:nvPicPr>
                      <p:cNvPr id="0" name="图片 3304"/>
                      <p:cNvPicPr/>
                      <p:nvPr/>
                    </p:nvPicPr>
                    <p:blipFill>
                      <a:blip r:embed="rId2"/>
                      <a:stretch>
                        <a:fillRect/>
                      </a:stretch>
                    </p:blipFill>
                    <p:spPr>
                      <a:xfrm>
                        <a:off x="2268538" y="1989138"/>
                        <a:ext cx="4051300" cy="1701800"/>
                      </a:xfrm>
                      <a:prstGeom prst="rect">
                        <a:avLst/>
                      </a:prstGeom>
                      <a:noFill/>
                      <a:ln w="38100">
                        <a:noFill/>
                        <a:miter/>
                      </a:ln>
                    </p:spPr>
                  </p:pic>
                </p:oleObj>
              </mc:Fallback>
            </mc:AlternateContent>
          </a:graphicData>
        </a:graphic>
      </p:graphicFrame>
      <p:sp>
        <p:nvSpPr>
          <p:cNvPr id="103429" name="矩形 103428"/>
          <p:cNvSpPr/>
          <p:nvPr/>
        </p:nvSpPr>
        <p:spPr>
          <a:xfrm>
            <a:off x="4871085" y="3928110"/>
            <a:ext cx="1715770" cy="527685"/>
          </a:xfrm>
          <a:prstGeom prst="rect">
            <a:avLst/>
          </a:prstGeom>
          <a:noFill/>
          <a:ln w="9525">
            <a:noFill/>
          </a:ln>
        </p:spPr>
        <p:txBody>
          <a:bodyPr wrap="square">
            <a:noAutofit/>
          </a:bodyPr>
          <a:p>
            <a:r>
              <a:rPr lang="zh-CN" altLang="en-US" dirty="0">
                <a:latin typeface="Times New Roman" panose="02020603050405020304" pitchFamily="18" charset="0"/>
              </a:rPr>
              <a:t>按定义</a:t>
            </a:r>
            <a:endParaRPr lang="zh-CN" altLang="en-US">
              <a:latin typeface="Times New Roman" panose="02020603050405020304" pitchFamily="18" charset="0"/>
            </a:endParaRPr>
          </a:p>
        </p:txBody>
      </p:sp>
      <p:sp>
        <p:nvSpPr>
          <p:cNvPr id="103431" name="文本框 103430"/>
          <p:cNvSpPr txBox="1"/>
          <p:nvPr/>
        </p:nvSpPr>
        <p:spPr>
          <a:xfrm>
            <a:off x="891540" y="3918585"/>
            <a:ext cx="3978910" cy="591820"/>
          </a:xfrm>
          <a:prstGeom prst="rect">
            <a:avLst/>
          </a:prstGeom>
          <a:noFill/>
          <a:ln w="9525">
            <a:noFill/>
          </a:ln>
        </p:spPr>
        <p:txBody>
          <a:bodyPr wrap="none" anchor="t" anchorCtr="0">
            <a:noAutofit/>
          </a:bodyPr>
          <a:p>
            <a:r>
              <a:rPr lang="zh-CN" altLang="en-US" dirty="0">
                <a:latin typeface="Times New Roman" panose="02020603050405020304" pitchFamily="18" charset="0"/>
              </a:rPr>
              <a:t>即 </a:t>
            </a:r>
            <a:r>
              <a:rPr lang="en-US" altLang="zh-CN" i="1" err="1">
                <a:latin typeface="Times New Roman" panose="02020603050405020304" pitchFamily="18" charset="0"/>
              </a:rPr>
              <a:t>b</a:t>
            </a:r>
            <a:r>
              <a:rPr lang="en-US" altLang="zh-CN" sz="3200" i="1" baseline="-25000" err="1">
                <a:latin typeface="Times New Roman" panose="02020603050405020304" pitchFamily="18" charset="0"/>
              </a:rPr>
              <a:t>ij</a:t>
            </a:r>
            <a:r>
              <a:rPr lang="en-US" altLang="zh-CN">
                <a:latin typeface="Times New Roman" panose="02020603050405020304" pitchFamily="18" charset="0"/>
              </a:rPr>
              <a:t>=</a:t>
            </a:r>
            <a:r>
              <a:rPr lang="en-US" altLang="zh-CN" i="1" err="1">
                <a:latin typeface="Times New Roman" panose="02020603050405020304" pitchFamily="18" charset="0"/>
              </a:rPr>
              <a:t>a</a:t>
            </a:r>
            <a:r>
              <a:rPr lang="en-US" altLang="zh-CN" sz="3200" i="1" baseline="-25000" err="1">
                <a:latin typeface="Times New Roman" panose="02020603050405020304" pitchFamily="18" charset="0"/>
              </a:rPr>
              <a:t>ji</a:t>
            </a:r>
            <a:r>
              <a:rPr lang="en-US" altLang="zh-CN" sz="3200" i="1" baseline="-25000">
                <a:latin typeface="Times New Roman" panose="02020603050405020304" pitchFamily="18" charset="0"/>
              </a:rPr>
              <a:t> </a:t>
            </a:r>
            <a:r>
              <a:rPr lang="en-US" altLang="zh-CN">
                <a:latin typeface="Times New Roman" panose="02020603050405020304" pitchFamily="18" charset="0"/>
              </a:rPr>
              <a:t>( </a:t>
            </a:r>
            <a:r>
              <a:rPr lang="en-US" altLang="zh-CN" i="1">
                <a:latin typeface="Times New Roman" panose="02020603050405020304" pitchFamily="18" charset="0"/>
              </a:rPr>
              <a:t>i</a:t>
            </a:r>
            <a:r>
              <a:rPr lang="en-US" altLang="zh-CN">
                <a:latin typeface="Times New Roman" panose="02020603050405020304" pitchFamily="18" charset="0"/>
              </a:rPr>
              <a:t>, </a:t>
            </a:r>
            <a:r>
              <a:rPr lang="en-US" altLang="zh-CN" i="1">
                <a:latin typeface="Times New Roman" panose="02020603050405020304" pitchFamily="18" charset="0"/>
              </a:rPr>
              <a:t>j</a:t>
            </a:r>
            <a:r>
              <a:rPr lang="en-US" altLang="zh-CN">
                <a:latin typeface="Times New Roman" panose="02020603050405020304" pitchFamily="18" charset="0"/>
              </a:rPr>
              <a:t>=1, 2, ···, </a:t>
            </a:r>
            <a:r>
              <a:rPr lang="en-US" altLang="zh-CN" i="1">
                <a:latin typeface="Times New Roman" panose="02020603050405020304" pitchFamily="18" charset="0"/>
              </a:rPr>
              <a:t>n</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5" name="对象 4"/>
          <p:cNvGraphicFramePr/>
          <p:nvPr/>
        </p:nvGraphicFramePr>
        <p:xfrm>
          <a:off x="1343025" y="4634865"/>
          <a:ext cx="6383020" cy="1533525"/>
        </p:xfrm>
        <a:graphic>
          <a:graphicData uri="http://schemas.openxmlformats.org/presentationml/2006/ole">
            <mc:AlternateContent xmlns:mc="http://schemas.openxmlformats.org/markup-compatibility/2006">
              <mc:Choice xmlns:v="urn:schemas-microsoft-com:vml" Requires="v">
                <p:oleObj spid="_x0000_s6" name="" r:id="rId3" imgW="2197100" imgH="584200" progId="Equation.DSMT4">
                  <p:embed/>
                </p:oleObj>
              </mc:Choice>
              <mc:Fallback>
                <p:oleObj name="" r:id="rId3" imgW="2197100" imgH="584200" progId="Equation.DSMT4">
                  <p:embed/>
                  <p:pic>
                    <p:nvPicPr>
                      <p:cNvPr id="0" name="图片 2"/>
                      <p:cNvPicPr/>
                      <p:nvPr/>
                    </p:nvPicPr>
                    <p:blipFill>
                      <a:blip r:embed="rId4"/>
                      <a:stretch>
                        <a:fillRect/>
                      </a:stretch>
                    </p:blipFill>
                    <p:spPr>
                      <a:xfrm>
                        <a:off x="1343025" y="4634865"/>
                        <a:ext cx="6383020" cy="153352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3427">
                                            <p:txEl>
                                              <p:charRg st="0" end="30"/>
                                            </p:txEl>
                                          </p:spTgt>
                                        </p:tgtEl>
                                        <p:attrNameLst>
                                          <p:attrName>style.visibility</p:attrName>
                                        </p:attrNameLst>
                                      </p:cBhvr>
                                      <p:to>
                                        <p:strVal val="visible"/>
                                      </p:to>
                                    </p:set>
                                    <p:animEffect transition="in" filter="box(out)">
                                      <p:cBhvr>
                                        <p:cTn id="7" dur="500"/>
                                        <p:tgtEl>
                                          <p:spTgt spid="103427">
                                            <p:txEl>
                                              <p:charRg st="0" end="3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3426">
                                            <p:txEl>
                                              <p:charRg st="0" end="29"/>
                                            </p:txEl>
                                          </p:spTgt>
                                        </p:tgtEl>
                                        <p:attrNameLst>
                                          <p:attrName>style.visibility</p:attrName>
                                        </p:attrNameLst>
                                      </p:cBhvr>
                                      <p:to>
                                        <p:strVal val="visible"/>
                                      </p:to>
                                    </p:set>
                                    <p:animEffect transition="in" filter="box(out)">
                                      <p:cBhvr>
                                        <p:cTn id="12" dur="500"/>
                                        <p:tgtEl>
                                          <p:spTgt spid="103426">
                                            <p:txEl>
                                              <p:charRg st="0" end="29"/>
                                            </p:txEl>
                                          </p:spTgt>
                                        </p:tgtEl>
                                      </p:cBhvr>
                                    </p:animEffect>
                                  </p:childTnLst>
                                </p:cTn>
                              </p:par>
                            </p:childTnLst>
                          </p:cTn>
                        </p:par>
                        <p:par>
                          <p:cTn id="13" fill="hold">
                            <p:stCondLst>
                              <p:cond delay="500"/>
                            </p:stCondLst>
                            <p:childTnLst>
                              <p:par>
                                <p:cTn id="14" presetID="4" presetClass="entr" presetSubtype="32" fill="hold" nodeType="afterEffect">
                                  <p:stCondLst>
                                    <p:cond delay="0"/>
                                  </p:stCondLst>
                                  <p:childTnLst>
                                    <p:set>
                                      <p:cBhvr>
                                        <p:cTn id="15" dur="1" fill="hold">
                                          <p:stCondLst>
                                            <p:cond delay="0"/>
                                          </p:stCondLst>
                                        </p:cTn>
                                        <p:tgtEl>
                                          <p:spTgt spid="103428"/>
                                        </p:tgtEl>
                                        <p:attrNameLst>
                                          <p:attrName>style.visibility</p:attrName>
                                        </p:attrNameLst>
                                      </p:cBhvr>
                                      <p:to>
                                        <p:strVal val="visible"/>
                                      </p:to>
                                    </p:set>
                                    <p:animEffect transition="in" filter="box(out)">
                                      <p:cBhvr>
                                        <p:cTn id="16" dur="500"/>
                                        <p:tgtEl>
                                          <p:spTgt spid="103428"/>
                                        </p:tgtEl>
                                      </p:cBhvr>
                                    </p:animEffect>
                                  </p:childTnLst>
                                </p:cTn>
                              </p:par>
                            </p:childTnLst>
                          </p:cTn>
                        </p:par>
                        <p:par>
                          <p:cTn id="17" fill="hold">
                            <p:stCondLst>
                              <p:cond delay="1000"/>
                            </p:stCondLst>
                            <p:childTnLst>
                              <p:par>
                                <p:cTn id="18" presetID="4" presetClass="entr" presetSubtype="32" fill="hold" grpId="0" nodeType="afterEffect">
                                  <p:stCondLst>
                                    <p:cond delay="0"/>
                                  </p:stCondLst>
                                  <p:childTnLst>
                                    <p:set>
                                      <p:cBhvr>
                                        <p:cTn id="19" dur="1" fill="hold">
                                          <p:stCondLst>
                                            <p:cond delay="0"/>
                                          </p:stCondLst>
                                        </p:cTn>
                                        <p:tgtEl>
                                          <p:spTgt spid="103431">
                                            <p:txEl>
                                              <p:charRg st="0" end="32"/>
                                            </p:txEl>
                                          </p:spTgt>
                                        </p:tgtEl>
                                        <p:attrNameLst>
                                          <p:attrName>style.visibility</p:attrName>
                                        </p:attrNameLst>
                                      </p:cBhvr>
                                      <p:to>
                                        <p:strVal val="visible"/>
                                      </p:to>
                                    </p:set>
                                    <p:animEffect transition="in" filter="box(out)">
                                      <p:cBhvr>
                                        <p:cTn id="20" dur="500"/>
                                        <p:tgtEl>
                                          <p:spTgt spid="103431">
                                            <p:txEl>
                                              <p:charRg st="0" end="3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03429">
                                            <p:txEl>
                                              <p:charRg st="0" end="4"/>
                                            </p:txEl>
                                          </p:spTgt>
                                        </p:tgtEl>
                                        <p:attrNameLst>
                                          <p:attrName>style.visibility</p:attrName>
                                        </p:attrNameLst>
                                      </p:cBhvr>
                                      <p:to>
                                        <p:strVal val="visible"/>
                                      </p:to>
                                    </p:set>
                                    <p:animEffect transition="in" filter="box(out)">
                                      <p:cBhvr>
                                        <p:cTn id="25" dur="500"/>
                                        <p:tgtEl>
                                          <p:spTgt spid="103429">
                                            <p:txEl>
                                              <p:charRg st="0"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down)">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build="p"/>
      <p:bldP spid="103427" grpId="0" build="p"/>
      <p:bldP spid="103429" grpId="0" build="p"/>
      <p:bldP spid="103431" grpId="0" advAuto="100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1" name="矩形 104450"/>
          <p:cNvSpPr/>
          <p:nvPr/>
        </p:nvSpPr>
        <p:spPr>
          <a:xfrm>
            <a:off x="948055" y="693420"/>
            <a:ext cx="5061585" cy="521970"/>
          </a:xfrm>
          <a:prstGeom prst="rect">
            <a:avLst/>
          </a:prstGeom>
          <a:noFill/>
          <a:ln w="9525">
            <a:noFill/>
          </a:ln>
        </p:spPr>
        <p:txBody>
          <a:bodyPr wrap="square" anchor="t" anchorCtr="0">
            <a:spAutoFit/>
          </a:bodyPr>
          <a:p>
            <a:r>
              <a:rPr lang="zh-CN" altLang="en-US" dirty="0">
                <a:latin typeface="Times New Roman" panose="02020603050405020304" pitchFamily="18" charset="0"/>
              </a:rPr>
              <a:t>又由行列式的另一种表示得</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04452" name="文本框 104451"/>
          <p:cNvSpPr txBox="1"/>
          <p:nvPr/>
        </p:nvSpPr>
        <p:spPr>
          <a:xfrm>
            <a:off x="875030" y="2636520"/>
            <a:ext cx="3716338" cy="519113"/>
          </a:xfrm>
          <a:prstGeom prst="rect">
            <a:avLst/>
          </a:prstGeom>
          <a:noFill/>
          <a:ln w="9525">
            <a:noFill/>
          </a:ln>
        </p:spPr>
        <p:txBody>
          <a:bodyPr wrap="none" anchor="t" anchorCtr="0">
            <a:spAutoFit/>
          </a:bodyPr>
          <a:p>
            <a:r>
              <a:rPr lang="zh-CN" altLang="en-US" dirty="0">
                <a:latin typeface="Times New Roman" panose="02020603050405020304" pitchFamily="18" charset="0"/>
              </a:rPr>
              <a:t>所以</a:t>
            </a:r>
            <a:r>
              <a:rPr lang="en-US" altLang="zh-CN">
                <a:latin typeface="Times New Roman" panose="02020603050405020304" pitchFamily="18" charset="0"/>
              </a:rPr>
              <a:t>, </a:t>
            </a:r>
            <a:r>
              <a:rPr lang="en-US" altLang="zh-CN" i="1">
                <a:latin typeface="Times New Roman" panose="02020603050405020304" pitchFamily="18" charset="0"/>
              </a:rPr>
              <a:t>D</a:t>
            </a:r>
            <a:r>
              <a:rPr lang="en-US" altLang="zh-CN" i="1" baseline="30000">
                <a:latin typeface="Times New Roman" panose="02020603050405020304" pitchFamily="18" charset="0"/>
              </a:rPr>
              <a:t>T</a:t>
            </a:r>
            <a:r>
              <a:rPr lang="en-US" altLang="zh-CN">
                <a:latin typeface="Times New Roman" panose="02020603050405020304" pitchFamily="18" charset="0"/>
              </a:rPr>
              <a:t> = </a:t>
            </a:r>
            <a:r>
              <a:rPr lang="en-US" altLang="zh-CN" i="1">
                <a:latin typeface="Times New Roman" panose="02020603050405020304" pitchFamily="18" charset="0"/>
              </a:rPr>
              <a:t>D</a:t>
            </a:r>
            <a:r>
              <a:rPr lang="en-US" altLang="zh-CN">
                <a:latin typeface="Times New Roman" panose="02020603050405020304" pitchFamily="18" charset="0"/>
              </a:rPr>
              <a:t>, </a:t>
            </a:r>
            <a:r>
              <a:rPr lang="zh-CN" altLang="en-US" dirty="0">
                <a:latin typeface="Times New Roman" panose="02020603050405020304" pitchFamily="18" charset="0"/>
              </a:rPr>
              <a:t>结论成立</a:t>
            </a:r>
            <a:endParaRPr lang="zh-CN" altLang="en-US">
              <a:latin typeface="Times New Roman" panose="02020603050405020304" pitchFamily="18" charset="0"/>
            </a:endParaRPr>
          </a:p>
        </p:txBody>
      </p:sp>
      <p:sp>
        <p:nvSpPr>
          <p:cNvPr id="104453" name="文本框 104452"/>
          <p:cNvSpPr txBox="1"/>
          <p:nvPr/>
        </p:nvSpPr>
        <p:spPr>
          <a:xfrm>
            <a:off x="469900" y="3357880"/>
            <a:ext cx="8382000" cy="1727200"/>
          </a:xfrm>
          <a:prstGeom prst="rect">
            <a:avLst/>
          </a:prstGeom>
          <a:noFill/>
          <a:ln w="9525">
            <a:noFill/>
          </a:ln>
        </p:spPr>
        <p:txBody>
          <a:bodyPr/>
          <a:p>
            <a:pPr>
              <a:lnSpc>
                <a:spcPct val="150000"/>
              </a:lnSpc>
            </a:pPr>
            <a:r>
              <a:rPr lang="en-US" altLang="zh-CN" dirty="0">
                <a:solidFill>
                  <a:srgbClr val="0000FF"/>
                </a:solidFill>
                <a:latin typeface="Times New Roman" panose="02020603050405020304" pitchFamily="18" charset="0"/>
                <a:ea typeface="黑体" panose="02010609060101010101" pitchFamily="2" charset="-122"/>
              </a:rPr>
              <a:t>   </a:t>
            </a:r>
            <a:r>
              <a:rPr lang="zh-CN" altLang="en-US" dirty="0">
                <a:solidFill>
                  <a:srgbClr val="0000FF"/>
                </a:solidFill>
                <a:latin typeface="Times New Roman" panose="02020603050405020304" pitchFamily="18" charset="0"/>
                <a:ea typeface="黑体" panose="02010609060101010101" pitchFamily="2" charset="-122"/>
              </a:rPr>
              <a:t>说明</a:t>
            </a:r>
            <a:r>
              <a:rPr lang="en-US" altLang="zh-CN">
                <a:solidFill>
                  <a:srgbClr val="0000FF"/>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ea typeface="黑体" panose="02010609060101010101" pitchFamily="2" charset="-122"/>
              </a:rPr>
              <a:t>性质</a:t>
            </a:r>
            <a:r>
              <a:rPr lang="en-US" altLang="zh-CN">
                <a:latin typeface="Times New Roman" panose="02020603050405020304" pitchFamily="18" charset="0"/>
                <a:ea typeface="黑体" panose="02010609060101010101" pitchFamily="2" charset="-122"/>
              </a:rPr>
              <a:t>1</a:t>
            </a:r>
            <a:r>
              <a:rPr lang="zh-CN" altLang="en-US" dirty="0">
                <a:latin typeface="Times New Roman" panose="02020603050405020304" pitchFamily="18" charset="0"/>
              </a:rPr>
              <a:t>行列式中行与列具有同等的地位</a:t>
            </a:r>
            <a:r>
              <a:rPr lang="en-US" altLang="zh-CN">
                <a:latin typeface="Times New Roman" panose="02020603050405020304" pitchFamily="18" charset="0"/>
              </a:rPr>
              <a:t>, </a:t>
            </a:r>
            <a:r>
              <a:rPr lang="zh-CN" altLang="en-US" dirty="0">
                <a:latin typeface="Times New Roman" panose="02020603050405020304" pitchFamily="18" charset="0"/>
              </a:rPr>
              <a:t>因此行列式的性质凡是对行成立的结论</a:t>
            </a:r>
            <a:r>
              <a:rPr lang="en-US" altLang="zh-CN">
                <a:latin typeface="Times New Roman" panose="02020603050405020304" pitchFamily="18" charset="0"/>
              </a:rPr>
              <a:t>, </a:t>
            </a:r>
            <a:r>
              <a:rPr lang="zh-CN" altLang="en-US" dirty="0">
                <a:latin typeface="Times New Roman" panose="02020603050405020304" pitchFamily="18" charset="0"/>
              </a:rPr>
              <a:t>对列也同样成立</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2" name="对象 1"/>
          <p:cNvGraphicFramePr/>
          <p:nvPr/>
        </p:nvGraphicFramePr>
        <p:xfrm>
          <a:off x="1187450" y="1485265"/>
          <a:ext cx="6819900" cy="805180"/>
        </p:xfrm>
        <a:graphic>
          <a:graphicData uri="http://schemas.openxmlformats.org/presentationml/2006/ole">
            <mc:AlternateContent xmlns:mc="http://schemas.openxmlformats.org/markup-compatibility/2006">
              <mc:Choice xmlns:v="urn:schemas-microsoft-com:vml" Requires="v">
                <p:oleObj spid="_x0000_s3" name="" r:id="rId1" imgW="2145665" imgH="279400" progId="Equation.DSMT4">
                  <p:embed/>
                </p:oleObj>
              </mc:Choice>
              <mc:Fallback>
                <p:oleObj name="" r:id="rId1" imgW="2145665" imgH="279400" progId="Equation.DSMT4">
                  <p:embed/>
                  <p:pic>
                    <p:nvPicPr>
                      <p:cNvPr id="0" name="图片 2"/>
                      <p:cNvPicPr/>
                      <p:nvPr/>
                    </p:nvPicPr>
                    <p:blipFill>
                      <a:blip r:embed="rId2"/>
                      <a:stretch>
                        <a:fillRect/>
                      </a:stretch>
                    </p:blipFill>
                    <p:spPr>
                      <a:xfrm>
                        <a:off x="1187450" y="1485265"/>
                        <a:ext cx="6819900" cy="80518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4451">
                                            <p:txEl>
                                              <p:charRg st="0" end="14"/>
                                            </p:txEl>
                                          </p:spTgt>
                                        </p:tgtEl>
                                        <p:attrNameLst>
                                          <p:attrName>style.visibility</p:attrName>
                                        </p:attrNameLst>
                                      </p:cBhvr>
                                      <p:to>
                                        <p:strVal val="visible"/>
                                      </p:to>
                                    </p:set>
                                    <p:animEffect transition="in" filter="box(out)">
                                      <p:cBhvr>
                                        <p:cTn id="7" dur="500"/>
                                        <p:tgtEl>
                                          <p:spTgt spid="104451">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4452">
                                            <p:txEl>
                                              <p:charRg st="0" end="17"/>
                                            </p:txEl>
                                          </p:spTgt>
                                        </p:tgtEl>
                                        <p:attrNameLst>
                                          <p:attrName>style.visibility</p:attrName>
                                        </p:attrNameLst>
                                      </p:cBhvr>
                                      <p:to>
                                        <p:strVal val="visible"/>
                                      </p:to>
                                    </p:set>
                                    <p:animEffect transition="in" filter="box(out)">
                                      <p:cBhvr>
                                        <p:cTn id="17" dur="500"/>
                                        <p:tgtEl>
                                          <p:spTgt spid="104452">
                                            <p:txEl>
                                              <p:charRg st="0" end="1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04453">
                                            <p:txEl>
                                              <p:charRg st="0" end="57"/>
                                            </p:txEl>
                                          </p:spTgt>
                                        </p:tgtEl>
                                        <p:attrNameLst>
                                          <p:attrName>style.visibility</p:attrName>
                                        </p:attrNameLst>
                                      </p:cBhvr>
                                      <p:to>
                                        <p:strVal val="visible"/>
                                      </p:to>
                                    </p:set>
                                    <p:animEffect transition="in" filter="box(out)">
                                      <p:cBhvr>
                                        <p:cTn id="22" dur="500"/>
                                        <p:tgtEl>
                                          <p:spTgt spid="104453">
                                            <p:txEl>
                                              <p:charRg st="0" end="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p"/>
      <p:bldP spid="104452" grpId="0" build="p"/>
      <p:bldP spid="10445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矩形 105473"/>
          <p:cNvSpPr/>
          <p:nvPr/>
        </p:nvSpPr>
        <p:spPr>
          <a:xfrm>
            <a:off x="395288" y="476250"/>
            <a:ext cx="7414895" cy="521970"/>
          </a:xfrm>
          <a:prstGeom prst="rect">
            <a:avLst/>
          </a:prstGeom>
          <a:noFill/>
          <a:ln w="9525">
            <a:noFill/>
          </a:ln>
        </p:spPr>
        <p:txBody>
          <a:bodyPr wrap="none" anchor="t" anchorCtr="0">
            <a:spAutoFit/>
          </a:bodyPr>
          <a:p>
            <a:r>
              <a:rPr lang="zh-CN" altLang="en-US"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性质</a:t>
            </a:r>
            <a:r>
              <a:rPr lang="en-US" altLang="zh-CN"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1.2.</a:t>
            </a:r>
            <a:r>
              <a:rPr lang="en-US" altLang="zh-CN">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2:</a:t>
            </a:r>
            <a:r>
              <a:rPr lang="en-US" altLang="zh-CN">
                <a:latin typeface="黑体" panose="02010609060101010101" pitchFamily="2" charset="-122"/>
                <a:ea typeface="黑体" panose="02010609060101010101" pitchFamily="2" charset="-122"/>
              </a:rPr>
              <a:t> </a:t>
            </a:r>
            <a:r>
              <a:rPr lang="zh-CN" altLang="en-US" dirty="0">
                <a:latin typeface="Times New Roman" panose="02020603050405020304" pitchFamily="18" charset="0"/>
              </a:rPr>
              <a:t>互换行列式的两行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 </a:t>
            </a:r>
            <a:r>
              <a:rPr lang="zh-CN" altLang="en-US" dirty="0">
                <a:latin typeface="Times New Roman" panose="02020603050405020304" pitchFamily="18" charset="0"/>
              </a:rPr>
              <a:t>行列式变号</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05475" name="矩形 105474"/>
          <p:cNvSpPr/>
          <p:nvPr/>
        </p:nvSpPr>
        <p:spPr>
          <a:xfrm>
            <a:off x="611505" y="1235710"/>
            <a:ext cx="6048375" cy="642620"/>
          </a:xfrm>
          <a:prstGeom prst="rect">
            <a:avLst/>
          </a:prstGeom>
          <a:noFill/>
          <a:ln w="9525">
            <a:noFill/>
          </a:ln>
        </p:spPr>
        <p:txBody>
          <a:bodyPr>
            <a:noAutofit/>
          </a:bodyPr>
          <a:p>
            <a:r>
              <a:rPr lang="zh-CN" altLang="en-US"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证明</a:t>
            </a:r>
            <a:r>
              <a:rPr lang="en-US" altLang="zh-CN">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设行列式</a:t>
            </a:r>
            <a:endParaRPr lang="zh-CN" altLang="en-US" dirty="0">
              <a:latin typeface="Times New Roman" panose="02020603050405020304" pitchFamily="18" charset="0"/>
            </a:endParaRPr>
          </a:p>
        </p:txBody>
      </p:sp>
      <p:graphicFrame>
        <p:nvGraphicFramePr>
          <p:cNvPr id="105476" name="对象 105475"/>
          <p:cNvGraphicFramePr/>
          <p:nvPr/>
        </p:nvGraphicFramePr>
        <p:xfrm>
          <a:off x="5233035" y="2742565"/>
          <a:ext cx="3114675" cy="2083435"/>
        </p:xfrm>
        <a:graphic>
          <a:graphicData uri="http://schemas.openxmlformats.org/presentationml/2006/ole">
            <mc:AlternateContent xmlns:mc="http://schemas.openxmlformats.org/markup-compatibility/2006">
              <mc:Choice xmlns:v="urn:schemas-microsoft-com:vml" Requires="v">
                <p:oleObj spid="_x0000_s3298" name="" r:id="rId1" imgW="3263900" imgH="1727200" progId="Equation.3">
                  <p:embed/>
                </p:oleObj>
              </mc:Choice>
              <mc:Fallback>
                <p:oleObj name="" r:id="rId1" imgW="3263900" imgH="1727200" progId="Equation.3">
                  <p:embed/>
                  <p:pic>
                    <p:nvPicPr>
                      <p:cNvPr id="0" name="图片 3297"/>
                      <p:cNvPicPr/>
                      <p:nvPr/>
                    </p:nvPicPr>
                    <p:blipFill>
                      <a:blip r:embed="rId2"/>
                      <a:stretch>
                        <a:fillRect/>
                      </a:stretch>
                    </p:blipFill>
                    <p:spPr>
                      <a:xfrm>
                        <a:off x="5233035" y="2742565"/>
                        <a:ext cx="3114675" cy="2083435"/>
                      </a:xfrm>
                      <a:prstGeom prst="rect">
                        <a:avLst/>
                      </a:prstGeom>
                      <a:noFill/>
                      <a:ln w="38100">
                        <a:noFill/>
                        <a:miter/>
                      </a:ln>
                    </p:spPr>
                  </p:pic>
                </p:oleObj>
              </mc:Fallback>
            </mc:AlternateContent>
          </a:graphicData>
        </a:graphic>
      </p:graphicFrame>
      <p:graphicFrame>
        <p:nvGraphicFramePr>
          <p:cNvPr id="105477" name="对象 105476"/>
          <p:cNvGraphicFramePr/>
          <p:nvPr/>
        </p:nvGraphicFramePr>
        <p:xfrm>
          <a:off x="836930" y="1947545"/>
          <a:ext cx="4337685" cy="3569335"/>
        </p:xfrm>
        <a:graphic>
          <a:graphicData uri="http://schemas.openxmlformats.org/presentationml/2006/ole">
            <mc:AlternateContent xmlns:mc="http://schemas.openxmlformats.org/markup-compatibility/2006">
              <mc:Choice xmlns:v="urn:schemas-microsoft-com:vml" Requires="v">
                <p:oleObj spid="_x0000_s3313" name="" r:id="rId3" imgW="2463165" imgH="1168400" progId="Equation.3">
                  <p:embed/>
                </p:oleObj>
              </mc:Choice>
              <mc:Fallback>
                <p:oleObj name="" r:id="rId3" imgW="2463165" imgH="1168400" progId="Equation.3">
                  <p:embed/>
                  <p:pic>
                    <p:nvPicPr>
                      <p:cNvPr id="0" name="图片 3312"/>
                      <p:cNvPicPr/>
                      <p:nvPr/>
                    </p:nvPicPr>
                    <p:blipFill>
                      <a:blip r:embed="rId4"/>
                      <a:stretch>
                        <a:fillRect/>
                      </a:stretch>
                    </p:blipFill>
                    <p:spPr>
                      <a:xfrm>
                        <a:off x="836930" y="1947545"/>
                        <a:ext cx="4337685" cy="356933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5474">
                                            <p:txEl>
                                              <p:charRg st="0" end="25"/>
                                            </p:txEl>
                                          </p:spTgt>
                                        </p:tgtEl>
                                        <p:attrNameLst>
                                          <p:attrName>style.visibility</p:attrName>
                                        </p:attrNameLst>
                                      </p:cBhvr>
                                      <p:to>
                                        <p:strVal val="visible"/>
                                      </p:to>
                                    </p:set>
                                    <p:animEffect transition="in" filter="box(out)">
                                      <p:cBhvr>
                                        <p:cTn id="7" dur="500"/>
                                        <p:tgtEl>
                                          <p:spTgt spid="105474">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5475">
                                            <p:txEl>
                                              <p:charRg st="0" end="9"/>
                                            </p:txEl>
                                          </p:spTgt>
                                        </p:tgtEl>
                                        <p:attrNameLst>
                                          <p:attrName>style.visibility</p:attrName>
                                        </p:attrNameLst>
                                      </p:cBhvr>
                                      <p:to>
                                        <p:strVal val="visible"/>
                                      </p:to>
                                    </p:set>
                                    <p:animEffect transition="in" filter="box(out)">
                                      <p:cBhvr>
                                        <p:cTn id="12" dur="500"/>
                                        <p:tgtEl>
                                          <p:spTgt spid="105475">
                                            <p:txEl>
                                              <p:charRg st="0" end="9"/>
                                            </p:txEl>
                                          </p:spTgt>
                                        </p:tgtEl>
                                      </p:cBhvr>
                                    </p:animEffect>
                                  </p:childTnLst>
                                </p:cTn>
                              </p:par>
                            </p:childTnLst>
                          </p:cTn>
                        </p:par>
                        <p:par>
                          <p:cTn id="13" fill="hold">
                            <p:stCondLst>
                              <p:cond delay="500"/>
                            </p:stCondLst>
                            <p:childTnLst>
                              <p:par>
                                <p:cTn id="14" presetID="4" presetClass="entr" presetSubtype="32" fill="hold" nodeType="afterEffect">
                                  <p:stCondLst>
                                    <p:cond delay="0"/>
                                  </p:stCondLst>
                                  <p:childTnLst>
                                    <p:set>
                                      <p:cBhvr>
                                        <p:cTn id="15" dur="1" fill="hold">
                                          <p:stCondLst>
                                            <p:cond delay="0"/>
                                          </p:stCondLst>
                                        </p:cTn>
                                        <p:tgtEl>
                                          <p:spTgt spid="105477"/>
                                        </p:tgtEl>
                                        <p:attrNameLst>
                                          <p:attrName>style.visibility</p:attrName>
                                        </p:attrNameLst>
                                      </p:cBhvr>
                                      <p:to>
                                        <p:strVal val="visible"/>
                                      </p:to>
                                    </p:set>
                                    <p:animEffect transition="in" filter="box(out)">
                                      <p:cBhvr>
                                        <p:cTn id="16" dur="500"/>
                                        <p:tgtEl>
                                          <p:spTgt spid="105477"/>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105476"/>
                                        </p:tgtEl>
                                        <p:attrNameLst>
                                          <p:attrName>style.visibility</p:attrName>
                                        </p:attrNameLst>
                                      </p:cBhvr>
                                      <p:to>
                                        <p:strVal val="visible"/>
                                      </p:to>
                                    </p:set>
                                    <p:animEffect transition="in" filter="box(out)">
                                      <p:cBhvr>
                                        <p:cTn id="21" dur="500"/>
                                        <p:tgtEl>
                                          <p:spTgt spid="105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build="p"/>
      <p:bldP spid="105475"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6498" name="对象 106497"/>
          <p:cNvGraphicFramePr/>
          <p:nvPr/>
        </p:nvGraphicFramePr>
        <p:xfrm>
          <a:off x="3266440" y="621030"/>
          <a:ext cx="4598035" cy="2747010"/>
        </p:xfrm>
        <a:graphic>
          <a:graphicData uri="http://schemas.openxmlformats.org/presentationml/2006/ole">
            <mc:AlternateContent xmlns:mc="http://schemas.openxmlformats.org/markup-compatibility/2006">
              <mc:Choice xmlns:v="urn:schemas-microsoft-com:vml" Requires="v">
                <p:oleObj spid="_x0000_s3323" name="" r:id="rId1" imgW="4737100" imgH="2286000" progId="Equation.3">
                  <p:embed/>
                </p:oleObj>
              </mc:Choice>
              <mc:Fallback>
                <p:oleObj name="" r:id="rId1" imgW="4737100" imgH="2286000" progId="Equation.3">
                  <p:embed/>
                  <p:pic>
                    <p:nvPicPr>
                      <p:cNvPr id="0" name="图片 3322"/>
                      <p:cNvPicPr/>
                      <p:nvPr/>
                    </p:nvPicPr>
                    <p:blipFill>
                      <a:blip r:embed="rId2"/>
                      <a:stretch>
                        <a:fillRect/>
                      </a:stretch>
                    </p:blipFill>
                    <p:spPr>
                      <a:xfrm>
                        <a:off x="3266440" y="621030"/>
                        <a:ext cx="4598035" cy="2747010"/>
                      </a:xfrm>
                      <a:prstGeom prst="rect">
                        <a:avLst/>
                      </a:prstGeom>
                      <a:noFill/>
                      <a:ln w="38100">
                        <a:noFill/>
                        <a:miter/>
                      </a:ln>
                    </p:spPr>
                  </p:pic>
                </p:oleObj>
              </mc:Fallback>
            </mc:AlternateContent>
          </a:graphicData>
        </a:graphic>
      </p:graphicFrame>
      <p:sp>
        <p:nvSpPr>
          <p:cNvPr id="106499" name="矩形 106498"/>
          <p:cNvSpPr/>
          <p:nvPr/>
        </p:nvSpPr>
        <p:spPr>
          <a:xfrm>
            <a:off x="979170" y="1720850"/>
            <a:ext cx="2376170" cy="780415"/>
          </a:xfrm>
          <a:prstGeom prst="rect">
            <a:avLst/>
          </a:prstGeom>
          <a:noFill/>
          <a:ln w="9525">
            <a:noFill/>
          </a:ln>
        </p:spPr>
        <p:txBody>
          <a:bodyPr wrap="none" anchor="t" anchorCtr="0">
            <a:noAutofit/>
          </a:bodyPr>
          <a:p>
            <a:r>
              <a:rPr lang="en-US" altLang="zh-CN" dirty="0">
                <a:latin typeface="Times New Roman" panose="02020603050405020304" pitchFamily="18" charset="0"/>
              </a:rPr>
              <a:t>D</a:t>
            </a:r>
            <a:r>
              <a:rPr lang="en-US" altLang="zh-CN" baseline="-25000" dirty="0">
                <a:latin typeface="Times New Roman" panose="02020603050405020304" pitchFamily="18" charset="0"/>
              </a:rPr>
              <a:t>1</a:t>
            </a:r>
            <a:r>
              <a:rPr lang="zh-CN" altLang="en-US" dirty="0">
                <a:latin typeface="Times New Roman" panose="02020603050405020304" pitchFamily="18" charset="0"/>
              </a:rPr>
              <a:t>是由行列式</a:t>
            </a:r>
            <a:endParaRPr lang="zh-CN" altLang="en-US" dirty="0">
              <a:latin typeface="Times New Roman" panose="02020603050405020304" pitchFamily="18" charset="0"/>
            </a:endParaRPr>
          </a:p>
        </p:txBody>
      </p:sp>
      <p:sp>
        <p:nvSpPr>
          <p:cNvPr id="106500" name="矩形 106499"/>
          <p:cNvSpPr/>
          <p:nvPr/>
        </p:nvSpPr>
        <p:spPr>
          <a:xfrm>
            <a:off x="647700" y="3735705"/>
            <a:ext cx="4299585" cy="844550"/>
          </a:xfrm>
          <a:prstGeom prst="rect">
            <a:avLst/>
          </a:prstGeom>
          <a:noFill/>
          <a:ln w="9525">
            <a:noFill/>
          </a:ln>
        </p:spPr>
        <p:txBody>
          <a:bodyPr wrap="none" anchor="t" anchorCtr="0">
            <a:noAutofit/>
          </a:bodyPr>
          <a:p>
            <a:r>
              <a:rPr lang="zh-CN" altLang="en-US" dirty="0">
                <a:latin typeface="Times New Roman" panose="02020603050405020304" pitchFamily="18" charset="0"/>
              </a:rPr>
              <a:t>互换 </a:t>
            </a:r>
            <a:r>
              <a:rPr lang="en-US" altLang="zh-CN" i="1">
                <a:latin typeface="Times New Roman" panose="02020603050405020304" pitchFamily="18" charset="0"/>
              </a:rPr>
              <a:t>i</a:t>
            </a:r>
            <a:r>
              <a:rPr lang="en-US" altLang="zh-CN">
                <a:latin typeface="Times New Roman" panose="02020603050405020304" pitchFamily="18" charset="0"/>
              </a:rPr>
              <a:t>, </a:t>
            </a:r>
            <a:r>
              <a:rPr lang="en-US" altLang="zh-CN" i="1">
                <a:latin typeface="Times New Roman" panose="02020603050405020304" pitchFamily="18" charset="0"/>
              </a:rPr>
              <a:t>j </a:t>
            </a:r>
            <a:r>
              <a:rPr lang="en-US" altLang="zh-CN">
                <a:latin typeface="Times New Roman" panose="02020603050405020304" pitchFamily="18" charset="0"/>
              </a:rPr>
              <a:t>(</a:t>
            </a:r>
            <a:r>
              <a:rPr lang="en-US" altLang="zh-CN" i="1">
                <a:latin typeface="Times New Roman" panose="02020603050405020304" pitchFamily="18" charset="0"/>
              </a:rPr>
              <a:t>i</a:t>
            </a:r>
            <a:r>
              <a:rPr lang="en-US" altLang="zh-CN">
                <a:latin typeface="Times New Roman" panose="02020603050405020304" pitchFamily="18" charset="0"/>
              </a:rPr>
              <a:t> &lt; </a:t>
            </a:r>
            <a:r>
              <a:rPr lang="en-US" altLang="zh-CN" i="1">
                <a:latin typeface="Times New Roman" panose="02020603050405020304" pitchFamily="18" charset="0"/>
              </a:rPr>
              <a:t>j</a:t>
            </a:r>
            <a:r>
              <a:rPr lang="en-US" altLang="zh-CN">
                <a:latin typeface="Times New Roman" panose="02020603050405020304" pitchFamily="18" charset="0"/>
              </a:rPr>
              <a:t>)</a:t>
            </a:r>
            <a:r>
              <a:rPr lang="zh-CN" altLang="en-US" dirty="0">
                <a:latin typeface="Times New Roman" panose="02020603050405020304" pitchFamily="18" charset="0"/>
              </a:rPr>
              <a:t>两列得到</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06501" name="文本框 106500"/>
          <p:cNvSpPr txBox="1"/>
          <p:nvPr/>
        </p:nvSpPr>
        <p:spPr>
          <a:xfrm>
            <a:off x="323850" y="4729480"/>
            <a:ext cx="8479155" cy="698500"/>
          </a:xfrm>
          <a:prstGeom prst="rect">
            <a:avLst/>
          </a:prstGeom>
          <a:noFill/>
          <a:ln w="9525">
            <a:noFill/>
          </a:ln>
        </p:spPr>
        <p:txBody>
          <a:bodyPr wrap="none" anchor="t" anchorCtr="0">
            <a:noAutofit/>
          </a:bodyPr>
          <a:p>
            <a:r>
              <a:rPr lang="zh-CN" altLang="en-US" dirty="0">
                <a:latin typeface="Times New Roman" panose="02020603050405020304" pitchFamily="18" charset="0"/>
              </a:rPr>
              <a:t>即</a:t>
            </a:r>
            <a:r>
              <a:rPr lang="en-US" altLang="zh-CN">
                <a:latin typeface="Times New Roman" panose="02020603050405020304" pitchFamily="18" charset="0"/>
              </a:rPr>
              <a:t>, </a:t>
            </a:r>
            <a:r>
              <a:rPr lang="zh-CN" altLang="en-US" dirty="0">
                <a:latin typeface="Times New Roman" panose="02020603050405020304" pitchFamily="18" charset="0"/>
              </a:rPr>
              <a:t>当 </a:t>
            </a:r>
            <a:r>
              <a:rPr lang="en-US" altLang="zh-CN" i="1">
                <a:latin typeface="Times New Roman" panose="02020603050405020304" pitchFamily="18" charset="0"/>
              </a:rPr>
              <a:t>k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i</a:t>
            </a:r>
            <a:r>
              <a:rPr lang="en-US" altLang="zh-CN">
                <a:latin typeface="Times New Roman" panose="02020603050405020304" pitchFamily="18" charset="0"/>
              </a:rPr>
              <a:t>, </a:t>
            </a:r>
            <a:r>
              <a:rPr lang="en-US" altLang="zh-CN" i="1">
                <a:latin typeface="Times New Roman" panose="02020603050405020304" pitchFamily="18" charset="0"/>
              </a:rPr>
              <a:t>j </a:t>
            </a:r>
            <a:r>
              <a:rPr lang="zh-CN" altLang="en-US" dirty="0">
                <a:latin typeface="Times New Roman" panose="02020603050405020304" pitchFamily="18" charset="0"/>
              </a:rPr>
              <a:t>时</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i="1" baseline="-25000">
                <a:latin typeface="Times New Roman" panose="02020603050405020304" pitchFamily="18" charset="0"/>
              </a:rPr>
              <a:t>pk</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i="1" baseline="-25000">
                <a:latin typeface="Times New Roman" panose="02020603050405020304" pitchFamily="18" charset="0"/>
              </a:rPr>
              <a:t>pk</a:t>
            </a:r>
            <a:r>
              <a:rPr lang="en-US" altLang="zh-CN">
                <a:latin typeface="Times New Roman" panose="02020603050405020304" pitchFamily="18" charset="0"/>
              </a:rPr>
              <a:t>; </a:t>
            </a:r>
            <a:r>
              <a:rPr lang="zh-CN" altLang="en-US" dirty="0">
                <a:latin typeface="Times New Roman" panose="02020603050405020304" pitchFamily="18" charset="0"/>
              </a:rPr>
              <a:t>当 </a:t>
            </a:r>
            <a:r>
              <a:rPr lang="en-US" altLang="zh-CN" i="1">
                <a:latin typeface="Times New Roman" panose="02020603050405020304" pitchFamily="18" charset="0"/>
              </a:rPr>
              <a:t>k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i</a:t>
            </a:r>
            <a:r>
              <a:rPr lang="en-US" altLang="zh-CN">
                <a:latin typeface="Times New Roman" panose="02020603050405020304" pitchFamily="18" charset="0"/>
              </a:rPr>
              <a:t>, </a:t>
            </a:r>
            <a:r>
              <a:rPr lang="en-US" altLang="zh-CN" i="1">
                <a:latin typeface="Times New Roman" panose="02020603050405020304" pitchFamily="18" charset="0"/>
              </a:rPr>
              <a:t>j </a:t>
            </a:r>
            <a:r>
              <a:rPr lang="zh-CN" altLang="en-US" dirty="0">
                <a:latin typeface="Times New Roman" panose="02020603050405020304" pitchFamily="18" charset="0"/>
              </a:rPr>
              <a:t>时</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i="1" baseline="-25000">
                <a:latin typeface="Times New Roman" panose="02020603050405020304" pitchFamily="18" charset="0"/>
              </a:rPr>
              <a:t>pi</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i="1" baseline="-25000">
                <a:latin typeface="Times New Roman" panose="02020603050405020304" pitchFamily="18" charset="0"/>
              </a:rPr>
              <a:t>pj</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i="1" baseline="-25000">
                <a:latin typeface="Times New Roman" panose="02020603050405020304" pitchFamily="18" charset="0"/>
              </a:rPr>
              <a:t>pj</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i="1" baseline="-25000">
                <a:latin typeface="Times New Roman" panose="02020603050405020304" pitchFamily="18" charset="0"/>
              </a:rPr>
              <a:t>pi</a:t>
            </a:r>
            <a:r>
              <a:rPr lang="en-US" altLang="zh-CN">
                <a:latin typeface="Times New Roman" panose="02020603050405020304" pitchFamily="18" charset="0"/>
              </a:rPr>
              <a:t>; </a:t>
            </a:r>
            <a:endParaRPr lang="en-US" altLang="zh-CN">
              <a:latin typeface="Times New Roman" panose="02020603050405020304" pitchFamily="18" charset="0"/>
            </a:endParaRPr>
          </a:p>
        </p:txBody>
      </p:sp>
      <p:graphicFrame>
        <p:nvGraphicFramePr>
          <p:cNvPr id="2" name="对象 1"/>
          <p:cNvGraphicFramePr/>
          <p:nvPr/>
        </p:nvGraphicFramePr>
        <p:xfrm>
          <a:off x="4489450" y="3338830"/>
          <a:ext cx="165100" cy="180340"/>
        </p:xfrm>
        <a:graphic>
          <a:graphicData uri="http://schemas.openxmlformats.org/presentationml/2006/ole">
            <mc:AlternateContent xmlns:mc="http://schemas.openxmlformats.org/markup-compatibility/2006">
              <mc:Choice xmlns:v="urn:schemas-microsoft-com:vml" Requires="v">
                <p:oleObj spid="_x0000_s3" name="" r:id="rId3" imgW="190500" imgH="215900" progId="Equation.KSEE3">
                  <p:embed/>
                </p:oleObj>
              </mc:Choice>
              <mc:Fallback>
                <p:oleObj name="" r:id="rId3" imgW="190500" imgH="215900" progId="Equation.KSEE3">
                  <p:embed/>
                  <p:pic>
                    <p:nvPicPr>
                      <p:cNvPr id="0" name="图片 2"/>
                      <p:cNvPicPr/>
                      <p:nvPr/>
                    </p:nvPicPr>
                    <p:blipFill>
                      <a:blip r:embed="rId4"/>
                      <a:stretch>
                        <a:fillRect/>
                      </a:stretch>
                    </p:blipFill>
                    <p:spPr>
                      <a:xfrm>
                        <a:off x="4489450" y="3338830"/>
                        <a:ext cx="165100" cy="180340"/>
                      </a:xfrm>
                      <a:prstGeom prst="rect">
                        <a:avLst/>
                      </a:prstGeom>
                    </p:spPr>
                  </p:pic>
                </p:oleObj>
              </mc:Fallback>
            </mc:AlternateContent>
          </a:graphicData>
        </a:graphic>
      </p:graphicFrame>
      <p:graphicFrame>
        <p:nvGraphicFramePr>
          <p:cNvPr id="4" name="对象 3"/>
          <p:cNvGraphicFramePr/>
          <p:nvPr/>
        </p:nvGraphicFramePr>
        <p:xfrm>
          <a:off x="4489450" y="3338830"/>
          <a:ext cx="165100" cy="180340"/>
        </p:xfrm>
        <a:graphic>
          <a:graphicData uri="http://schemas.openxmlformats.org/presentationml/2006/ole">
            <mc:AlternateContent xmlns:mc="http://schemas.openxmlformats.org/markup-compatibility/2006">
              <mc:Choice xmlns:v="urn:schemas-microsoft-com:vml" Requires="v">
                <p:oleObj spid="_x0000_s5" name="" r:id="rId5" imgW="190500" imgH="215900" progId="Equation.KSEE3">
                  <p:embed/>
                </p:oleObj>
              </mc:Choice>
              <mc:Fallback>
                <p:oleObj name="" r:id="rId5" imgW="190500" imgH="215900" progId="Equation.KSEE3">
                  <p:embed/>
                  <p:pic>
                    <p:nvPicPr>
                      <p:cNvPr id="0" name="图片 4"/>
                      <p:cNvPicPr/>
                      <p:nvPr/>
                    </p:nvPicPr>
                    <p:blipFill>
                      <a:blip r:embed="rId6"/>
                      <a:stretch>
                        <a:fillRect/>
                      </a:stretch>
                    </p:blipFill>
                    <p:spPr>
                      <a:xfrm>
                        <a:off x="4489450" y="3338830"/>
                        <a:ext cx="165100" cy="180340"/>
                      </a:xfrm>
                      <a:prstGeom prst="rect">
                        <a:avLst/>
                      </a:prstGeom>
                    </p:spPr>
                  </p:pic>
                </p:oleObj>
              </mc:Fallback>
            </mc:AlternateContent>
          </a:graphicData>
        </a:graphic>
      </p:graphicFrame>
      <p:graphicFrame>
        <p:nvGraphicFramePr>
          <p:cNvPr id="6" name="对象 5"/>
          <p:cNvGraphicFramePr/>
          <p:nvPr/>
        </p:nvGraphicFramePr>
        <p:xfrm>
          <a:off x="4489450" y="3338830"/>
          <a:ext cx="165100" cy="180340"/>
        </p:xfrm>
        <a:graphic>
          <a:graphicData uri="http://schemas.openxmlformats.org/presentationml/2006/ole">
            <mc:AlternateContent xmlns:mc="http://schemas.openxmlformats.org/markup-compatibility/2006">
              <mc:Choice xmlns:v="urn:schemas-microsoft-com:vml" Requires="v">
                <p:oleObj spid="_x0000_s7" name="" r:id="rId7" imgW="190500" imgH="215900" progId="Equation.KSEE3">
                  <p:embed/>
                </p:oleObj>
              </mc:Choice>
              <mc:Fallback>
                <p:oleObj name="" r:id="rId7" imgW="190500" imgH="215900" progId="Equation.KSEE3">
                  <p:embed/>
                  <p:pic>
                    <p:nvPicPr>
                      <p:cNvPr id="0" name="图片 6"/>
                      <p:cNvPicPr/>
                      <p:nvPr/>
                    </p:nvPicPr>
                    <p:blipFill>
                      <a:blip r:embed="rId8"/>
                      <a:stretch>
                        <a:fillRect/>
                      </a:stretch>
                    </p:blipFill>
                    <p:spPr>
                      <a:xfrm>
                        <a:off x="4489450" y="3338830"/>
                        <a:ext cx="165100" cy="180340"/>
                      </a:xfrm>
                      <a:prstGeom prst="rect">
                        <a:avLst/>
                      </a:prstGeom>
                    </p:spPr>
                  </p:pic>
                </p:oleObj>
              </mc:Fallback>
            </mc:AlternateContent>
          </a:graphicData>
        </a:graphic>
      </p:graphicFrame>
      <p:graphicFrame>
        <p:nvGraphicFramePr>
          <p:cNvPr id="10" name="对象 9"/>
          <p:cNvGraphicFramePr/>
          <p:nvPr/>
        </p:nvGraphicFramePr>
        <p:xfrm>
          <a:off x="4521200" y="3456940"/>
          <a:ext cx="101600" cy="129540"/>
        </p:xfrm>
        <a:graphic>
          <a:graphicData uri="http://schemas.openxmlformats.org/presentationml/2006/ole">
            <mc:AlternateContent xmlns:mc="http://schemas.openxmlformats.org/markup-compatibility/2006">
              <mc:Choice xmlns:v="urn:schemas-microsoft-com:vml" Requires="v">
                <p:oleObj spid="_x0000_s11" name="" r:id="rId9" imgW="127000" imgH="101600" progId="Equation.KSEE3">
                  <p:embed/>
                </p:oleObj>
              </mc:Choice>
              <mc:Fallback>
                <p:oleObj name="" r:id="rId9" imgW="127000" imgH="101600" progId="Equation.KSEE3">
                  <p:embed/>
                  <p:pic>
                    <p:nvPicPr>
                      <p:cNvPr id="0" name="图片 10"/>
                      <p:cNvPicPr/>
                      <p:nvPr/>
                    </p:nvPicPr>
                    <p:blipFill>
                      <a:blip r:embed="rId10"/>
                      <a:stretch>
                        <a:fillRect/>
                      </a:stretch>
                    </p:blipFill>
                    <p:spPr>
                      <a:xfrm>
                        <a:off x="4521200" y="3456940"/>
                        <a:ext cx="101600" cy="12954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06499">
                                            <p:txEl>
                                              <p:charRg st="0" end="6"/>
                                            </p:txEl>
                                          </p:spTgt>
                                        </p:tgtEl>
                                        <p:attrNameLst>
                                          <p:attrName>style.visibility</p:attrName>
                                        </p:attrNameLst>
                                      </p:cBhvr>
                                      <p:to>
                                        <p:strVal val="visible"/>
                                      </p:to>
                                    </p:set>
                                    <p:animEffect transition="in" filter="box(out)">
                                      <p:cBhvr>
                                        <p:cTn id="7" dur="500"/>
                                        <p:tgtEl>
                                          <p:spTgt spid="106499">
                                            <p:txEl>
                                              <p:charRg st="0" end="6"/>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06498"/>
                                        </p:tgtEl>
                                        <p:attrNameLst>
                                          <p:attrName>style.visibility</p:attrName>
                                        </p:attrNameLst>
                                      </p:cBhvr>
                                      <p:to>
                                        <p:strVal val="visible"/>
                                      </p:to>
                                    </p:set>
                                    <p:animEffect transition="in" filter="box(out)">
                                      <p:cBhvr>
                                        <p:cTn id="11" dur="500"/>
                                        <p:tgtEl>
                                          <p:spTgt spid="106498"/>
                                        </p:tgtEl>
                                      </p:cBhvr>
                                    </p:animEffect>
                                  </p:childTnLst>
                                </p:cTn>
                              </p:par>
                            </p:childTnLst>
                          </p:cTn>
                        </p:par>
                        <p:par>
                          <p:cTn id="12" fill="hold">
                            <p:stCondLst>
                              <p:cond delay="1000"/>
                            </p:stCondLst>
                            <p:childTnLst>
                              <p:par>
                                <p:cTn id="13" presetID="4" presetClass="entr" presetSubtype="32" fill="hold" grpId="0" nodeType="afterEffect">
                                  <p:stCondLst>
                                    <p:cond delay="0"/>
                                  </p:stCondLst>
                                  <p:childTnLst>
                                    <p:set>
                                      <p:cBhvr>
                                        <p:cTn id="14" dur="1" fill="hold">
                                          <p:stCondLst>
                                            <p:cond delay="0"/>
                                          </p:stCondLst>
                                        </p:cTn>
                                        <p:tgtEl>
                                          <p:spTgt spid="106500">
                                            <p:txEl>
                                              <p:charRg st="0" end="21"/>
                                            </p:txEl>
                                          </p:spTgt>
                                        </p:tgtEl>
                                        <p:attrNameLst>
                                          <p:attrName>style.visibility</p:attrName>
                                        </p:attrNameLst>
                                      </p:cBhvr>
                                      <p:to>
                                        <p:strVal val="visible"/>
                                      </p:to>
                                    </p:set>
                                    <p:animEffect transition="in" filter="box(out)">
                                      <p:cBhvr>
                                        <p:cTn id="15" dur="500"/>
                                        <p:tgtEl>
                                          <p:spTgt spid="106500">
                                            <p:txEl>
                                              <p:charRg st="0" end="2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32" fill="hold" grpId="0" nodeType="clickEffect">
                                  <p:stCondLst>
                                    <p:cond delay="0"/>
                                  </p:stCondLst>
                                  <p:childTnLst>
                                    <p:set>
                                      <p:cBhvr>
                                        <p:cTn id="19" dur="1" fill="hold">
                                          <p:stCondLst>
                                            <p:cond delay="0"/>
                                          </p:stCondLst>
                                        </p:cTn>
                                        <p:tgtEl>
                                          <p:spTgt spid="106501">
                                            <p:txEl>
                                              <p:charRg st="0" end="62"/>
                                            </p:txEl>
                                          </p:spTgt>
                                        </p:tgtEl>
                                        <p:attrNameLst>
                                          <p:attrName>style.visibility</p:attrName>
                                        </p:attrNameLst>
                                      </p:cBhvr>
                                      <p:to>
                                        <p:strVal val="visible"/>
                                      </p:to>
                                    </p:set>
                                    <p:animEffect transition="in" filter="box(out)">
                                      <p:cBhvr>
                                        <p:cTn id="20" dur="500"/>
                                        <p:tgtEl>
                                          <p:spTgt spid="106501">
                                            <p:txEl>
                                              <p:charRg st="0" end="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advAuto="1000" build="p"/>
      <p:bldP spid="106500" grpId="0" advAuto="1000" build="p"/>
      <p:bldP spid="106501"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文本框 107521"/>
          <p:cNvSpPr txBox="1"/>
          <p:nvPr/>
        </p:nvSpPr>
        <p:spPr>
          <a:xfrm>
            <a:off x="588645" y="421005"/>
            <a:ext cx="898525" cy="519113"/>
          </a:xfrm>
          <a:prstGeom prst="rect">
            <a:avLst/>
          </a:prstGeom>
          <a:noFill/>
          <a:ln w="9525">
            <a:noFill/>
          </a:ln>
        </p:spPr>
        <p:txBody>
          <a:bodyPr wrap="none" anchor="t" anchorCtr="0">
            <a:spAutoFit/>
          </a:bodyPr>
          <a:p>
            <a:r>
              <a:rPr lang="zh-CN" altLang="en-US" dirty="0">
                <a:latin typeface="Times New Roman" panose="02020603050405020304" pitchFamily="18" charset="0"/>
              </a:rPr>
              <a:t>于是</a:t>
            </a:r>
            <a:endParaRPr lang="zh-CN" altLang="en-US">
              <a:latin typeface="Times New Roman" panose="02020603050405020304" pitchFamily="18" charset="0"/>
            </a:endParaRPr>
          </a:p>
        </p:txBody>
      </p:sp>
      <p:graphicFrame>
        <p:nvGraphicFramePr>
          <p:cNvPr id="107523" name="对象 107522"/>
          <p:cNvGraphicFramePr/>
          <p:nvPr/>
        </p:nvGraphicFramePr>
        <p:xfrm>
          <a:off x="1753870" y="395605"/>
          <a:ext cx="5321300" cy="635000"/>
        </p:xfrm>
        <a:graphic>
          <a:graphicData uri="http://schemas.openxmlformats.org/presentationml/2006/ole">
            <mc:AlternateContent xmlns:mc="http://schemas.openxmlformats.org/markup-compatibility/2006">
              <mc:Choice xmlns:v="urn:schemas-microsoft-com:vml" Requires="v">
                <p:oleObj spid="_x0000_s3317" name="" r:id="rId1" imgW="5318760" imgH="635000" progId="Equation.3">
                  <p:embed/>
                </p:oleObj>
              </mc:Choice>
              <mc:Fallback>
                <p:oleObj name="" r:id="rId1" imgW="5318760" imgH="635000" progId="Equation.3">
                  <p:embed/>
                  <p:pic>
                    <p:nvPicPr>
                      <p:cNvPr id="0" name="图片 3316"/>
                      <p:cNvPicPr/>
                      <p:nvPr/>
                    </p:nvPicPr>
                    <p:blipFill>
                      <a:blip r:embed="rId2"/>
                      <a:stretch>
                        <a:fillRect/>
                      </a:stretch>
                    </p:blipFill>
                    <p:spPr>
                      <a:xfrm>
                        <a:off x="1753870" y="395605"/>
                        <a:ext cx="5321300" cy="635000"/>
                      </a:xfrm>
                      <a:prstGeom prst="rect">
                        <a:avLst/>
                      </a:prstGeom>
                      <a:noFill/>
                      <a:ln w="38100">
                        <a:noFill/>
                        <a:miter/>
                      </a:ln>
                    </p:spPr>
                  </p:pic>
                </p:oleObj>
              </mc:Fallback>
            </mc:AlternateContent>
          </a:graphicData>
        </a:graphic>
      </p:graphicFrame>
      <p:graphicFrame>
        <p:nvGraphicFramePr>
          <p:cNvPr id="107524" name="对象 107523"/>
          <p:cNvGraphicFramePr/>
          <p:nvPr/>
        </p:nvGraphicFramePr>
        <p:xfrm>
          <a:off x="2236470" y="979805"/>
          <a:ext cx="4914900" cy="635000"/>
        </p:xfrm>
        <a:graphic>
          <a:graphicData uri="http://schemas.openxmlformats.org/presentationml/2006/ole">
            <mc:AlternateContent xmlns:mc="http://schemas.openxmlformats.org/markup-compatibility/2006">
              <mc:Choice xmlns:v="urn:schemas-microsoft-com:vml" Requires="v">
                <p:oleObj spid="_x0000_s3320" name="" r:id="rId3" imgW="4912995" imgH="635000" progId="Equation.3">
                  <p:embed/>
                </p:oleObj>
              </mc:Choice>
              <mc:Fallback>
                <p:oleObj name="" r:id="rId3" imgW="4912995" imgH="635000" progId="Equation.3">
                  <p:embed/>
                  <p:pic>
                    <p:nvPicPr>
                      <p:cNvPr id="0" name="图片 3319"/>
                      <p:cNvPicPr/>
                      <p:nvPr/>
                    </p:nvPicPr>
                    <p:blipFill>
                      <a:blip r:embed="rId4"/>
                      <a:stretch>
                        <a:fillRect/>
                      </a:stretch>
                    </p:blipFill>
                    <p:spPr>
                      <a:xfrm>
                        <a:off x="2236470" y="979805"/>
                        <a:ext cx="4914900" cy="635000"/>
                      </a:xfrm>
                      <a:prstGeom prst="rect">
                        <a:avLst/>
                      </a:prstGeom>
                      <a:noFill/>
                      <a:ln w="38100">
                        <a:noFill/>
                        <a:miter/>
                      </a:ln>
                    </p:spPr>
                  </p:pic>
                </p:oleObj>
              </mc:Fallback>
            </mc:AlternateContent>
          </a:graphicData>
        </a:graphic>
      </p:graphicFrame>
      <p:graphicFrame>
        <p:nvGraphicFramePr>
          <p:cNvPr id="107525" name="对象 107524"/>
          <p:cNvGraphicFramePr/>
          <p:nvPr/>
        </p:nvGraphicFramePr>
        <p:xfrm>
          <a:off x="2268220" y="1665605"/>
          <a:ext cx="4914900" cy="635000"/>
        </p:xfrm>
        <a:graphic>
          <a:graphicData uri="http://schemas.openxmlformats.org/presentationml/2006/ole">
            <mc:AlternateContent xmlns:mc="http://schemas.openxmlformats.org/markup-compatibility/2006">
              <mc:Choice xmlns:v="urn:schemas-microsoft-com:vml" Requires="v">
                <p:oleObj spid="_x0000_s3315" name="" r:id="rId5" imgW="4912995" imgH="635000" progId="Equation.DSMT4">
                  <p:embed/>
                </p:oleObj>
              </mc:Choice>
              <mc:Fallback>
                <p:oleObj name="" r:id="rId5" imgW="4912995" imgH="635000" progId="Equation.DSMT4">
                  <p:embed/>
                  <p:pic>
                    <p:nvPicPr>
                      <p:cNvPr id="0" name="图片 3314"/>
                      <p:cNvPicPr/>
                      <p:nvPr/>
                    </p:nvPicPr>
                    <p:blipFill>
                      <a:blip r:embed="rId6"/>
                      <a:stretch>
                        <a:fillRect/>
                      </a:stretch>
                    </p:blipFill>
                    <p:spPr>
                      <a:xfrm>
                        <a:off x="2268220" y="1665605"/>
                        <a:ext cx="4914900" cy="635000"/>
                      </a:xfrm>
                      <a:prstGeom prst="rect">
                        <a:avLst/>
                      </a:prstGeom>
                      <a:noFill/>
                      <a:ln w="38100">
                        <a:noFill/>
                        <a:miter/>
                      </a:ln>
                    </p:spPr>
                  </p:pic>
                </p:oleObj>
              </mc:Fallback>
            </mc:AlternateContent>
          </a:graphicData>
        </a:graphic>
      </p:graphicFrame>
      <p:grpSp>
        <p:nvGrpSpPr>
          <p:cNvPr id="107526" name="组合 107525"/>
          <p:cNvGrpSpPr/>
          <p:nvPr/>
        </p:nvGrpSpPr>
        <p:grpSpPr>
          <a:xfrm>
            <a:off x="4592320" y="1113155"/>
            <a:ext cx="1524000" cy="457200"/>
            <a:chOff x="2748" y="596"/>
            <a:chExt cx="960" cy="288"/>
          </a:xfrm>
        </p:grpSpPr>
        <p:sp>
          <p:nvSpPr>
            <p:cNvPr id="107527" name="矩形 107526"/>
            <p:cNvSpPr/>
            <p:nvPr/>
          </p:nvSpPr>
          <p:spPr>
            <a:xfrm>
              <a:off x="2748" y="596"/>
              <a:ext cx="384" cy="288"/>
            </a:xfrm>
            <a:prstGeom prst="rect">
              <a:avLst/>
            </a:prstGeom>
            <a:noFill/>
            <a:ln w="9525" cap="flat" cmpd="sng">
              <a:solidFill>
                <a:srgbClr val="FF0000"/>
              </a:solidFill>
              <a:prstDash val="solid"/>
              <a:miter/>
              <a:headEnd type="none" w="med" len="med"/>
              <a:tailEnd type="none" w="med" len="med"/>
            </a:ln>
          </p:spPr>
          <p:txBody>
            <a:bodyPr/>
            <a:p>
              <a:endParaRPr lang="zh-CN" altLang="en-US"/>
            </a:p>
          </p:txBody>
        </p:sp>
        <p:sp>
          <p:nvSpPr>
            <p:cNvPr id="107528" name="矩形 107527"/>
            <p:cNvSpPr/>
            <p:nvPr/>
          </p:nvSpPr>
          <p:spPr>
            <a:xfrm>
              <a:off x="3324" y="596"/>
              <a:ext cx="384" cy="288"/>
            </a:xfrm>
            <a:prstGeom prst="rect">
              <a:avLst/>
            </a:prstGeom>
            <a:noFill/>
            <a:ln w="9525" cap="flat" cmpd="sng">
              <a:solidFill>
                <a:srgbClr val="3333FF"/>
              </a:solidFill>
              <a:prstDash val="solid"/>
              <a:miter/>
              <a:headEnd type="none" w="med" len="med"/>
              <a:tailEnd type="none" w="med" len="med"/>
            </a:ln>
          </p:spPr>
          <p:txBody>
            <a:bodyPr/>
            <a:p>
              <a:endParaRPr lang="zh-CN" altLang="en-US"/>
            </a:p>
          </p:txBody>
        </p:sp>
      </p:grpSp>
      <p:grpSp>
        <p:nvGrpSpPr>
          <p:cNvPr id="107529" name="组合 107528"/>
          <p:cNvGrpSpPr/>
          <p:nvPr/>
        </p:nvGrpSpPr>
        <p:grpSpPr>
          <a:xfrm>
            <a:off x="4611370" y="1818005"/>
            <a:ext cx="1562100" cy="457200"/>
            <a:chOff x="2760" y="1040"/>
            <a:chExt cx="984" cy="288"/>
          </a:xfrm>
        </p:grpSpPr>
        <p:sp>
          <p:nvSpPr>
            <p:cNvPr id="107530" name="矩形 107529"/>
            <p:cNvSpPr/>
            <p:nvPr/>
          </p:nvSpPr>
          <p:spPr>
            <a:xfrm>
              <a:off x="2760" y="1040"/>
              <a:ext cx="394" cy="288"/>
            </a:xfrm>
            <a:prstGeom prst="rect">
              <a:avLst/>
            </a:prstGeom>
            <a:noFill/>
            <a:ln w="9525" cap="flat" cmpd="sng">
              <a:solidFill>
                <a:srgbClr val="3333FF"/>
              </a:solidFill>
              <a:prstDash val="solid"/>
              <a:miter/>
              <a:headEnd type="none" w="med" len="med"/>
              <a:tailEnd type="none" w="med" len="med"/>
            </a:ln>
          </p:spPr>
          <p:txBody>
            <a:bodyPr/>
            <a:p>
              <a:endParaRPr lang="zh-CN" altLang="en-US"/>
            </a:p>
          </p:txBody>
        </p:sp>
        <p:sp>
          <p:nvSpPr>
            <p:cNvPr id="107531" name="矩形 107530"/>
            <p:cNvSpPr/>
            <p:nvPr/>
          </p:nvSpPr>
          <p:spPr>
            <a:xfrm>
              <a:off x="3350" y="1040"/>
              <a:ext cx="394" cy="288"/>
            </a:xfrm>
            <a:prstGeom prst="rect">
              <a:avLst/>
            </a:prstGeom>
            <a:noFill/>
            <a:ln w="9525" cap="flat" cmpd="sng">
              <a:solidFill>
                <a:srgbClr val="FF0000"/>
              </a:solidFill>
              <a:prstDash val="solid"/>
              <a:miter/>
              <a:headEnd type="none" w="med" len="med"/>
              <a:tailEnd type="none" w="med" len="med"/>
            </a:ln>
          </p:spPr>
          <p:txBody>
            <a:bodyPr/>
            <a:p>
              <a:endParaRPr lang="zh-CN" altLang="en-US"/>
            </a:p>
          </p:txBody>
        </p:sp>
      </p:grpSp>
      <p:sp>
        <p:nvSpPr>
          <p:cNvPr id="107532" name="文本框 107531"/>
          <p:cNvSpPr txBox="1"/>
          <p:nvPr/>
        </p:nvSpPr>
        <p:spPr>
          <a:xfrm>
            <a:off x="718185" y="2421255"/>
            <a:ext cx="8062595" cy="1038860"/>
          </a:xfrm>
          <a:prstGeom prst="rect">
            <a:avLst/>
          </a:prstGeom>
          <a:noFill/>
          <a:ln w="9525">
            <a:noFill/>
          </a:ln>
        </p:spPr>
        <p:txBody>
          <a:bodyPr wrap="square" anchor="t" anchorCtr="0">
            <a:spAutoFit/>
          </a:bodyPr>
          <a:p>
            <a:pPr>
              <a:lnSpc>
                <a:spcPct val="110000"/>
              </a:lnSpc>
            </a:pPr>
            <a:r>
              <a:rPr lang="zh-CN" altLang="en-US" dirty="0">
                <a:latin typeface="Times New Roman" panose="02020603050405020304" pitchFamily="18" charset="0"/>
              </a:rPr>
              <a:t>其中设 </a:t>
            </a:r>
            <a:r>
              <a:rPr lang="en-US" altLang="zh-CN" i="1">
                <a:latin typeface="Times New Roman" panose="02020603050405020304" pitchFamily="18" charset="0"/>
              </a:rPr>
              <a:t>t </a:t>
            </a:r>
            <a:r>
              <a:rPr lang="zh-CN" altLang="en-US" dirty="0">
                <a:latin typeface="Times New Roman" panose="02020603050405020304" pitchFamily="18" charset="0"/>
              </a:rPr>
              <a:t>为排列 </a:t>
            </a:r>
            <a:r>
              <a:rPr lang="en-US" altLang="zh-CN" i="1">
                <a:latin typeface="Times New Roman" panose="02020603050405020304" pitchFamily="18" charset="0"/>
              </a:rPr>
              <a:t>p</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i="1" baseline="-25000">
                <a:latin typeface="Times New Roman" panose="02020603050405020304" pitchFamily="18" charset="0"/>
              </a:rPr>
              <a:t>i</a:t>
            </a:r>
            <a:r>
              <a:rPr lang="en-US" altLang="zh-CN">
                <a:latin typeface="Times New Roman" panose="02020603050405020304" pitchFamily="18" charset="0"/>
              </a:rPr>
              <a:t>··· </a:t>
            </a:r>
            <a:r>
              <a:rPr lang="en-US" altLang="zh-CN" i="1" err="1">
                <a:latin typeface="Times New Roman" panose="02020603050405020304" pitchFamily="18" charset="0"/>
              </a:rPr>
              <a:t>p</a:t>
            </a:r>
            <a:r>
              <a:rPr lang="en-US" altLang="zh-CN" i="1" baseline="-25000" err="1">
                <a:latin typeface="Times New Roman" panose="02020603050405020304" pitchFamily="18" charset="0"/>
              </a:rPr>
              <a:t>j</a:t>
            </a:r>
            <a:r>
              <a:rPr lang="en-US" altLang="zh-CN">
                <a:latin typeface="Times New Roman" panose="02020603050405020304" pitchFamily="18" charset="0"/>
              </a:rPr>
              <a:t>··· </a:t>
            </a:r>
            <a:r>
              <a:rPr lang="en-US" altLang="zh-CN" i="1" err="1">
                <a:latin typeface="Times New Roman" panose="02020603050405020304" pitchFamily="18" charset="0"/>
              </a:rPr>
              <a:t>p</a:t>
            </a:r>
            <a:r>
              <a:rPr lang="en-US" altLang="zh-CN" i="1" baseline="-25000" err="1">
                <a:latin typeface="Times New Roman" panose="02020603050405020304" pitchFamily="18" charset="0"/>
              </a:rPr>
              <a:t>n</a:t>
            </a:r>
            <a:r>
              <a:rPr lang="zh-CN" altLang="en-US" dirty="0">
                <a:latin typeface="Times New Roman" panose="02020603050405020304" pitchFamily="18" charset="0"/>
              </a:rPr>
              <a:t>的逆序数</a:t>
            </a:r>
            <a:r>
              <a:rPr lang="en-US" altLang="zh-CN">
                <a:latin typeface="Times New Roman" panose="02020603050405020304" pitchFamily="18" charset="0"/>
              </a:rPr>
              <a:t>, </a:t>
            </a:r>
            <a:endParaRPr lang="en-US" altLang="zh-CN">
              <a:latin typeface="Times New Roman" panose="02020603050405020304" pitchFamily="18" charset="0"/>
            </a:endParaRPr>
          </a:p>
          <a:p>
            <a:pPr>
              <a:lnSpc>
                <a:spcPct val="110000"/>
              </a:lnSpc>
            </a:pPr>
            <a:r>
              <a:rPr lang="en-US" altLang="zh-CN">
                <a:latin typeface="Times New Roman" panose="02020603050405020304" pitchFamily="18" charset="0"/>
              </a:rPr>
              <a:t>             </a:t>
            </a:r>
            <a:r>
              <a:rPr lang="en-US" altLang="zh-CN" i="1">
                <a:latin typeface="Times New Roman" panose="02020603050405020304" pitchFamily="18" charset="0"/>
              </a:rPr>
              <a:t>s </a:t>
            </a:r>
            <a:r>
              <a:rPr lang="zh-CN" altLang="en-US" dirty="0">
                <a:latin typeface="Times New Roman" panose="02020603050405020304" pitchFamily="18" charset="0"/>
              </a:rPr>
              <a:t>为排列</a:t>
            </a:r>
            <a:r>
              <a:rPr lang="en-US" altLang="zh-CN" dirty="0">
                <a:latin typeface="Times New Roman" panose="02020603050405020304" pitchFamily="18" charset="0"/>
              </a:rPr>
              <a:t> </a:t>
            </a:r>
            <a:r>
              <a:rPr lang="en-US" altLang="zh-CN" i="1">
                <a:latin typeface="Times New Roman" panose="02020603050405020304" pitchFamily="18" charset="0"/>
              </a:rPr>
              <a:t>p</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err="1">
                <a:latin typeface="Times New Roman" panose="02020603050405020304" pitchFamily="18" charset="0"/>
              </a:rPr>
              <a:t>p</a:t>
            </a:r>
            <a:r>
              <a:rPr lang="en-US" altLang="zh-CN" i="1" baseline="-25000" err="1">
                <a:latin typeface="Times New Roman" panose="02020603050405020304" pitchFamily="18" charset="0"/>
              </a:rPr>
              <a:t>j</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i="1" baseline="-25000">
                <a:latin typeface="Times New Roman" panose="02020603050405020304" pitchFamily="18" charset="0"/>
              </a:rPr>
              <a:t>i</a:t>
            </a:r>
            <a:r>
              <a:rPr lang="en-US" altLang="zh-CN">
                <a:latin typeface="Times New Roman" panose="02020603050405020304" pitchFamily="18" charset="0"/>
              </a:rPr>
              <a:t>··· </a:t>
            </a:r>
            <a:r>
              <a:rPr lang="en-US" altLang="zh-CN" i="1" err="1">
                <a:latin typeface="Times New Roman" panose="02020603050405020304" pitchFamily="18" charset="0"/>
              </a:rPr>
              <a:t>p</a:t>
            </a:r>
            <a:r>
              <a:rPr lang="en-US" altLang="zh-CN" i="1" baseline="-25000" err="1">
                <a:latin typeface="Times New Roman" panose="02020603050405020304" pitchFamily="18" charset="0"/>
              </a:rPr>
              <a:t>n</a:t>
            </a:r>
            <a:r>
              <a:rPr lang="zh-CN" altLang="en-US" dirty="0">
                <a:latin typeface="Times New Roman" panose="02020603050405020304" pitchFamily="18" charset="0"/>
              </a:rPr>
              <a:t>的逆序数</a:t>
            </a:r>
            <a:r>
              <a:rPr lang="en-US" altLang="zh-CN">
                <a:latin typeface="Times New Roman" panose="02020603050405020304" pitchFamily="18" charset="0"/>
              </a:rPr>
              <a:t>. </a:t>
            </a:r>
            <a:endParaRPr lang="en-US" altLang="zh-CN">
              <a:latin typeface="Times New Roman" panose="02020603050405020304" pitchFamily="18" charset="0"/>
            </a:endParaRPr>
          </a:p>
        </p:txBody>
      </p:sp>
      <p:sp>
        <p:nvSpPr>
          <p:cNvPr id="107533" name="矩形 107532"/>
          <p:cNvSpPr/>
          <p:nvPr/>
        </p:nvSpPr>
        <p:spPr>
          <a:xfrm>
            <a:off x="539750" y="3573463"/>
            <a:ext cx="7366000" cy="519112"/>
          </a:xfrm>
          <a:prstGeom prst="rect">
            <a:avLst/>
          </a:prstGeom>
          <a:noFill/>
          <a:ln w="9525">
            <a:noFill/>
          </a:ln>
        </p:spPr>
        <p:txBody>
          <a:bodyPr wrap="none" anchor="t" anchorCtr="0">
            <a:spAutoFit/>
          </a:bodyPr>
          <a:p>
            <a:r>
              <a:rPr lang="zh-CN" altLang="en-US" dirty="0">
                <a:latin typeface="Times New Roman" panose="02020603050405020304" pitchFamily="18" charset="0"/>
              </a:rPr>
              <a:t>显然 </a:t>
            </a:r>
            <a:r>
              <a:rPr lang="en-US" altLang="zh-CN" i="1">
                <a:latin typeface="Times New Roman" panose="02020603050405020304" pitchFamily="18" charset="0"/>
              </a:rPr>
              <a:t>t </a:t>
            </a:r>
            <a:r>
              <a:rPr lang="zh-CN" altLang="en-US" dirty="0">
                <a:latin typeface="Times New Roman" panose="02020603050405020304" pitchFamily="18" charset="0"/>
              </a:rPr>
              <a:t>与 </a:t>
            </a:r>
            <a:r>
              <a:rPr lang="en-US" altLang="zh-CN" i="1">
                <a:latin typeface="Times New Roman" panose="02020603050405020304" pitchFamily="18" charset="0"/>
              </a:rPr>
              <a:t>s </a:t>
            </a:r>
            <a:r>
              <a:rPr lang="zh-CN" altLang="en-US" dirty="0">
                <a:latin typeface="Times New Roman" panose="02020603050405020304" pitchFamily="18" charset="0"/>
              </a:rPr>
              <a:t>的奇偶性不同</a:t>
            </a:r>
            <a:r>
              <a:rPr lang="en-US" altLang="zh-CN">
                <a:latin typeface="Times New Roman" panose="02020603050405020304" pitchFamily="18" charset="0"/>
              </a:rPr>
              <a:t>, </a:t>
            </a:r>
            <a:r>
              <a:rPr lang="zh-CN" altLang="en-US" dirty="0">
                <a:latin typeface="Times New Roman" panose="02020603050405020304" pitchFamily="18" charset="0"/>
              </a:rPr>
              <a:t>即</a:t>
            </a:r>
            <a:r>
              <a:rPr lang="en-US" altLang="zh-CN">
                <a:latin typeface="Times New Roman" panose="02020603050405020304" pitchFamily="18" charset="0"/>
              </a:rPr>
              <a:t>(–1)</a:t>
            </a:r>
            <a:r>
              <a:rPr lang="en-US" altLang="zh-CN" i="1" baseline="30000">
                <a:latin typeface="Times New Roman" panose="02020603050405020304" pitchFamily="18" charset="0"/>
              </a:rPr>
              <a:t>t </a:t>
            </a:r>
            <a:r>
              <a:rPr lang="en-US" altLang="zh-CN">
                <a:latin typeface="Times New Roman" panose="02020603050405020304" pitchFamily="18" charset="0"/>
              </a:rPr>
              <a:t>= –(–1)</a:t>
            </a:r>
            <a:r>
              <a:rPr lang="en-US" altLang="zh-CN" i="1" baseline="30000">
                <a:latin typeface="Times New Roman" panose="02020603050405020304" pitchFamily="18" charset="0"/>
              </a:rPr>
              <a:t>s</a:t>
            </a:r>
            <a:r>
              <a:rPr lang="en-US" altLang="zh-CN">
                <a:latin typeface="Times New Roman" panose="02020603050405020304" pitchFamily="18" charset="0"/>
              </a:rPr>
              <a:t>, </a:t>
            </a:r>
            <a:r>
              <a:rPr lang="zh-CN" altLang="en-US" dirty="0">
                <a:latin typeface="Times New Roman" panose="02020603050405020304" pitchFamily="18" charset="0"/>
              </a:rPr>
              <a:t>所以</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07534" name="对象 107533"/>
          <p:cNvGraphicFramePr/>
          <p:nvPr/>
        </p:nvGraphicFramePr>
        <p:xfrm>
          <a:off x="1619885" y="4185285"/>
          <a:ext cx="5636260" cy="721360"/>
        </p:xfrm>
        <a:graphic>
          <a:graphicData uri="http://schemas.openxmlformats.org/presentationml/2006/ole">
            <mc:AlternateContent xmlns:mc="http://schemas.openxmlformats.org/markup-compatibility/2006">
              <mc:Choice xmlns:v="urn:schemas-microsoft-com:vml" Requires="v">
                <p:oleObj spid="_x0000_s3316" name="" r:id="rId7" imgW="5394960" imgH="635000" progId="Equation.3">
                  <p:embed/>
                </p:oleObj>
              </mc:Choice>
              <mc:Fallback>
                <p:oleObj name="" r:id="rId7" imgW="5394960" imgH="635000" progId="Equation.3">
                  <p:embed/>
                  <p:pic>
                    <p:nvPicPr>
                      <p:cNvPr id="0" name="图片 3315"/>
                      <p:cNvPicPr/>
                      <p:nvPr/>
                    </p:nvPicPr>
                    <p:blipFill>
                      <a:blip r:embed="rId8"/>
                      <a:stretch>
                        <a:fillRect/>
                      </a:stretch>
                    </p:blipFill>
                    <p:spPr>
                      <a:xfrm>
                        <a:off x="1619885" y="4185285"/>
                        <a:ext cx="5636260" cy="721360"/>
                      </a:xfrm>
                      <a:prstGeom prst="rect">
                        <a:avLst/>
                      </a:prstGeom>
                      <a:noFill/>
                      <a:ln w="38100">
                        <a:noFill/>
                        <a:miter/>
                      </a:ln>
                    </p:spPr>
                  </p:pic>
                </p:oleObj>
              </mc:Fallback>
            </mc:AlternateContent>
          </a:graphicData>
        </a:graphic>
      </p:graphicFrame>
      <p:graphicFrame>
        <p:nvGraphicFramePr>
          <p:cNvPr id="107535" name="对象 107534"/>
          <p:cNvGraphicFramePr/>
          <p:nvPr/>
        </p:nvGraphicFramePr>
        <p:xfrm>
          <a:off x="2111375" y="4977765"/>
          <a:ext cx="5145405" cy="721360"/>
        </p:xfrm>
        <a:graphic>
          <a:graphicData uri="http://schemas.openxmlformats.org/presentationml/2006/ole">
            <mc:AlternateContent xmlns:mc="http://schemas.openxmlformats.org/markup-compatibility/2006">
              <mc:Choice xmlns:v="urn:schemas-microsoft-com:vml" Requires="v">
                <p:oleObj spid="_x0000_s3324" name="" r:id="rId9" imgW="5153660" imgH="635000" progId="Equation.3">
                  <p:embed/>
                </p:oleObj>
              </mc:Choice>
              <mc:Fallback>
                <p:oleObj name="" r:id="rId9" imgW="5153660" imgH="635000" progId="Equation.3">
                  <p:embed/>
                  <p:pic>
                    <p:nvPicPr>
                      <p:cNvPr id="0" name="图片 3323"/>
                      <p:cNvPicPr/>
                      <p:nvPr/>
                    </p:nvPicPr>
                    <p:blipFill>
                      <a:blip r:embed="rId10"/>
                      <a:stretch>
                        <a:fillRect/>
                      </a:stretch>
                    </p:blipFill>
                    <p:spPr>
                      <a:xfrm>
                        <a:off x="2111375" y="4977765"/>
                        <a:ext cx="5145405" cy="721360"/>
                      </a:xfrm>
                      <a:prstGeom prst="rect">
                        <a:avLst/>
                      </a:prstGeom>
                      <a:noFill/>
                      <a:ln w="38100">
                        <a:noFill/>
                        <a:miter/>
                      </a:ln>
                    </p:spPr>
                  </p:pic>
                </p:oleObj>
              </mc:Fallback>
            </mc:AlternateContent>
          </a:graphicData>
        </a:graphic>
      </p:graphicFrame>
      <p:graphicFrame>
        <p:nvGraphicFramePr>
          <p:cNvPr id="107536" name="对象 107535"/>
          <p:cNvGraphicFramePr/>
          <p:nvPr/>
        </p:nvGraphicFramePr>
        <p:xfrm>
          <a:off x="2040255" y="5721350"/>
          <a:ext cx="1395730" cy="490855"/>
        </p:xfrm>
        <a:graphic>
          <a:graphicData uri="http://schemas.openxmlformats.org/presentationml/2006/ole">
            <mc:AlternateContent xmlns:mc="http://schemas.openxmlformats.org/markup-compatibility/2006">
              <mc:Choice xmlns:v="urn:schemas-microsoft-com:vml" Requires="v">
                <p:oleObj spid="_x0000_s3310" name="" r:id="rId11" imgW="368300" imgH="165100" progId="Equation.3">
                  <p:embed/>
                </p:oleObj>
              </mc:Choice>
              <mc:Fallback>
                <p:oleObj name="" r:id="rId11" imgW="368300" imgH="165100" progId="Equation.3">
                  <p:embed/>
                  <p:pic>
                    <p:nvPicPr>
                      <p:cNvPr id="0" name="图片 3309"/>
                      <p:cNvPicPr/>
                      <p:nvPr/>
                    </p:nvPicPr>
                    <p:blipFill>
                      <a:blip r:embed="rId12"/>
                      <a:stretch>
                        <a:fillRect/>
                      </a:stretch>
                    </p:blipFill>
                    <p:spPr>
                      <a:xfrm>
                        <a:off x="2040255" y="5721350"/>
                        <a:ext cx="1395730" cy="49085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07522">
                                            <p:txEl>
                                              <p:charRg st="0" end="3"/>
                                            </p:txEl>
                                          </p:spTgt>
                                        </p:tgtEl>
                                        <p:attrNameLst>
                                          <p:attrName>style.visibility</p:attrName>
                                        </p:attrNameLst>
                                      </p:cBhvr>
                                      <p:to>
                                        <p:strVal val="visible"/>
                                      </p:to>
                                    </p:set>
                                    <p:animEffect transition="in" filter="box(out)">
                                      <p:cBhvr>
                                        <p:cTn id="7" dur="500"/>
                                        <p:tgtEl>
                                          <p:spTgt spid="107522">
                                            <p:txEl>
                                              <p:charRg st="0" end="3"/>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07523"/>
                                        </p:tgtEl>
                                        <p:attrNameLst>
                                          <p:attrName>style.visibility</p:attrName>
                                        </p:attrNameLst>
                                      </p:cBhvr>
                                      <p:to>
                                        <p:strVal val="visible"/>
                                      </p:to>
                                    </p:set>
                                    <p:animEffect transition="in" filter="box(out)">
                                      <p:cBhvr>
                                        <p:cTn id="11" dur="500"/>
                                        <p:tgtEl>
                                          <p:spTgt spid="107523"/>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107524"/>
                                        </p:tgtEl>
                                        <p:attrNameLst>
                                          <p:attrName>style.visibility</p:attrName>
                                        </p:attrNameLst>
                                      </p:cBhvr>
                                      <p:to>
                                        <p:strVal val="visible"/>
                                      </p:to>
                                    </p:set>
                                    <p:animEffect transition="in" filter="box(out)">
                                      <p:cBhvr>
                                        <p:cTn id="16" dur="500"/>
                                        <p:tgtEl>
                                          <p:spTgt spid="107524"/>
                                        </p:tgtEl>
                                      </p:cBhvr>
                                    </p:animEffect>
                                  </p:childTnLst>
                                </p:cTn>
                              </p:par>
                            </p:childTnLst>
                          </p:cTn>
                        </p:par>
                        <p:par>
                          <p:cTn id="17" fill="hold">
                            <p:stCondLst>
                              <p:cond delay="500"/>
                            </p:stCondLst>
                            <p:childTnLst>
                              <p:par>
                                <p:cTn id="18" presetID="4" presetClass="entr" presetSubtype="32" fill="hold" nodeType="afterEffect">
                                  <p:stCondLst>
                                    <p:cond delay="0"/>
                                  </p:stCondLst>
                                  <p:childTnLst>
                                    <p:set>
                                      <p:cBhvr>
                                        <p:cTn id="19" dur="1" fill="hold">
                                          <p:stCondLst>
                                            <p:cond delay="0"/>
                                          </p:stCondLst>
                                        </p:cTn>
                                        <p:tgtEl>
                                          <p:spTgt spid="107526"/>
                                        </p:tgtEl>
                                        <p:attrNameLst>
                                          <p:attrName>style.visibility</p:attrName>
                                        </p:attrNameLst>
                                      </p:cBhvr>
                                      <p:to>
                                        <p:strVal val="visible"/>
                                      </p:to>
                                    </p:set>
                                    <p:animEffect transition="in" filter="box(out)">
                                      <p:cBhvr>
                                        <p:cTn id="20" dur="500"/>
                                        <p:tgtEl>
                                          <p:spTgt spid="107526"/>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107525"/>
                                        </p:tgtEl>
                                        <p:attrNameLst>
                                          <p:attrName>style.visibility</p:attrName>
                                        </p:attrNameLst>
                                      </p:cBhvr>
                                      <p:to>
                                        <p:strVal val="visible"/>
                                      </p:to>
                                    </p:set>
                                    <p:animEffect transition="in" filter="box(out)">
                                      <p:cBhvr>
                                        <p:cTn id="25" dur="500"/>
                                        <p:tgtEl>
                                          <p:spTgt spid="107525"/>
                                        </p:tgtEl>
                                      </p:cBhvr>
                                    </p:animEffect>
                                  </p:childTnLst>
                                </p:cTn>
                              </p:par>
                            </p:childTnLst>
                          </p:cTn>
                        </p:par>
                        <p:par>
                          <p:cTn id="26" fill="hold">
                            <p:stCondLst>
                              <p:cond delay="500"/>
                            </p:stCondLst>
                            <p:childTnLst>
                              <p:par>
                                <p:cTn id="27" presetID="4" presetClass="entr" presetSubtype="32" fill="hold" nodeType="afterEffect">
                                  <p:stCondLst>
                                    <p:cond delay="0"/>
                                  </p:stCondLst>
                                  <p:childTnLst>
                                    <p:set>
                                      <p:cBhvr>
                                        <p:cTn id="28" dur="1" fill="hold">
                                          <p:stCondLst>
                                            <p:cond delay="0"/>
                                          </p:stCondLst>
                                        </p:cTn>
                                        <p:tgtEl>
                                          <p:spTgt spid="107529"/>
                                        </p:tgtEl>
                                        <p:attrNameLst>
                                          <p:attrName>style.visibility</p:attrName>
                                        </p:attrNameLst>
                                      </p:cBhvr>
                                      <p:to>
                                        <p:strVal val="visible"/>
                                      </p:to>
                                    </p:set>
                                    <p:animEffect transition="in" filter="box(out)">
                                      <p:cBhvr>
                                        <p:cTn id="29" dur="500"/>
                                        <p:tgtEl>
                                          <p:spTgt spid="107529"/>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07532">
                                            <p:txEl>
                                              <p:charRg st="0" end="69"/>
                                            </p:txEl>
                                          </p:spTgt>
                                        </p:tgtEl>
                                        <p:attrNameLst>
                                          <p:attrName>style.visibility</p:attrName>
                                        </p:attrNameLst>
                                      </p:cBhvr>
                                      <p:to>
                                        <p:strVal val="visible"/>
                                      </p:to>
                                    </p:set>
                                    <p:animEffect transition="in" filter="box(out)">
                                      <p:cBhvr>
                                        <p:cTn id="34" dur="500"/>
                                        <p:tgtEl>
                                          <p:spTgt spid="107532">
                                            <p:txEl>
                                              <p:charRg st="0" end="6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107532">
                                            <p:txEl>
                                              <p:charRg st="1" end="1"/>
                                            </p:txEl>
                                          </p:spTgt>
                                        </p:tgtEl>
                                        <p:attrNameLst>
                                          <p:attrName>style.visibility</p:attrName>
                                        </p:attrNameLst>
                                      </p:cBhvr>
                                      <p:to>
                                        <p:strVal val="visible"/>
                                      </p:to>
                                    </p:set>
                                    <p:animEffect transition="in" filter="box(out)">
                                      <p:cBhvr>
                                        <p:cTn id="39" dur="500"/>
                                        <p:tgtEl>
                                          <p:spTgt spid="107532">
                                            <p:txEl>
                                              <p:char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107533">
                                            <p:txEl>
                                              <p:charRg st="0" end="38"/>
                                            </p:txEl>
                                          </p:spTgt>
                                        </p:tgtEl>
                                        <p:attrNameLst>
                                          <p:attrName>style.visibility</p:attrName>
                                        </p:attrNameLst>
                                      </p:cBhvr>
                                      <p:to>
                                        <p:strVal val="visible"/>
                                      </p:to>
                                    </p:set>
                                    <p:animEffect transition="in" filter="box(out)">
                                      <p:cBhvr>
                                        <p:cTn id="44" dur="500"/>
                                        <p:tgtEl>
                                          <p:spTgt spid="107533">
                                            <p:txEl>
                                              <p:charRg st="0" end="38"/>
                                            </p:txEl>
                                          </p:spTgt>
                                        </p:tgtEl>
                                      </p:cBhvr>
                                    </p:animEffect>
                                  </p:childTnLst>
                                </p:cTn>
                              </p:par>
                            </p:childTnLst>
                          </p:cTn>
                        </p:par>
                        <p:par>
                          <p:cTn id="45" fill="hold">
                            <p:stCondLst>
                              <p:cond delay="500"/>
                            </p:stCondLst>
                            <p:childTnLst>
                              <p:par>
                                <p:cTn id="46" presetID="4" presetClass="entr" presetSubtype="32" fill="hold" nodeType="afterEffect">
                                  <p:stCondLst>
                                    <p:cond delay="0"/>
                                  </p:stCondLst>
                                  <p:childTnLst>
                                    <p:set>
                                      <p:cBhvr>
                                        <p:cTn id="47" dur="1" fill="hold">
                                          <p:stCondLst>
                                            <p:cond delay="0"/>
                                          </p:stCondLst>
                                        </p:cTn>
                                        <p:tgtEl>
                                          <p:spTgt spid="107534"/>
                                        </p:tgtEl>
                                        <p:attrNameLst>
                                          <p:attrName>style.visibility</p:attrName>
                                        </p:attrNameLst>
                                      </p:cBhvr>
                                      <p:to>
                                        <p:strVal val="visible"/>
                                      </p:to>
                                    </p:set>
                                    <p:animEffect transition="in" filter="box(out)">
                                      <p:cBhvr>
                                        <p:cTn id="48" dur="500"/>
                                        <p:tgtEl>
                                          <p:spTgt spid="107534"/>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32" fill="hold" nodeType="clickEffect">
                                  <p:stCondLst>
                                    <p:cond delay="0"/>
                                  </p:stCondLst>
                                  <p:childTnLst>
                                    <p:set>
                                      <p:cBhvr>
                                        <p:cTn id="52" dur="1" fill="hold">
                                          <p:stCondLst>
                                            <p:cond delay="0"/>
                                          </p:stCondLst>
                                        </p:cTn>
                                        <p:tgtEl>
                                          <p:spTgt spid="107535"/>
                                        </p:tgtEl>
                                        <p:attrNameLst>
                                          <p:attrName>style.visibility</p:attrName>
                                        </p:attrNameLst>
                                      </p:cBhvr>
                                      <p:to>
                                        <p:strVal val="visible"/>
                                      </p:to>
                                    </p:set>
                                    <p:animEffect transition="in" filter="box(out)">
                                      <p:cBhvr>
                                        <p:cTn id="53" dur="500"/>
                                        <p:tgtEl>
                                          <p:spTgt spid="107535"/>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32" fill="hold" nodeType="clickEffect">
                                  <p:stCondLst>
                                    <p:cond delay="0"/>
                                  </p:stCondLst>
                                  <p:childTnLst>
                                    <p:set>
                                      <p:cBhvr>
                                        <p:cTn id="57" dur="1" fill="hold">
                                          <p:stCondLst>
                                            <p:cond delay="0"/>
                                          </p:stCondLst>
                                        </p:cTn>
                                        <p:tgtEl>
                                          <p:spTgt spid="107536"/>
                                        </p:tgtEl>
                                        <p:attrNameLst>
                                          <p:attrName>style.visibility</p:attrName>
                                        </p:attrNameLst>
                                      </p:cBhvr>
                                      <p:to>
                                        <p:strVal val="visible"/>
                                      </p:to>
                                    </p:set>
                                    <p:animEffect transition="in" filter="box(out)">
                                      <p:cBhvr>
                                        <p:cTn id="58" dur="500"/>
                                        <p:tgtEl>
                                          <p:spTgt spid="1075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advAuto="1000" build="p"/>
      <p:bldP spid="107532" grpId="0" build="p"/>
      <p:bldP spid="10753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矩形 109569"/>
          <p:cNvSpPr/>
          <p:nvPr/>
        </p:nvSpPr>
        <p:spPr>
          <a:xfrm>
            <a:off x="358775" y="337185"/>
            <a:ext cx="8456930" cy="1235075"/>
          </a:xfrm>
          <a:prstGeom prst="rect">
            <a:avLst/>
          </a:prstGeom>
          <a:noFill/>
          <a:ln w="9525">
            <a:noFill/>
          </a:ln>
        </p:spPr>
        <p:txBody>
          <a:bodyPr/>
          <a:p>
            <a:pPr>
              <a:lnSpc>
                <a:spcPct val="130000"/>
              </a:lnSpc>
            </a:pPr>
            <a:r>
              <a:rPr lang="en-US" altLang="zh-CN" dirty="0">
                <a:latin typeface="Times New Roman" panose="02020603050405020304" pitchFamily="18" charset="0"/>
                <a:ea typeface="黑体" panose="02010609060101010101" pitchFamily="2" charset="-122"/>
              </a:rPr>
              <a:t>        </a:t>
            </a:r>
            <a:r>
              <a:rPr lang="zh-CN" altLang="en-US" dirty="0">
                <a:solidFill>
                  <a:srgbClr val="FF0000"/>
                </a:solidFill>
                <a:latin typeface="Times New Roman" panose="02020603050405020304" pitchFamily="18" charset="0"/>
                <a:ea typeface="黑体" panose="02010609060101010101" pitchFamily="2" charset="-122"/>
              </a:rPr>
              <a:t>推论</a:t>
            </a:r>
            <a:r>
              <a:rPr lang="en-US" altLang="zh-CN" dirty="0">
                <a:solidFill>
                  <a:srgbClr val="FF0000"/>
                </a:solidFill>
                <a:latin typeface="Times New Roman" panose="02020603050405020304" pitchFamily="18" charset="0"/>
                <a:ea typeface="黑体" panose="02010609060101010101" pitchFamily="2" charset="-122"/>
              </a:rPr>
              <a:t>1.2.1</a:t>
            </a:r>
            <a:r>
              <a:rPr lang="en-US" altLang="zh-CN">
                <a:solidFill>
                  <a:srgbClr val="FF0000"/>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如果行列式有两行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完全相同</a:t>
            </a:r>
            <a:r>
              <a:rPr lang="en-US" altLang="zh-CN">
                <a:latin typeface="Times New Roman" panose="02020603050405020304" pitchFamily="18" charset="0"/>
              </a:rPr>
              <a:t>, </a:t>
            </a:r>
            <a:r>
              <a:rPr lang="zh-CN" altLang="en-US" dirty="0">
                <a:latin typeface="Times New Roman" panose="02020603050405020304" pitchFamily="18" charset="0"/>
              </a:rPr>
              <a:t>则此行列式为零</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09571" name="文本框 109570"/>
          <p:cNvSpPr txBox="1"/>
          <p:nvPr/>
        </p:nvSpPr>
        <p:spPr>
          <a:xfrm>
            <a:off x="971550" y="1474470"/>
            <a:ext cx="5749925" cy="564515"/>
          </a:xfrm>
          <a:prstGeom prst="rect">
            <a:avLst/>
          </a:prstGeom>
          <a:noFill/>
          <a:ln w="9525">
            <a:noFill/>
          </a:ln>
        </p:spPr>
        <p:txBody>
          <a:bodyPr wrap="none" anchor="t" anchorCtr="0">
            <a:noAutofit/>
          </a:bodyPr>
          <a:p>
            <a:r>
              <a:rPr lang="zh-CN" altLang="en-US" dirty="0">
                <a:solidFill>
                  <a:srgbClr val="FF0000"/>
                </a:solidFill>
                <a:latin typeface="Times New Roman" panose="02020603050405020304" pitchFamily="18" charset="0"/>
                <a:ea typeface="黑体" panose="02010609060101010101" pitchFamily="2" charset="-122"/>
              </a:rPr>
              <a:t>证明</a:t>
            </a:r>
            <a:r>
              <a:rPr lang="en-US" altLang="zh-CN">
                <a:solidFill>
                  <a:srgbClr val="FF0000"/>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互换</a:t>
            </a:r>
            <a:r>
              <a:rPr lang="zh-CN" altLang="en-US" dirty="0">
                <a:solidFill>
                  <a:srgbClr val="3333FF"/>
                </a:solidFill>
                <a:latin typeface="Times New Roman" panose="02020603050405020304" pitchFamily="18" charset="0"/>
              </a:rPr>
              <a:t>相同的两行</a:t>
            </a:r>
            <a:r>
              <a:rPr lang="en-US" altLang="zh-CN">
                <a:latin typeface="Times New Roman" panose="02020603050405020304" pitchFamily="18" charset="0"/>
              </a:rPr>
              <a:t>, </a:t>
            </a:r>
            <a:r>
              <a:rPr lang="zh-CN" altLang="en-US" dirty="0">
                <a:latin typeface="Times New Roman" panose="02020603050405020304" pitchFamily="18" charset="0"/>
              </a:rPr>
              <a:t>则有</a:t>
            </a:r>
            <a:r>
              <a:rPr lang="en-US" altLang="zh-CN" i="1">
                <a:latin typeface="Times New Roman" panose="02020603050405020304" pitchFamily="18" charset="0"/>
              </a:rPr>
              <a:t>D </a:t>
            </a:r>
            <a:r>
              <a:rPr lang="en-US" altLang="zh-CN">
                <a:latin typeface="Times New Roman" panose="02020603050405020304" pitchFamily="18" charset="0"/>
              </a:rPr>
              <a:t>= – </a:t>
            </a:r>
            <a:r>
              <a:rPr lang="en-US" altLang="zh-CN" i="1">
                <a:latin typeface="Times New Roman" panose="02020603050405020304" pitchFamily="18" charset="0"/>
              </a:rPr>
              <a:t>D</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09572" name="文本框 109571"/>
          <p:cNvSpPr txBox="1"/>
          <p:nvPr/>
        </p:nvSpPr>
        <p:spPr>
          <a:xfrm>
            <a:off x="6732270" y="1454150"/>
            <a:ext cx="1892300" cy="464185"/>
          </a:xfrm>
          <a:prstGeom prst="rect">
            <a:avLst/>
          </a:prstGeom>
          <a:noFill/>
          <a:ln w="9525">
            <a:noFill/>
          </a:ln>
        </p:spPr>
        <p:txBody>
          <a:bodyPr wrap="none" anchor="t" anchorCtr="0">
            <a:noAutofit/>
          </a:bodyPr>
          <a:p>
            <a:r>
              <a:rPr lang="zh-CN" altLang="en-US" dirty="0">
                <a:latin typeface="Times New Roman" panose="02020603050405020304" pitchFamily="18" charset="0"/>
              </a:rPr>
              <a:t>所以</a:t>
            </a:r>
            <a:r>
              <a:rPr lang="en-US" altLang="zh-CN" i="1">
                <a:latin typeface="Times New Roman" panose="02020603050405020304" pitchFamily="18" charset="0"/>
              </a:rPr>
              <a:t>D </a:t>
            </a:r>
            <a:r>
              <a:rPr lang="en-US" altLang="zh-CN">
                <a:latin typeface="Times New Roman" panose="02020603050405020304" pitchFamily="18" charset="0"/>
              </a:rPr>
              <a:t>= 0. </a:t>
            </a:r>
            <a:endParaRPr lang="en-US" altLang="zh-CN">
              <a:latin typeface="Times New Roman" panose="02020603050405020304" pitchFamily="18" charset="0"/>
            </a:endParaRPr>
          </a:p>
        </p:txBody>
      </p:sp>
      <p:sp>
        <p:nvSpPr>
          <p:cNvPr id="109573" name="矩形 109572"/>
          <p:cNvSpPr/>
          <p:nvPr/>
        </p:nvSpPr>
        <p:spPr>
          <a:xfrm>
            <a:off x="395605" y="1845310"/>
            <a:ext cx="8456295" cy="1334135"/>
          </a:xfrm>
          <a:prstGeom prst="rect">
            <a:avLst/>
          </a:prstGeom>
          <a:noFill/>
          <a:ln w="9525">
            <a:noFill/>
          </a:ln>
        </p:spPr>
        <p:txBody>
          <a:bodyPr>
            <a:noAutofit/>
          </a:bodyPr>
          <a:p>
            <a:pPr>
              <a:lnSpc>
                <a:spcPct val="140000"/>
              </a:lnSpc>
            </a:pPr>
            <a:r>
              <a:rPr lang="en-US" altLang="zh-CN"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       </a:t>
            </a:r>
            <a:r>
              <a:rPr lang="zh-CN" altLang="en-US"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性质</a:t>
            </a:r>
            <a:r>
              <a:rPr lang="en-US" altLang="zh-CN"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1.2.</a:t>
            </a:r>
            <a:r>
              <a:rPr lang="en-US" altLang="zh-CN">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3:</a:t>
            </a:r>
            <a:r>
              <a:rPr lang="en-US" altLang="zh-CN">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行列式的某一行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中所有的元素都乘以同一数</a:t>
            </a:r>
            <a:r>
              <a:rPr lang="en-US" altLang="zh-CN" i="1">
                <a:latin typeface="Times New Roman" panose="02020603050405020304" pitchFamily="18" charset="0"/>
              </a:rPr>
              <a:t>k</a:t>
            </a:r>
            <a:r>
              <a:rPr lang="en-US" altLang="zh-CN">
                <a:latin typeface="Times New Roman" panose="02020603050405020304" pitchFamily="18" charset="0"/>
              </a:rPr>
              <a:t>, </a:t>
            </a:r>
            <a:r>
              <a:rPr lang="zh-CN" altLang="en-US" dirty="0">
                <a:latin typeface="Times New Roman" panose="02020603050405020304" pitchFamily="18" charset="0"/>
              </a:rPr>
              <a:t>等于用数</a:t>
            </a:r>
            <a:r>
              <a:rPr lang="en-US" altLang="zh-CN" i="1">
                <a:latin typeface="Times New Roman" panose="02020603050405020304" pitchFamily="18" charset="0"/>
              </a:rPr>
              <a:t>k</a:t>
            </a:r>
            <a:r>
              <a:rPr lang="zh-CN" altLang="en-US" dirty="0">
                <a:latin typeface="Times New Roman" panose="02020603050405020304" pitchFamily="18" charset="0"/>
              </a:rPr>
              <a:t>乘此行列式</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09574" name="对象 109573"/>
          <p:cNvGraphicFramePr/>
          <p:nvPr/>
        </p:nvGraphicFramePr>
        <p:xfrm>
          <a:off x="1259523" y="3179128"/>
          <a:ext cx="3441700" cy="2133600"/>
        </p:xfrm>
        <a:graphic>
          <a:graphicData uri="http://schemas.openxmlformats.org/presentationml/2006/ole">
            <mc:AlternateContent xmlns:mc="http://schemas.openxmlformats.org/markup-compatibility/2006">
              <mc:Choice xmlns:v="urn:schemas-microsoft-com:vml" Requires="v">
                <p:oleObj spid="_x0000_s3332" name="" r:id="rId1" imgW="3441700" imgH="2133600" progId="Equation.3">
                  <p:embed/>
                </p:oleObj>
              </mc:Choice>
              <mc:Fallback>
                <p:oleObj name="" r:id="rId1" imgW="3441700" imgH="2133600" progId="Equation.3">
                  <p:embed/>
                  <p:pic>
                    <p:nvPicPr>
                      <p:cNvPr id="0" name="图片 3331"/>
                      <p:cNvPicPr/>
                      <p:nvPr/>
                    </p:nvPicPr>
                    <p:blipFill>
                      <a:blip r:embed="rId2"/>
                      <a:stretch>
                        <a:fillRect/>
                      </a:stretch>
                    </p:blipFill>
                    <p:spPr>
                      <a:xfrm>
                        <a:off x="1259523" y="3179128"/>
                        <a:ext cx="3441700" cy="2133600"/>
                      </a:xfrm>
                      <a:prstGeom prst="rect">
                        <a:avLst/>
                      </a:prstGeom>
                      <a:noFill/>
                      <a:ln w="38100">
                        <a:noFill/>
                        <a:miter/>
                      </a:ln>
                    </p:spPr>
                  </p:pic>
                </p:oleObj>
              </mc:Fallback>
            </mc:AlternateContent>
          </a:graphicData>
        </a:graphic>
      </p:graphicFrame>
      <p:graphicFrame>
        <p:nvGraphicFramePr>
          <p:cNvPr id="109575" name="对象 109574"/>
          <p:cNvGraphicFramePr/>
          <p:nvPr/>
        </p:nvGraphicFramePr>
        <p:xfrm>
          <a:off x="4821873" y="3179128"/>
          <a:ext cx="3657600" cy="2133600"/>
        </p:xfrm>
        <a:graphic>
          <a:graphicData uri="http://schemas.openxmlformats.org/presentationml/2006/ole">
            <mc:AlternateContent xmlns:mc="http://schemas.openxmlformats.org/markup-compatibility/2006">
              <mc:Choice xmlns:v="urn:schemas-microsoft-com:vml" Requires="v">
                <p:oleObj spid="_x0000_s3326" name="" r:id="rId3" imgW="3657600" imgH="2133600" progId="Equation.3">
                  <p:embed/>
                </p:oleObj>
              </mc:Choice>
              <mc:Fallback>
                <p:oleObj name="" r:id="rId3" imgW="3657600" imgH="2133600" progId="Equation.3">
                  <p:embed/>
                  <p:pic>
                    <p:nvPicPr>
                      <p:cNvPr id="0" name="图片 3325"/>
                      <p:cNvPicPr/>
                      <p:nvPr/>
                    </p:nvPicPr>
                    <p:blipFill>
                      <a:blip r:embed="rId4"/>
                      <a:stretch>
                        <a:fillRect/>
                      </a:stretch>
                    </p:blipFill>
                    <p:spPr>
                      <a:xfrm>
                        <a:off x="4821873" y="3179128"/>
                        <a:ext cx="3657600" cy="2133600"/>
                      </a:xfrm>
                      <a:prstGeom prst="rect">
                        <a:avLst/>
                      </a:prstGeom>
                      <a:noFill/>
                      <a:ln w="38100">
                        <a:noFill/>
                        <a:miter/>
                      </a:ln>
                    </p:spPr>
                  </p:pic>
                </p:oleObj>
              </mc:Fallback>
            </mc:AlternateContent>
          </a:graphicData>
        </a:graphic>
      </p:graphicFrame>
      <p:sp>
        <p:nvSpPr>
          <p:cNvPr id="109576" name="文本框 109575"/>
          <p:cNvSpPr txBox="1"/>
          <p:nvPr/>
        </p:nvSpPr>
        <p:spPr>
          <a:xfrm>
            <a:off x="564198" y="3223578"/>
            <a:ext cx="541337" cy="519112"/>
          </a:xfrm>
          <a:prstGeom prst="rect">
            <a:avLst/>
          </a:prstGeom>
          <a:noFill/>
          <a:ln w="9525">
            <a:noFill/>
          </a:ln>
        </p:spPr>
        <p:txBody>
          <a:bodyPr wrap="none" anchor="t" anchorCtr="0">
            <a:spAutoFit/>
          </a:bodyPr>
          <a:p>
            <a:r>
              <a:rPr lang="zh-CN" altLang="en-US">
                <a:latin typeface="Times New Roman" panose="02020603050405020304" pitchFamily="18" charset="0"/>
              </a:rPr>
              <a:t>即</a:t>
            </a:r>
            <a:endParaRPr lang="zh-CN" altLang="en-US">
              <a:latin typeface="Times New Roman" panose="02020603050405020304" pitchFamily="18" charset="0"/>
            </a:endParaRPr>
          </a:p>
        </p:txBody>
      </p:sp>
      <p:sp>
        <p:nvSpPr>
          <p:cNvPr id="2" name="文本框 1"/>
          <p:cNvSpPr txBox="1"/>
          <p:nvPr/>
        </p:nvSpPr>
        <p:spPr>
          <a:xfrm>
            <a:off x="803275" y="5446395"/>
            <a:ext cx="7726045" cy="1012825"/>
          </a:xfrm>
          <a:prstGeom prst="rect">
            <a:avLst/>
          </a:prstGeom>
          <a:noFill/>
        </p:spPr>
        <p:txBody>
          <a:bodyPr wrap="square" rtlCol="0" anchor="t">
            <a:noAutofit/>
          </a:bodyPr>
          <a:p>
            <a:pPr>
              <a:lnSpc>
                <a:spcPct val="110000"/>
              </a:lnSpc>
            </a:pPr>
            <a:r>
              <a:rPr lang="en-US" altLang="zh-CN" dirty="0">
                <a:solidFill>
                  <a:srgbClr val="FF0000"/>
                </a:solidFill>
                <a:effectLst>
                  <a:outerShdw blurRad="38100" dist="38100" dir="2700000">
                    <a:srgbClr val="000000"/>
                  </a:outerShdw>
                </a:effectLst>
                <a:ea typeface="黑体" panose="02010609060101010101" pitchFamily="2" charset="-122"/>
                <a:sym typeface="+mn-ea"/>
              </a:rPr>
              <a:t> </a:t>
            </a:r>
            <a:r>
              <a:rPr lang="zh-CN" altLang="en-US" dirty="0">
                <a:solidFill>
                  <a:srgbClr val="FF0000"/>
                </a:solidFill>
                <a:effectLst>
                  <a:outerShdw blurRad="38100" dist="38100" dir="2700000">
                    <a:srgbClr val="000000"/>
                  </a:outerShdw>
                </a:effectLst>
                <a:ea typeface="黑体" panose="02010609060101010101" pitchFamily="2" charset="-122"/>
                <a:sym typeface="+mn-ea"/>
              </a:rPr>
              <a:t>结论</a:t>
            </a:r>
            <a:r>
              <a:rPr lang="en-US" altLang="zh-CN">
                <a:solidFill>
                  <a:srgbClr val="FF0000"/>
                </a:solidFill>
                <a:effectLst>
                  <a:outerShdw blurRad="38100" dist="38100" dir="2700000">
                    <a:srgbClr val="000000"/>
                  </a:outerShdw>
                </a:effectLst>
                <a:ea typeface="黑体" panose="02010609060101010101" pitchFamily="2" charset="-122"/>
                <a:sym typeface="+mn-ea"/>
              </a:rPr>
              <a:t>:  </a:t>
            </a:r>
            <a:r>
              <a:rPr lang="zh-CN" altLang="en-US" dirty="0">
                <a:sym typeface="+mn-ea"/>
              </a:rPr>
              <a:t>行列式的某一行</a:t>
            </a:r>
            <a:r>
              <a:rPr lang="en-US" altLang="zh-CN">
                <a:sym typeface="+mn-ea"/>
              </a:rPr>
              <a:t>(</a:t>
            </a:r>
            <a:r>
              <a:rPr lang="zh-CN" altLang="en-US" dirty="0">
                <a:sym typeface="+mn-ea"/>
              </a:rPr>
              <a:t>列</a:t>
            </a:r>
            <a:r>
              <a:rPr lang="en-US" altLang="zh-CN">
                <a:sym typeface="+mn-ea"/>
              </a:rPr>
              <a:t>)</a:t>
            </a:r>
            <a:r>
              <a:rPr lang="zh-CN" altLang="en-US" dirty="0">
                <a:sym typeface="+mn-ea"/>
              </a:rPr>
              <a:t>中所有元素的公因子可以提到行列式符号的外面</a:t>
            </a:r>
            <a:r>
              <a:rPr lang="en-US" altLang="zh-CN">
                <a:sym typeface="+mn-ea"/>
              </a:rPr>
              <a:t>.</a:t>
            </a:r>
            <a:endParaRPr lang="en-US" altLang="zh-CN">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09570">
                                            <p:txEl>
                                              <p:charRg st="0" end="38"/>
                                            </p:txEl>
                                          </p:spTgt>
                                        </p:tgtEl>
                                        <p:attrNameLst>
                                          <p:attrName>style.visibility</p:attrName>
                                        </p:attrNameLst>
                                      </p:cBhvr>
                                      <p:to>
                                        <p:strVal val="visible"/>
                                      </p:to>
                                    </p:set>
                                    <p:animEffect transition="in" filter="box(out)">
                                      <p:cBhvr>
                                        <p:cTn id="7" dur="500"/>
                                        <p:tgtEl>
                                          <p:spTgt spid="109570">
                                            <p:txEl>
                                              <p:charRg st="0" end="38"/>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9571">
                                            <p:txEl>
                                              <p:charRg st="0" end="24"/>
                                            </p:txEl>
                                          </p:spTgt>
                                        </p:tgtEl>
                                        <p:attrNameLst>
                                          <p:attrName>style.visibility</p:attrName>
                                        </p:attrNameLst>
                                      </p:cBhvr>
                                      <p:to>
                                        <p:strVal val="visible"/>
                                      </p:to>
                                    </p:set>
                                    <p:animEffect transition="in" filter="box(out)">
                                      <p:cBhvr>
                                        <p:cTn id="12" dur="500"/>
                                        <p:tgtEl>
                                          <p:spTgt spid="109571">
                                            <p:txEl>
                                              <p:charRg st="0" end="2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09572">
                                            <p:txEl>
                                              <p:charRg st="0" end="10"/>
                                            </p:txEl>
                                          </p:spTgt>
                                        </p:tgtEl>
                                        <p:attrNameLst>
                                          <p:attrName>style.visibility</p:attrName>
                                        </p:attrNameLst>
                                      </p:cBhvr>
                                      <p:to>
                                        <p:strVal val="visible"/>
                                      </p:to>
                                    </p:set>
                                    <p:animEffect transition="in" filter="box(out)">
                                      <p:cBhvr>
                                        <p:cTn id="17" dur="500"/>
                                        <p:tgtEl>
                                          <p:spTgt spid="109572">
                                            <p:txEl>
                                              <p:charRg st="0" end="1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09573">
                                            <p:txEl>
                                              <p:charRg st="0" end="50"/>
                                            </p:txEl>
                                          </p:spTgt>
                                        </p:tgtEl>
                                        <p:attrNameLst>
                                          <p:attrName>style.visibility</p:attrName>
                                        </p:attrNameLst>
                                      </p:cBhvr>
                                      <p:to>
                                        <p:strVal val="visible"/>
                                      </p:to>
                                    </p:set>
                                    <p:animEffect transition="in" filter="box(out)">
                                      <p:cBhvr>
                                        <p:cTn id="22" dur="500"/>
                                        <p:tgtEl>
                                          <p:spTgt spid="109573">
                                            <p:txEl>
                                              <p:charRg st="0" end="5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09576">
                                            <p:txEl>
                                              <p:charRg st="0" end="2"/>
                                            </p:txEl>
                                          </p:spTgt>
                                        </p:tgtEl>
                                        <p:attrNameLst>
                                          <p:attrName>style.visibility</p:attrName>
                                        </p:attrNameLst>
                                      </p:cBhvr>
                                      <p:to>
                                        <p:strVal val="visible"/>
                                      </p:to>
                                    </p:set>
                                    <p:animEffect transition="in" filter="box(out)">
                                      <p:cBhvr>
                                        <p:cTn id="27" dur="500"/>
                                        <p:tgtEl>
                                          <p:spTgt spid="109576">
                                            <p:txEl>
                                              <p:charRg st="0" end="2"/>
                                            </p:txEl>
                                          </p:spTgt>
                                        </p:tgtEl>
                                      </p:cBhvr>
                                    </p:animEffect>
                                  </p:childTnLst>
                                </p:cTn>
                              </p:par>
                            </p:childTnLst>
                          </p:cTn>
                        </p:par>
                        <p:par>
                          <p:cTn id="28" fill="hold">
                            <p:stCondLst>
                              <p:cond delay="500"/>
                            </p:stCondLst>
                            <p:childTnLst>
                              <p:par>
                                <p:cTn id="29" presetID="4" presetClass="entr" presetSubtype="32" fill="hold" nodeType="afterEffect">
                                  <p:stCondLst>
                                    <p:cond delay="0"/>
                                  </p:stCondLst>
                                  <p:childTnLst>
                                    <p:set>
                                      <p:cBhvr>
                                        <p:cTn id="30" dur="1" fill="hold">
                                          <p:stCondLst>
                                            <p:cond delay="0"/>
                                          </p:stCondLst>
                                        </p:cTn>
                                        <p:tgtEl>
                                          <p:spTgt spid="109574"/>
                                        </p:tgtEl>
                                        <p:attrNameLst>
                                          <p:attrName>style.visibility</p:attrName>
                                        </p:attrNameLst>
                                      </p:cBhvr>
                                      <p:to>
                                        <p:strVal val="visible"/>
                                      </p:to>
                                    </p:set>
                                    <p:animEffect transition="in" filter="box(out)">
                                      <p:cBhvr>
                                        <p:cTn id="31" dur="500"/>
                                        <p:tgtEl>
                                          <p:spTgt spid="109574"/>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109575"/>
                                        </p:tgtEl>
                                        <p:attrNameLst>
                                          <p:attrName>style.visibility</p:attrName>
                                        </p:attrNameLst>
                                      </p:cBhvr>
                                      <p:to>
                                        <p:strVal val="visible"/>
                                      </p:to>
                                    </p:set>
                                    <p:animEffect transition="in" filter="box(out)">
                                      <p:cBhvr>
                                        <p:cTn id="36" dur="500"/>
                                        <p:tgtEl>
                                          <p:spTgt spid="10957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2">
                                            <p:txEl>
                                              <p:pRg st="0" end="0"/>
                                            </p:txEl>
                                          </p:spTgt>
                                        </p:tgtEl>
                                        <p:attrNameLst>
                                          <p:attrName>style.visibility</p:attrName>
                                        </p:attrNameLst>
                                      </p:cBhvr>
                                      <p:to>
                                        <p:strVal val="visible"/>
                                      </p:to>
                                    </p:set>
                                    <p:animEffect transition="in" filter="wipe(down)">
                                      <p:cBhvr>
                                        <p:cTn id="4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0" grpId="0" advAuto="1000" build="p"/>
      <p:bldP spid="109571" grpId="0" build="p"/>
      <p:bldP spid="109572" grpId="0" build="p"/>
      <p:bldP spid="109573" grpId="0" build="p"/>
      <p:bldP spid="109576"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矩形 111617"/>
          <p:cNvSpPr/>
          <p:nvPr/>
        </p:nvSpPr>
        <p:spPr>
          <a:xfrm>
            <a:off x="250825" y="87313"/>
            <a:ext cx="8456613" cy="1383665"/>
          </a:xfrm>
          <a:prstGeom prst="rect">
            <a:avLst/>
          </a:prstGeom>
          <a:noFill/>
          <a:ln w="9525">
            <a:noFill/>
          </a:ln>
        </p:spPr>
        <p:txBody>
          <a:bodyPr anchor="t" anchorCtr="0">
            <a:spAutoFit/>
          </a:bodyPr>
          <a:p>
            <a:pPr>
              <a:lnSpc>
                <a:spcPct val="150000"/>
              </a:lnSpc>
            </a:pPr>
            <a:r>
              <a:rPr lang="en-US" altLang="zh-CN" dirty="0">
                <a:solidFill>
                  <a:srgbClr val="FF0000"/>
                </a:solidFill>
                <a:latin typeface="Times New Roman" panose="02020603050405020304" pitchFamily="18" charset="0"/>
                <a:ea typeface="黑体" panose="02010609060101010101" pitchFamily="2" charset="-122"/>
              </a:rPr>
              <a:t>        </a:t>
            </a:r>
            <a:r>
              <a:rPr lang="zh-CN" altLang="en-US" dirty="0">
                <a:solidFill>
                  <a:srgbClr val="FF0000"/>
                </a:solidFill>
                <a:latin typeface="Times New Roman" panose="02020603050405020304" pitchFamily="18" charset="0"/>
                <a:ea typeface="黑体" panose="02010609060101010101" pitchFamily="2" charset="-122"/>
              </a:rPr>
              <a:t>性质</a:t>
            </a:r>
            <a:r>
              <a:rPr lang="en-US" altLang="zh-CN" dirty="0">
                <a:solidFill>
                  <a:srgbClr val="FF0000"/>
                </a:solidFill>
                <a:latin typeface="Times New Roman" panose="02020603050405020304" pitchFamily="18" charset="0"/>
                <a:ea typeface="黑体" panose="02010609060101010101" pitchFamily="2" charset="-122"/>
              </a:rPr>
              <a:t>1.2.</a:t>
            </a:r>
            <a:r>
              <a:rPr lang="en-US" altLang="zh-CN">
                <a:solidFill>
                  <a:srgbClr val="FF0000"/>
                </a:solidFill>
                <a:latin typeface="Times New Roman" panose="02020603050405020304" pitchFamily="18" charset="0"/>
                <a:ea typeface="黑体" panose="02010609060101010101" pitchFamily="2" charset="-122"/>
              </a:rPr>
              <a:t>4</a:t>
            </a:r>
            <a:r>
              <a:rPr lang="en-US" altLang="zh-CN">
                <a:solidFill>
                  <a:srgbClr val="FF0000"/>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若行列式的某一列</a:t>
            </a:r>
            <a:r>
              <a:rPr lang="en-US" altLang="zh-CN">
                <a:latin typeface="Times New Roman" panose="02020603050405020304" pitchFamily="18" charset="0"/>
              </a:rPr>
              <a:t>(</a:t>
            </a:r>
            <a:r>
              <a:rPr lang="zh-CN" altLang="en-US" dirty="0">
                <a:latin typeface="Times New Roman" panose="02020603050405020304" pitchFamily="18" charset="0"/>
              </a:rPr>
              <a:t>行</a:t>
            </a:r>
            <a:r>
              <a:rPr lang="en-US" altLang="zh-CN">
                <a:latin typeface="Times New Roman" panose="02020603050405020304" pitchFamily="18" charset="0"/>
              </a:rPr>
              <a:t>)</a:t>
            </a:r>
            <a:r>
              <a:rPr lang="zh-CN" altLang="en-US" dirty="0">
                <a:latin typeface="Times New Roman" panose="02020603050405020304" pitchFamily="18" charset="0"/>
              </a:rPr>
              <a:t>的元素都是两数之和</a:t>
            </a:r>
            <a:r>
              <a:rPr lang="en-US" altLang="zh-CN">
                <a:latin typeface="Times New Roman" panose="02020603050405020304" pitchFamily="18" charset="0"/>
              </a:rPr>
              <a:t>, </a:t>
            </a:r>
            <a:r>
              <a:rPr lang="zh-CN" altLang="en-US" dirty="0">
                <a:latin typeface="Times New Roman" panose="02020603050405020304" pitchFamily="18" charset="0"/>
              </a:rPr>
              <a:t>例如</a:t>
            </a:r>
            <a:endParaRPr lang="zh-CN" altLang="en-US" dirty="0">
              <a:latin typeface="Times New Roman" panose="02020603050405020304" pitchFamily="18" charset="0"/>
            </a:endParaRPr>
          </a:p>
        </p:txBody>
      </p:sp>
      <p:graphicFrame>
        <p:nvGraphicFramePr>
          <p:cNvPr id="111619" name="对象 111618"/>
          <p:cNvGraphicFramePr/>
          <p:nvPr/>
        </p:nvGraphicFramePr>
        <p:xfrm>
          <a:off x="850900" y="1606550"/>
          <a:ext cx="6184900" cy="1727200"/>
        </p:xfrm>
        <a:graphic>
          <a:graphicData uri="http://schemas.openxmlformats.org/presentationml/2006/ole">
            <mc:AlternateContent xmlns:mc="http://schemas.openxmlformats.org/markup-compatibility/2006">
              <mc:Choice xmlns:v="urn:schemas-microsoft-com:vml" Requires="v">
                <p:oleObj spid="_x0000_s3331" name="" r:id="rId1" imgW="6184900" imgH="1727200" progId="Equation.3">
                  <p:embed/>
                </p:oleObj>
              </mc:Choice>
              <mc:Fallback>
                <p:oleObj name="" r:id="rId1" imgW="6184900" imgH="1727200" progId="Equation.3">
                  <p:embed/>
                  <p:pic>
                    <p:nvPicPr>
                      <p:cNvPr id="0" name="图片 3330"/>
                      <p:cNvPicPr/>
                      <p:nvPr/>
                    </p:nvPicPr>
                    <p:blipFill>
                      <a:blip r:embed="rId2"/>
                      <a:stretch>
                        <a:fillRect/>
                      </a:stretch>
                    </p:blipFill>
                    <p:spPr>
                      <a:xfrm>
                        <a:off x="850900" y="1606550"/>
                        <a:ext cx="6184900" cy="1727200"/>
                      </a:xfrm>
                      <a:prstGeom prst="rect">
                        <a:avLst/>
                      </a:prstGeom>
                      <a:noFill/>
                      <a:ln w="38100">
                        <a:noFill/>
                        <a:miter/>
                      </a:ln>
                    </p:spPr>
                  </p:pic>
                </p:oleObj>
              </mc:Fallback>
            </mc:AlternateContent>
          </a:graphicData>
        </a:graphic>
      </p:graphicFrame>
      <p:graphicFrame>
        <p:nvGraphicFramePr>
          <p:cNvPr id="111620" name="对象 111619"/>
          <p:cNvGraphicFramePr/>
          <p:nvPr/>
        </p:nvGraphicFramePr>
        <p:xfrm>
          <a:off x="946150" y="4180840"/>
          <a:ext cx="7034530" cy="2135505"/>
        </p:xfrm>
        <a:graphic>
          <a:graphicData uri="http://schemas.openxmlformats.org/presentationml/2006/ole">
            <mc:AlternateContent xmlns:mc="http://schemas.openxmlformats.org/markup-compatibility/2006">
              <mc:Choice xmlns:v="urn:schemas-microsoft-com:vml" Requires="v">
                <p:oleObj spid="_x0000_s3333" name="" r:id="rId3" imgW="3251200" imgH="939800" progId="Equation.3">
                  <p:embed/>
                </p:oleObj>
              </mc:Choice>
              <mc:Fallback>
                <p:oleObj name="" r:id="rId3" imgW="3251200" imgH="939800" progId="Equation.3">
                  <p:embed/>
                  <p:pic>
                    <p:nvPicPr>
                      <p:cNvPr id="0" name="图片 3332"/>
                      <p:cNvPicPr/>
                      <p:nvPr/>
                    </p:nvPicPr>
                    <p:blipFill>
                      <a:blip r:embed="rId4"/>
                      <a:stretch>
                        <a:fillRect/>
                      </a:stretch>
                    </p:blipFill>
                    <p:spPr>
                      <a:xfrm>
                        <a:off x="946150" y="4180840"/>
                        <a:ext cx="7034530" cy="2135505"/>
                      </a:xfrm>
                      <a:prstGeom prst="rect">
                        <a:avLst/>
                      </a:prstGeom>
                      <a:noFill/>
                      <a:ln w="38100">
                        <a:noFill/>
                        <a:miter/>
                      </a:ln>
                    </p:spPr>
                  </p:pic>
                </p:oleObj>
              </mc:Fallback>
            </mc:AlternateContent>
          </a:graphicData>
        </a:graphic>
      </p:graphicFrame>
      <p:sp>
        <p:nvSpPr>
          <p:cNvPr id="111621" name="矩形 111620"/>
          <p:cNvSpPr/>
          <p:nvPr/>
        </p:nvSpPr>
        <p:spPr>
          <a:xfrm>
            <a:off x="468313" y="3644900"/>
            <a:ext cx="4827587" cy="519113"/>
          </a:xfrm>
          <a:prstGeom prst="rect">
            <a:avLst/>
          </a:prstGeom>
          <a:noFill/>
          <a:ln w="9525">
            <a:noFill/>
          </a:ln>
        </p:spPr>
        <p:txBody>
          <a:bodyPr wrap="none" anchor="t" anchorCtr="0">
            <a:spAutoFit/>
          </a:bodyPr>
          <a:p>
            <a:r>
              <a:rPr lang="zh-CN" altLang="en-US">
                <a:latin typeface="Times New Roman" panose="02020603050405020304" pitchFamily="18" charset="0"/>
              </a:rPr>
              <a:t>则</a:t>
            </a:r>
            <a:r>
              <a:rPr lang="en-US" altLang="zh-CN" i="1">
                <a:latin typeface="Times New Roman" panose="02020603050405020304" pitchFamily="18" charset="0"/>
              </a:rPr>
              <a:t>D</a:t>
            </a:r>
            <a:r>
              <a:rPr lang="zh-CN" altLang="en-US" dirty="0">
                <a:latin typeface="Times New Roman" panose="02020603050405020304" pitchFamily="18" charset="0"/>
              </a:rPr>
              <a:t>等于下列两个行列式之和</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11618">
                                            <p:txEl>
                                              <p:charRg st="0" end="39"/>
                                            </p:txEl>
                                          </p:spTgt>
                                        </p:tgtEl>
                                        <p:attrNameLst>
                                          <p:attrName>style.visibility</p:attrName>
                                        </p:attrNameLst>
                                      </p:cBhvr>
                                      <p:to>
                                        <p:strVal val="visible"/>
                                      </p:to>
                                    </p:set>
                                    <p:animEffect transition="in" filter="box(out)">
                                      <p:cBhvr>
                                        <p:cTn id="7" dur="500"/>
                                        <p:tgtEl>
                                          <p:spTgt spid="111618">
                                            <p:txEl>
                                              <p:charRg st="0" end="39"/>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11619"/>
                                        </p:tgtEl>
                                        <p:attrNameLst>
                                          <p:attrName>style.visibility</p:attrName>
                                        </p:attrNameLst>
                                      </p:cBhvr>
                                      <p:to>
                                        <p:strVal val="visible"/>
                                      </p:to>
                                    </p:set>
                                    <p:animEffect transition="in" filter="box(out)">
                                      <p:cBhvr>
                                        <p:cTn id="11" dur="500"/>
                                        <p:tgtEl>
                                          <p:spTgt spid="111619"/>
                                        </p:tgtEl>
                                      </p:cBhvr>
                                    </p:animEffect>
                                  </p:childTnLst>
                                </p:cTn>
                              </p:par>
                            </p:childTnLst>
                          </p:cTn>
                        </p:par>
                        <p:par>
                          <p:cTn id="12" fill="hold">
                            <p:stCondLst>
                              <p:cond delay="1000"/>
                            </p:stCondLst>
                            <p:childTnLst>
                              <p:par>
                                <p:cTn id="13" presetID="4" presetClass="entr" presetSubtype="32" fill="hold" grpId="0" nodeType="afterEffect">
                                  <p:stCondLst>
                                    <p:cond delay="0"/>
                                  </p:stCondLst>
                                  <p:childTnLst>
                                    <p:set>
                                      <p:cBhvr>
                                        <p:cTn id="14" dur="1" fill="hold">
                                          <p:stCondLst>
                                            <p:cond delay="0"/>
                                          </p:stCondLst>
                                        </p:cTn>
                                        <p:tgtEl>
                                          <p:spTgt spid="111621">
                                            <p:txEl>
                                              <p:charRg st="0" end="15"/>
                                            </p:txEl>
                                          </p:spTgt>
                                        </p:tgtEl>
                                        <p:attrNameLst>
                                          <p:attrName>style.visibility</p:attrName>
                                        </p:attrNameLst>
                                      </p:cBhvr>
                                      <p:to>
                                        <p:strVal val="visible"/>
                                      </p:to>
                                    </p:set>
                                    <p:animEffect transition="in" filter="box(out)">
                                      <p:cBhvr>
                                        <p:cTn id="15" dur="500"/>
                                        <p:tgtEl>
                                          <p:spTgt spid="111621">
                                            <p:txEl>
                                              <p:charRg st="0" end="15"/>
                                            </p:txEl>
                                          </p:spTgt>
                                        </p:tgtEl>
                                      </p:cBhvr>
                                    </p:animEffect>
                                  </p:childTnLst>
                                </p:cTn>
                              </p:par>
                            </p:childTnLst>
                          </p:cTn>
                        </p:par>
                        <p:par>
                          <p:cTn id="16" fill="hold">
                            <p:stCondLst>
                              <p:cond delay="1500"/>
                            </p:stCondLst>
                            <p:childTnLst>
                              <p:par>
                                <p:cTn id="17" presetID="4" presetClass="entr" presetSubtype="32" fill="hold" nodeType="afterEffect">
                                  <p:stCondLst>
                                    <p:cond delay="0"/>
                                  </p:stCondLst>
                                  <p:childTnLst>
                                    <p:set>
                                      <p:cBhvr>
                                        <p:cTn id="18" dur="1" fill="hold">
                                          <p:stCondLst>
                                            <p:cond delay="0"/>
                                          </p:stCondLst>
                                        </p:cTn>
                                        <p:tgtEl>
                                          <p:spTgt spid="111620"/>
                                        </p:tgtEl>
                                        <p:attrNameLst>
                                          <p:attrName>style.visibility</p:attrName>
                                        </p:attrNameLst>
                                      </p:cBhvr>
                                      <p:to>
                                        <p:strVal val="visible"/>
                                      </p:to>
                                    </p:set>
                                    <p:animEffect transition="in" filter="box(out)">
                                      <p:cBhvr>
                                        <p:cTn id="19" dur="500"/>
                                        <p:tgtEl>
                                          <p:spTgt spid="111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advAuto="1000" build="p"/>
      <p:bldP spid="111621" grpId="0" advAuto="100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3" name="文本框 112642"/>
          <p:cNvSpPr txBox="1"/>
          <p:nvPr/>
        </p:nvSpPr>
        <p:spPr>
          <a:xfrm>
            <a:off x="802640" y="396240"/>
            <a:ext cx="1019175" cy="528320"/>
          </a:xfrm>
          <a:prstGeom prst="rect">
            <a:avLst/>
          </a:prstGeom>
          <a:noFill/>
          <a:ln w="9525">
            <a:noFill/>
          </a:ln>
        </p:spPr>
        <p:txBody>
          <a:bodyPr wrap="none" anchor="t" anchorCtr="0">
            <a:noAutofit/>
          </a:bodyPr>
          <a:p>
            <a:r>
              <a:rPr lang="zh-CN" altLang="en-US" dirty="0">
                <a:solidFill>
                  <a:srgbClr val="FF0000"/>
                </a:solidFill>
                <a:latin typeface="Times New Roman" panose="02020603050405020304" pitchFamily="18" charset="0"/>
                <a:ea typeface="黑体" panose="02010609060101010101" pitchFamily="2" charset="-122"/>
              </a:rPr>
              <a:t>证明</a:t>
            </a:r>
            <a:r>
              <a:rPr lang="en-US" altLang="zh-CN">
                <a:solidFill>
                  <a:srgbClr val="FF0000"/>
                </a:solidFill>
                <a:latin typeface="Times New Roman" panose="02020603050405020304" pitchFamily="18" charset="0"/>
                <a:ea typeface="黑体" panose="02010609060101010101" pitchFamily="2" charset="-122"/>
              </a:rPr>
              <a:t>:</a:t>
            </a:r>
            <a:endParaRPr lang="en-US" altLang="zh-CN">
              <a:solidFill>
                <a:srgbClr val="FF0000"/>
              </a:solidFill>
              <a:latin typeface="Times New Roman" panose="02020603050405020304" pitchFamily="18" charset="0"/>
              <a:ea typeface="黑体" panose="02010609060101010101" pitchFamily="2" charset="-122"/>
            </a:endParaRPr>
          </a:p>
        </p:txBody>
      </p:sp>
      <p:sp>
        <p:nvSpPr>
          <p:cNvPr id="112645" name="文本框 112644"/>
          <p:cNvSpPr txBox="1"/>
          <p:nvPr/>
        </p:nvSpPr>
        <p:spPr>
          <a:xfrm>
            <a:off x="1082040" y="5708015"/>
            <a:ext cx="2494915" cy="541655"/>
          </a:xfrm>
          <a:prstGeom prst="rect">
            <a:avLst/>
          </a:prstGeom>
          <a:noFill/>
          <a:ln w="9525">
            <a:noFill/>
          </a:ln>
        </p:spPr>
        <p:txBody>
          <a:bodyPr wrap="square" anchor="t" anchorCtr="0">
            <a:noAutofit/>
          </a:bodyPr>
          <a:p>
            <a:r>
              <a:rPr lang="zh-CN" altLang="en-US" dirty="0">
                <a:latin typeface="Times New Roman" panose="02020603050405020304" pitchFamily="18" charset="0"/>
              </a:rPr>
              <a:t>故结论成立</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4" name="对象 -2147481659"/>
          <p:cNvGraphicFramePr>
            <a:graphicFrameLocks noChangeAspect="1"/>
          </p:cNvGraphicFramePr>
          <p:nvPr/>
        </p:nvGraphicFramePr>
        <p:xfrm>
          <a:off x="715645" y="1015365"/>
          <a:ext cx="7739380" cy="829945"/>
        </p:xfrm>
        <a:graphic>
          <a:graphicData uri="http://schemas.openxmlformats.org/presentationml/2006/ole">
            <mc:AlternateContent xmlns:mc="http://schemas.openxmlformats.org/markup-compatibility/2006">
              <mc:Choice xmlns:v="urn:schemas-microsoft-com:vml" Requires="v">
                <p:oleObj spid="_x0000_s15" name="" r:id="rId1" imgW="2794000" imgH="279400" progId="Equation.DSMT4">
                  <p:embed/>
                </p:oleObj>
              </mc:Choice>
              <mc:Fallback>
                <p:oleObj name="" r:id="rId1" imgW="2794000" imgH="279400" progId="Equation.DSMT4">
                  <p:embed/>
                  <p:pic>
                    <p:nvPicPr>
                      <p:cNvPr id="0" name="图片 9"/>
                      <p:cNvPicPr/>
                      <p:nvPr/>
                    </p:nvPicPr>
                    <p:blipFill>
                      <a:blip r:embed="rId2"/>
                      <a:stretch>
                        <a:fillRect/>
                      </a:stretch>
                    </p:blipFill>
                    <p:spPr>
                      <a:xfrm>
                        <a:off x="715645" y="1015365"/>
                        <a:ext cx="7739380" cy="829945"/>
                      </a:xfrm>
                      <a:prstGeom prst="rect">
                        <a:avLst/>
                      </a:prstGeom>
                      <a:noFill/>
                      <a:ln w="38100">
                        <a:noFill/>
                        <a:miter/>
                      </a:ln>
                    </p:spPr>
                  </p:pic>
                </p:oleObj>
              </mc:Fallback>
            </mc:AlternateContent>
          </a:graphicData>
        </a:graphic>
      </p:graphicFrame>
      <p:graphicFrame>
        <p:nvGraphicFramePr>
          <p:cNvPr id="2" name="对象 -2147481659"/>
          <p:cNvGraphicFramePr>
            <a:graphicFrameLocks noChangeAspect="1"/>
          </p:cNvGraphicFramePr>
          <p:nvPr/>
        </p:nvGraphicFramePr>
        <p:xfrm>
          <a:off x="1113155" y="1884680"/>
          <a:ext cx="6341110" cy="1619885"/>
        </p:xfrm>
        <a:graphic>
          <a:graphicData uri="http://schemas.openxmlformats.org/presentationml/2006/ole">
            <mc:AlternateContent xmlns:mc="http://schemas.openxmlformats.org/markup-compatibility/2006">
              <mc:Choice xmlns:v="urn:schemas-microsoft-com:vml" Requires="v">
                <p:oleObj spid="_x0000_s3" name="" r:id="rId3" imgW="2209800" imgH="584200" progId="Equation.DSMT4">
                  <p:embed/>
                </p:oleObj>
              </mc:Choice>
              <mc:Fallback>
                <p:oleObj name="" r:id="rId3" imgW="2209800" imgH="584200" progId="Equation.DSMT4">
                  <p:embed/>
                  <p:pic>
                    <p:nvPicPr>
                      <p:cNvPr id="0" name="图片 9"/>
                      <p:cNvPicPr/>
                      <p:nvPr/>
                    </p:nvPicPr>
                    <p:blipFill>
                      <a:blip r:embed="rId4"/>
                      <a:stretch>
                        <a:fillRect/>
                      </a:stretch>
                    </p:blipFill>
                    <p:spPr>
                      <a:xfrm>
                        <a:off x="1113155" y="1884680"/>
                        <a:ext cx="6341110" cy="1619885"/>
                      </a:xfrm>
                      <a:prstGeom prst="rect">
                        <a:avLst/>
                      </a:prstGeom>
                      <a:noFill/>
                      <a:ln w="38100">
                        <a:noFill/>
                        <a:miter/>
                      </a:ln>
                    </p:spPr>
                  </p:pic>
                </p:oleObj>
              </mc:Fallback>
            </mc:AlternateContent>
          </a:graphicData>
        </a:graphic>
      </p:graphicFrame>
      <p:graphicFrame>
        <p:nvGraphicFramePr>
          <p:cNvPr id="111620" name="对象 111619"/>
          <p:cNvGraphicFramePr/>
          <p:nvPr/>
        </p:nvGraphicFramePr>
        <p:xfrm>
          <a:off x="1111250" y="3432810"/>
          <a:ext cx="6704965" cy="2299970"/>
        </p:xfrm>
        <a:graphic>
          <a:graphicData uri="http://schemas.openxmlformats.org/presentationml/2006/ole">
            <mc:AlternateContent xmlns:mc="http://schemas.openxmlformats.org/markup-compatibility/2006">
              <mc:Choice xmlns:v="urn:schemas-microsoft-com:vml" Requires="v">
                <p:oleObj spid="_x0000_s3333" name="" r:id="rId5" imgW="3098800" imgH="939800" progId="Equation.3">
                  <p:embed/>
                </p:oleObj>
              </mc:Choice>
              <mc:Fallback>
                <p:oleObj name="" r:id="rId5" imgW="3098800" imgH="939800" progId="Equation.3">
                  <p:embed/>
                  <p:pic>
                    <p:nvPicPr>
                      <p:cNvPr id="0" name="图片 3332"/>
                      <p:cNvPicPr/>
                      <p:nvPr/>
                    </p:nvPicPr>
                    <p:blipFill>
                      <a:blip r:embed="rId6"/>
                      <a:stretch>
                        <a:fillRect/>
                      </a:stretch>
                    </p:blipFill>
                    <p:spPr>
                      <a:xfrm>
                        <a:off x="1111250" y="3432810"/>
                        <a:ext cx="6704965" cy="229997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2643">
                                            <p:txEl>
                                              <p:charRg st="0" end="4"/>
                                            </p:txEl>
                                          </p:spTgt>
                                        </p:tgtEl>
                                        <p:attrNameLst>
                                          <p:attrName>style.visibility</p:attrName>
                                        </p:attrNameLst>
                                      </p:cBhvr>
                                      <p:to>
                                        <p:strVal val="visible"/>
                                      </p:to>
                                    </p:set>
                                    <p:animEffect transition="in" filter="box(out)">
                                      <p:cBhvr>
                                        <p:cTn id="7" dur="500"/>
                                        <p:tgtEl>
                                          <p:spTgt spid="112643">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par>
                          <p:cTn id="18" fill="hold">
                            <p:stCondLst>
                              <p:cond delay="500"/>
                            </p:stCondLst>
                            <p:childTnLst>
                              <p:par>
                                <p:cTn id="19" presetID="4" presetClass="entr" presetSubtype="32" fill="hold" nodeType="afterEffect">
                                  <p:stCondLst>
                                    <p:cond delay="0"/>
                                  </p:stCondLst>
                                  <p:childTnLst>
                                    <p:set>
                                      <p:cBhvr>
                                        <p:cTn id="20" dur="1" fill="hold">
                                          <p:stCondLst>
                                            <p:cond delay="0"/>
                                          </p:stCondLst>
                                        </p:cTn>
                                        <p:tgtEl>
                                          <p:spTgt spid="111620"/>
                                        </p:tgtEl>
                                        <p:attrNameLst>
                                          <p:attrName>style.visibility</p:attrName>
                                        </p:attrNameLst>
                                      </p:cBhvr>
                                      <p:to>
                                        <p:strVal val="visible"/>
                                      </p:to>
                                    </p:set>
                                    <p:animEffect transition="in" filter="box(out)">
                                      <p:cBhvr>
                                        <p:cTn id="21" dur="500"/>
                                        <p:tgtEl>
                                          <p:spTgt spid="11162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11620"/>
                                        </p:tgtEl>
                                        <p:attrNameLst>
                                          <p:attrName>style.visibility</p:attrName>
                                        </p:attrNameLst>
                                      </p:cBhvr>
                                      <p:to>
                                        <p:strVal val="visible"/>
                                      </p:to>
                                    </p:set>
                                    <p:animEffect transition="in" filter="wipe(down)">
                                      <p:cBhvr>
                                        <p:cTn id="26" dur="500"/>
                                        <p:tgtEl>
                                          <p:spTgt spid="11162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2" nodeType="clickEffect">
                                  <p:stCondLst>
                                    <p:cond delay="0"/>
                                  </p:stCondLst>
                                  <p:childTnLst>
                                    <p:set>
                                      <p:cBhvr>
                                        <p:cTn id="30" dur="1" fill="hold">
                                          <p:stCondLst>
                                            <p:cond delay="0"/>
                                          </p:stCondLst>
                                        </p:cTn>
                                        <p:tgtEl>
                                          <p:spTgt spid="112645">
                                            <p:txEl>
                                              <p:pRg st="0" end="0"/>
                                            </p:txEl>
                                          </p:spTgt>
                                        </p:tgtEl>
                                        <p:attrNameLst>
                                          <p:attrName>style.visibility</p:attrName>
                                        </p:attrNameLst>
                                      </p:cBhvr>
                                      <p:to>
                                        <p:strVal val="visible"/>
                                      </p:to>
                                    </p:set>
                                    <p:animEffect transition="in" filter="wipe(down)">
                                      <p:cBhvr>
                                        <p:cTn id="31" dur="500"/>
                                        <p:tgtEl>
                                          <p:spTgt spid="1126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P spid="112645" grpId="2" bldLvl="0" build="allAtOnce"/>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矩形 110593"/>
          <p:cNvSpPr/>
          <p:nvPr/>
        </p:nvSpPr>
        <p:spPr>
          <a:xfrm>
            <a:off x="250825" y="446405"/>
            <a:ext cx="8456930" cy="1071880"/>
          </a:xfrm>
          <a:prstGeom prst="rect">
            <a:avLst/>
          </a:prstGeom>
          <a:noFill/>
          <a:ln w="9525">
            <a:noFill/>
          </a:ln>
        </p:spPr>
        <p:txBody>
          <a:bodyPr>
            <a:noAutofit/>
          </a:bodyPr>
          <a:p>
            <a:pPr>
              <a:lnSpc>
                <a:spcPct val="110000"/>
              </a:lnSpc>
            </a:pPr>
            <a:r>
              <a:rPr lang="en-US" altLang="zh-CN" dirty="0">
                <a:solidFill>
                  <a:srgbClr val="FF0000"/>
                </a:solidFill>
                <a:effectLst>
                  <a:outerShdw blurRad="38100" dist="38100" dir="2700000">
                    <a:srgbClr val="000000"/>
                  </a:outerShdw>
                </a:effectLst>
                <a:latin typeface="Times New Roman" panose="02020603050405020304" pitchFamily="18" charset="0"/>
                <a:ea typeface="黑体" panose="02010609060101010101" pitchFamily="2" charset="-122"/>
              </a:rPr>
              <a:t>       </a:t>
            </a:r>
            <a:endParaRPr lang="en-US" altLang="zh-CN">
              <a:latin typeface="Times New Roman" panose="02020603050405020304" pitchFamily="18" charset="0"/>
            </a:endParaRPr>
          </a:p>
        </p:txBody>
      </p:sp>
      <p:sp>
        <p:nvSpPr>
          <p:cNvPr id="110595" name="矩形 110594"/>
          <p:cNvSpPr/>
          <p:nvPr/>
        </p:nvSpPr>
        <p:spPr>
          <a:xfrm>
            <a:off x="711835" y="668020"/>
            <a:ext cx="7924165" cy="1287145"/>
          </a:xfrm>
          <a:prstGeom prst="rect">
            <a:avLst/>
          </a:prstGeom>
          <a:noFill/>
          <a:ln w="9525">
            <a:noFill/>
          </a:ln>
        </p:spPr>
        <p:txBody>
          <a:bodyPr>
            <a:noAutofit/>
          </a:bodyPr>
          <a:p>
            <a:pPr>
              <a:lnSpc>
                <a:spcPct val="140000"/>
              </a:lnSpc>
            </a:pPr>
            <a:r>
              <a:rPr lang="en-US" altLang="zh-CN" dirty="0">
                <a:solidFill>
                  <a:srgbClr val="FF0000"/>
                </a:solidFill>
                <a:latin typeface="Times New Roman" panose="02020603050405020304" pitchFamily="18" charset="0"/>
                <a:ea typeface="黑体" panose="02010609060101010101" pitchFamily="2" charset="-122"/>
              </a:rPr>
              <a:t>    </a:t>
            </a:r>
            <a:r>
              <a:rPr lang="zh-CN" altLang="en-US" dirty="0">
                <a:solidFill>
                  <a:srgbClr val="FF0000"/>
                </a:solidFill>
                <a:latin typeface="Times New Roman" panose="02020603050405020304" pitchFamily="18" charset="0"/>
                <a:ea typeface="黑体" panose="02010609060101010101" pitchFamily="2" charset="-122"/>
              </a:rPr>
              <a:t>推论</a:t>
            </a:r>
            <a:r>
              <a:rPr lang="en-US" altLang="zh-CN" dirty="0">
                <a:solidFill>
                  <a:srgbClr val="FF0000"/>
                </a:solidFill>
                <a:latin typeface="Times New Roman" panose="02020603050405020304" pitchFamily="18" charset="0"/>
                <a:ea typeface="黑体" panose="02010609060101010101" pitchFamily="2" charset="-122"/>
              </a:rPr>
              <a:t>1.2.</a:t>
            </a:r>
            <a:r>
              <a:rPr lang="en-US" altLang="zh-CN">
                <a:solidFill>
                  <a:srgbClr val="FF0000"/>
                </a:solidFill>
                <a:latin typeface="Times New Roman" panose="02020603050405020304" pitchFamily="18" charset="0"/>
                <a:ea typeface="黑体" panose="02010609060101010101" pitchFamily="2" charset="-122"/>
              </a:rPr>
              <a:t>2</a:t>
            </a:r>
            <a:r>
              <a:rPr lang="en-US" altLang="zh-CN">
                <a:solidFill>
                  <a:srgbClr val="FF0000"/>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行列式中如果有两行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元素成比例</a:t>
            </a:r>
            <a:r>
              <a:rPr lang="en-US" altLang="zh-CN">
                <a:latin typeface="Times New Roman" panose="02020603050405020304" pitchFamily="18" charset="0"/>
              </a:rPr>
              <a:t>, </a:t>
            </a:r>
            <a:r>
              <a:rPr lang="zh-CN" altLang="en-US" dirty="0">
                <a:latin typeface="Times New Roman" panose="02020603050405020304" pitchFamily="18" charset="0"/>
              </a:rPr>
              <a:t>则此行列式为零．</a:t>
            </a:r>
            <a:endParaRPr lang="zh-CN" altLang="en-US" dirty="0">
              <a:latin typeface="Times New Roman" panose="02020603050405020304" pitchFamily="18" charset="0"/>
            </a:endParaRPr>
          </a:p>
        </p:txBody>
      </p:sp>
      <p:sp>
        <p:nvSpPr>
          <p:cNvPr id="110596" name="文本框 110595"/>
          <p:cNvSpPr txBox="1"/>
          <p:nvPr/>
        </p:nvSpPr>
        <p:spPr>
          <a:xfrm>
            <a:off x="1062355" y="1998980"/>
            <a:ext cx="1163320" cy="608965"/>
          </a:xfrm>
          <a:prstGeom prst="rect">
            <a:avLst/>
          </a:prstGeom>
          <a:noFill/>
          <a:ln w="9525">
            <a:noFill/>
          </a:ln>
        </p:spPr>
        <p:txBody>
          <a:bodyPr wrap="none" anchor="t" anchorCtr="0">
            <a:noAutofit/>
          </a:bodyPr>
          <a:p>
            <a:r>
              <a:rPr lang="zh-CN" altLang="en-US" dirty="0">
                <a:solidFill>
                  <a:srgbClr val="FF0000"/>
                </a:solidFill>
                <a:latin typeface="Times New Roman" panose="02020603050405020304" pitchFamily="18" charset="0"/>
                <a:ea typeface="黑体" panose="02010609060101010101" pitchFamily="2" charset="-122"/>
              </a:rPr>
              <a:t>证明</a:t>
            </a:r>
            <a:r>
              <a:rPr lang="en-US" altLang="zh-CN">
                <a:solidFill>
                  <a:srgbClr val="FF0000"/>
                </a:solidFill>
                <a:latin typeface="Times New Roman" panose="02020603050405020304" pitchFamily="18" charset="0"/>
                <a:ea typeface="黑体" panose="02010609060101010101" pitchFamily="2" charset="-122"/>
              </a:rPr>
              <a:t>:</a:t>
            </a:r>
            <a:endParaRPr lang="en-US" altLang="zh-CN">
              <a:solidFill>
                <a:srgbClr val="FF0000"/>
              </a:solidFill>
              <a:latin typeface="Times New Roman" panose="02020603050405020304" pitchFamily="18" charset="0"/>
              <a:ea typeface="黑体" panose="02010609060101010101" pitchFamily="2" charset="-122"/>
            </a:endParaRPr>
          </a:p>
        </p:txBody>
      </p:sp>
      <p:graphicFrame>
        <p:nvGraphicFramePr>
          <p:cNvPr id="110597" name="对象 110596"/>
          <p:cNvGraphicFramePr/>
          <p:nvPr/>
        </p:nvGraphicFramePr>
        <p:xfrm>
          <a:off x="796290" y="2478405"/>
          <a:ext cx="3653155" cy="3233420"/>
        </p:xfrm>
        <a:graphic>
          <a:graphicData uri="http://schemas.openxmlformats.org/presentationml/2006/ole">
            <mc:AlternateContent xmlns:mc="http://schemas.openxmlformats.org/markup-compatibility/2006">
              <mc:Choice xmlns:v="urn:schemas-microsoft-com:vml" Requires="v">
                <p:oleObj spid="_x0000_s3330" name="" r:id="rId1" imgW="3441700" imgH="2971800" progId="Equation.3">
                  <p:embed/>
                </p:oleObj>
              </mc:Choice>
              <mc:Fallback>
                <p:oleObj name="" r:id="rId1" imgW="3441700" imgH="2971800" progId="Equation.3">
                  <p:embed/>
                  <p:pic>
                    <p:nvPicPr>
                      <p:cNvPr id="0" name="图片 3329"/>
                      <p:cNvPicPr/>
                      <p:nvPr/>
                    </p:nvPicPr>
                    <p:blipFill>
                      <a:blip r:embed="rId2"/>
                      <a:stretch>
                        <a:fillRect/>
                      </a:stretch>
                    </p:blipFill>
                    <p:spPr>
                      <a:xfrm>
                        <a:off x="796290" y="2478405"/>
                        <a:ext cx="3653155" cy="3233420"/>
                      </a:xfrm>
                      <a:prstGeom prst="rect">
                        <a:avLst/>
                      </a:prstGeom>
                      <a:noFill/>
                      <a:ln w="38100">
                        <a:noFill/>
                        <a:miter/>
                      </a:ln>
                    </p:spPr>
                  </p:pic>
                </p:oleObj>
              </mc:Fallback>
            </mc:AlternateContent>
          </a:graphicData>
        </a:graphic>
      </p:graphicFrame>
      <p:graphicFrame>
        <p:nvGraphicFramePr>
          <p:cNvPr id="110598" name="对象 110597"/>
          <p:cNvGraphicFramePr/>
          <p:nvPr/>
        </p:nvGraphicFramePr>
        <p:xfrm>
          <a:off x="7996555" y="3891280"/>
          <a:ext cx="681355" cy="434975"/>
        </p:xfrm>
        <a:graphic>
          <a:graphicData uri="http://schemas.openxmlformats.org/presentationml/2006/ole">
            <mc:AlternateContent xmlns:mc="http://schemas.openxmlformats.org/markup-compatibility/2006">
              <mc:Choice xmlns:v="urn:schemas-microsoft-com:vml" Requires="v">
                <p:oleObj spid="_x0000_s3325" name="" r:id="rId3" imgW="596265" imgH="317500" progId="Equation.3">
                  <p:embed/>
                </p:oleObj>
              </mc:Choice>
              <mc:Fallback>
                <p:oleObj name="" r:id="rId3" imgW="596265" imgH="317500" progId="Equation.3">
                  <p:embed/>
                  <p:pic>
                    <p:nvPicPr>
                      <p:cNvPr id="0" name="图片 3324"/>
                      <p:cNvPicPr/>
                      <p:nvPr/>
                    </p:nvPicPr>
                    <p:blipFill>
                      <a:blip r:embed="rId4"/>
                      <a:stretch>
                        <a:fillRect/>
                      </a:stretch>
                    </p:blipFill>
                    <p:spPr>
                      <a:xfrm>
                        <a:off x="7996555" y="3891280"/>
                        <a:ext cx="681355" cy="434975"/>
                      </a:xfrm>
                      <a:prstGeom prst="rect">
                        <a:avLst/>
                      </a:prstGeom>
                      <a:noFill/>
                      <a:ln w="38100">
                        <a:noFill/>
                        <a:miter/>
                      </a:ln>
                    </p:spPr>
                  </p:pic>
                </p:oleObj>
              </mc:Fallback>
            </mc:AlternateContent>
          </a:graphicData>
        </a:graphic>
      </p:graphicFrame>
      <p:graphicFrame>
        <p:nvGraphicFramePr>
          <p:cNvPr id="110599" name="对象 110598"/>
          <p:cNvGraphicFramePr/>
          <p:nvPr/>
        </p:nvGraphicFramePr>
        <p:xfrm>
          <a:off x="4449445" y="2455545"/>
          <a:ext cx="3613785" cy="3256280"/>
        </p:xfrm>
        <a:graphic>
          <a:graphicData uri="http://schemas.openxmlformats.org/presentationml/2006/ole">
            <mc:AlternateContent xmlns:mc="http://schemas.openxmlformats.org/markup-compatibility/2006">
              <mc:Choice xmlns:v="urn:schemas-microsoft-com:vml" Requires="v">
                <p:oleObj spid="_x0000_s3335" name="" r:id="rId5" imgW="3657600" imgH="2971800" progId="Equation.3">
                  <p:embed/>
                </p:oleObj>
              </mc:Choice>
              <mc:Fallback>
                <p:oleObj name="" r:id="rId5" imgW="3657600" imgH="2971800" progId="Equation.3">
                  <p:embed/>
                  <p:pic>
                    <p:nvPicPr>
                      <p:cNvPr id="0" name="图片 3334"/>
                      <p:cNvPicPr/>
                      <p:nvPr/>
                    </p:nvPicPr>
                    <p:blipFill>
                      <a:blip r:embed="rId6"/>
                      <a:stretch>
                        <a:fillRect/>
                      </a:stretch>
                    </p:blipFill>
                    <p:spPr>
                      <a:xfrm>
                        <a:off x="4449445" y="2455545"/>
                        <a:ext cx="3613785" cy="32562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0594">
                                            <p:txEl>
                                              <p:charRg st="0" end="46"/>
                                            </p:txEl>
                                          </p:spTgt>
                                        </p:tgtEl>
                                        <p:attrNameLst>
                                          <p:attrName>style.visibility</p:attrName>
                                        </p:attrNameLst>
                                      </p:cBhvr>
                                      <p:to>
                                        <p:strVal val="visible"/>
                                      </p:to>
                                    </p:set>
                                    <p:animEffect transition="in" filter="box(out)">
                                      <p:cBhvr>
                                        <p:cTn id="7" dur="500"/>
                                        <p:tgtEl>
                                          <p:spTgt spid="110594">
                                            <p:txEl>
                                              <p:charRg st="0" end="46"/>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0595">
                                            <p:txEl>
                                              <p:charRg st="0" end="42"/>
                                            </p:txEl>
                                          </p:spTgt>
                                        </p:tgtEl>
                                        <p:attrNameLst>
                                          <p:attrName>style.visibility</p:attrName>
                                        </p:attrNameLst>
                                      </p:cBhvr>
                                      <p:to>
                                        <p:strVal val="visible"/>
                                      </p:to>
                                    </p:set>
                                    <p:animEffect transition="in" filter="box(out)">
                                      <p:cBhvr>
                                        <p:cTn id="12" dur="500"/>
                                        <p:tgtEl>
                                          <p:spTgt spid="110595">
                                            <p:txEl>
                                              <p:charRg st="0" end="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0596"/>
                                        </p:tgtEl>
                                        <p:attrNameLst>
                                          <p:attrName>style.visibility</p:attrName>
                                        </p:attrNameLst>
                                      </p:cBhvr>
                                      <p:to>
                                        <p:strVal val="visible"/>
                                      </p:to>
                                    </p:set>
                                    <p:animEffect transition="in" filter="wipe(left)">
                                      <p:cBhvr>
                                        <p:cTn id="17" dur="500"/>
                                        <p:tgtEl>
                                          <p:spTgt spid="11059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0597"/>
                                        </p:tgtEl>
                                        <p:attrNameLst>
                                          <p:attrName>style.visibility</p:attrName>
                                        </p:attrNameLst>
                                      </p:cBhvr>
                                      <p:to>
                                        <p:strVal val="visible"/>
                                      </p:to>
                                    </p:set>
                                    <p:animEffect transition="in" filter="wipe(left)">
                                      <p:cBhvr>
                                        <p:cTn id="22" dur="500"/>
                                        <p:tgtEl>
                                          <p:spTgt spid="11059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0599"/>
                                        </p:tgtEl>
                                        <p:attrNameLst>
                                          <p:attrName>style.visibility</p:attrName>
                                        </p:attrNameLst>
                                      </p:cBhvr>
                                      <p:to>
                                        <p:strVal val="visible"/>
                                      </p:to>
                                    </p:set>
                                    <p:animEffect transition="in" filter="wipe(left)">
                                      <p:cBhvr>
                                        <p:cTn id="27" dur="500"/>
                                        <p:tgtEl>
                                          <p:spTgt spid="11059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0598"/>
                                        </p:tgtEl>
                                        <p:attrNameLst>
                                          <p:attrName>style.visibility</p:attrName>
                                        </p:attrNameLst>
                                      </p:cBhvr>
                                      <p:to>
                                        <p:strVal val="visible"/>
                                      </p:to>
                                    </p:set>
                                    <p:animEffect transition="in" filter="wipe(left)">
                                      <p:cBhvr>
                                        <p:cTn id="32" dur="500"/>
                                        <p:tgtEl>
                                          <p:spTgt spid="110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build="p"/>
      <p:bldP spid="110595" grpId="0" build="p"/>
      <p:bldP spid="11059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矩形 113665"/>
          <p:cNvSpPr/>
          <p:nvPr/>
        </p:nvSpPr>
        <p:spPr>
          <a:xfrm>
            <a:off x="467360" y="306705"/>
            <a:ext cx="8427720" cy="1244600"/>
          </a:xfrm>
          <a:prstGeom prst="rect">
            <a:avLst/>
          </a:prstGeom>
          <a:noFill/>
          <a:ln w="9525">
            <a:noFill/>
          </a:ln>
        </p:spPr>
        <p:txBody>
          <a:bodyPr wrap="square">
            <a:noAutofit/>
          </a:bodyPr>
          <a:p>
            <a:pPr>
              <a:lnSpc>
                <a:spcPct val="150000"/>
              </a:lnSpc>
            </a:pPr>
            <a:r>
              <a:rPr lang="en-US" altLang="zh-CN" dirty="0">
                <a:solidFill>
                  <a:srgbClr val="FF0000"/>
                </a:solidFill>
                <a:latin typeface="Times New Roman" panose="02020603050405020304" pitchFamily="18" charset="0"/>
                <a:ea typeface="黑体" panose="02010609060101010101" pitchFamily="2" charset="-122"/>
              </a:rPr>
              <a:t>   </a:t>
            </a:r>
            <a:r>
              <a:rPr lang="zh-CN" altLang="en-US" dirty="0">
                <a:solidFill>
                  <a:srgbClr val="FF0000"/>
                </a:solidFill>
                <a:latin typeface="Times New Roman" panose="02020603050405020304" pitchFamily="18" charset="0"/>
                <a:ea typeface="黑体" panose="02010609060101010101" pitchFamily="2" charset="-122"/>
              </a:rPr>
              <a:t>性质</a:t>
            </a:r>
            <a:r>
              <a:rPr lang="en-US" altLang="zh-CN" dirty="0">
                <a:solidFill>
                  <a:srgbClr val="FF0000"/>
                </a:solidFill>
                <a:latin typeface="Times New Roman" panose="02020603050405020304" pitchFamily="18" charset="0"/>
                <a:ea typeface="黑体" panose="02010609060101010101" pitchFamily="2" charset="-122"/>
              </a:rPr>
              <a:t>1.2.</a:t>
            </a:r>
            <a:r>
              <a:rPr lang="en-US" altLang="zh-CN">
                <a:solidFill>
                  <a:srgbClr val="FF0000"/>
                </a:solidFill>
                <a:latin typeface="Times New Roman" panose="02020603050405020304" pitchFamily="18" charset="0"/>
                <a:ea typeface="黑体" panose="02010609060101010101" pitchFamily="2" charset="-122"/>
              </a:rPr>
              <a:t>5</a:t>
            </a:r>
            <a:r>
              <a:rPr lang="en-US" altLang="zh-CN">
                <a:solidFill>
                  <a:srgbClr val="FF0000"/>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把行列式的某一列</a:t>
            </a:r>
            <a:r>
              <a:rPr lang="en-US" altLang="zh-CN">
                <a:latin typeface="Times New Roman" panose="02020603050405020304" pitchFamily="18" charset="0"/>
              </a:rPr>
              <a:t>(</a:t>
            </a:r>
            <a:r>
              <a:rPr lang="zh-CN" altLang="en-US" dirty="0">
                <a:latin typeface="Times New Roman" panose="02020603050405020304" pitchFamily="18" charset="0"/>
              </a:rPr>
              <a:t>行</a:t>
            </a:r>
            <a:r>
              <a:rPr lang="en-US" altLang="zh-CN">
                <a:latin typeface="Times New Roman" panose="02020603050405020304" pitchFamily="18" charset="0"/>
              </a:rPr>
              <a:t>)</a:t>
            </a:r>
            <a:r>
              <a:rPr lang="zh-CN" altLang="en-US" dirty="0">
                <a:latin typeface="Times New Roman" panose="02020603050405020304" pitchFamily="18" charset="0"/>
              </a:rPr>
              <a:t>的各元素乘以同一数然后加到另一列</a:t>
            </a:r>
            <a:r>
              <a:rPr lang="en-US" altLang="zh-CN">
                <a:latin typeface="Times New Roman" panose="02020603050405020304" pitchFamily="18" charset="0"/>
              </a:rPr>
              <a:t>(</a:t>
            </a:r>
            <a:r>
              <a:rPr lang="zh-CN" altLang="en-US" dirty="0">
                <a:latin typeface="Times New Roman" panose="02020603050405020304" pitchFamily="18" charset="0"/>
              </a:rPr>
              <a:t>行</a:t>
            </a:r>
            <a:r>
              <a:rPr lang="en-US" altLang="zh-CN">
                <a:latin typeface="Times New Roman" panose="02020603050405020304" pitchFamily="18" charset="0"/>
              </a:rPr>
              <a:t>)</a:t>
            </a:r>
            <a:r>
              <a:rPr lang="zh-CN" altLang="en-US" dirty="0">
                <a:latin typeface="Times New Roman" panose="02020603050405020304" pitchFamily="18" charset="0"/>
              </a:rPr>
              <a:t>对应的元素上去</a:t>
            </a:r>
            <a:r>
              <a:rPr lang="en-US" altLang="zh-CN">
                <a:latin typeface="Times New Roman" panose="02020603050405020304" pitchFamily="18" charset="0"/>
              </a:rPr>
              <a:t>, </a:t>
            </a:r>
            <a:r>
              <a:rPr lang="zh-CN" altLang="en-US" dirty="0">
                <a:latin typeface="Times New Roman" panose="02020603050405020304" pitchFamily="18" charset="0"/>
              </a:rPr>
              <a:t>行列式不变</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13667" name="对象 113666"/>
          <p:cNvGraphicFramePr/>
          <p:nvPr/>
        </p:nvGraphicFramePr>
        <p:xfrm>
          <a:off x="2590165" y="1748155"/>
          <a:ext cx="4269740" cy="2334895"/>
        </p:xfrm>
        <a:graphic>
          <a:graphicData uri="http://schemas.openxmlformats.org/presentationml/2006/ole">
            <mc:AlternateContent xmlns:mc="http://schemas.openxmlformats.org/markup-compatibility/2006">
              <mc:Choice xmlns:v="urn:schemas-microsoft-com:vml" Requires="v">
                <p:oleObj spid="_x0000_s3343" name="" r:id="rId1" imgW="2145665" imgH="939800" progId="Equation.3">
                  <p:embed/>
                </p:oleObj>
              </mc:Choice>
              <mc:Fallback>
                <p:oleObj name="" r:id="rId1" imgW="2145665" imgH="939800" progId="Equation.3">
                  <p:embed/>
                  <p:pic>
                    <p:nvPicPr>
                      <p:cNvPr id="0" name="图片 3342"/>
                      <p:cNvPicPr/>
                      <p:nvPr/>
                    </p:nvPicPr>
                    <p:blipFill>
                      <a:blip r:embed="rId2"/>
                      <a:stretch>
                        <a:fillRect/>
                      </a:stretch>
                    </p:blipFill>
                    <p:spPr>
                      <a:xfrm>
                        <a:off x="2590165" y="1748155"/>
                        <a:ext cx="4269740" cy="2334895"/>
                      </a:xfrm>
                      <a:prstGeom prst="rect">
                        <a:avLst/>
                      </a:prstGeom>
                      <a:noFill/>
                      <a:ln w="38100">
                        <a:noFill/>
                        <a:miter/>
                      </a:ln>
                    </p:spPr>
                  </p:pic>
                </p:oleObj>
              </mc:Fallback>
            </mc:AlternateContent>
          </a:graphicData>
        </a:graphic>
      </p:graphicFrame>
      <p:graphicFrame>
        <p:nvGraphicFramePr>
          <p:cNvPr id="113668" name="对象 113667"/>
          <p:cNvGraphicFramePr/>
          <p:nvPr/>
        </p:nvGraphicFramePr>
        <p:xfrm>
          <a:off x="2051685" y="4149090"/>
          <a:ext cx="5278755" cy="2172970"/>
        </p:xfrm>
        <a:graphic>
          <a:graphicData uri="http://schemas.openxmlformats.org/presentationml/2006/ole">
            <mc:AlternateContent xmlns:mc="http://schemas.openxmlformats.org/markup-compatibility/2006">
              <mc:Choice xmlns:v="urn:schemas-microsoft-com:vml" Requires="v">
                <p:oleObj spid="_x0000_s3346" name="" r:id="rId3" imgW="2654300" imgH="939800" progId="Equation.3">
                  <p:embed/>
                </p:oleObj>
              </mc:Choice>
              <mc:Fallback>
                <p:oleObj name="" r:id="rId3" imgW="2654300" imgH="939800" progId="Equation.3">
                  <p:embed/>
                  <p:pic>
                    <p:nvPicPr>
                      <p:cNvPr id="0" name="图片 3345"/>
                      <p:cNvPicPr/>
                      <p:nvPr/>
                    </p:nvPicPr>
                    <p:blipFill>
                      <a:blip r:embed="rId4"/>
                      <a:stretch>
                        <a:fillRect/>
                      </a:stretch>
                    </p:blipFill>
                    <p:spPr>
                      <a:xfrm>
                        <a:off x="2051685" y="4149090"/>
                        <a:ext cx="5278755" cy="2172970"/>
                      </a:xfrm>
                      <a:prstGeom prst="rect">
                        <a:avLst/>
                      </a:prstGeom>
                      <a:noFill/>
                      <a:ln w="38100">
                        <a:noFill/>
                        <a:miter/>
                      </a:ln>
                    </p:spPr>
                  </p:pic>
                </p:oleObj>
              </mc:Fallback>
            </mc:AlternateContent>
          </a:graphicData>
        </a:graphic>
      </p:graphicFrame>
      <p:sp>
        <p:nvSpPr>
          <p:cNvPr id="113669" name="左箭头标注 113668"/>
          <p:cNvSpPr/>
          <p:nvPr/>
        </p:nvSpPr>
        <p:spPr>
          <a:xfrm>
            <a:off x="4395470" y="1740535"/>
            <a:ext cx="1189355" cy="2312035"/>
          </a:xfrm>
          <a:prstGeom prst="leftArrowCallout">
            <a:avLst>
              <a:gd name="adj1" fmla="val 18363"/>
              <a:gd name="adj2" fmla="val 16460"/>
              <a:gd name="adj3" fmla="val 20254"/>
              <a:gd name="adj4" fmla="val 45416"/>
            </a:avLst>
          </a:prstGeom>
          <a:noFill/>
          <a:ln w="28575" cap="flat" cmpd="sng">
            <a:solidFill>
              <a:srgbClr val="008000"/>
            </a:solidFill>
            <a:prstDash val="solid"/>
            <a:miter/>
            <a:headEnd type="none" w="med" len="med"/>
            <a:tailEnd type="none" w="med" len="med"/>
          </a:ln>
        </p:spPr>
        <p:txBody>
          <a:bodyPr/>
          <a:p>
            <a:endParaRPr lang="zh-CN" altLang="en-US"/>
          </a:p>
        </p:txBody>
      </p:sp>
      <p:sp>
        <p:nvSpPr>
          <p:cNvPr id="113670" name="矩形 113669"/>
          <p:cNvSpPr/>
          <p:nvPr/>
        </p:nvSpPr>
        <p:spPr>
          <a:xfrm>
            <a:off x="3875405" y="1724660"/>
            <a:ext cx="520065" cy="2311400"/>
          </a:xfrm>
          <a:prstGeom prst="rect">
            <a:avLst/>
          </a:prstGeom>
          <a:noFill/>
          <a:ln w="28575" cap="flat" cmpd="sng">
            <a:solidFill>
              <a:srgbClr val="FF6600"/>
            </a:solidFill>
            <a:prstDash val="solid"/>
            <a:miter/>
            <a:headEnd type="none" w="med" len="med"/>
            <a:tailEnd type="none" w="med" len="med"/>
          </a:ln>
        </p:spPr>
        <p:txBody>
          <a:bodyPr/>
          <a:p>
            <a:endParaRPr lang="zh-CN" altLang="en-US"/>
          </a:p>
        </p:txBody>
      </p:sp>
      <p:graphicFrame>
        <p:nvGraphicFramePr>
          <p:cNvPr id="113671" name="对象 113670"/>
          <p:cNvGraphicFramePr/>
          <p:nvPr/>
        </p:nvGraphicFramePr>
        <p:xfrm>
          <a:off x="4225608" y="3003550"/>
          <a:ext cx="229235" cy="165100"/>
        </p:xfrm>
        <a:graphic>
          <a:graphicData uri="http://schemas.openxmlformats.org/presentationml/2006/ole">
            <mc:AlternateContent xmlns:mc="http://schemas.openxmlformats.org/markup-compatibility/2006">
              <mc:Choice xmlns:v="urn:schemas-microsoft-com:vml" Requires="v">
                <p:oleObj spid="_x0000_s3339" name="" r:id="rId5" imgW="228600" imgH="165100" progId="Equation.3">
                  <p:embed/>
                </p:oleObj>
              </mc:Choice>
              <mc:Fallback>
                <p:oleObj name="" r:id="rId5" imgW="228600" imgH="165100" progId="Equation.3">
                  <p:embed/>
                  <p:pic>
                    <p:nvPicPr>
                      <p:cNvPr id="0" name="图片 3338"/>
                      <p:cNvPicPr/>
                      <p:nvPr/>
                    </p:nvPicPr>
                    <p:blipFill>
                      <a:blip r:embed="rId6"/>
                      <a:stretch>
                        <a:fillRect/>
                      </a:stretch>
                    </p:blipFill>
                    <p:spPr>
                      <a:xfrm>
                        <a:off x="4225608" y="3003550"/>
                        <a:ext cx="229235" cy="165100"/>
                      </a:xfrm>
                      <a:prstGeom prst="rect">
                        <a:avLst/>
                      </a:prstGeom>
                      <a:noFill/>
                      <a:ln w="38100">
                        <a:noFill/>
                        <a:miter/>
                      </a:ln>
                    </p:spPr>
                  </p:pic>
                </p:oleObj>
              </mc:Fallback>
            </mc:AlternateContent>
          </a:graphicData>
        </a:graphic>
      </p:graphicFrame>
      <p:sp>
        <p:nvSpPr>
          <p:cNvPr id="113672" name="文本框 113671"/>
          <p:cNvSpPr txBox="1"/>
          <p:nvPr/>
        </p:nvSpPr>
        <p:spPr>
          <a:xfrm>
            <a:off x="1012825" y="1958340"/>
            <a:ext cx="996315" cy="494665"/>
          </a:xfrm>
          <a:prstGeom prst="rect">
            <a:avLst/>
          </a:prstGeom>
          <a:noFill/>
          <a:ln w="9525">
            <a:noFill/>
          </a:ln>
        </p:spPr>
        <p:txBody>
          <a:bodyPr wrap="square" anchor="t" anchorCtr="0">
            <a:noAutofit/>
          </a:bodyPr>
          <a:p>
            <a:r>
              <a:rPr lang="zh-CN" altLang="en-US" dirty="0">
                <a:latin typeface="Times New Roman" panose="02020603050405020304" pitchFamily="18" charset="0"/>
              </a:rPr>
              <a:t>例如</a:t>
            </a:r>
            <a:endParaRPr lang="zh-CN" altLang="en-US">
              <a:latin typeface="Times New Roman" panose="02020603050405020304" pitchFamily="18" charset="0"/>
            </a:endParaRPr>
          </a:p>
        </p:txBody>
      </p:sp>
      <p:graphicFrame>
        <p:nvGraphicFramePr>
          <p:cNvPr id="113673" name="对象 113672"/>
          <p:cNvGraphicFramePr/>
          <p:nvPr/>
        </p:nvGraphicFramePr>
        <p:xfrm>
          <a:off x="1515110" y="5028565"/>
          <a:ext cx="561340" cy="402590"/>
        </p:xfrm>
        <a:graphic>
          <a:graphicData uri="http://schemas.openxmlformats.org/presentationml/2006/ole">
            <mc:AlternateContent xmlns:mc="http://schemas.openxmlformats.org/markup-compatibility/2006">
              <mc:Choice xmlns:v="urn:schemas-microsoft-com:vml" Requires="v">
                <p:oleObj spid="_x0000_s3344" name="" r:id="rId7" imgW="127000" imgH="101600" progId="Equation.3">
                  <p:embed/>
                </p:oleObj>
              </mc:Choice>
              <mc:Fallback>
                <p:oleObj name="" r:id="rId7" imgW="127000" imgH="101600" progId="Equation.3">
                  <p:embed/>
                  <p:pic>
                    <p:nvPicPr>
                      <p:cNvPr id="0" name="图片 3343"/>
                      <p:cNvPicPr/>
                      <p:nvPr/>
                    </p:nvPicPr>
                    <p:blipFill>
                      <a:blip r:embed="rId8"/>
                      <a:stretch>
                        <a:fillRect/>
                      </a:stretch>
                    </p:blipFill>
                    <p:spPr>
                      <a:xfrm>
                        <a:off x="1515110" y="5028565"/>
                        <a:ext cx="561340" cy="40259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3666">
                                            <p:txEl>
                                              <p:charRg st="0" end="59"/>
                                            </p:txEl>
                                          </p:spTgt>
                                        </p:tgtEl>
                                        <p:attrNameLst>
                                          <p:attrName>style.visibility</p:attrName>
                                        </p:attrNameLst>
                                      </p:cBhvr>
                                      <p:to>
                                        <p:strVal val="visible"/>
                                      </p:to>
                                    </p:set>
                                    <p:animEffect transition="in" filter="box(out)">
                                      <p:cBhvr>
                                        <p:cTn id="7" dur="500"/>
                                        <p:tgtEl>
                                          <p:spTgt spid="113666">
                                            <p:txEl>
                                              <p:charRg st="0" end="59"/>
                                            </p:txEl>
                                          </p:spTgt>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13672">
                                            <p:txEl>
                                              <p:charRg st="0" end="3"/>
                                            </p:txEl>
                                          </p:spTgt>
                                        </p:tgtEl>
                                        <p:attrNameLst>
                                          <p:attrName>style.visibility</p:attrName>
                                        </p:attrNameLst>
                                      </p:cBhvr>
                                      <p:to>
                                        <p:strVal val="visible"/>
                                      </p:to>
                                    </p:set>
                                    <p:animEffect transition="in" filter="box(out)">
                                      <p:cBhvr>
                                        <p:cTn id="11" dur="500"/>
                                        <p:tgtEl>
                                          <p:spTgt spid="113672">
                                            <p:txEl>
                                              <p:charRg st="0" end="3"/>
                                            </p:txEl>
                                          </p:spTgt>
                                        </p:tgtEl>
                                      </p:cBhvr>
                                    </p:animEffect>
                                  </p:childTnLst>
                                </p:cTn>
                              </p:par>
                            </p:childTnLst>
                          </p:cTn>
                        </p:par>
                        <p:par>
                          <p:cTn id="12" fill="hold">
                            <p:stCondLst>
                              <p:cond delay="1000"/>
                            </p:stCondLst>
                            <p:childTnLst>
                              <p:par>
                                <p:cTn id="13" presetID="4" presetClass="entr" presetSubtype="32" fill="hold" nodeType="afterEffect">
                                  <p:stCondLst>
                                    <p:cond delay="0"/>
                                  </p:stCondLst>
                                  <p:childTnLst>
                                    <p:set>
                                      <p:cBhvr>
                                        <p:cTn id="14" dur="1" fill="hold">
                                          <p:stCondLst>
                                            <p:cond delay="0"/>
                                          </p:stCondLst>
                                        </p:cTn>
                                        <p:tgtEl>
                                          <p:spTgt spid="113667"/>
                                        </p:tgtEl>
                                        <p:attrNameLst>
                                          <p:attrName>style.visibility</p:attrName>
                                        </p:attrNameLst>
                                      </p:cBhvr>
                                      <p:to>
                                        <p:strVal val="visible"/>
                                      </p:to>
                                    </p:set>
                                    <p:animEffect transition="in" filter="box(out)">
                                      <p:cBhvr>
                                        <p:cTn id="15" dur="500"/>
                                        <p:tgtEl>
                                          <p:spTgt spid="113667"/>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32" fill="hold" nodeType="clickEffect">
                                  <p:stCondLst>
                                    <p:cond delay="0"/>
                                  </p:stCondLst>
                                  <p:childTnLst>
                                    <p:set>
                                      <p:cBhvr>
                                        <p:cTn id="19" dur="1" fill="hold">
                                          <p:stCondLst>
                                            <p:cond delay="0"/>
                                          </p:stCondLst>
                                        </p:cTn>
                                        <p:tgtEl>
                                          <p:spTgt spid="113669"/>
                                        </p:tgtEl>
                                        <p:attrNameLst>
                                          <p:attrName>style.visibility</p:attrName>
                                        </p:attrNameLst>
                                      </p:cBhvr>
                                      <p:to>
                                        <p:strVal val="visible"/>
                                      </p:to>
                                    </p:set>
                                    <p:animEffect transition="in" filter="box(out)">
                                      <p:cBhvr>
                                        <p:cTn id="20" dur="500"/>
                                        <p:tgtEl>
                                          <p:spTgt spid="113669"/>
                                        </p:tgtEl>
                                      </p:cBhvr>
                                    </p:animEffect>
                                  </p:childTnLst>
                                </p:cTn>
                              </p:par>
                            </p:childTnLst>
                          </p:cTn>
                        </p:par>
                        <p:par>
                          <p:cTn id="21" fill="hold">
                            <p:stCondLst>
                              <p:cond delay="500"/>
                            </p:stCondLst>
                            <p:childTnLst>
                              <p:par>
                                <p:cTn id="22" presetID="4" presetClass="entr" presetSubtype="32" fill="hold" nodeType="afterEffect">
                                  <p:stCondLst>
                                    <p:cond delay="0"/>
                                  </p:stCondLst>
                                  <p:childTnLst>
                                    <p:set>
                                      <p:cBhvr>
                                        <p:cTn id="23" dur="1" fill="hold">
                                          <p:stCondLst>
                                            <p:cond delay="0"/>
                                          </p:stCondLst>
                                        </p:cTn>
                                        <p:tgtEl>
                                          <p:spTgt spid="113671"/>
                                        </p:tgtEl>
                                        <p:attrNameLst>
                                          <p:attrName>style.visibility</p:attrName>
                                        </p:attrNameLst>
                                      </p:cBhvr>
                                      <p:to>
                                        <p:strVal val="visible"/>
                                      </p:to>
                                    </p:set>
                                    <p:animEffect transition="in" filter="box(out)">
                                      <p:cBhvr>
                                        <p:cTn id="24" dur="500"/>
                                        <p:tgtEl>
                                          <p:spTgt spid="113671"/>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113670"/>
                                        </p:tgtEl>
                                        <p:attrNameLst>
                                          <p:attrName>style.visibility</p:attrName>
                                        </p:attrNameLst>
                                      </p:cBhvr>
                                      <p:to>
                                        <p:strVal val="visible"/>
                                      </p:to>
                                    </p:set>
                                    <p:animEffect transition="in" filter="box(out)">
                                      <p:cBhvr>
                                        <p:cTn id="29" dur="500"/>
                                        <p:tgtEl>
                                          <p:spTgt spid="113670"/>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113673"/>
                                        </p:tgtEl>
                                        <p:attrNameLst>
                                          <p:attrName>style.visibility</p:attrName>
                                        </p:attrNameLst>
                                      </p:cBhvr>
                                      <p:to>
                                        <p:strVal val="visible"/>
                                      </p:to>
                                    </p:set>
                                    <p:animEffect transition="in" filter="box(out)">
                                      <p:cBhvr>
                                        <p:cTn id="34" dur="500"/>
                                        <p:tgtEl>
                                          <p:spTgt spid="113673"/>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nodeType="clickEffect">
                                  <p:stCondLst>
                                    <p:cond delay="0"/>
                                  </p:stCondLst>
                                  <p:childTnLst>
                                    <p:set>
                                      <p:cBhvr>
                                        <p:cTn id="38" dur="1" fill="hold">
                                          <p:stCondLst>
                                            <p:cond delay="0"/>
                                          </p:stCondLst>
                                        </p:cTn>
                                        <p:tgtEl>
                                          <p:spTgt spid="113668"/>
                                        </p:tgtEl>
                                        <p:attrNameLst>
                                          <p:attrName>style.visibility</p:attrName>
                                        </p:attrNameLst>
                                      </p:cBhvr>
                                      <p:to>
                                        <p:strVal val="visible"/>
                                      </p:to>
                                    </p:set>
                                    <p:animEffect transition="in" filter="box(out)">
                                      <p:cBhvr>
                                        <p:cTn id="39" dur="500"/>
                                        <p:tgtEl>
                                          <p:spTgt spid="113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build="p"/>
      <p:bldP spid="113672" grpId="0" advAuto="100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文本框 114689"/>
          <p:cNvSpPr txBox="1"/>
          <p:nvPr/>
        </p:nvSpPr>
        <p:spPr>
          <a:xfrm>
            <a:off x="539115" y="405130"/>
            <a:ext cx="8158480" cy="2936875"/>
          </a:xfrm>
          <a:prstGeom prst="rect">
            <a:avLst/>
          </a:prstGeom>
          <a:noFill/>
          <a:ln w="9525">
            <a:noFill/>
          </a:ln>
        </p:spPr>
        <p:txBody>
          <a:bodyPr anchor="t" anchorCtr="0">
            <a:noAutofit/>
          </a:bodyPr>
          <a:p>
            <a:pPr>
              <a:lnSpc>
                <a:spcPct val="130000"/>
              </a:lnSpc>
            </a:pPr>
            <a:r>
              <a:rPr lang="en-US" altLang="zh-CN" dirty="0">
                <a:latin typeface="Times New Roman" panose="02020603050405020304" pitchFamily="18" charset="0"/>
              </a:rPr>
              <a:t>      </a:t>
            </a:r>
            <a:r>
              <a:rPr lang="zh-CN" altLang="en-US" dirty="0">
                <a:solidFill>
                  <a:srgbClr val="FF0000"/>
                </a:solidFill>
                <a:latin typeface="Times New Roman" panose="02020603050405020304" pitchFamily="18" charset="0"/>
              </a:rPr>
              <a:t>引入记号</a:t>
            </a:r>
            <a:r>
              <a:rPr lang="en-US" altLang="zh-CN">
                <a:solidFill>
                  <a:srgbClr val="FF0000"/>
                </a:solidFill>
                <a:latin typeface="Times New Roman" panose="02020603050405020304" pitchFamily="18" charset="0"/>
              </a:rPr>
              <a:t>:</a:t>
            </a:r>
            <a:r>
              <a:rPr lang="en-US" altLang="zh-CN">
                <a:latin typeface="Times New Roman" panose="02020603050405020304" pitchFamily="18" charset="0"/>
              </a:rPr>
              <a:t> </a:t>
            </a:r>
            <a:r>
              <a:rPr lang="zh-CN" altLang="en-US" dirty="0">
                <a:latin typeface="Times New Roman" panose="02020603050405020304" pitchFamily="18" charset="0"/>
              </a:rPr>
              <a:t>用 </a:t>
            </a:r>
            <a:r>
              <a:rPr lang="en-US" altLang="zh-CN" i="1" err="1">
                <a:solidFill>
                  <a:srgbClr val="FF0000"/>
                </a:solidFill>
                <a:latin typeface="Times New Roman" panose="02020603050405020304" pitchFamily="18" charset="0"/>
              </a:rPr>
              <a:t>r</a:t>
            </a:r>
            <a:r>
              <a:rPr lang="en-US" altLang="zh-CN" i="1" baseline="-25000" err="1">
                <a:solidFill>
                  <a:srgbClr val="FF0000"/>
                </a:solidFill>
                <a:latin typeface="Times New Roman" panose="02020603050405020304" pitchFamily="18" charset="0"/>
              </a:rPr>
              <a:t>i</a:t>
            </a:r>
            <a:r>
              <a:rPr lang="en-US" altLang="zh-CN" i="1" baseline="-25000">
                <a:solidFill>
                  <a:srgbClr val="FF0000"/>
                </a:solidFill>
                <a:latin typeface="Times New Roman" panose="02020603050405020304" pitchFamily="18" charset="0"/>
              </a:rPr>
              <a:t> </a:t>
            </a:r>
            <a:r>
              <a:rPr lang="zh-CN" altLang="en-US" dirty="0">
                <a:latin typeface="Times New Roman" panose="02020603050405020304" pitchFamily="18" charset="0"/>
              </a:rPr>
              <a:t>表示第 </a:t>
            </a:r>
            <a:r>
              <a:rPr lang="en-US" altLang="zh-CN" i="1">
                <a:latin typeface="Times New Roman" panose="02020603050405020304" pitchFamily="18" charset="0"/>
              </a:rPr>
              <a:t>i </a:t>
            </a:r>
            <a:r>
              <a:rPr lang="zh-CN" altLang="en-US" dirty="0">
                <a:latin typeface="Times New Roman" panose="02020603050405020304" pitchFamily="18" charset="0"/>
              </a:rPr>
              <a:t>行</a:t>
            </a:r>
            <a:r>
              <a:rPr lang="en-US" altLang="zh-CN">
                <a:latin typeface="Times New Roman" panose="02020603050405020304" pitchFamily="18" charset="0"/>
              </a:rPr>
              <a:t>, </a:t>
            </a:r>
            <a:r>
              <a:rPr lang="en-US" altLang="zh-CN" i="1" err="1">
                <a:solidFill>
                  <a:srgbClr val="FF0000"/>
                </a:solidFill>
                <a:latin typeface="Times New Roman" panose="02020603050405020304" pitchFamily="18" charset="0"/>
              </a:rPr>
              <a:t>c</a:t>
            </a:r>
            <a:r>
              <a:rPr lang="en-US" altLang="zh-CN" i="1" baseline="-25000" err="1">
                <a:solidFill>
                  <a:srgbClr val="FF0000"/>
                </a:solidFill>
                <a:latin typeface="Times New Roman" panose="02020603050405020304" pitchFamily="18" charset="0"/>
              </a:rPr>
              <a:t>i</a:t>
            </a:r>
            <a:r>
              <a:rPr lang="en-US" altLang="zh-CN" i="1" baseline="-25000">
                <a:solidFill>
                  <a:srgbClr val="FF0000"/>
                </a:solidFill>
                <a:latin typeface="Times New Roman" panose="02020603050405020304" pitchFamily="18" charset="0"/>
              </a:rPr>
              <a:t> </a:t>
            </a:r>
            <a:r>
              <a:rPr lang="zh-CN" altLang="en-US" dirty="0">
                <a:latin typeface="Times New Roman" panose="02020603050405020304" pitchFamily="18" charset="0"/>
              </a:rPr>
              <a:t>表示第 </a:t>
            </a:r>
            <a:r>
              <a:rPr lang="en-US" altLang="zh-CN" i="1">
                <a:latin typeface="Times New Roman" panose="02020603050405020304" pitchFamily="18" charset="0"/>
              </a:rPr>
              <a:t>i </a:t>
            </a:r>
            <a:r>
              <a:rPr lang="zh-CN" altLang="en-US" dirty="0">
                <a:latin typeface="Times New Roman" panose="02020603050405020304" pitchFamily="18" charset="0"/>
              </a:rPr>
              <a:t>列</a:t>
            </a:r>
            <a:r>
              <a:rPr lang="en-US" altLang="zh-CN">
                <a:latin typeface="Times New Roman" panose="02020603050405020304" pitchFamily="18" charset="0"/>
              </a:rPr>
              <a:t>.</a:t>
            </a:r>
            <a:endParaRPr lang="en-US" altLang="zh-CN">
              <a:latin typeface="Times New Roman" panose="02020603050405020304" pitchFamily="18" charset="0"/>
            </a:endParaRPr>
          </a:p>
          <a:p>
            <a:pPr>
              <a:lnSpc>
                <a:spcPct val="130000"/>
              </a:lnSpc>
            </a:pPr>
            <a:r>
              <a:rPr lang="en-US" altLang="zh-CN">
                <a:latin typeface="Times New Roman" panose="02020603050405020304" pitchFamily="18" charset="0"/>
              </a:rPr>
              <a:t>     </a:t>
            </a:r>
            <a:r>
              <a:rPr lang="zh-CN" altLang="en-US" dirty="0">
                <a:latin typeface="Times New Roman" panose="02020603050405020304" pitchFamily="18" charset="0"/>
              </a:rPr>
              <a:t>在计算行列式时</a:t>
            </a:r>
            <a:r>
              <a:rPr lang="en-US" altLang="zh-CN">
                <a:latin typeface="Times New Roman" panose="02020603050405020304" pitchFamily="18" charset="0"/>
              </a:rPr>
              <a:t>, </a:t>
            </a:r>
            <a:r>
              <a:rPr lang="zh-CN" altLang="en-US" dirty="0">
                <a:latin typeface="Times New Roman" panose="02020603050405020304" pitchFamily="18" charset="0"/>
              </a:rPr>
              <a:t>我们经常利用</a:t>
            </a:r>
            <a:r>
              <a:rPr lang="zh-CN" altLang="en-US" dirty="0">
                <a:solidFill>
                  <a:srgbClr val="FF0000"/>
                </a:solidFill>
                <a:latin typeface="Times New Roman" panose="02020603050405020304" pitchFamily="18" charset="0"/>
              </a:rPr>
              <a:t>性质</a:t>
            </a:r>
            <a:r>
              <a:rPr lang="en-US" altLang="zh-CN">
                <a:solidFill>
                  <a:srgbClr val="FF0000"/>
                </a:solidFill>
                <a:latin typeface="Times New Roman" panose="02020603050405020304" pitchFamily="18" charset="0"/>
              </a:rPr>
              <a:t>2,3,5</a:t>
            </a:r>
            <a:r>
              <a:rPr lang="zh-CN" altLang="en-US" dirty="0">
                <a:latin typeface="Times New Roman" panose="02020603050405020304" pitchFamily="18" charset="0"/>
              </a:rPr>
              <a:t>对行列式进行变换</a:t>
            </a:r>
            <a:r>
              <a:rPr lang="en-US" altLang="zh-CN">
                <a:latin typeface="Times New Roman" panose="02020603050405020304" pitchFamily="18" charset="0"/>
              </a:rPr>
              <a:t>.</a:t>
            </a:r>
            <a:endParaRPr lang="en-US" altLang="zh-CN">
              <a:latin typeface="Times New Roman" panose="02020603050405020304" pitchFamily="18" charset="0"/>
            </a:endParaRPr>
          </a:p>
          <a:p>
            <a:pPr>
              <a:lnSpc>
                <a:spcPct val="130000"/>
              </a:lnSpc>
            </a:pPr>
            <a:r>
              <a:rPr lang="en-US" altLang="zh-CN">
                <a:latin typeface="Times New Roman" panose="02020603050405020304" pitchFamily="18" charset="0"/>
              </a:rPr>
              <a:t> </a:t>
            </a:r>
            <a:r>
              <a:rPr lang="zh-CN" altLang="en-US">
                <a:latin typeface="Times New Roman" panose="02020603050405020304" pitchFamily="18" charset="0"/>
              </a:rPr>
              <a:t>（</a:t>
            </a:r>
            <a:r>
              <a:rPr lang="en-US" altLang="zh-CN">
                <a:latin typeface="Times New Roman" panose="02020603050405020304" pitchFamily="18" charset="0"/>
              </a:rPr>
              <a:t>1</a:t>
            </a:r>
            <a:r>
              <a:rPr lang="zh-CN" altLang="en-US">
                <a:latin typeface="Times New Roman" panose="02020603050405020304" pitchFamily="18" charset="0"/>
              </a:rPr>
              <a:t>）</a:t>
            </a:r>
            <a:r>
              <a:rPr lang="zh-CN" altLang="en-US" dirty="0">
                <a:latin typeface="Times New Roman" panose="02020603050405020304" pitchFamily="18" charset="0"/>
              </a:rPr>
              <a:t>利用</a:t>
            </a:r>
            <a:r>
              <a:rPr lang="zh-CN" altLang="en-US" dirty="0">
                <a:solidFill>
                  <a:srgbClr val="FF0000"/>
                </a:solidFill>
                <a:latin typeface="Times New Roman" panose="02020603050405020304" pitchFamily="18" charset="0"/>
              </a:rPr>
              <a:t>性质</a:t>
            </a:r>
            <a:r>
              <a:rPr lang="en-US" altLang="zh-CN">
                <a:solidFill>
                  <a:srgbClr val="FF0000"/>
                </a:solidFill>
                <a:latin typeface="Times New Roman" panose="02020603050405020304" pitchFamily="18" charset="0"/>
              </a:rPr>
              <a:t>2</a:t>
            </a:r>
            <a:r>
              <a:rPr lang="zh-CN" altLang="en-US" dirty="0">
                <a:latin typeface="Times New Roman" panose="02020603050405020304" pitchFamily="18" charset="0"/>
              </a:rPr>
              <a:t>交换行列式的第 </a:t>
            </a:r>
            <a:r>
              <a:rPr lang="en-US" altLang="zh-CN" i="1">
                <a:latin typeface="Times New Roman" panose="02020603050405020304" pitchFamily="18" charset="0"/>
              </a:rPr>
              <a:t>i</a:t>
            </a:r>
            <a:r>
              <a:rPr lang="en-US" altLang="zh-CN">
                <a:latin typeface="Times New Roman" panose="02020603050405020304" pitchFamily="18" charset="0"/>
              </a:rPr>
              <a:t>, </a:t>
            </a:r>
            <a:r>
              <a:rPr lang="en-US" altLang="zh-CN" i="1">
                <a:latin typeface="Times New Roman" panose="02020603050405020304" pitchFamily="18" charset="0"/>
              </a:rPr>
              <a:t>j</a:t>
            </a:r>
            <a:r>
              <a:rPr lang="en-US" altLang="zh-CN">
                <a:latin typeface="Times New Roman" panose="02020603050405020304" pitchFamily="18" charset="0"/>
              </a:rPr>
              <a:t> </a:t>
            </a:r>
            <a:r>
              <a:rPr lang="zh-CN" altLang="en-US" dirty="0">
                <a:latin typeface="Times New Roman" panose="02020603050405020304" pitchFamily="18" charset="0"/>
              </a:rPr>
              <a:t>两行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 </a:t>
            </a:r>
            <a:r>
              <a:rPr lang="zh-CN" altLang="en-US" dirty="0">
                <a:latin typeface="Times New Roman" panose="02020603050405020304" pitchFamily="18" charset="0"/>
              </a:rPr>
              <a:t>记作</a:t>
            </a:r>
            <a:endParaRPr lang="zh-CN" altLang="en-US" dirty="0">
              <a:latin typeface="Times New Roman" panose="02020603050405020304" pitchFamily="18" charset="0"/>
            </a:endParaRPr>
          </a:p>
          <a:p>
            <a:pPr algn="ctr">
              <a:lnSpc>
                <a:spcPct val="130000"/>
              </a:lnSpc>
            </a:pPr>
            <a:r>
              <a:rPr lang="en-US" altLang="zh-CN" i="1" err="1">
                <a:solidFill>
                  <a:srgbClr val="FF0000"/>
                </a:solidFill>
                <a:latin typeface="Times New Roman" panose="02020603050405020304" pitchFamily="18" charset="0"/>
              </a:rPr>
              <a:t>r</a:t>
            </a:r>
            <a:r>
              <a:rPr lang="en-US" altLang="zh-CN" i="1" baseline="-25000" err="1">
                <a:solidFill>
                  <a:srgbClr val="FF0000"/>
                </a:solidFill>
                <a:latin typeface="Times New Roman" panose="02020603050405020304" pitchFamily="18" charset="0"/>
              </a:rPr>
              <a:t>i</a:t>
            </a:r>
            <a:r>
              <a:rPr lang="en-US" altLang="zh-CN" i="1" baseline="-25000">
                <a:solidFill>
                  <a:srgbClr val="FF0000"/>
                </a:solidFill>
                <a:latin typeface="Times New Roman" panose="02020603050405020304" pitchFamily="18" charset="0"/>
              </a:rPr>
              <a:t>  </a:t>
            </a:r>
            <a:r>
              <a:rPr lang="en-US" altLang="zh-CN">
                <a:solidFill>
                  <a:srgbClr val="FF0000"/>
                </a:solidFill>
                <a:latin typeface="Times New Roman" panose="02020603050405020304" pitchFamily="18" charset="0"/>
                <a:sym typeface="Symbol" panose="05050102010706020507" pitchFamily="18" charset="2"/>
              </a:rPr>
              <a:t> </a:t>
            </a:r>
            <a:r>
              <a:rPr lang="en-US" altLang="zh-CN" i="1" err="1">
                <a:solidFill>
                  <a:srgbClr val="FF0000"/>
                </a:solidFill>
                <a:latin typeface="Times New Roman" panose="02020603050405020304" pitchFamily="18" charset="0"/>
              </a:rPr>
              <a:t>r</a:t>
            </a:r>
            <a:r>
              <a:rPr lang="en-US" altLang="zh-CN" i="1" baseline="-25000" err="1">
                <a:solidFill>
                  <a:srgbClr val="FF0000"/>
                </a:solidFill>
                <a:latin typeface="Times New Roman" panose="02020603050405020304" pitchFamily="18" charset="0"/>
              </a:rPr>
              <a:t>j</a:t>
            </a:r>
            <a:r>
              <a:rPr lang="en-US" altLang="zh-CN" i="1" baseline="-25000">
                <a:solidFill>
                  <a:srgbClr val="FF0000"/>
                </a:solidFill>
                <a:latin typeface="Times New Roman" panose="02020603050405020304" pitchFamily="18" charset="0"/>
              </a:rPr>
              <a:t>   </a:t>
            </a:r>
            <a:r>
              <a:rPr lang="en-US" altLang="zh-CN">
                <a:latin typeface="Times New Roman" panose="02020603050405020304" pitchFamily="18" charset="0"/>
              </a:rPr>
              <a:t>( </a:t>
            </a:r>
            <a:r>
              <a:rPr lang="en-US" altLang="zh-CN" i="1" err="1">
                <a:solidFill>
                  <a:srgbClr val="FF0000"/>
                </a:solidFill>
                <a:latin typeface="Times New Roman" panose="02020603050405020304" pitchFamily="18" charset="0"/>
              </a:rPr>
              <a:t>c</a:t>
            </a:r>
            <a:r>
              <a:rPr lang="en-US" altLang="zh-CN" i="1" baseline="-25000" err="1">
                <a:solidFill>
                  <a:srgbClr val="FF0000"/>
                </a:solidFill>
                <a:latin typeface="Times New Roman" panose="02020603050405020304" pitchFamily="18" charset="0"/>
              </a:rPr>
              <a:t>i</a:t>
            </a:r>
            <a:r>
              <a:rPr lang="en-US" altLang="zh-CN" i="1" baseline="-25000">
                <a:solidFill>
                  <a:srgbClr val="FF0000"/>
                </a:solidFill>
                <a:latin typeface="Times New Roman" panose="02020603050405020304" pitchFamily="18" charset="0"/>
              </a:rPr>
              <a:t>  </a:t>
            </a:r>
            <a:r>
              <a:rPr lang="en-US" altLang="zh-CN">
                <a:solidFill>
                  <a:srgbClr val="FF0000"/>
                </a:solidFill>
                <a:latin typeface="Times New Roman" panose="02020603050405020304" pitchFamily="18" charset="0"/>
                <a:sym typeface="Symbol" panose="05050102010706020507" pitchFamily="18" charset="2"/>
              </a:rPr>
              <a:t> </a:t>
            </a:r>
            <a:r>
              <a:rPr lang="en-US" altLang="zh-CN" i="1" err="1">
                <a:solidFill>
                  <a:srgbClr val="FF0000"/>
                </a:solidFill>
                <a:latin typeface="Times New Roman" panose="02020603050405020304" pitchFamily="18" charset="0"/>
              </a:rPr>
              <a:t>c</a:t>
            </a:r>
            <a:r>
              <a:rPr lang="en-US" altLang="zh-CN" i="1" baseline="-25000" err="1">
                <a:solidFill>
                  <a:srgbClr val="FF0000"/>
                </a:solidFill>
                <a:latin typeface="Times New Roman" panose="02020603050405020304" pitchFamily="18" charset="0"/>
              </a:rPr>
              <a:t>j</a:t>
            </a:r>
            <a:r>
              <a:rPr lang="en-US" altLang="zh-CN" i="1" baseline="-25000">
                <a:solidFill>
                  <a:srgbClr val="FF0000"/>
                </a:solidFill>
                <a:latin typeface="Times New Roman" panose="02020603050405020304" pitchFamily="18" charset="0"/>
              </a:rPr>
              <a:t> </a:t>
            </a:r>
            <a:r>
              <a:rPr lang="en-US" altLang="zh-CN">
                <a:latin typeface="Times New Roman" panose="02020603050405020304" pitchFamily="18" charset="0"/>
              </a:rPr>
              <a:t>); </a:t>
            </a:r>
            <a:endParaRPr lang="en-US" altLang="zh-CN">
              <a:latin typeface="Times New Roman" panose="02020603050405020304" pitchFamily="18" charset="0"/>
            </a:endParaRPr>
          </a:p>
        </p:txBody>
      </p:sp>
      <p:sp>
        <p:nvSpPr>
          <p:cNvPr id="114691" name="矩形 114690"/>
          <p:cNvSpPr/>
          <p:nvPr/>
        </p:nvSpPr>
        <p:spPr>
          <a:xfrm>
            <a:off x="655955" y="4467225"/>
            <a:ext cx="8051800" cy="1925955"/>
          </a:xfrm>
          <a:prstGeom prst="rect">
            <a:avLst/>
          </a:prstGeom>
          <a:noFill/>
          <a:ln w="9525">
            <a:noFill/>
          </a:ln>
        </p:spPr>
        <p:txBody>
          <a:bodyPr>
            <a:noAutofit/>
          </a:bodyPr>
          <a:p>
            <a:pPr>
              <a:lnSpc>
                <a:spcPct val="130000"/>
              </a:lnSpc>
            </a:pPr>
            <a:r>
              <a:rPr lang="zh-CN" altLang="en-US" dirty="0">
                <a:latin typeface="Times New Roman" panose="02020603050405020304" pitchFamily="18" charset="0"/>
              </a:rPr>
              <a:t>（</a:t>
            </a:r>
            <a:r>
              <a:rPr lang="en-US" altLang="zh-CN" dirty="0">
                <a:latin typeface="Times New Roman" panose="02020603050405020304" pitchFamily="18" charset="0"/>
              </a:rPr>
              <a:t>3</a:t>
            </a:r>
            <a:r>
              <a:rPr lang="zh-CN" altLang="en-US" dirty="0">
                <a:latin typeface="Times New Roman" panose="02020603050405020304" pitchFamily="18" charset="0"/>
              </a:rPr>
              <a:t>）利用</a:t>
            </a:r>
            <a:r>
              <a:rPr lang="zh-CN" altLang="en-US" dirty="0">
                <a:solidFill>
                  <a:srgbClr val="FF0000"/>
                </a:solidFill>
                <a:latin typeface="Times New Roman" panose="02020603050405020304" pitchFamily="18" charset="0"/>
              </a:rPr>
              <a:t>性质</a:t>
            </a:r>
            <a:r>
              <a:rPr lang="en-US" altLang="zh-CN">
                <a:solidFill>
                  <a:srgbClr val="FF0000"/>
                </a:solidFill>
                <a:latin typeface="Times New Roman" panose="02020603050405020304" pitchFamily="18" charset="0"/>
              </a:rPr>
              <a:t>5</a:t>
            </a:r>
            <a:r>
              <a:rPr lang="zh-CN" altLang="en-US" dirty="0">
                <a:latin typeface="Times New Roman" panose="02020603050405020304" pitchFamily="18" charset="0"/>
              </a:rPr>
              <a:t>把行列式的第 </a:t>
            </a:r>
            <a:r>
              <a:rPr lang="en-US" altLang="zh-CN" i="1">
                <a:latin typeface="Times New Roman" panose="02020603050405020304" pitchFamily="18" charset="0"/>
              </a:rPr>
              <a:t>j </a:t>
            </a:r>
            <a:r>
              <a:rPr lang="zh-CN" altLang="en-US" dirty="0">
                <a:latin typeface="Times New Roman" panose="02020603050405020304" pitchFamily="18" charset="0"/>
              </a:rPr>
              <a:t>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各元素乘以同一数 </a:t>
            </a:r>
            <a:r>
              <a:rPr lang="en-US" altLang="zh-CN" i="1">
                <a:latin typeface="Times New Roman" panose="02020603050405020304" pitchFamily="18" charset="0"/>
              </a:rPr>
              <a:t>k </a:t>
            </a:r>
            <a:r>
              <a:rPr lang="zh-CN" altLang="en-US" dirty="0">
                <a:latin typeface="Times New Roman" panose="02020603050405020304" pitchFamily="18" charset="0"/>
              </a:rPr>
              <a:t>再</a:t>
            </a:r>
            <a:r>
              <a:rPr lang="zh-CN" altLang="en-US" dirty="0">
                <a:latin typeface="Times New Roman" panose="02020603050405020304" pitchFamily="18" charset="0"/>
              </a:rPr>
              <a:t>加到第 </a:t>
            </a:r>
            <a:r>
              <a:rPr lang="en-US" altLang="zh-CN" i="1">
                <a:latin typeface="Times New Roman" panose="02020603050405020304" pitchFamily="18" charset="0"/>
              </a:rPr>
              <a:t>i</a:t>
            </a:r>
            <a:r>
              <a:rPr lang="en-US" altLang="zh-CN">
                <a:latin typeface="Times New Roman" panose="02020603050405020304" pitchFamily="18" charset="0"/>
              </a:rPr>
              <a:t> </a:t>
            </a:r>
            <a:r>
              <a:rPr lang="zh-CN" altLang="en-US" dirty="0">
                <a:latin typeface="Times New Roman" panose="02020603050405020304" pitchFamily="18" charset="0"/>
              </a:rPr>
              <a:t>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对应的元素上去</a:t>
            </a:r>
            <a:r>
              <a:rPr lang="en-US" altLang="zh-CN">
                <a:latin typeface="Times New Roman" panose="02020603050405020304" pitchFamily="18" charset="0"/>
              </a:rPr>
              <a:t>, </a:t>
            </a:r>
            <a:r>
              <a:rPr lang="zh-CN" altLang="en-US" dirty="0">
                <a:latin typeface="Times New Roman" panose="02020603050405020304" pitchFamily="18" charset="0"/>
              </a:rPr>
              <a:t>记作</a:t>
            </a:r>
            <a:endParaRPr lang="zh-CN" altLang="en-US" dirty="0">
              <a:latin typeface="Times New Roman" panose="02020603050405020304" pitchFamily="18" charset="0"/>
            </a:endParaRPr>
          </a:p>
          <a:p>
            <a:pPr algn="ctr">
              <a:lnSpc>
                <a:spcPct val="130000"/>
              </a:lnSpc>
            </a:pPr>
            <a:r>
              <a:rPr lang="en-US" altLang="zh-CN" i="1" err="1">
                <a:solidFill>
                  <a:srgbClr val="FF0000"/>
                </a:solidFill>
                <a:latin typeface="Times New Roman" panose="02020603050405020304" pitchFamily="18" charset="0"/>
              </a:rPr>
              <a:t>r</a:t>
            </a:r>
            <a:r>
              <a:rPr lang="en-US" altLang="zh-CN" i="1" baseline="-25000" err="1">
                <a:solidFill>
                  <a:srgbClr val="FF0000"/>
                </a:solidFill>
                <a:latin typeface="Times New Roman" panose="02020603050405020304" pitchFamily="18" charset="0"/>
              </a:rPr>
              <a:t>i</a:t>
            </a:r>
            <a:r>
              <a:rPr lang="en-US" altLang="zh-CN" i="1" baseline="-25000">
                <a:solidFill>
                  <a:srgbClr val="FF0000"/>
                </a:solidFill>
                <a:latin typeface="Times New Roman" panose="02020603050405020304" pitchFamily="18" charset="0"/>
              </a:rPr>
              <a:t> </a:t>
            </a:r>
            <a:r>
              <a:rPr lang="en-US" altLang="zh-CN" i="1">
                <a:solidFill>
                  <a:srgbClr val="FF0000"/>
                </a:solidFill>
                <a:latin typeface="Times New Roman" panose="02020603050405020304" pitchFamily="18" charset="0"/>
              </a:rPr>
              <a:t>+ </a:t>
            </a:r>
            <a:r>
              <a:rPr lang="en-US" altLang="zh-CN" i="1">
                <a:solidFill>
                  <a:srgbClr val="FF0000"/>
                </a:solidFill>
                <a:sym typeface="+mn-ea"/>
              </a:rPr>
              <a:t>k</a:t>
            </a:r>
            <a:r>
              <a:rPr lang="en-US" altLang="zh-CN" i="1" err="1">
                <a:solidFill>
                  <a:srgbClr val="FF0000"/>
                </a:solidFill>
                <a:latin typeface="Times New Roman" panose="02020603050405020304" pitchFamily="18" charset="0"/>
              </a:rPr>
              <a:t>r</a:t>
            </a:r>
            <a:r>
              <a:rPr lang="en-US" altLang="zh-CN" i="1" baseline="-25000" err="1">
                <a:solidFill>
                  <a:srgbClr val="FF0000"/>
                </a:solidFill>
                <a:latin typeface="Times New Roman" panose="02020603050405020304" pitchFamily="18" charset="0"/>
              </a:rPr>
              <a:t>j</a:t>
            </a:r>
            <a:r>
              <a:rPr lang="en-US" altLang="zh-CN" i="1" baseline="-25000">
                <a:solidFill>
                  <a:srgbClr val="FF0000"/>
                </a:solidFill>
                <a:latin typeface="Times New Roman" panose="02020603050405020304" pitchFamily="18" charset="0"/>
              </a:rPr>
              <a:t> </a:t>
            </a:r>
            <a:r>
              <a:rPr lang="en-US" altLang="zh-CN">
                <a:solidFill>
                  <a:srgbClr val="FF0000"/>
                </a:solidFill>
                <a:latin typeface="Times New Roman" panose="02020603050405020304" pitchFamily="18" charset="0"/>
                <a:sym typeface="Symbol" panose="05050102010706020507" pitchFamily="18" charset="2"/>
              </a:rPr>
              <a:t> </a:t>
            </a:r>
            <a:r>
              <a:rPr lang="en-US" altLang="zh-CN" i="1">
                <a:solidFill>
                  <a:srgbClr val="FF0000"/>
                </a:solidFill>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 </a:t>
            </a:r>
            <a:r>
              <a:rPr lang="en-US" altLang="zh-CN" i="1" err="1">
                <a:solidFill>
                  <a:srgbClr val="FF0000"/>
                </a:solidFill>
                <a:latin typeface="Times New Roman" panose="02020603050405020304" pitchFamily="18" charset="0"/>
              </a:rPr>
              <a:t>c</a:t>
            </a:r>
            <a:r>
              <a:rPr lang="en-US" altLang="zh-CN" i="1" baseline="-25000" err="1">
                <a:solidFill>
                  <a:srgbClr val="FF0000"/>
                </a:solidFill>
                <a:latin typeface="Times New Roman" panose="02020603050405020304" pitchFamily="18" charset="0"/>
              </a:rPr>
              <a:t>i</a:t>
            </a:r>
            <a:r>
              <a:rPr lang="en-US" altLang="zh-CN" i="1" baseline="-25000">
                <a:solidFill>
                  <a:srgbClr val="FF0000"/>
                </a:solidFill>
                <a:latin typeface="Times New Roman" panose="02020603050405020304" pitchFamily="18" charset="0"/>
              </a:rPr>
              <a:t> </a:t>
            </a:r>
            <a:r>
              <a:rPr lang="en-US" altLang="zh-CN">
                <a:solidFill>
                  <a:srgbClr val="FF0000"/>
                </a:solidFill>
                <a:latin typeface="Times New Roman" panose="02020603050405020304" pitchFamily="18" charset="0"/>
                <a:sym typeface="Symbol" panose="05050102010706020507" pitchFamily="18" charset="2"/>
              </a:rPr>
              <a:t>+ </a:t>
            </a:r>
            <a:r>
              <a:rPr lang="en-US" altLang="zh-CN" i="1">
                <a:solidFill>
                  <a:srgbClr val="FF0000"/>
                </a:solidFill>
                <a:sym typeface="+mn-ea"/>
              </a:rPr>
              <a:t>k</a:t>
            </a:r>
            <a:r>
              <a:rPr lang="en-US" altLang="zh-CN" i="1" err="1">
                <a:solidFill>
                  <a:srgbClr val="FF0000"/>
                </a:solidFill>
                <a:latin typeface="Times New Roman" panose="02020603050405020304" pitchFamily="18" charset="0"/>
              </a:rPr>
              <a:t>c</a:t>
            </a:r>
            <a:r>
              <a:rPr lang="en-US" altLang="zh-CN" i="1" baseline="-25000" err="1">
                <a:solidFill>
                  <a:srgbClr val="FF0000"/>
                </a:solidFill>
                <a:latin typeface="Times New Roman" panose="02020603050405020304" pitchFamily="18" charset="0"/>
              </a:rPr>
              <a:t>j</a:t>
            </a:r>
            <a:r>
              <a:rPr lang="en-US" altLang="zh-CN" i="1" baseline="-25000">
                <a:solidFill>
                  <a:srgbClr val="FF0000"/>
                </a:solidFill>
                <a:latin typeface="Times New Roman" panose="02020603050405020304" pitchFamily="18" charset="0"/>
              </a:rPr>
              <a:t> </a:t>
            </a:r>
            <a:r>
              <a:rPr lang="en-US" altLang="zh-CN">
                <a:solidFill>
                  <a:srgbClr val="FF0000"/>
                </a:solidFill>
                <a:latin typeface="Times New Roman" panose="02020603050405020304" pitchFamily="18" charset="0"/>
                <a:sym typeface="Symbol" panose="05050102010706020507" pitchFamily="18" charset="2"/>
              </a:rPr>
              <a:t> </a:t>
            </a:r>
            <a:r>
              <a:rPr lang="en-US" altLang="zh-CN" i="1">
                <a:solidFill>
                  <a:srgbClr val="FF0000"/>
                </a:solidFill>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 </a:t>
            </a:r>
            <a:endParaRPr lang="en-US" altLang="zh-CN">
              <a:latin typeface="Times New Roman" panose="02020603050405020304" pitchFamily="18" charset="0"/>
              <a:sym typeface="Symbol" panose="05050102010706020507" pitchFamily="18" charset="2"/>
            </a:endParaRPr>
          </a:p>
        </p:txBody>
      </p:sp>
      <p:sp>
        <p:nvSpPr>
          <p:cNvPr id="114692" name="矩形 114691"/>
          <p:cNvSpPr/>
          <p:nvPr/>
        </p:nvSpPr>
        <p:spPr>
          <a:xfrm>
            <a:off x="549275" y="3500755"/>
            <a:ext cx="8099425" cy="1038860"/>
          </a:xfrm>
          <a:prstGeom prst="rect">
            <a:avLst/>
          </a:prstGeom>
          <a:noFill/>
          <a:ln w="9525">
            <a:noFill/>
          </a:ln>
        </p:spPr>
        <p:txBody>
          <a:bodyPr wrap="square">
            <a:spAutoFit/>
          </a:bodyPr>
          <a:p>
            <a:pPr>
              <a:lnSpc>
                <a:spcPct val="110000"/>
              </a:lnSpc>
            </a:pPr>
            <a:r>
              <a:rPr lang="en-US" altLang="zh-CN" dirty="0">
                <a:latin typeface="Times New Roman" panose="02020603050405020304" pitchFamily="18" charset="0"/>
              </a:rPr>
              <a:t> </a:t>
            </a:r>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）利用</a:t>
            </a:r>
            <a:r>
              <a:rPr lang="zh-CN" altLang="en-US" dirty="0">
                <a:solidFill>
                  <a:srgbClr val="FF0000"/>
                </a:solidFill>
                <a:latin typeface="Times New Roman" panose="02020603050405020304" pitchFamily="18" charset="0"/>
              </a:rPr>
              <a:t>性质</a:t>
            </a:r>
            <a:r>
              <a:rPr lang="en-US" altLang="zh-CN">
                <a:solidFill>
                  <a:srgbClr val="FF0000"/>
                </a:solidFill>
                <a:latin typeface="Times New Roman" panose="02020603050405020304" pitchFamily="18" charset="0"/>
              </a:rPr>
              <a:t>3</a:t>
            </a:r>
            <a:r>
              <a:rPr lang="zh-CN" altLang="en-US" dirty="0">
                <a:latin typeface="Times New Roman" panose="02020603050405020304" pitchFamily="18" charset="0"/>
              </a:rPr>
              <a:t>行列式的第 </a:t>
            </a:r>
            <a:r>
              <a:rPr lang="en-US" altLang="zh-CN" i="1">
                <a:latin typeface="Times New Roman" panose="02020603050405020304" pitchFamily="18" charset="0"/>
              </a:rPr>
              <a:t>i</a:t>
            </a:r>
            <a:r>
              <a:rPr lang="en-US" altLang="zh-CN">
                <a:latin typeface="Times New Roman" panose="02020603050405020304" pitchFamily="18" charset="0"/>
              </a:rPr>
              <a:t> </a:t>
            </a:r>
            <a:r>
              <a:rPr lang="zh-CN" altLang="en-US" dirty="0">
                <a:latin typeface="Times New Roman" panose="02020603050405020304" pitchFamily="18" charset="0"/>
              </a:rPr>
              <a:t>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乘以数</a:t>
            </a:r>
            <a:r>
              <a:rPr lang="en-US" altLang="zh-CN" i="1">
                <a:latin typeface="Times New Roman" panose="02020603050405020304" pitchFamily="18" charset="0"/>
              </a:rPr>
              <a:t>k</a:t>
            </a:r>
            <a:r>
              <a:rPr lang="en-US" altLang="zh-CN">
                <a:latin typeface="Times New Roman" panose="02020603050405020304" pitchFamily="18" charset="0"/>
              </a:rPr>
              <a:t>, </a:t>
            </a:r>
            <a:r>
              <a:rPr lang="zh-CN" altLang="en-US" dirty="0">
                <a:latin typeface="Times New Roman" panose="02020603050405020304" pitchFamily="18" charset="0"/>
              </a:rPr>
              <a:t>记作</a:t>
            </a:r>
            <a:endParaRPr lang="zh-CN" altLang="en-US" dirty="0">
              <a:latin typeface="Times New Roman" panose="02020603050405020304" pitchFamily="18" charset="0"/>
            </a:endParaRPr>
          </a:p>
          <a:p>
            <a:pPr algn="ctr">
              <a:lnSpc>
                <a:spcPct val="110000"/>
              </a:lnSpc>
            </a:pPr>
            <a:r>
              <a:rPr lang="en-US" altLang="zh-CN">
                <a:solidFill>
                  <a:srgbClr val="FF0000"/>
                </a:solidFill>
                <a:sym typeface="Symbol" panose="05050102010706020507" pitchFamily="18" charset="2"/>
              </a:rPr>
              <a:t> </a:t>
            </a:r>
            <a:r>
              <a:rPr lang="en-US" altLang="zh-CN" i="1">
                <a:solidFill>
                  <a:srgbClr val="FF0000"/>
                </a:solidFill>
                <a:sym typeface="+mn-ea"/>
              </a:rPr>
              <a:t>k</a:t>
            </a:r>
            <a:r>
              <a:rPr lang="en-US" altLang="zh-CN">
                <a:sym typeface="Symbol" panose="05050102010706020507" pitchFamily="18" charset="2"/>
              </a:rPr>
              <a:t> </a:t>
            </a:r>
            <a:r>
              <a:rPr lang="en-US" altLang="zh-CN" i="1" err="1">
                <a:solidFill>
                  <a:srgbClr val="FF0000"/>
                </a:solidFill>
                <a:latin typeface="Times New Roman" panose="02020603050405020304" pitchFamily="18" charset="0"/>
              </a:rPr>
              <a:t>r</a:t>
            </a:r>
            <a:r>
              <a:rPr lang="en-US" altLang="zh-CN" i="1" baseline="-25000" err="1">
                <a:solidFill>
                  <a:srgbClr val="FF0000"/>
                </a:solidFill>
                <a:latin typeface="Times New Roman" panose="02020603050405020304" pitchFamily="18" charset="0"/>
              </a:rPr>
              <a:t>i</a:t>
            </a:r>
            <a:r>
              <a:rPr lang="en-US" altLang="zh-CN" i="1" baseline="-25000">
                <a:solidFill>
                  <a:srgbClr val="FF0000"/>
                </a:solidFill>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 </a:t>
            </a:r>
            <a:r>
              <a:rPr lang="en-US" altLang="zh-CN" i="1">
                <a:solidFill>
                  <a:srgbClr val="FF0000"/>
                </a:solidFill>
                <a:sym typeface="+mn-ea"/>
              </a:rPr>
              <a:t>k</a:t>
            </a:r>
            <a:r>
              <a:rPr lang="en-US" altLang="zh-CN" i="1" err="1">
                <a:solidFill>
                  <a:srgbClr val="FF0000"/>
                </a:solidFill>
                <a:latin typeface="Times New Roman" panose="02020603050405020304" pitchFamily="18" charset="0"/>
              </a:rPr>
              <a:t>c</a:t>
            </a:r>
            <a:r>
              <a:rPr lang="en-US" altLang="zh-CN" i="1" baseline="-25000" err="1">
                <a:solidFill>
                  <a:srgbClr val="FF0000"/>
                </a:solidFill>
                <a:latin typeface="Times New Roman" panose="02020603050405020304" pitchFamily="18" charset="0"/>
              </a:rPr>
              <a:t>i</a:t>
            </a:r>
            <a:r>
              <a:rPr lang="en-US" altLang="zh-CN" i="1" baseline="-25000">
                <a:solidFill>
                  <a:srgbClr val="FF0000"/>
                </a:solidFill>
                <a:latin typeface="Times New Roman" panose="02020603050405020304" pitchFamily="18" charset="0"/>
              </a:rPr>
              <a:t> </a:t>
            </a:r>
            <a:r>
              <a:rPr lang="en-US" altLang="zh-CN">
                <a:solidFill>
                  <a:srgbClr val="FF0000"/>
                </a:solidFill>
                <a:latin typeface="Times New Roman" panose="02020603050405020304" pitchFamily="18" charset="0"/>
                <a:sym typeface="Symbol" panose="05050102010706020507" pitchFamily="18" charset="2"/>
              </a:rPr>
              <a:t> </a:t>
            </a:r>
            <a:r>
              <a:rPr lang="en-US" altLang="zh-CN" i="1">
                <a:solidFill>
                  <a:srgbClr val="FF0000"/>
                </a:solidFill>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4690">
                                            <p:txEl>
                                              <p:charRg st="0" end="40"/>
                                            </p:txEl>
                                          </p:spTgt>
                                        </p:tgtEl>
                                        <p:attrNameLst>
                                          <p:attrName>style.visibility</p:attrName>
                                        </p:attrNameLst>
                                      </p:cBhvr>
                                      <p:to>
                                        <p:strVal val="visible"/>
                                      </p:to>
                                    </p:set>
                                    <p:animEffect transition="in" filter="box(out)">
                                      <p:cBhvr>
                                        <p:cTn id="7" dur="500"/>
                                        <p:tgtEl>
                                          <p:spTgt spid="114690">
                                            <p:txEl>
                                              <p:charRg st="0" end="4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4690">
                                            <p:txEl>
                                              <p:charRg st="40" end="80"/>
                                            </p:txEl>
                                          </p:spTgt>
                                        </p:tgtEl>
                                        <p:attrNameLst>
                                          <p:attrName>style.visibility</p:attrName>
                                        </p:attrNameLst>
                                      </p:cBhvr>
                                      <p:to>
                                        <p:strVal val="visible"/>
                                      </p:to>
                                    </p:set>
                                    <p:animEffect transition="in" filter="box(out)">
                                      <p:cBhvr>
                                        <p:cTn id="12" dur="500"/>
                                        <p:tgtEl>
                                          <p:spTgt spid="114690">
                                            <p:txEl>
                                              <p:charRg st="40" end="8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14690">
                                            <p:txEl>
                                              <p:charRg st="80" end="116"/>
                                            </p:txEl>
                                          </p:spTgt>
                                        </p:tgtEl>
                                        <p:attrNameLst>
                                          <p:attrName>style.visibility</p:attrName>
                                        </p:attrNameLst>
                                      </p:cBhvr>
                                      <p:to>
                                        <p:strVal val="visible"/>
                                      </p:to>
                                    </p:set>
                                    <p:animEffect transition="in" filter="box(out)">
                                      <p:cBhvr>
                                        <p:cTn id="17" dur="500"/>
                                        <p:tgtEl>
                                          <p:spTgt spid="114690">
                                            <p:txEl>
                                              <p:charRg st="80" end="11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14690">
                                            <p:txEl>
                                              <p:charRg st="116" end="142"/>
                                            </p:txEl>
                                          </p:spTgt>
                                        </p:tgtEl>
                                        <p:attrNameLst>
                                          <p:attrName>style.visibility</p:attrName>
                                        </p:attrNameLst>
                                      </p:cBhvr>
                                      <p:to>
                                        <p:strVal val="visible"/>
                                      </p:to>
                                    </p:set>
                                    <p:animEffect transition="in" filter="box(out)">
                                      <p:cBhvr>
                                        <p:cTn id="22" dur="500"/>
                                        <p:tgtEl>
                                          <p:spTgt spid="114690">
                                            <p:txEl>
                                              <p:charRg st="116" end="142"/>
                                            </p:txEl>
                                          </p:spTgt>
                                        </p:tgtEl>
                                      </p:cBhvr>
                                    </p:animEffect>
                                  </p:childTnLst>
                                </p:cTn>
                              </p:par>
                            </p:childTnLst>
                          </p:cTn>
                        </p:par>
                        <p:par>
                          <p:cTn id="23" fill="hold">
                            <p:stCondLst>
                              <p:cond delay="500"/>
                            </p:stCondLst>
                            <p:childTnLst>
                              <p:par>
                                <p:cTn id="24" presetID="4" presetClass="entr" presetSubtype="32" fill="hold" grpId="0" nodeType="afterEffect">
                                  <p:stCondLst>
                                    <p:cond delay="0"/>
                                  </p:stCondLst>
                                  <p:childTnLst>
                                    <p:set>
                                      <p:cBhvr>
                                        <p:cTn id="25" dur="1" fill="hold">
                                          <p:stCondLst>
                                            <p:cond delay="0"/>
                                          </p:stCondLst>
                                        </p:cTn>
                                        <p:tgtEl>
                                          <p:spTgt spid="114692">
                                            <p:txEl>
                                              <p:charRg st="0" end="26"/>
                                            </p:txEl>
                                          </p:spTgt>
                                        </p:tgtEl>
                                        <p:attrNameLst>
                                          <p:attrName>style.visibility</p:attrName>
                                        </p:attrNameLst>
                                      </p:cBhvr>
                                      <p:to>
                                        <p:strVal val="visible"/>
                                      </p:to>
                                    </p:set>
                                    <p:animEffect transition="in" filter="box(out)">
                                      <p:cBhvr>
                                        <p:cTn id="26" dur="500"/>
                                        <p:tgtEl>
                                          <p:spTgt spid="114692">
                                            <p:txEl>
                                              <p:charRg st="0" end="26"/>
                                            </p:txEl>
                                          </p:spTgt>
                                        </p:tgtEl>
                                      </p:cBhvr>
                                    </p:animEffect>
                                  </p:childTnLst>
                                </p:cTn>
                              </p:par>
                            </p:childTnLst>
                          </p:cTn>
                        </p:par>
                        <p:par>
                          <p:cTn id="27" fill="hold">
                            <p:stCondLst>
                              <p:cond delay="1000"/>
                            </p:stCondLst>
                            <p:childTnLst>
                              <p:par>
                                <p:cTn id="28" presetID="4" presetClass="entr" presetSubtype="32" fill="hold" grpId="0" nodeType="afterEffect">
                                  <p:stCondLst>
                                    <p:cond delay="0"/>
                                  </p:stCondLst>
                                  <p:childTnLst>
                                    <p:set>
                                      <p:cBhvr>
                                        <p:cTn id="29" dur="1" fill="hold">
                                          <p:stCondLst>
                                            <p:cond delay="0"/>
                                          </p:stCondLst>
                                        </p:cTn>
                                        <p:tgtEl>
                                          <p:spTgt spid="114692">
                                            <p:txEl>
                                              <p:charRg st="26" end="45"/>
                                            </p:txEl>
                                          </p:spTgt>
                                        </p:tgtEl>
                                        <p:attrNameLst>
                                          <p:attrName>style.visibility</p:attrName>
                                        </p:attrNameLst>
                                      </p:cBhvr>
                                      <p:to>
                                        <p:strVal val="visible"/>
                                      </p:to>
                                    </p:set>
                                    <p:animEffect transition="in" filter="box(out)">
                                      <p:cBhvr>
                                        <p:cTn id="30" dur="500"/>
                                        <p:tgtEl>
                                          <p:spTgt spid="114692">
                                            <p:txEl>
                                              <p:charRg st="26" end="4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14691"/>
                                        </p:tgtEl>
                                        <p:attrNameLst>
                                          <p:attrName>style.visibility</p:attrName>
                                        </p:attrNameLst>
                                      </p:cBhvr>
                                      <p:to>
                                        <p:strVal val="visible"/>
                                      </p:to>
                                    </p:set>
                                    <p:animEffect transition="in" filter="box(out)">
                                      <p:cBhvr>
                                        <p:cTn id="35" dur="500"/>
                                        <p:tgtEl>
                                          <p:spTgt spid="114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build="p"/>
      <p:bldP spid="114691" grpId="0"/>
      <p:bldP spid="114692" grpId="0" advAuto="100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矩形 115713"/>
          <p:cNvSpPr/>
          <p:nvPr/>
        </p:nvSpPr>
        <p:spPr>
          <a:xfrm>
            <a:off x="1042988" y="333375"/>
            <a:ext cx="5761037" cy="641350"/>
          </a:xfrm>
          <a:prstGeom prst="rect">
            <a:avLst/>
          </a:prstGeom>
          <a:noFill/>
          <a:ln w="9525">
            <a:noFill/>
          </a:ln>
        </p:spPr>
        <p:txBody>
          <a:bodyPr>
            <a:spAutoFit/>
          </a:bodyPr>
          <a:p>
            <a:r>
              <a:rPr lang="zh-CN" altLang="en-US" sz="3600" dirty="0">
                <a:solidFill>
                  <a:srgbClr val="0000FF"/>
                </a:solidFill>
                <a:latin typeface="Times New Roman" panose="02020603050405020304" pitchFamily="18" charset="0"/>
                <a:ea typeface="黑体" panose="02010609060101010101" pitchFamily="2" charset="-122"/>
              </a:rPr>
              <a:t>二、行列式计算</a:t>
            </a:r>
            <a:endParaRPr lang="zh-CN" altLang="en-US" sz="3600" dirty="0">
              <a:solidFill>
                <a:srgbClr val="0000FF"/>
              </a:solidFill>
              <a:latin typeface="Times New Roman" panose="02020603050405020304" pitchFamily="18" charset="0"/>
              <a:ea typeface="黑体" panose="02010609060101010101" pitchFamily="2" charset="-122"/>
            </a:endParaRPr>
          </a:p>
        </p:txBody>
      </p:sp>
      <p:sp>
        <p:nvSpPr>
          <p:cNvPr id="115715" name="文本框 115714"/>
          <p:cNvSpPr txBox="1"/>
          <p:nvPr/>
        </p:nvSpPr>
        <p:spPr>
          <a:xfrm>
            <a:off x="868680" y="1050925"/>
            <a:ext cx="7579995" cy="1865630"/>
          </a:xfrm>
          <a:prstGeom prst="rect">
            <a:avLst/>
          </a:prstGeom>
          <a:noFill/>
          <a:ln w="9525">
            <a:noFill/>
          </a:ln>
        </p:spPr>
        <p:txBody>
          <a:bodyPr>
            <a:noAutofit/>
          </a:bodyPr>
          <a:p>
            <a:pPr>
              <a:lnSpc>
                <a:spcPct val="150000"/>
              </a:lnSpc>
            </a:pPr>
            <a:r>
              <a:rPr lang="en-US" altLang="zh-CN" dirty="0">
                <a:latin typeface="Times New Roman" panose="02020603050405020304" pitchFamily="18" charset="0"/>
              </a:rPr>
              <a:t>      </a:t>
            </a:r>
            <a:r>
              <a:rPr lang="zh-CN" altLang="en-US" dirty="0">
                <a:latin typeface="Times New Roman" panose="02020603050405020304" pitchFamily="18" charset="0"/>
              </a:rPr>
              <a:t>计算行列式常用方法</a:t>
            </a:r>
            <a:r>
              <a:rPr lang="en-US" altLang="zh-CN">
                <a:latin typeface="Times New Roman" panose="02020603050405020304" pitchFamily="18" charset="0"/>
              </a:rPr>
              <a:t>: </a:t>
            </a:r>
            <a:r>
              <a:rPr lang="zh-CN" altLang="en-US" dirty="0">
                <a:latin typeface="Times New Roman" panose="02020603050405020304" pitchFamily="18" charset="0"/>
              </a:rPr>
              <a:t>利用性质</a:t>
            </a:r>
            <a:r>
              <a:rPr lang="en-US" altLang="zh-CN">
                <a:latin typeface="Times New Roman" panose="02020603050405020304" pitchFamily="18" charset="0"/>
              </a:rPr>
              <a:t>2,3,5, </a:t>
            </a:r>
            <a:r>
              <a:rPr lang="zh-CN" altLang="en-US" dirty="0">
                <a:latin typeface="Times New Roman" panose="02020603050405020304" pitchFamily="18" charset="0"/>
              </a:rPr>
              <a:t>特别是性质</a:t>
            </a:r>
            <a:r>
              <a:rPr lang="en-US" altLang="zh-CN">
                <a:latin typeface="Times New Roman" panose="02020603050405020304" pitchFamily="18" charset="0"/>
              </a:rPr>
              <a:t>5</a:t>
            </a:r>
            <a:r>
              <a:rPr lang="zh-CN" altLang="en-US">
                <a:latin typeface="Times New Roman" panose="02020603050405020304" pitchFamily="18" charset="0"/>
              </a:rPr>
              <a:t>，</a:t>
            </a:r>
            <a:r>
              <a:rPr lang="zh-CN" altLang="en-US" dirty="0">
                <a:latin typeface="Times New Roman" panose="02020603050405020304" pitchFamily="18" charset="0"/>
              </a:rPr>
              <a:t>把行列式化为</a:t>
            </a:r>
            <a:r>
              <a:rPr lang="zh-CN" altLang="en-US" dirty="0">
                <a:solidFill>
                  <a:srgbClr val="FF0000"/>
                </a:solidFill>
                <a:latin typeface="Times New Roman" panose="02020603050405020304" pitchFamily="18" charset="0"/>
              </a:rPr>
              <a:t>上</a:t>
            </a:r>
            <a:r>
              <a:rPr lang="en-US" altLang="zh-CN">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下</a:t>
            </a:r>
            <a:r>
              <a:rPr lang="en-US" altLang="zh-CN">
                <a:solidFill>
                  <a:srgbClr val="FF0000"/>
                </a:solidFill>
                <a:latin typeface="Times New Roman" panose="02020603050405020304" pitchFamily="18" charset="0"/>
              </a:rPr>
              <a:t>)</a:t>
            </a:r>
            <a:r>
              <a:rPr lang="zh-CN" altLang="en-US" dirty="0">
                <a:solidFill>
                  <a:srgbClr val="FF0000"/>
                </a:solidFill>
                <a:latin typeface="Times New Roman" panose="02020603050405020304" pitchFamily="18" charset="0"/>
              </a:rPr>
              <a:t>三角行列式</a:t>
            </a:r>
            <a:r>
              <a:rPr lang="en-US" altLang="zh-CN">
                <a:latin typeface="Times New Roman" panose="02020603050405020304" pitchFamily="18" charset="0"/>
              </a:rPr>
              <a:t>, </a:t>
            </a:r>
            <a:r>
              <a:rPr lang="zh-CN" altLang="en-US" dirty="0">
                <a:latin typeface="Times New Roman" panose="02020603050405020304" pitchFamily="18" charset="0"/>
              </a:rPr>
              <a:t>从而得到行列式的值．</a:t>
            </a:r>
            <a:endParaRPr lang="zh-CN" altLang="en-US">
              <a:latin typeface="Times New Roman" panose="02020603050405020304" pitchFamily="18" charset="0"/>
            </a:endParaRPr>
          </a:p>
        </p:txBody>
      </p:sp>
      <p:sp>
        <p:nvSpPr>
          <p:cNvPr id="115716" name="文本框 115715"/>
          <p:cNvSpPr txBox="1"/>
          <p:nvPr/>
        </p:nvSpPr>
        <p:spPr>
          <a:xfrm>
            <a:off x="860425" y="3429635"/>
            <a:ext cx="7500620" cy="1578610"/>
          </a:xfrm>
          <a:prstGeom prst="rect">
            <a:avLst/>
          </a:prstGeom>
          <a:noFill/>
          <a:ln w="9525">
            <a:noFill/>
          </a:ln>
        </p:spPr>
        <p:txBody>
          <a:bodyPr wrap="none" anchor="t" anchorCtr="0">
            <a:noAutofit/>
          </a:bodyPr>
          <a:p>
            <a:pPr>
              <a:lnSpc>
                <a:spcPct val="150000"/>
              </a:lnSpc>
            </a:pPr>
            <a:r>
              <a:rPr lang="zh-CN" altLang="en-US" dirty="0">
                <a:solidFill>
                  <a:srgbClr val="FF0000"/>
                </a:solidFill>
                <a:latin typeface="Times New Roman" panose="02020603050405020304" pitchFamily="18" charset="0"/>
              </a:rPr>
              <a:t>结论：上（下）三角行列式、对角行列式的值</a:t>
            </a:r>
            <a:endParaRPr lang="zh-CN" altLang="en-US" dirty="0">
              <a:solidFill>
                <a:srgbClr val="FF0000"/>
              </a:solidFill>
              <a:latin typeface="Times New Roman" panose="02020603050405020304" pitchFamily="18" charset="0"/>
            </a:endParaRPr>
          </a:p>
          <a:p>
            <a:pPr>
              <a:lnSpc>
                <a:spcPct val="150000"/>
              </a:lnSpc>
            </a:pPr>
            <a:r>
              <a:rPr lang="zh-CN" altLang="en-US" dirty="0">
                <a:solidFill>
                  <a:srgbClr val="FF0000"/>
                </a:solidFill>
                <a:latin typeface="Times New Roman" panose="02020603050405020304" pitchFamily="18" charset="0"/>
              </a:rPr>
              <a:t>             都等于其主对角元的乘积</a:t>
            </a:r>
            <a:r>
              <a:rPr lang="en-US" altLang="zh-CN">
                <a:solidFill>
                  <a:srgbClr val="FF0000"/>
                </a:solidFill>
                <a:latin typeface="Times New Roman" panose="02020603050405020304" pitchFamily="18" charset="0"/>
              </a:rPr>
              <a:t>.</a:t>
            </a:r>
            <a:endParaRPr lang="en-US" altLang="zh-CN">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5714">
                                            <p:txEl>
                                              <p:charRg st="0" end="8"/>
                                            </p:txEl>
                                          </p:spTgt>
                                        </p:tgtEl>
                                        <p:attrNameLst>
                                          <p:attrName>style.visibility</p:attrName>
                                        </p:attrNameLst>
                                      </p:cBhvr>
                                      <p:to>
                                        <p:strVal val="visible"/>
                                      </p:to>
                                    </p:set>
                                    <p:animEffect transition="in" filter="box(out)">
                                      <p:cBhvr>
                                        <p:cTn id="7" dur="500"/>
                                        <p:tgtEl>
                                          <p:spTgt spid="115714">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15715">
                                            <p:txEl>
                                              <p:charRg st="0" end="67"/>
                                            </p:txEl>
                                          </p:spTgt>
                                        </p:tgtEl>
                                        <p:attrNameLst>
                                          <p:attrName>style.visibility</p:attrName>
                                        </p:attrNameLst>
                                      </p:cBhvr>
                                      <p:to>
                                        <p:strVal val="visible"/>
                                      </p:to>
                                    </p:set>
                                    <p:animEffect transition="in" filter="box(out)">
                                      <p:cBhvr>
                                        <p:cTn id="12" dur="500"/>
                                        <p:tgtEl>
                                          <p:spTgt spid="115715">
                                            <p:txEl>
                                              <p:charRg st="0" end="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5716"/>
                                        </p:tgtEl>
                                        <p:attrNameLst>
                                          <p:attrName>style.visibility</p:attrName>
                                        </p:attrNameLst>
                                      </p:cBhvr>
                                      <p:to>
                                        <p:strVal val="visible"/>
                                      </p:to>
                                    </p:set>
                                    <p:animEffect transition="in" filter="wipe(left)">
                                      <p:cBhvr>
                                        <p:cTn id="17" dur="500"/>
                                        <p:tgtEl>
                                          <p:spTgt spid="115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build="p"/>
      <p:bldP spid="115715" grpId="0" build="p"/>
      <p:bldP spid="11571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83" name="矩形 156682"/>
          <p:cNvSpPr/>
          <p:nvPr/>
        </p:nvSpPr>
        <p:spPr>
          <a:xfrm>
            <a:off x="755650" y="836930"/>
            <a:ext cx="3979545" cy="521970"/>
          </a:xfrm>
          <a:prstGeom prst="rect">
            <a:avLst/>
          </a:prstGeom>
          <a:noFill/>
          <a:ln w="9525">
            <a:noFill/>
          </a:ln>
        </p:spPr>
        <p:txBody>
          <a:bodyPr wrap="square">
            <a:spAutoFit/>
          </a:bodyPr>
          <a:p>
            <a:pPr>
              <a:spcBef>
                <a:spcPct val="50000"/>
              </a:spcBef>
            </a:pPr>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1.2.</a:t>
            </a:r>
            <a:r>
              <a:rPr lang="en-US" altLang="zh-CN">
                <a:solidFill>
                  <a:srgbClr val="FF0000"/>
                </a:solidFill>
                <a:latin typeface="Times New Roman" panose="02020603050405020304" pitchFamily="18" charset="0"/>
                <a:ea typeface="黑体" panose="02010609060101010101" pitchFamily="2" charset="-122"/>
              </a:rPr>
              <a:t>2:</a:t>
            </a:r>
            <a:r>
              <a:rPr lang="en-US" altLang="zh-CN">
                <a:solidFill>
                  <a:schemeClr val="hlink"/>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计算行列式</a:t>
            </a:r>
            <a:endParaRPr lang="zh-CN" altLang="en-US" dirty="0">
              <a:latin typeface="Times New Roman" panose="02020603050405020304" pitchFamily="18" charset="0"/>
            </a:endParaRPr>
          </a:p>
        </p:txBody>
      </p:sp>
      <p:sp>
        <p:nvSpPr>
          <p:cNvPr id="156684" name="文本框 156683"/>
          <p:cNvSpPr txBox="1"/>
          <p:nvPr/>
        </p:nvSpPr>
        <p:spPr>
          <a:xfrm>
            <a:off x="467360" y="1649095"/>
            <a:ext cx="747395" cy="599440"/>
          </a:xfrm>
          <a:prstGeom prst="rect">
            <a:avLst/>
          </a:prstGeom>
          <a:noFill/>
          <a:ln w="9525">
            <a:noFill/>
          </a:ln>
        </p:spPr>
        <p:txBody>
          <a:bodyPr wrap="none" anchor="t" anchorCtr="0">
            <a:noAutofit/>
          </a:bodyPr>
          <a:p>
            <a:r>
              <a:rPr lang="zh-CN" altLang="en-US" dirty="0">
                <a:solidFill>
                  <a:schemeClr val="hlink"/>
                </a:solidFill>
                <a:latin typeface="Times New Roman" panose="02020603050405020304" pitchFamily="18" charset="0"/>
              </a:rPr>
              <a:t>解</a:t>
            </a:r>
            <a:r>
              <a:rPr lang="en-US" altLang="zh-CN">
                <a:solidFill>
                  <a:schemeClr val="hlink"/>
                </a:solidFill>
                <a:latin typeface="Times New Roman" panose="02020603050405020304" pitchFamily="18" charset="0"/>
              </a:rPr>
              <a:t>:</a:t>
            </a:r>
            <a:r>
              <a:rPr lang="en-US" altLang="zh-CN">
                <a:latin typeface="Times New Roman" panose="02020603050405020304" pitchFamily="18" charset="0"/>
              </a:rPr>
              <a:t> </a:t>
            </a:r>
            <a:endParaRPr lang="en-US" altLang="zh-CN">
              <a:latin typeface="Times New Roman" panose="02020603050405020304" pitchFamily="18" charset="0"/>
            </a:endParaRPr>
          </a:p>
        </p:txBody>
      </p:sp>
      <p:graphicFrame>
        <p:nvGraphicFramePr>
          <p:cNvPr id="2" name="对象 -2147482336"/>
          <p:cNvGraphicFramePr>
            <a:graphicFrameLocks noChangeAspect="1"/>
          </p:cNvGraphicFramePr>
          <p:nvPr/>
        </p:nvGraphicFramePr>
        <p:xfrm>
          <a:off x="4067810" y="131445"/>
          <a:ext cx="2819400" cy="1857375"/>
        </p:xfrm>
        <a:graphic>
          <a:graphicData uri="http://schemas.openxmlformats.org/presentationml/2006/ole">
            <mc:AlternateContent xmlns:mc="http://schemas.openxmlformats.org/markup-compatibility/2006">
              <mc:Choice xmlns:v="urn:schemas-microsoft-com:vml" Requires="v">
                <p:oleObj spid="_x0000_s3076" name="" r:id="rId1" imgW="1384300" imgH="914400" progId="Equation.DSMT4">
                  <p:embed/>
                </p:oleObj>
              </mc:Choice>
              <mc:Fallback>
                <p:oleObj name="" r:id="rId1" imgW="1384300" imgH="914400" progId="Equation.DSMT4">
                  <p:embed/>
                  <p:pic>
                    <p:nvPicPr>
                      <p:cNvPr id="0" name="图片 3075"/>
                      <p:cNvPicPr/>
                      <p:nvPr/>
                    </p:nvPicPr>
                    <p:blipFill>
                      <a:blip r:embed="rId2"/>
                      <a:stretch>
                        <a:fillRect/>
                      </a:stretch>
                    </p:blipFill>
                    <p:spPr>
                      <a:xfrm>
                        <a:off x="4067810" y="131445"/>
                        <a:ext cx="2819400" cy="1857375"/>
                      </a:xfrm>
                      <a:prstGeom prst="rect">
                        <a:avLst/>
                      </a:prstGeom>
                      <a:noFill/>
                      <a:ln w="38100">
                        <a:noFill/>
                        <a:miter/>
                      </a:ln>
                    </p:spPr>
                  </p:pic>
                </p:oleObj>
              </mc:Fallback>
            </mc:AlternateContent>
          </a:graphicData>
        </a:graphic>
      </p:graphicFrame>
      <p:graphicFrame>
        <p:nvGraphicFramePr>
          <p:cNvPr id="3" name="对象 -2147482334"/>
          <p:cNvGraphicFramePr>
            <a:graphicFrameLocks noChangeAspect="1"/>
          </p:cNvGraphicFramePr>
          <p:nvPr/>
        </p:nvGraphicFramePr>
        <p:xfrm>
          <a:off x="467360" y="2115820"/>
          <a:ext cx="8044180" cy="4300855"/>
        </p:xfrm>
        <a:graphic>
          <a:graphicData uri="http://schemas.openxmlformats.org/presentationml/2006/ole">
            <mc:AlternateContent xmlns:mc="http://schemas.openxmlformats.org/markup-compatibility/2006">
              <mc:Choice xmlns:v="urn:schemas-microsoft-com:vml" Requires="v">
                <p:oleObj spid="_x0000_s4" name="" r:id="rId3" imgW="4610100" imgH="2082800" progId="Equation.DSMT4">
                  <p:embed/>
                </p:oleObj>
              </mc:Choice>
              <mc:Fallback>
                <p:oleObj name="" r:id="rId3" imgW="4610100" imgH="2082800" progId="Equation.DSMT4">
                  <p:embed/>
                  <p:pic>
                    <p:nvPicPr>
                      <p:cNvPr id="0" name="图片 1"/>
                      <p:cNvPicPr/>
                      <p:nvPr/>
                    </p:nvPicPr>
                    <p:blipFill>
                      <a:blip r:embed="rId4"/>
                      <a:stretch>
                        <a:fillRect/>
                      </a:stretch>
                    </p:blipFill>
                    <p:spPr>
                      <a:xfrm>
                        <a:off x="467360" y="2115820"/>
                        <a:ext cx="8044180" cy="430085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56683">
                                            <p:txEl>
                                              <p:charRg st="0" end="10"/>
                                            </p:txEl>
                                          </p:spTgt>
                                        </p:tgtEl>
                                        <p:attrNameLst>
                                          <p:attrName>style.visibility</p:attrName>
                                        </p:attrNameLst>
                                      </p:cBhvr>
                                      <p:to>
                                        <p:strVal val="visible"/>
                                      </p:to>
                                    </p:set>
                                    <p:animEffect transition="in" filter="box(out)">
                                      <p:cBhvr>
                                        <p:cTn id="7" dur="500"/>
                                        <p:tgtEl>
                                          <p:spTgt spid="156683">
                                            <p:txEl>
                                              <p:charRg st="0" end="1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156684">
                                            <p:txEl>
                                              <p:charRg st="0" end="5"/>
                                            </p:txEl>
                                          </p:spTgt>
                                        </p:tgtEl>
                                        <p:attrNameLst>
                                          <p:attrName>style.visibility</p:attrName>
                                        </p:attrNameLst>
                                      </p:cBhvr>
                                      <p:to>
                                        <p:strVal val="visible"/>
                                      </p:to>
                                    </p:set>
                                    <p:animEffect transition="in" filter="box(out)">
                                      <p:cBhvr>
                                        <p:cTn id="15" dur="500"/>
                                        <p:tgtEl>
                                          <p:spTgt spid="156684">
                                            <p:txEl>
                                              <p:charRg st="0"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3" grpId="0" advAuto="1000" build="p"/>
      <p:bldP spid="156684"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83" name="矩形 156682"/>
          <p:cNvSpPr/>
          <p:nvPr/>
        </p:nvSpPr>
        <p:spPr>
          <a:xfrm>
            <a:off x="755650" y="836930"/>
            <a:ext cx="3528695" cy="521970"/>
          </a:xfrm>
          <a:prstGeom prst="rect">
            <a:avLst/>
          </a:prstGeom>
          <a:noFill/>
          <a:ln w="9525">
            <a:noFill/>
          </a:ln>
        </p:spPr>
        <p:txBody>
          <a:bodyPr wrap="square">
            <a:spAutoFit/>
          </a:bodyPr>
          <a:p>
            <a:pPr>
              <a:spcBef>
                <a:spcPct val="50000"/>
              </a:spcBef>
            </a:pPr>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1.2.</a:t>
            </a:r>
            <a:r>
              <a:rPr lang="en-US" altLang="zh-CN">
                <a:solidFill>
                  <a:srgbClr val="FF0000"/>
                </a:solidFill>
                <a:latin typeface="Times New Roman" panose="02020603050405020304" pitchFamily="18" charset="0"/>
                <a:ea typeface="黑体" panose="02010609060101010101" pitchFamily="2" charset="-122"/>
              </a:rPr>
              <a:t>3</a:t>
            </a:r>
            <a:r>
              <a:rPr lang="en-US" altLang="zh-CN">
                <a:solidFill>
                  <a:srgbClr val="FF0000"/>
                </a:solidFill>
                <a:latin typeface="Times New Roman" panose="02020603050405020304" pitchFamily="18" charset="0"/>
                <a:ea typeface="黑体" panose="02010609060101010101" pitchFamily="2" charset="-122"/>
              </a:rPr>
              <a:t>:</a:t>
            </a:r>
            <a:r>
              <a:rPr lang="en-US" altLang="zh-CN">
                <a:solidFill>
                  <a:schemeClr val="hlink"/>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计算行列式</a:t>
            </a:r>
            <a:endParaRPr lang="zh-CN" altLang="en-US" dirty="0">
              <a:latin typeface="Times New Roman" panose="02020603050405020304" pitchFamily="18" charset="0"/>
            </a:endParaRPr>
          </a:p>
        </p:txBody>
      </p:sp>
      <p:sp>
        <p:nvSpPr>
          <p:cNvPr id="156684" name="文本框 156683"/>
          <p:cNvSpPr txBox="1"/>
          <p:nvPr/>
        </p:nvSpPr>
        <p:spPr>
          <a:xfrm>
            <a:off x="467360" y="1634490"/>
            <a:ext cx="747395" cy="504825"/>
          </a:xfrm>
          <a:prstGeom prst="rect">
            <a:avLst/>
          </a:prstGeom>
          <a:noFill/>
          <a:ln w="9525">
            <a:noFill/>
          </a:ln>
        </p:spPr>
        <p:txBody>
          <a:bodyPr wrap="none" anchor="t" anchorCtr="0">
            <a:noAutofit/>
          </a:bodyPr>
          <a:p>
            <a:r>
              <a:rPr lang="zh-CN" altLang="en-US" dirty="0">
                <a:solidFill>
                  <a:schemeClr val="hlink"/>
                </a:solidFill>
                <a:latin typeface="Times New Roman" panose="02020603050405020304" pitchFamily="18" charset="0"/>
              </a:rPr>
              <a:t>解</a:t>
            </a:r>
            <a:r>
              <a:rPr lang="en-US" altLang="zh-CN">
                <a:solidFill>
                  <a:schemeClr val="hlink"/>
                </a:solidFill>
                <a:latin typeface="Times New Roman" panose="02020603050405020304" pitchFamily="18" charset="0"/>
              </a:rPr>
              <a:t>:</a:t>
            </a:r>
            <a:r>
              <a:rPr lang="en-US" altLang="zh-CN">
                <a:latin typeface="Times New Roman" panose="02020603050405020304" pitchFamily="18" charset="0"/>
              </a:rPr>
              <a:t> </a:t>
            </a:r>
            <a:endParaRPr lang="en-US" altLang="zh-CN">
              <a:latin typeface="Times New Roman" panose="02020603050405020304" pitchFamily="18" charset="0"/>
            </a:endParaRPr>
          </a:p>
        </p:txBody>
      </p:sp>
      <p:graphicFrame>
        <p:nvGraphicFramePr>
          <p:cNvPr id="2" name="对象 -2147482333"/>
          <p:cNvGraphicFramePr>
            <a:graphicFrameLocks noChangeAspect="1"/>
          </p:cNvGraphicFramePr>
          <p:nvPr/>
        </p:nvGraphicFramePr>
        <p:xfrm>
          <a:off x="4211955" y="260350"/>
          <a:ext cx="2680970" cy="1739265"/>
        </p:xfrm>
        <a:graphic>
          <a:graphicData uri="http://schemas.openxmlformats.org/presentationml/2006/ole">
            <mc:AlternateContent xmlns:mc="http://schemas.openxmlformats.org/markup-compatibility/2006">
              <mc:Choice xmlns:v="urn:schemas-microsoft-com:vml" Requires="v">
                <p:oleObj spid="_x0000_s5" name="" r:id="rId1" imgW="1409700" imgH="914400" progId="Equation.DSMT4">
                  <p:embed/>
                </p:oleObj>
              </mc:Choice>
              <mc:Fallback>
                <p:oleObj name="" r:id="rId1" imgW="1409700" imgH="914400" progId="Equation.DSMT4">
                  <p:embed/>
                  <p:pic>
                    <p:nvPicPr>
                      <p:cNvPr id="0" name="图片 4"/>
                      <p:cNvPicPr/>
                      <p:nvPr/>
                    </p:nvPicPr>
                    <p:blipFill>
                      <a:blip r:embed="rId2"/>
                      <a:stretch>
                        <a:fillRect/>
                      </a:stretch>
                    </p:blipFill>
                    <p:spPr>
                      <a:xfrm>
                        <a:off x="4211955" y="260350"/>
                        <a:ext cx="2680970" cy="1739265"/>
                      </a:xfrm>
                      <a:prstGeom prst="rect">
                        <a:avLst/>
                      </a:prstGeom>
                      <a:noFill/>
                      <a:ln w="38100">
                        <a:noFill/>
                        <a:miter/>
                      </a:ln>
                    </p:spPr>
                  </p:pic>
                </p:oleObj>
              </mc:Fallback>
            </mc:AlternateContent>
          </a:graphicData>
        </a:graphic>
      </p:graphicFrame>
      <p:graphicFrame>
        <p:nvGraphicFramePr>
          <p:cNvPr id="3" name="对象 -2147482332"/>
          <p:cNvGraphicFramePr>
            <a:graphicFrameLocks noChangeAspect="1"/>
          </p:cNvGraphicFramePr>
          <p:nvPr/>
        </p:nvGraphicFramePr>
        <p:xfrm>
          <a:off x="703580" y="2139315"/>
          <a:ext cx="7715250" cy="3865245"/>
        </p:xfrm>
        <a:graphic>
          <a:graphicData uri="http://schemas.openxmlformats.org/presentationml/2006/ole">
            <mc:AlternateContent xmlns:mc="http://schemas.openxmlformats.org/markup-compatibility/2006">
              <mc:Choice xmlns:v="urn:schemas-microsoft-com:vml" Requires="v">
                <p:oleObj spid="_x0000_s6" name="" r:id="rId3" imgW="4749165" imgH="1854200" progId="Equation.DSMT4">
                  <p:embed/>
                </p:oleObj>
              </mc:Choice>
              <mc:Fallback>
                <p:oleObj name="" r:id="rId3" imgW="4749165" imgH="1854200" progId="Equation.DSMT4">
                  <p:embed/>
                  <p:pic>
                    <p:nvPicPr>
                      <p:cNvPr id="0" name="图片 5"/>
                      <p:cNvPicPr/>
                      <p:nvPr/>
                    </p:nvPicPr>
                    <p:blipFill>
                      <a:blip r:embed="rId4"/>
                      <a:stretch>
                        <a:fillRect/>
                      </a:stretch>
                    </p:blipFill>
                    <p:spPr>
                      <a:xfrm>
                        <a:off x="703580" y="2139315"/>
                        <a:ext cx="7715250" cy="386524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6684">
                                            <p:txEl>
                                              <p:charRg st="0" end="5"/>
                                            </p:txEl>
                                          </p:spTgt>
                                        </p:tgtEl>
                                        <p:attrNameLst>
                                          <p:attrName>style.visibility</p:attrName>
                                        </p:attrNameLst>
                                      </p:cBhvr>
                                      <p:to>
                                        <p:strVal val="visible"/>
                                      </p:to>
                                    </p:set>
                                    <p:animEffect transition="in" filter="box(out)">
                                      <p:cBhvr>
                                        <p:cTn id="7" dur="500"/>
                                        <p:tgtEl>
                                          <p:spTgt spid="156684">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4"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83" name="矩形 156682"/>
          <p:cNvSpPr/>
          <p:nvPr/>
        </p:nvSpPr>
        <p:spPr>
          <a:xfrm>
            <a:off x="908685" y="1077595"/>
            <a:ext cx="3249295" cy="626745"/>
          </a:xfrm>
          <a:prstGeom prst="rect">
            <a:avLst/>
          </a:prstGeom>
          <a:noFill/>
          <a:ln w="9525">
            <a:noFill/>
          </a:ln>
        </p:spPr>
        <p:txBody>
          <a:bodyPr>
            <a:noAutofit/>
          </a:bodyPr>
          <a:p>
            <a:pPr>
              <a:spcBef>
                <a:spcPct val="50000"/>
              </a:spcBef>
            </a:pPr>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1.2</a:t>
            </a:r>
            <a:r>
              <a:rPr lang="en-US" altLang="zh-CN">
                <a:solidFill>
                  <a:srgbClr val="FF0000"/>
                </a:solidFill>
                <a:latin typeface="Times New Roman" panose="02020603050405020304" pitchFamily="18" charset="0"/>
                <a:ea typeface="黑体" panose="02010609060101010101" pitchFamily="2" charset="-122"/>
              </a:rPr>
              <a:t>4</a:t>
            </a:r>
            <a:r>
              <a:rPr lang="en-US" altLang="zh-CN">
                <a:solidFill>
                  <a:srgbClr val="FF0000"/>
                </a:solidFill>
                <a:latin typeface="Times New Roman" panose="02020603050405020304" pitchFamily="18" charset="0"/>
                <a:ea typeface="黑体" panose="02010609060101010101" pitchFamily="2" charset="-122"/>
              </a:rPr>
              <a:t>:</a:t>
            </a:r>
            <a:r>
              <a:rPr lang="en-US" altLang="zh-CN">
                <a:solidFill>
                  <a:schemeClr val="hlink"/>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计算行列式</a:t>
            </a:r>
            <a:endParaRPr lang="zh-CN" altLang="en-US" dirty="0">
              <a:latin typeface="Times New Roman" panose="02020603050405020304" pitchFamily="18" charset="0"/>
            </a:endParaRPr>
          </a:p>
        </p:txBody>
      </p:sp>
      <p:sp>
        <p:nvSpPr>
          <p:cNvPr id="156684" name="文本框 156683"/>
          <p:cNvSpPr txBox="1"/>
          <p:nvPr/>
        </p:nvSpPr>
        <p:spPr>
          <a:xfrm>
            <a:off x="789305" y="2282825"/>
            <a:ext cx="5956935" cy="661670"/>
          </a:xfrm>
          <a:prstGeom prst="rect">
            <a:avLst/>
          </a:prstGeom>
          <a:noFill/>
          <a:ln w="9525">
            <a:noFill/>
          </a:ln>
        </p:spPr>
        <p:txBody>
          <a:bodyPr wrap="square" anchor="t" anchorCtr="0">
            <a:noAutofit/>
          </a:bodyPr>
          <a:p>
            <a:r>
              <a:rPr lang="zh-CN" altLang="en-US" dirty="0">
                <a:solidFill>
                  <a:schemeClr val="hlink"/>
                </a:solidFill>
                <a:latin typeface="Times New Roman" panose="02020603050405020304" pitchFamily="18" charset="0"/>
              </a:rPr>
              <a:t>解</a:t>
            </a:r>
            <a:r>
              <a:rPr lang="en-US" altLang="zh-CN">
                <a:solidFill>
                  <a:schemeClr val="hlink"/>
                </a:solidFill>
                <a:latin typeface="Times New Roman" panose="02020603050405020304" pitchFamily="18" charset="0"/>
              </a:rPr>
              <a:t>:</a:t>
            </a:r>
            <a:r>
              <a:rPr lang="zh-CN" altLang="en-US">
                <a:latin typeface="Times New Roman" panose="02020603050405020304" pitchFamily="18" charset="0"/>
              </a:rPr>
              <a:t>将第</a:t>
            </a:r>
            <a:r>
              <a:rPr lang="en-US" altLang="zh-CN">
                <a:latin typeface="Times New Roman" panose="02020603050405020304" pitchFamily="18" charset="0"/>
              </a:rPr>
              <a:t>2</a:t>
            </a:r>
            <a:r>
              <a:rPr lang="zh-CN" altLang="en-US">
                <a:latin typeface="Times New Roman" panose="02020603050405020304" pitchFamily="18" charset="0"/>
              </a:rPr>
              <a:t>、</a:t>
            </a:r>
            <a:r>
              <a:rPr lang="en-US" altLang="zh-CN">
                <a:latin typeface="Times New Roman" panose="02020603050405020304" pitchFamily="18" charset="0"/>
              </a:rPr>
              <a:t>3</a:t>
            </a:r>
            <a:r>
              <a:rPr lang="zh-CN" altLang="en-US">
                <a:latin typeface="Times New Roman" panose="02020603050405020304" pitchFamily="18" charset="0"/>
              </a:rPr>
              <a:t>、</a:t>
            </a:r>
            <a:r>
              <a:rPr lang="en-US" altLang="zh-CN">
                <a:latin typeface="Times New Roman" panose="02020603050405020304" pitchFamily="18" charset="0"/>
              </a:rPr>
              <a:t>4</a:t>
            </a:r>
            <a:r>
              <a:rPr lang="zh-CN" altLang="en-US">
                <a:latin typeface="Times New Roman" panose="02020603050405020304" pitchFamily="18" charset="0"/>
              </a:rPr>
              <a:t>列加到第一列，有</a:t>
            </a:r>
            <a:r>
              <a:rPr lang="en-US" altLang="zh-CN">
                <a:latin typeface="Times New Roman" panose="02020603050405020304" pitchFamily="18" charset="0"/>
              </a:rPr>
              <a:t> </a:t>
            </a:r>
            <a:endParaRPr lang="en-US" altLang="zh-CN">
              <a:latin typeface="Times New Roman" panose="02020603050405020304" pitchFamily="18" charset="0"/>
            </a:endParaRPr>
          </a:p>
        </p:txBody>
      </p:sp>
      <p:graphicFrame>
        <p:nvGraphicFramePr>
          <p:cNvPr id="2" name="对象 -2147482331"/>
          <p:cNvGraphicFramePr>
            <a:graphicFrameLocks noChangeAspect="1"/>
          </p:cNvGraphicFramePr>
          <p:nvPr/>
        </p:nvGraphicFramePr>
        <p:xfrm>
          <a:off x="4029710" y="390525"/>
          <a:ext cx="2432685" cy="1892300"/>
        </p:xfrm>
        <a:graphic>
          <a:graphicData uri="http://schemas.openxmlformats.org/presentationml/2006/ole">
            <mc:AlternateContent xmlns:mc="http://schemas.openxmlformats.org/markup-compatibility/2006">
              <mc:Choice xmlns:v="urn:schemas-microsoft-com:vml" Requires="v">
                <p:oleObj spid="_x0000_s3076" name="" r:id="rId1" imgW="1066800" imgH="914400" progId="Equation.DSMT4">
                  <p:embed/>
                </p:oleObj>
              </mc:Choice>
              <mc:Fallback>
                <p:oleObj name="" r:id="rId1" imgW="1066800" imgH="914400" progId="Equation.DSMT4">
                  <p:embed/>
                  <p:pic>
                    <p:nvPicPr>
                      <p:cNvPr id="0" name="图片 3075"/>
                      <p:cNvPicPr/>
                      <p:nvPr/>
                    </p:nvPicPr>
                    <p:blipFill>
                      <a:blip r:embed="rId2"/>
                      <a:stretch>
                        <a:fillRect/>
                      </a:stretch>
                    </p:blipFill>
                    <p:spPr>
                      <a:xfrm>
                        <a:off x="4029710" y="390525"/>
                        <a:ext cx="2432685" cy="1892300"/>
                      </a:xfrm>
                      <a:prstGeom prst="rect">
                        <a:avLst/>
                      </a:prstGeom>
                      <a:noFill/>
                      <a:ln w="38100">
                        <a:noFill/>
                        <a:miter/>
                      </a:ln>
                    </p:spPr>
                  </p:pic>
                </p:oleObj>
              </mc:Fallback>
            </mc:AlternateContent>
          </a:graphicData>
        </a:graphic>
      </p:graphicFrame>
      <p:graphicFrame>
        <p:nvGraphicFramePr>
          <p:cNvPr id="3" name="对象 -2147482330"/>
          <p:cNvGraphicFramePr>
            <a:graphicFrameLocks noChangeAspect="1"/>
          </p:cNvGraphicFramePr>
          <p:nvPr/>
        </p:nvGraphicFramePr>
        <p:xfrm>
          <a:off x="853440" y="2893060"/>
          <a:ext cx="7512685" cy="2889885"/>
        </p:xfrm>
        <a:graphic>
          <a:graphicData uri="http://schemas.openxmlformats.org/presentationml/2006/ole">
            <mc:AlternateContent xmlns:mc="http://schemas.openxmlformats.org/markup-compatibility/2006">
              <mc:Choice xmlns:v="urn:schemas-microsoft-com:vml" Requires="v">
                <p:oleObj spid="_x0000_s4" name="" r:id="rId3" imgW="3530600" imgH="1193800" progId="Equation.DSMT4">
                  <p:embed/>
                </p:oleObj>
              </mc:Choice>
              <mc:Fallback>
                <p:oleObj name="" r:id="rId3" imgW="3530600" imgH="1193800" progId="Equation.DSMT4">
                  <p:embed/>
                  <p:pic>
                    <p:nvPicPr>
                      <p:cNvPr id="0" name="图片 3"/>
                      <p:cNvPicPr/>
                      <p:nvPr/>
                    </p:nvPicPr>
                    <p:blipFill>
                      <a:blip r:embed="rId4"/>
                      <a:stretch>
                        <a:fillRect/>
                      </a:stretch>
                    </p:blipFill>
                    <p:spPr>
                      <a:xfrm>
                        <a:off x="853440" y="2893060"/>
                        <a:ext cx="7512685" cy="288988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6684">
                                            <p:txEl>
                                              <p:charRg st="0" end="5"/>
                                            </p:txEl>
                                          </p:spTgt>
                                        </p:tgtEl>
                                        <p:attrNameLst>
                                          <p:attrName>style.visibility</p:attrName>
                                        </p:attrNameLst>
                                      </p:cBhvr>
                                      <p:to>
                                        <p:strVal val="visible"/>
                                      </p:to>
                                    </p:set>
                                    <p:animEffect transition="in" filter="box(out)">
                                      <p:cBhvr>
                                        <p:cTn id="7" dur="500"/>
                                        <p:tgtEl>
                                          <p:spTgt spid="156684">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4"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83" name="矩形 156682"/>
          <p:cNvSpPr/>
          <p:nvPr/>
        </p:nvSpPr>
        <p:spPr>
          <a:xfrm>
            <a:off x="755650" y="839470"/>
            <a:ext cx="3808730" cy="519430"/>
          </a:xfrm>
          <a:prstGeom prst="rect">
            <a:avLst/>
          </a:prstGeom>
          <a:noFill/>
          <a:ln w="9525">
            <a:noFill/>
          </a:ln>
        </p:spPr>
        <p:txBody>
          <a:bodyPr wrap="square">
            <a:noAutofit/>
          </a:bodyPr>
          <a:p>
            <a:pPr>
              <a:spcBef>
                <a:spcPct val="50000"/>
              </a:spcBef>
            </a:pPr>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1.2.</a:t>
            </a:r>
            <a:r>
              <a:rPr lang="en-US" altLang="zh-CN">
                <a:solidFill>
                  <a:srgbClr val="FF0000"/>
                </a:solidFill>
                <a:latin typeface="Times New Roman" panose="02020603050405020304" pitchFamily="18" charset="0"/>
                <a:ea typeface="黑体" panose="02010609060101010101" pitchFamily="2" charset="-122"/>
              </a:rPr>
              <a:t>5:</a:t>
            </a:r>
            <a:r>
              <a:rPr lang="en-US" altLang="zh-CN">
                <a:solidFill>
                  <a:schemeClr val="hlink"/>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计算</a:t>
            </a:r>
            <a:r>
              <a:rPr lang="en-US" altLang="zh-CN" i="1" dirty="0">
                <a:latin typeface="Times New Roman" panose="02020603050405020304" pitchFamily="18" charset="0"/>
              </a:rPr>
              <a:t>n</a:t>
            </a:r>
            <a:r>
              <a:rPr lang="zh-CN" altLang="en-US" dirty="0">
                <a:latin typeface="Times New Roman" panose="02020603050405020304" pitchFamily="18" charset="0"/>
              </a:rPr>
              <a:t>阶行列式</a:t>
            </a:r>
            <a:endParaRPr lang="zh-CN" altLang="en-US" dirty="0">
              <a:latin typeface="Times New Roman" panose="02020603050405020304" pitchFamily="18" charset="0"/>
            </a:endParaRPr>
          </a:p>
        </p:txBody>
      </p:sp>
      <p:sp>
        <p:nvSpPr>
          <p:cNvPr id="156684" name="文本框 156683"/>
          <p:cNvSpPr txBox="1"/>
          <p:nvPr/>
        </p:nvSpPr>
        <p:spPr>
          <a:xfrm>
            <a:off x="467360" y="1988503"/>
            <a:ext cx="7552055" cy="521970"/>
          </a:xfrm>
          <a:prstGeom prst="rect">
            <a:avLst/>
          </a:prstGeom>
          <a:noFill/>
          <a:ln w="9525">
            <a:noFill/>
          </a:ln>
        </p:spPr>
        <p:txBody>
          <a:bodyPr wrap="none" anchor="t" anchorCtr="0">
            <a:spAutoFit/>
          </a:bodyPr>
          <a:p>
            <a:r>
              <a:rPr lang="zh-CN" altLang="en-US" dirty="0">
                <a:solidFill>
                  <a:schemeClr val="hlink"/>
                </a:solidFill>
                <a:latin typeface="Times New Roman" panose="02020603050405020304" pitchFamily="18" charset="0"/>
              </a:rPr>
              <a:t>解</a:t>
            </a:r>
            <a:r>
              <a:rPr lang="en-US" altLang="zh-CN">
                <a:solidFill>
                  <a:schemeClr val="hlink"/>
                </a:solidFill>
                <a:latin typeface="Times New Roman" panose="02020603050405020304" pitchFamily="18" charset="0"/>
              </a:rPr>
              <a:t>:</a:t>
            </a:r>
            <a:r>
              <a:rPr lang="zh-CN" altLang="en-US">
                <a:solidFill>
                  <a:srgbClr val="FF0000"/>
                </a:solidFill>
                <a:latin typeface="Times New Roman" panose="02020603050405020304" pitchFamily="18" charset="0"/>
              </a:rPr>
              <a:t>方法</a:t>
            </a:r>
            <a:r>
              <a:rPr lang="en-US" altLang="zh-CN">
                <a:solidFill>
                  <a:srgbClr val="FF0000"/>
                </a:solidFill>
                <a:latin typeface="Times New Roman" panose="02020603050405020304" pitchFamily="18" charset="0"/>
              </a:rPr>
              <a:t>1</a:t>
            </a:r>
            <a:r>
              <a:rPr lang="zh-CN" altLang="en-US">
                <a:solidFill>
                  <a:srgbClr val="FF0000"/>
                </a:solidFill>
                <a:latin typeface="Times New Roman" panose="02020603050405020304" pitchFamily="18" charset="0"/>
              </a:rPr>
              <a:t>：</a:t>
            </a:r>
            <a:r>
              <a:rPr lang="zh-CN" altLang="en-US">
                <a:latin typeface="Times New Roman" panose="02020603050405020304" pitchFamily="18" charset="0"/>
              </a:rPr>
              <a:t>将第</a:t>
            </a:r>
            <a:r>
              <a:rPr lang="en-US" altLang="zh-CN">
                <a:latin typeface="Times New Roman" panose="02020603050405020304" pitchFamily="18" charset="0"/>
              </a:rPr>
              <a:t>2,3,...,n</a:t>
            </a:r>
            <a:r>
              <a:rPr lang="zh-CN" altLang="en-US">
                <a:latin typeface="Times New Roman" panose="02020603050405020304" pitchFamily="18" charset="0"/>
              </a:rPr>
              <a:t>列依次都加到第</a:t>
            </a:r>
            <a:r>
              <a:rPr lang="en-US" altLang="zh-CN">
                <a:latin typeface="Times New Roman" panose="02020603050405020304" pitchFamily="18" charset="0"/>
              </a:rPr>
              <a:t>1</a:t>
            </a:r>
            <a:r>
              <a:rPr lang="zh-CN" altLang="en-US">
                <a:latin typeface="Times New Roman" panose="02020603050405020304" pitchFamily="18" charset="0"/>
              </a:rPr>
              <a:t>列，得</a:t>
            </a:r>
            <a:r>
              <a:rPr lang="en-US" altLang="zh-CN">
                <a:latin typeface="Times New Roman" panose="02020603050405020304" pitchFamily="18" charset="0"/>
              </a:rPr>
              <a:t> </a:t>
            </a:r>
            <a:endParaRPr lang="en-US" altLang="zh-CN">
              <a:latin typeface="Times New Roman" panose="02020603050405020304" pitchFamily="18" charset="0"/>
            </a:endParaRPr>
          </a:p>
        </p:txBody>
      </p:sp>
      <p:graphicFrame>
        <p:nvGraphicFramePr>
          <p:cNvPr id="2" name="对象 -2147482326"/>
          <p:cNvGraphicFramePr>
            <a:graphicFrameLocks noChangeAspect="1"/>
          </p:cNvGraphicFramePr>
          <p:nvPr/>
        </p:nvGraphicFramePr>
        <p:xfrm>
          <a:off x="4500245" y="145415"/>
          <a:ext cx="2522855" cy="1842770"/>
        </p:xfrm>
        <a:graphic>
          <a:graphicData uri="http://schemas.openxmlformats.org/presentationml/2006/ole">
            <mc:AlternateContent xmlns:mc="http://schemas.openxmlformats.org/markup-compatibility/2006">
              <mc:Choice xmlns:v="urn:schemas-microsoft-com:vml" Requires="v">
                <p:oleObj spid="_x0000_s7" name="" r:id="rId1" imgW="1231265" imgH="914400" progId="Equation.DSMT4">
                  <p:embed/>
                </p:oleObj>
              </mc:Choice>
              <mc:Fallback>
                <p:oleObj name="" r:id="rId1" imgW="1231265" imgH="914400" progId="Equation.DSMT4">
                  <p:embed/>
                  <p:pic>
                    <p:nvPicPr>
                      <p:cNvPr id="0" name="图片 6"/>
                      <p:cNvPicPr/>
                      <p:nvPr/>
                    </p:nvPicPr>
                    <p:blipFill>
                      <a:blip r:embed="rId2"/>
                      <a:stretch>
                        <a:fillRect/>
                      </a:stretch>
                    </p:blipFill>
                    <p:spPr>
                      <a:xfrm>
                        <a:off x="4500245" y="145415"/>
                        <a:ext cx="2522855" cy="1842770"/>
                      </a:xfrm>
                      <a:prstGeom prst="rect">
                        <a:avLst/>
                      </a:prstGeom>
                      <a:noFill/>
                      <a:ln w="38100">
                        <a:noFill/>
                        <a:miter/>
                      </a:ln>
                    </p:spPr>
                  </p:pic>
                </p:oleObj>
              </mc:Fallback>
            </mc:AlternateContent>
          </a:graphicData>
        </a:graphic>
      </p:graphicFrame>
      <p:graphicFrame>
        <p:nvGraphicFramePr>
          <p:cNvPr id="3" name="对象 -2147482324"/>
          <p:cNvGraphicFramePr>
            <a:graphicFrameLocks noChangeAspect="1"/>
          </p:cNvGraphicFramePr>
          <p:nvPr/>
        </p:nvGraphicFramePr>
        <p:xfrm>
          <a:off x="805180" y="2510790"/>
          <a:ext cx="6842125" cy="1853565"/>
        </p:xfrm>
        <a:graphic>
          <a:graphicData uri="http://schemas.openxmlformats.org/presentationml/2006/ole">
            <mc:AlternateContent xmlns:mc="http://schemas.openxmlformats.org/markup-compatibility/2006">
              <mc:Choice xmlns:v="urn:schemas-microsoft-com:vml" Requires="v">
                <p:oleObj spid="_x0000_s8" name="" r:id="rId3" imgW="3568700" imgH="914400" progId="Equation.DSMT4">
                  <p:embed/>
                </p:oleObj>
              </mc:Choice>
              <mc:Fallback>
                <p:oleObj name="" r:id="rId3" imgW="3568700" imgH="914400" progId="Equation.DSMT4">
                  <p:embed/>
                  <p:pic>
                    <p:nvPicPr>
                      <p:cNvPr id="0" name="图片 7"/>
                      <p:cNvPicPr/>
                      <p:nvPr/>
                    </p:nvPicPr>
                    <p:blipFill>
                      <a:blip r:embed="rId4"/>
                      <a:stretch>
                        <a:fillRect/>
                      </a:stretch>
                    </p:blipFill>
                    <p:spPr>
                      <a:xfrm>
                        <a:off x="805180" y="2510790"/>
                        <a:ext cx="6842125" cy="1853565"/>
                      </a:xfrm>
                      <a:prstGeom prst="rect">
                        <a:avLst/>
                      </a:prstGeom>
                      <a:noFill/>
                      <a:ln w="38100">
                        <a:noFill/>
                        <a:miter/>
                      </a:ln>
                    </p:spPr>
                  </p:pic>
                </p:oleObj>
              </mc:Fallback>
            </mc:AlternateContent>
          </a:graphicData>
        </a:graphic>
      </p:graphicFrame>
      <p:graphicFrame>
        <p:nvGraphicFramePr>
          <p:cNvPr id="4" name="对象 -2147482323"/>
          <p:cNvGraphicFramePr/>
          <p:nvPr/>
        </p:nvGraphicFramePr>
        <p:xfrm>
          <a:off x="795655" y="4420235"/>
          <a:ext cx="7289800" cy="1964055"/>
        </p:xfrm>
        <a:graphic>
          <a:graphicData uri="http://schemas.openxmlformats.org/presentationml/2006/ole">
            <mc:AlternateContent xmlns:mc="http://schemas.openxmlformats.org/markup-compatibility/2006">
              <mc:Choice xmlns:v="urn:schemas-microsoft-com:vml" Requires="v">
                <p:oleObj spid="_x0000_s9" name="" r:id="rId5" imgW="4495800" imgH="914400" progId="Equation.DSMT4">
                  <p:embed/>
                </p:oleObj>
              </mc:Choice>
              <mc:Fallback>
                <p:oleObj name="" r:id="rId5" imgW="4495800" imgH="914400" progId="Equation.DSMT4">
                  <p:embed/>
                  <p:pic>
                    <p:nvPicPr>
                      <p:cNvPr id="0" name="图片 8"/>
                      <p:cNvPicPr/>
                      <p:nvPr/>
                    </p:nvPicPr>
                    <p:blipFill>
                      <a:blip r:embed="rId6"/>
                      <a:stretch>
                        <a:fillRect/>
                      </a:stretch>
                    </p:blipFill>
                    <p:spPr>
                      <a:xfrm>
                        <a:off x="795655" y="4420235"/>
                        <a:ext cx="7289800" cy="196405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6684">
                                            <p:txEl>
                                              <p:charRg st="0" end="5"/>
                                            </p:txEl>
                                          </p:spTgt>
                                        </p:tgtEl>
                                        <p:attrNameLst>
                                          <p:attrName>style.visibility</p:attrName>
                                        </p:attrNameLst>
                                      </p:cBhvr>
                                      <p:to>
                                        <p:strVal val="visible"/>
                                      </p:to>
                                    </p:set>
                                    <p:animEffect transition="in" filter="box(out)">
                                      <p:cBhvr>
                                        <p:cTn id="7" dur="500"/>
                                        <p:tgtEl>
                                          <p:spTgt spid="156684">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84"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39115" y="290195"/>
            <a:ext cx="7132320" cy="657225"/>
          </a:xfrm>
          <a:prstGeom prst="rect">
            <a:avLst/>
          </a:prstGeom>
          <a:noFill/>
        </p:spPr>
        <p:txBody>
          <a:bodyPr wrap="square" rtlCol="0" anchor="t">
            <a:noAutofit/>
          </a:bodyPr>
          <a:p>
            <a:r>
              <a:rPr lang="zh-CN" altLang="en-US">
                <a:solidFill>
                  <a:srgbClr val="FF0000"/>
                </a:solidFill>
                <a:sym typeface="+mn-ea"/>
              </a:rPr>
              <a:t>方法</a:t>
            </a:r>
            <a:r>
              <a:rPr lang="en-US" altLang="zh-CN">
                <a:solidFill>
                  <a:srgbClr val="FF0000"/>
                </a:solidFill>
                <a:sym typeface="+mn-ea"/>
              </a:rPr>
              <a:t>2</a:t>
            </a:r>
            <a:r>
              <a:rPr lang="zh-CN" altLang="en-US">
                <a:solidFill>
                  <a:srgbClr val="FF0000"/>
                </a:solidFill>
                <a:sym typeface="+mn-ea"/>
              </a:rPr>
              <a:t>：</a:t>
            </a:r>
            <a:r>
              <a:rPr lang="zh-CN" altLang="en-US">
                <a:sym typeface="+mn-ea"/>
              </a:rPr>
              <a:t>先将第</a:t>
            </a:r>
            <a:r>
              <a:rPr lang="en-US" altLang="zh-CN">
                <a:sym typeface="+mn-ea"/>
              </a:rPr>
              <a:t>2,3,...,n</a:t>
            </a:r>
            <a:r>
              <a:rPr lang="zh-CN" altLang="en-US">
                <a:sym typeface="+mn-ea"/>
              </a:rPr>
              <a:t>行都减去第</a:t>
            </a:r>
            <a:r>
              <a:rPr lang="en-US" altLang="zh-CN">
                <a:sym typeface="+mn-ea"/>
              </a:rPr>
              <a:t>1</a:t>
            </a:r>
            <a:r>
              <a:rPr lang="zh-CN" altLang="en-US">
                <a:sym typeface="+mn-ea"/>
              </a:rPr>
              <a:t>行，得</a:t>
            </a:r>
            <a:endParaRPr lang="zh-CN" altLang="en-US">
              <a:sym typeface="+mn-ea"/>
            </a:endParaRPr>
          </a:p>
        </p:txBody>
      </p:sp>
      <p:graphicFrame>
        <p:nvGraphicFramePr>
          <p:cNvPr id="3" name="对象 -2147482321"/>
          <p:cNvGraphicFramePr>
            <a:graphicFrameLocks noChangeAspect="1"/>
          </p:cNvGraphicFramePr>
          <p:nvPr/>
        </p:nvGraphicFramePr>
        <p:xfrm>
          <a:off x="1356995" y="753110"/>
          <a:ext cx="6643370" cy="5697220"/>
        </p:xfrm>
        <a:graphic>
          <a:graphicData uri="http://schemas.openxmlformats.org/presentationml/2006/ole">
            <mc:AlternateContent xmlns:mc="http://schemas.openxmlformats.org/markup-compatibility/2006">
              <mc:Choice xmlns:v="urn:schemas-microsoft-com:vml" Requires="v">
                <p:oleObj spid="_x0000_s3076" name="" r:id="rId1" imgW="2806700" imgH="2336800" progId="Equation.DSMT4">
                  <p:embed/>
                </p:oleObj>
              </mc:Choice>
              <mc:Fallback>
                <p:oleObj name="" r:id="rId1" imgW="2806700" imgH="2336800" progId="Equation.DSMT4">
                  <p:embed/>
                  <p:pic>
                    <p:nvPicPr>
                      <p:cNvPr id="0" name="图片 3075"/>
                      <p:cNvPicPr/>
                      <p:nvPr/>
                    </p:nvPicPr>
                    <p:blipFill>
                      <a:blip r:embed="rId2"/>
                      <a:stretch>
                        <a:fillRect/>
                      </a:stretch>
                    </p:blipFill>
                    <p:spPr>
                      <a:xfrm>
                        <a:off x="1356995" y="753110"/>
                        <a:ext cx="6643370" cy="569722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文本框 133121"/>
          <p:cNvSpPr txBox="1"/>
          <p:nvPr/>
        </p:nvSpPr>
        <p:spPr>
          <a:xfrm>
            <a:off x="250825" y="760095"/>
            <a:ext cx="8893175" cy="2382520"/>
          </a:xfrm>
          <a:prstGeom prst="rect">
            <a:avLst/>
          </a:prstGeom>
          <a:noFill/>
          <a:ln w="9525">
            <a:noFill/>
          </a:ln>
        </p:spPr>
        <p:txBody>
          <a:bodyPr>
            <a:noAutofit/>
          </a:bodyPr>
          <a:p>
            <a:pPr>
              <a:lnSpc>
                <a:spcPct val="110000"/>
              </a:lnSpc>
            </a:pPr>
            <a:r>
              <a:rPr lang="en-US" altLang="zh-CN" dirty="0">
                <a:solidFill>
                  <a:srgbClr val="FF0000"/>
                </a:solidFill>
                <a:latin typeface="Times New Roman" panose="02020603050405020304" pitchFamily="18" charset="0"/>
              </a:rPr>
              <a:t>    1.</a:t>
            </a:r>
            <a:r>
              <a:rPr lang="zh-CN" altLang="en-US" dirty="0">
                <a:solidFill>
                  <a:srgbClr val="FF0000"/>
                </a:solidFill>
                <a:latin typeface="Times New Roman" panose="02020603050405020304" pitchFamily="18" charset="0"/>
              </a:rPr>
              <a:t>行列式的</a:t>
            </a:r>
            <a:r>
              <a:rPr lang="en-US" altLang="zh-CN">
                <a:solidFill>
                  <a:srgbClr val="FF0000"/>
                </a:solidFill>
                <a:latin typeface="Times New Roman" panose="02020603050405020304" pitchFamily="18" charset="0"/>
              </a:rPr>
              <a:t>5</a:t>
            </a:r>
            <a:r>
              <a:rPr lang="zh-CN" altLang="en-US" dirty="0">
                <a:solidFill>
                  <a:srgbClr val="FF0000"/>
                </a:solidFill>
                <a:latin typeface="Times New Roman" panose="02020603050405020304" pitchFamily="18" charset="0"/>
              </a:rPr>
              <a:t>个性质及推论</a:t>
            </a:r>
            <a:r>
              <a:rPr lang="en-US" altLang="zh-CN">
                <a:latin typeface="Times New Roman" panose="02020603050405020304" pitchFamily="18" charset="0"/>
              </a:rPr>
              <a:t>. </a:t>
            </a:r>
            <a:r>
              <a:rPr lang="zh-CN" altLang="en-US" dirty="0">
                <a:latin typeface="Times New Roman" panose="02020603050405020304" pitchFamily="18" charset="0"/>
              </a:rPr>
              <a:t>行列式中行与列具有同等的地位</a:t>
            </a:r>
            <a:r>
              <a:rPr lang="en-US" altLang="zh-CN">
                <a:latin typeface="Times New Roman" panose="02020603050405020304" pitchFamily="18" charset="0"/>
              </a:rPr>
              <a:t>, </a:t>
            </a:r>
            <a:r>
              <a:rPr lang="zh-CN" altLang="en-US" dirty="0">
                <a:latin typeface="Times New Roman" panose="02020603050405020304" pitchFamily="18" charset="0"/>
              </a:rPr>
              <a:t>行列式的性质中凡是对行成立的结论对列也同样成立</a:t>
            </a:r>
            <a:r>
              <a:rPr lang="en-US" altLang="zh-CN">
                <a:latin typeface="Times New Roman" panose="02020603050405020304" pitchFamily="18" charset="0"/>
              </a:rPr>
              <a:t>.</a:t>
            </a:r>
            <a:endParaRPr lang="en-US" altLang="zh-CN">
              <a:latin typeface="Times New Roman" panose="02020603050405020304" pitchFamily="18" charset="0"/>
            </a:endParaRPr>
          </a:p>
          <a:p>
            <a:pPr>
              <a:lnSpc>
                <a:spcPct val="110000"/>
              </a:lnSpc>
            </a:pPr>
            <a:r>
              <a:rPr lang="en-US" altLang="zh-CN" dirty="0">
                <a:solidFill>
                  <a:srgbClr val="FF0000"/>
                </a:solidFill>
                <a:latin typeface="Times New Roman" panose="02020603050405020304" pitchFamily="18" charset="0"/>
              </a:rPr>
              <a:t>    2.</a:t>
            </a:r>
            <a:r>
              <a:rPr lang="zh-CN" altLang="en-US" dirty="0">
                <a:solidFill>
                  <a:srgbClr val="FF0000"/>
                </a:solidFill>
                <a:latin typeface="Times New Roman" panose="02020603050405020304" pitchFamily="18" charset="0"/>
              </a:rPr>
              <a:t>计算行列式常用方法</a:t>
            </a:r>
            <a:r>
              <a:rPr lang="en-US" altLang="zh-CN">
                <a:latin typeface="Times New Roman" panose="02020603050405020304" pitchFamily="18" charset="0"/>
              </a:rPr>
              <a:t>: (1)</a:t>
            </a:r>
            <a:r>
              <a:rPr lang="zh-CN" altLang="en-US" dirty="0">
                <a:latin typeface="Times New Roman" panose="02020603050405020304" pitchFamily="18" charset="0"/>
              </a:rPr>
              <a:t>利用定义</a:t>
            </a:r>
            <a:r>
              <a:rPr lang="en-US" altLang="zh-CN">
                <a:latin typeface="Times New Roman" panose="02020603050405020304" pitchFamily="18" charset="0"/>
              </a:rPr>
              <a:t>; (2)</a:t>
            </a:r>
            <a:r>
              <a:rPr lang="zh-CN" altLang="en-US" dirty="0">
                <a:latin typeface="Times New Roman" panose="02020603050405020304" pitchFamily="18" charset="0"/>
              </a:rPr>
              <a:t>利用性质及推论把行列式化为上</a:t>
            </a:r>
            <a:r>
              <a:rPr lang="en-US" altLang="zh-CN">
                <a:latin typeface="Times New Roman" panose="02020603050405020304" pitchFamily="18" charset="0"/>
              </a:rPr>
              <a:t>(</a:t>
            </a:r>
            <a:r>
              <a:rPr lang="zh-CN" altLang="en-US" dirty="0">
                <a:latin typeface="Times New Roman" panose="02020603050405020304" pitchFamily="18" charset="0"/>
              </a:rPr>
              <a:t>下</a:t>
            </a:r>
            <a:r>
              <a:rPr lang="en-US" altLang="zh-CN">
                <a:latin typeface="Times New Roman" panose="02020603050405020304" pitchFamily="18" charset="0"/>
              </a:rPr>
              <a:t>)</a:t>
            </a:r>
            <a:r>
              <a:rPr lang="zh-CN" altLang="en-US" dirty="0">
                <a:latin typeface="Times New Roman" panose="02020603050405020304" pitchFamily="18" charset="0"/>
              </a:rPr>
              <a:t>三角行列式</a:t>
            </a:r>
            <a:r>
              <a:rPr lang="en-US" altLang="zh-CN">
                <a:latin typeface="Times New Roman" panose="02020603050405020304" pitchFamily="18" charset="0"/>
              </a:rPr>
              <a:t>, </a:t>
            </a:r>
            <a:r>
              <a:rPr lang="zh-CN" altLang="en-US" dirty="0">
                <a:latin typeface="Times New Roman" panose="02020603050405020304" pitchFamily="18" charset="0"/>
              </a:rPr>
              <a:t>从而求得行列式的值</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33123" name="矩形 133122"/>
          <p:cNvSpPr/>
          <p:nvPr/>
        </p:nvSpPr>
        <p:spPr>
          <a:xfrm>
            <a:off x="1079500" y="228600"/>
            <a:ext cx="4716463" cy="641350"/>
          </a:xfrm>
          <a:prstGeom prst="rect">
            <a:avLst/>
          </a:prstGeom>
          <a:noFill/>
          <a:ln w="9525">
            <a:noFill/>
          </a:ln>
        </p:spPr>
        <p:txBody>
          <a:bodyPr>
            <a:spAutoFit/>
          </a:bodyPr>
          <a:p>
            <a:r>
              <a:rPr lang="zh-CN" altLang="en-US" sz="3600" dirty="0">
                <a:solidFill>
                  <a:srgbClr val="0000FF"/>
                </a:solidFill>
                <a:latin typeface="Times New Roman" panose="02020603050405020304" pitchFamily="18" charset="0"/>
                <a:ea typeface="黑体" panose="02010609060101010101" pitchFamily="2" charset="-122"/>
              </a:rPr>
              <a:t>三、小结</a:t>
            </a:r>
            <a:endParaRPr lang="zh-CN" altLang="en-US" sz="3600" dirty="0">
              <a:solidFill>
                <a:srgbClr val="0000FF"/>
              </a:solidFill>
              <a:latin typeface="Times New Roman" panose="02020603050405020304" pitchFamily="18" charset="0"/>
              <a:ea typeface="黑体" panose="02010609060101010101" pitchFamily="2" charset="-122"/>
            </a:endParaRPr>
          </a:p>
        </p:txBody>
      </p:sp>
      <p:sp>
        <p:nvSpPr>
          <p:cNvPr id="133124" name="文本框 133123"/>
          <p:cNvSpPr txBox="1"/>
          <p:nvPr/>
        </p:nvSpPr>
        <p:spPr>
          <a:xfrm>
            <a:off x="369570" y="3262630"/>
            <a:ext cx="1386840" cy="777240"/>
          </a:xfrm>
          <a:prstGeom prst="rect">
            <a:avLst/>
          </a:prstGeom>
          <a:noFill/>
          <a:ln w="9525">
            <a:noFill/>
          </a:ln>
        </p:spPr>
        <p:txBody>
          <a:bodyPr wrap="none" anchor="t" anchorCtr="0">
            <a:noAutofit/>
          </a:bodyPr>
          <a:p>
            <a:r>
              <a:rPr lang="zh-CN" altLang="en-US" sz="3200" dirty="0">
                <a:solidFill>
                  <a:srgbClr val="0000FF"/>
                </a:solidFill>
                <a:latin typeface="Times New Roman" panose="02020603050405020304" pitchFamily="18" charset="0"/>
                <a:ea typeface="黑体" panose="02010609060101010101" pitchFamily="2" charset="-122"/>
              </a:rPr>
              <a:t>思考题</a:t>
            </a:r>
            <a:endParaRPr lang="zh-CN" altLang="en-US" sz="3200">
              <a:solidFill>
                <a:srgbClr val="0000FF"/>
              </a:solidFill>
              <a:latin typeface="Times New Roman" panose="02020603050405020304" pitchFamily="18" charset="0"/>
              <a:ea typeface="黑体" panose="02010609060101010101" pitchFamily="2" charset="-122"/>
            </a:endParaRPr>
          </a:p>
        </p:txBody>
      </p:sp>
      <p:graphicFrame>
        <p:nvGraphicFramePr>
          <p:cNvPr id="133125" name="对象 133124"/>
          <p:cNvGraphicFramePr/>
          <p:nvPr/>
        </p:nvGraphicFramePr>
        <p:xfrm>
          <a:off x="1693545" y="3777615"/>
          <a:ext cx="5700395" cy="2809875"/>
        </p:xfrm>
        <a:graphic>
          <a:graphicData uri="http://schemas.openxmlformats.org/presentationml/2006/ole">
            <mc:AlternateContent xmlns:mc="http://schemas.openxmlformats.org/markup-compatibility/2006">
              <mc:Choice xmlns:v="urn:schemas-microsoft-com:vml" Requires="v">
                <p:oleObj spid="_x0000_s3400" name="" r:id="rId1" imgW="1612900" imgH="1498600" progId="Equation.3">
                  <p:embed/>
                </p:oleObj>
              </mc:Choice>
              <mc:Fallback>
                <p:oleObj name="" r:id="rId1" imgW="1612900" imgH="1498600" progId="Equation.3">
                  <p:embed/>
                  <p:pic>
                    <p:nvPicPr>
                      <p:cNvPr id="0" name="图片 3399"/>
                      <p:cNvPicPr/>
                      <p:nvPr/>
                    </p:nvPicPr>
                    <p:blipFill>
                      <a:blip r:embed="rId2"/>
                      <a:stretch>
                        <a:fillRect/>
                      </a:stretch>
                    </p:blipFill>
                    <p:spPr>
                      <a:xfrm>
                        <a:off x="1693545" y="3777615"/>
                        <a:ext cx="5700395" cy="2809875"/>
                      </a:xfrm>
                      <a:prstGeom prst="rect">
                        <a:avLst/>
                      </a:prstGeom>
                      <a:noFill/>
                      <a:ln w="38100">
                        <a:noFill/>
                        <a:miter/>
                      </a:ln>
                    </p:spPr>
                  </p:pic>
                </p:oleObj>
              </mc:Fallback>
            </mc:AlternateContent>
          </a:graphicData>
        </a:graphic>
      </p:graphicFrame>
      <p:sp>
        <p:nvSpPr>
          <p:cNvPr id="133127" name="矩形 133126"/>
          <p:cNvSpPr/>
          <p:nvPr/>
        </p:nvSpPr>
        <p:spPr>
          <a:xfrm>
            <a:off x="251460" y="4768215"/>
            <a:ext cx="2965450" cy="592455"/>
          </a:xfrm>
          <a:prstGeom prst="rect">
            <a:avLst/>
          </a:prstGeom>
          <a:noFill/>
          <a:ln w="9525">
            <a:noFill/>
          </a:ln>
        </p:spPr>
        <p:txBody>
          <a:bodyPr wrap="none" anchor="t" anchorCtr="0">
            <a:noAutofit/>
          </a:bodyPr>
          <a:p>
            <a:endParaRPr lang="en-US" altLang="zh-CN">
              <a:latin typeface="Times New Roman" panose="02020603050405020304" pitchFamily="18" charset="0"/>
            </a:endParaRPr>
          </a:p>
        </p:txBody>
      </p:sp>
      <p:sp>
        <p:nvSpPr>
          <p:cNvPr id="2" name="文本框 1"/>
          <p:cNvSpPr txBox="1"/>
          <p:nvPr/>
        </p:nvSpPr>
        <p:spPr>
          <a:xfrm>
            <a:off x="1913255" y="3279775"/>
            <a:ext cx="5093970" cy="535305"/>
          </a:xfrm>
          <a:prstGeom prst="rect">
            <a:avLst/>
          </a:prstGeom>
          <a:noFill/>
          <a:ln w="9525">
            <a:noFill/>
          </a:ln>
        </p:spPr>
        <p:txBody>
          <a:bodyPr wrap="none" anchor="t" anchorCtr="0">
            <a:noAutofit/>
          </a:bodyPr>
          <a:p>
            <a:pPr algn="l"/>
            <a:r>
              <a:rPr lang="zh-CN" altLang="en-US" dirty="0">
                <a:latin typeface="Times New Roman" panose="02020603050405020304" pitchFamily="18" charset="0"/>
              </a:rPr>
              <a:t>已知 </a:t>
            </a:r>
            <a:r>
              <a:rPr lang="en-US" altLang="zh-CN" i="1" err="1">
                <a:latin typeface="Times New Roman" panose="02020603050405020304" pitchFamily="18" charset="0"/>
              </a:rPr>
              <a:t>abcd</a:t>
            </a:r>
            <a:r>
              <a:rPr lang="en-US" altLang="zh-CN">
                <a:latin typeface="Times New Roman" panose="02020603050405020304" pitchFamily="18" charset="0"/>
              </a:rPr>
              <a:t>=1</a:t>
            </a:r>
            <a:r>
              <a:rPr lang="zh-CN" altLang="en-US">
                <a:latin typeface="Times New Roman" panose="02020603050405020304" pitchFamily="18" charset="0"/>
              </a:rPr>
              <a:t>，</a:t>
            </a:r>
            <a:r>
              <a:rPr lang="zh-CN" altLang="en-US" dirty="0">
                <a:sym typeface="+mn-ea"/>
              </a:rPr>
              <a:t>计算行列式</a:t>
            </a:r>
            <a:endParaRPr lang="en-US" altLang="zh-CN">
              <a:latin typeface="Times New Roman" panose="02020603050405020304" pitchFamily="18" charset="0"/>
            </a:endParaRPr>
          </a:p>
          <a:p>
            <a:endParaRPr lang="zh-CN" altLang="en-US">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33123">
                                            <p:txEl>
                                              <p:charRg st="0" end="5"/>
                                            </p:txEl>
                                          </p:spTgt>
                                        </p:tgtEl>
                                        <p:attrNameLst>
                                          <p:attrName>style.visibility</p:attrName>
                                        </p:attrNameLst>
                                      </p:cBhvr>
                                      <p:to>
                                        <p:strVal val="visible"/>
                                      </p:to>
                                    </p:set>
                                    <p:animEffect transition="in" filter="box(out)">
                                      <p:cBhvr>
                                        <p:cTn id="7" dur="500"/>
                                        <p:tgtEl>
                                          <p:spTgt spid="133123">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33122">
                                            <p:txEl>
                                              <p:charRg st="0" end="56"/>
                                            </p:txEl>
                                          </p:spTgt>
                                        </p:tgtEl>
                                        <p:attrNameLst>
                                          <p:attrName>style.visibility</p:attrName>
                                        </p:attrNameLst>
                                      </p:cBhvr>
                                      <p:to>
                                        <p:strVal val="visible"/>
                                      </p:to>
                                    </p:set>
                                    <p:animEffect transition="in" filter="box(out)">
                                      <p:cBhvr>
                                        <p:cTn id="12" dur="500"/>
                                        <p:tgtEl>
                                          <p:spTgt spid="133122">
                                            <p:txEl>
                                              <p:charRg st="0" end="5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33122">
                                            <p:txEl>
                                              <p:charRg st="1" end="1"/>
                                            </p:txEl>
                                          </p:spTgt>
                                        </p:tgtEl>
                                        <p:attrNameLst>
                                          <p:attrName>style.visibility</p:attrName>
                                        </p:attrNameLst>
                                      </p:cBhvr>
                                      <p:to>
                                        <p:strVal val="visible"/>
                                      </p:to>
                                    </p:set>
                                    <p:animEffect transition="in" filter="box(out)">
                                      <p:cBhvr>
                                        <p:cTn id="17" dur="500"/>
                                        <p:tgtEl>
                                          <p:spTgt spid="133122">
                                            <p:txEl>
                                              <p:char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33124">
                                            <p:txEl>
                                              <p:charRg st="0" end="4"/>
                                            </p:txEl>
                                          </p:spTgt>
                                        </p:tgtEl>
                                        <p:attrNameLst>
                                          <p:attrName>style.visibility</p:attrName>
                                        </p:attrNameLst>
                                      </p:cBhvr>
                                      <p:to>
                                        <p:strVal val="visible"/>
                                      </p:to>
                                    </p:set>
                                    <p:animEffect transition="in" filter="box(out)">
                                      <p:cBhvr>
                                        <p:cTn id="22" dur="500"/>
                                        <p:tgtEl>
                                          <p:spTgt spid="133124">
                                            <p:txEl>
                                              <p:charRg st="0" end="4"/>
                                            </p:txEl>
                                          </p:spTgt>
                                        </p:tgtEl>
                                      </p:cBhvr>
                                    </p:animEffect>
                                  </p:childTnLst>
                                </p:cTn>
                              </p:par>
                            </p:childTnLst>
                          </p:cTn>
                        </p:par>
                        <p:par>
                          <p:cTn id="23" fill="hold">
                            <p:stCondLst>
                              <p:cond delay="500"/>
                            </p:stCondLst>
                            <p:childTnLst>
                              <p:par>
                                <p:cTn id="24" presetID="4" presetClass="entr" presetSubtype="32" fill="hold" nodeType="afterEffect">
                                  <p:stCondLst>
                                    <p:cond delay="0"/>
                                  </p:stCondLst>
                                  <p:childTnLst>
                                    <p:set>
                                      <p:cBhvr>
                                        <p:cTn id="25" dur="1" fill="hold">
                                          <p:stCondLst>
                                            <p:cond delay="0"/>
                                          </p:stCondLst>
                                        </p:cTn>
                                        <p:tgtEl>
                                          <p:spTgt spid="133125"/>
                                        </p:tgtEl>
                                        <p:attrNameLst>
                                          <p:attrName>style.visibility</p:attrName>
                                        </p:attrNameLst>
                                      </p:cBhvr>
                                      <p:to>
                                        <p:strVal val="visible"/>
                                      </p:to>
                                    </p:set>
                                    <p:animEffect transition="in" filter="box(out)">
                                      <p:cBhvr>
                                        <p:cTn id="26" dur="500"/>
                                        <p:tgtEl>
                                          <p:spTgt spid="133125"/>
                                        </p:tgtEl>
                                      </p:cBhvr>
                                    </p:animEffect>
                                  </p:childTnLst>
                                </p:cTn>
                              </p:par>
                            </p:childTnLst>
                          </p:cTn>
                        </p:par>
                        <p:par>
                          <p:cTn id="27" fill="hold">
                            <p:stCondLst>
                              <p:cond delay="1000"/>
                            </p:stCondLst>
                            <p:childTnLst>
                              <p:par>
                                <p:cTn id="28" presetID="4" presetClass="entr" presetSubtype="32" fill="hold" grpId="0" nodeType="afterEffect">
                                  <p:stCondLst>
                                    <p:cond delay="0"/>
                                  </p:stCondLst>
                                  <p:childTnLst>
                                    <p:set>
                                      <p:cBhvr>
                                        <p:cTn id="29" dur="1" fill="hold">
                                          <p:stCondLst>
                                            <p:cond delay="0"/>
                                          </p:stCondLst>
                                        </p:cTn>
                                        <p:tgtEl>
                                          <p:spTgt spid="2">
                                            <p:txEl>
                                              <p:charRg st="0" end="13"/>
                                            </p:txEl>
                                          </p:spTgt>
                                        </p:tgtEl>
                                        <p:attrNameLst>
                                          <p:attrName>style.visibility</p:attrName>
                                        </p:attrNameLst>
                                      </p:cBhvr>
                                      <p:to>
                                        <p:strVal val="visible"/>
                                      </p:to>
                                    </p:set>
                                    <p:animEffect transition="in" filter="box(out)">
                                      <p:cBhvr>
                                        <p:cTn id="30" dur="500"/>
                                        <p:tgtEl>
                                          <p:spTgt spid="2">
                                            <p:txEl>
                                              <p:charRg st="0"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build="p"/>
      <p:bldP spid="133123" grpId="0" advAuto="1000" build="p"/>
      <p:bldP spid="133124" grpId="0" build="p"/>
      <p:bldP spid="133127" grpId="0" advAuto="1000" build="p"/>
      <p:bldP spid="2" grpId="0" advAuto="100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文本框 134145"/>
          <p:cNvSpPr txBox="1"/>
          <p:nvPr/>
        </p:nvSpPr>
        <p:spPr>
          <a:xfrm>
            <a:off x="1079500" y="334963"/>
            <a:ext cx="2224088" cy="579437"/>
          </a:xfrm>
          <a:prstGeom prst="rect">
            <a:avLst/>
          </a:prstGeom>
          <a:noFill/>
          <a:ln w="9525">
            <a:noFill/>
          </a:ln>
        </p:spPr>
        <p:txBody>
          <a:bodyPr wrap="none" anchor="t" anchorCtr="0">
            <a:spAutoFit/>
          </a:bodyPr>
          <a:p>
            <a:r>
              <a:rPr lang="zh-CN" altLang="en-US" sz="3200" dirty="0">
                <a:solidFill>
                  <a:srgbClr val="0000FF"/>
                </a:solidFill>
                <a:latin typeface="Times New Roman" panose="02020603050405020304" pitchFamily="18" charset="0"/>
                <a:ea typeface="黑体" panose="02010609060101010101" pitchFamily="2" charset="-122"/>
              </a:rPr>
              <a:t>思考题解答</a:t>
            </a:r>
            <a:endParaRPr lang="zh-CN" altLang="en-US" sz="3200">
              <a:solidFill>
                <a:srgbClr val="0000FF"/>
              </a:solidFill>
              <a:latin typeface="Times New Roman" panose="02020603050405020304" pitchFamily="18" charset="0"/>
              <a:ea typeface="黑体" panose="02010609060101010101" pitchFamily="2" charset="-122"/>
            </a:endParaRPr>
          </a:p>
        </p:txBody>
      </p:sp>
      <p:graphicFrame>
        <p:nvGraphicFramePr>
          <p:cNvPr id="134147" name="对象 134146"/>
          <p:cNvGraphicFramePr/>
          <p:nvPr/>
        </p:nvGraphicFramePr>
        <p:xfrm>
          <a:off x="1206500" y="990600"/>
          <a:ext cx="3008313" cy="3376613"/>
        </p:xfrm>
        <a:graphic>
          <a:graphicData uri="http://schemas.openxmlformats.org/presentationml/2006/ole">
            <mc:AlternateContent xmlns:mc="http://schemas.openxmlformats.org/markup-compatibility/2006">
              <mc:Choice xmlns:v="urn:schemas-microsoft-com:vml" Requires="v">
                <p:oleObj spid="_x0000_s3402" name="" r:id="rId1" imgW="3009900" imgH="3378200" progId="Equation.3">
                  <p:embed/>
                </p:oleObj>
              </mc:Choice>
              <mc:Fallback>
                <p:oleObj name="" r:id="rId1" imgW="3009900" imgH="3378200" progId="Equation.3">
                  <p:embed/>
                  <p:pic>
                    <p:nvPicPr>
                      <p:cNvPr id="0" name="图片 3401"/>
                      <p:cNvPicPr/>
                      <p:nvPr/>
                    </p:nvPicPr>
                    <p:blipFill>
                      <a:blip r:embed="rId2"/>
                      <a:stretch>
                        <a:fillRect/>
                      </a:stretch>
                    </p:blipFill>
                    <p:spPr>
                      <a:xfrm>
                        <a:off x="1206500" y="990600"/>
                        <a:ext cx="3008313" cy="3376613"/>
                      </a:xfrm>
                      <a:prstGeom prst="rect">
                        <a:avLst/>
                      </a:prstGeom>
                      <a:noFill/>
                      <a:ln w="38100">
                        <a:noFill/>
                        <a:miter/>
                      </a:ln>
                    </p:spPr>
                  </p:pic>
                </p:oleObj>
              </mc:Fallback>
            </mc:AlternateContent>
          </a:graphicData>
        </a:graphic>
      </p:graphicFrame>
      <p:graphicFrame>
        <p:nvGraphicFramePr>
          <p:cNvPr id="134148" name="对象 134147"/>
          <p:cNvGraphicFramePr/>
          <p:nvPr/>
        </p:nvGraphicFramePr>
        <p:xfrm>
          <a:off x="4400550" y="990600"/>
          <a:ext cx="2779713" cy="3376613"/>
        </p:xfrm>
        <a:graphic>
          <a:graphicData uri="http://schemas.openxmlformats.org/presentationml/2006/ole">
            <mc:AlternateContent xmlns:mc="http://schemas.openxmlformats.org/markup-compatibility/2006">
              <mc:Choice xmlns:v="urn:schemas-microsoft-com:vml" Requires="v">
                <p:oleObj spid="_x0000_s3405" name="" r:id="rId3" imgW="2781300" imgH="3378200" progId="Equation.3">
                  <p:embed/>
                </p:oleObj>
              </mc:Choice>
              <mc:Fallback>
                <p:oleObj name="" r:id="rId3" imgW="2781300" imgH="3378200" progId="Equation.3">
                  <p:embed/>
                  <p:pic>
                    <p:nvPicPr>
                      <p:cNvPr id="0" name="图片 3404"/>
                      <p:cNvPicPr/>
                      <p:nvPr/>
                    </p:nvPicPr>
                    <p:blipFill>
                      <a:blip r:embed="rId4"/>
                      <a:stretch>
                        <a:fillRect/>
                      </a:stretch>
                    </p:blipFill>
                    <p:spPr>
                      <a:xfrm>
                        <a:off x="4400550" y="990600"/>
                        <a:ext cx="2779713" cy="33766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34146">
                                            <p:txEl>
                                              <p:charRg st="0" end="6"/>
                                            </p:txEl>
                                          </p:spTgt>
                                        </p:tgtEl>
                                        <p:attrNameLst>
                                          <p:attrName>style.visibility</p:attrName>
                                        </p:attrNameLst>
                                      </p:cBhvr>
                                      <p:to>
                                        <p:strVal val="visible"/>
                                      </p:to>
                                    </p:set>
                                    <p:animEffect transition="in" filter="box(out)">
                                      <p:cBhvr>
                                        <p:cTn id="7" dur="500"/>
                                        <p:tgtEl>
                                          <p:spTgt spid="134146">
                                            <p:txEl>
                                              <p:charRg st="0" end="6"/>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34147"/>
                                        </p:tgtEl>
                                        <p:attrNameLst>
                                          <p:attrName>style.visibility</p:attrName>
                                        </p:attrNameLst>
                                      </p:cBhvr>
                                      <p:to>
                                        <p:strVal val="visible"/>
                                      </p:to>
                                    </p:set>
                                    <p:animEffect transition="in" filter="box(out)">
                                      <p:cBhvr>
                                        <p:cTn id="11" dur="500"/>
                                        <p:tgtEl>
                                          <p:spTgt spid="134147"/>
                                        </p:tgtEl>
                                      </p:cBhvr>
                                    </p:animEffect>
                                  </p:childTnLst>
                                </p:cTn>
                              </p:par>
                            </p:childTnLst>
                          </p:cTn>
                        </p:par>
                        <p:par>
                          <p:cTn id="12" fill="hold">
                            <p:stCondLst>
                              <p:cond delay="1000"/>
                            </p:stCondLst>
                            <p:childTnLst>
                              <p:par>
                                <p:cTn id="13" presetID="4" presetClass="entr" presetSubtype="32" fill="hold" nodeType="afterEffect">
                                  <p:stCondLst>
                                    <p:cond delay="0"/>
                                  </p:stCondLst>
                                  <p:childTnLst>
                                    <p:set>
                                      <p:cBhvr>
                                        <p:cTn id="14" dur="1" fill="hold">
                                          <p:stCondLst>
                                            <p:cond delay="0"/>
                                          </p:stCondLst>
                                        </p:cTn>
                                        <p:tgtEl>
                                          <p:spTgt spid="134148"/>
                                        </p:tgtEl>
                                        <p:attrNameLst>
                                          <p:attrName>style.visibility</p:attrName>
                                        </p:attrNameLst>
                                      </p:cBhvr>
                                      <p:to>
                                        <p:strVal val="visible"/>
                                      </p:to>
                                    </p:set>
                                    <p:animEffect transition="in" filter="box(out)">
                                      <p:cBhvr>
                                        <p:cTn id="15" dur="500"/>
                                        <p:tgtEl>
                                          <p:spTgt spid="134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advAuto="100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5170" name="对象 135169"/>
          <p:cNvGraphicFramePr/>
          <p:nvPr/>
        </p:nvGraphicFramePr>
        <p:xfrm>
          <a:off x="685800" y="679450"/>
          <a:ext cx="3478213" cy="3376613"/>
        </p:xfrm>
        <a:graphic>
          <a:graphicData uri="http://schemas.openxmlformats.org/presentationml/2006/ole">
            <mc:AlternateContent xmlns:mc="http://schemas.openxmlformats.org/markup-compatibility/2006">
              <mc:Choice xmlns:v="urn:schemas-microsoft-com:vml" Requires="v">
                <p:oleObj spid="_x0000_s3406" name="" r:id="rId1" imgW="3479800" imgH="3378200" progId="Equation.3">
                  <p:embed/>
                </p:oleObj>
              </mc:Choice>
              <mc:Fallback>
                <p:oleObj name="" r:id="rId1" imgW="3479800" imgH="3378200" progId="Equation.3">
                  <p:embed/>
                  <p:pic>
                    <p:nvPicPr>
                      <p:cNvPr id="0" name="图片 3405"/>
                      <p:cNvPicPr/>
                      <p:nvPr/>
                    </p:nvPicPr>
                    <p:blipFill>
                      <a:blip r:embed="rId2"/>
                      <a:stretch>
                        <a:fillRect/>
                      </a:stretch>
                    </p:blipFill>
                    <p:spPr>
                      <a:xfrm>
                        <a:off x="685800" y="679450"/>
                        <a:ext cx="3478213" cy="3376613"/>
                      </a:xfrm>
                      <a:prstGeom prst="rect">
                        <a:avLst/>
                      </a:prstGeom>
                      <a:noFill/>
                      <a:ln w="38100">
                        <a:noFill/>
                        <a:miter/>
                      </a:ln>
                    </p:spPr>
                  </p:pic>
                </p:oleObj>
              </mc:Fallback>
            </mc:AlternateContent>
          </a:graphicData>
        </a:graphic>
      </p:graphicFrame>
      <p:graphicFrame>
        <p:nvGraphicFramePr>
          <p:cNvPr id="135171" name="对象 135170"/>
          <p:cNvGraphicFramePr/>
          <p:nvPr/>
        </p:nvGraphicFramePr>
        <p:xfrm>
          <a:off x="4319588" y="679450"/>
          <a:ext cx="3567112" cy="3376613"/>
        </p:xfrm>
        <a:graphic>
          <a:graphicData uri="http://schemas.openxmlformats.org/presentationml/2006/ole">
            <mc:AlternateContent xmlns:mc="http://schemas.openxmlformats.org/markup-compatibility/2006">
              <mc:Choice xmlns:v="urn:schemas-microsoft-com:vml" Requires="v">
                <p:oleObj spid="_x0000_s3398" name="" r:id="rId3" imgW="3568700" imgH="3378200" progId="Equation.3">
                  <p:embed/>
                </p:oleObj>
              </mc:Choice>
              <mc:Fallback>
                <p:oleObj name="" r:id="rId3" imgW="3568700" imgH="3378200" progId="Equation.3">
                  <p:embed/>
                  <p:pic>
                    <p:nvPicPr>
                      <p:cNvPr id="0" name="图片 3397"/>
                      <p:cNvPicPr/>
                      <p:nvPr/>
                    </p:nvPicPr>
                    <p:blipFill>
                      <a:blip r:embed="rId4"/>
                      <a:stretch>
                        <a:fillRect/>
                      </a:stretch>
                    </p:blipFill>
                    <p:spPr>
                      <a:xfrm>
                        <a:off x="4319588" y="679450"/>
                        <a:ext cx="3567112" cy="3376613"/>
                      </a:xfrm>
                      <a:prstGeom prst="rect">
                        <a:avLst/>
                      </a:prstGeom>
                      <a:noFill/>
                      <a:ln w="38100">
                        <a:noFill/>
                        <a:miter/>
                      </a:ln>
                    </p:spPr>
                  </p:pic>
                </p:oleObj>
              </mc:Fallback>
            </mc:AlternateContent>
          </a:graphicData>
        </a:graphic>
      </p:graphicFrame>
      <p:graphicFrame>
        <p:nvGraphicFramePr>
          <p:cNvPr id="135172" name="对象 135171"/>
          <p:cNvGraphicFramePr/>
          <p:nvPr/>
        </p:nvGraphicFramePr>
        <p:xfrm>
          <a:off x="8001000" y="2286000"/>
          <a:ext cx="584200" cy="317500"/>
        </p:xfrm>
        <a:graphic>
          <a:graphicData uri="http://schemas.openxmlformats.org/presentationml/2006/ole">
            <mc:AlternateContent xmlns:mc="http://schemas.openxmlformats.org/markup-compatibility/2006">
              <mc:Choice xmlns:v="urn:schemas-microsoft-com:vml" Requires="v">
                <p:oleObj spid="_x0000_s3399" name="" r:id="rId5" imgW="583565" imgH="317500" progId="Equation.3">
                  <p:embed/>
                </p:oleObj>
              </mc:Choice>
              <mc:Fallback>
                <p:oleObj name="" r:id="rId5" imgW="583565" imgH="317500" progId="Equation.3">
                  <p:embed/>
                  <p:pic>
                    <p:nvPicPr>
                      <p:cNvPr id="0" name="图片 3398"/>
                      <p:cNvPicPr/>
                      <p:nvPr/>
                    </p:nvPicPr>
                    <p:blipFill>
                      <a:blip r:embed="rId6"/>
                      <a:stretch>
                        <a:fillRect/>
                      </a:stretch>
                    </p:blipFill>
                    <p:spPr>
                      <a:xfrm>
                        <a:off x="8001000" y="2286000"/>
                        <a:ext cx="584200" cy="3175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135170"/>
                                        </p:tgtEl>
                                        <p:attrNameLst>
                                          <p:attrName>style.visibility</p:attrName>
                                        </p:attrNameLst>
                                      </p:cBhvr>
                                      <p:to>
                                        <p:strVal val="visible"/>
                                      </p:to>
                                    </p:set>
                                    <p:animEffect transition="in" filter="box(out)">
                                      <p:cBhvr>
                                        <p:cTn id="7" dur="500"/>
                                        <p:tgtEl>
                                          <p:spTgt spid="13517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35171"/>
                                        </p:tgtEl>
                                        <p:attrNameLst>
                                          <p:attrName>style.visibility</p:attrName>
                                        </p:attrNameLst>
                                      </p:cBhvr>
                                      <p:to>
                                        <p:strVal val="visible"/>
                                      </p:to>
                                    </p:set>
                                    <p:animEffect transition="in" filter="box(out)">
                                      <p:cBhvr>
                                        <p:cTn id="12" dur="500"/>
                                        <p:tgtEl>
                                          <p:spTgt spid="13517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35172"/>
                                        </p:tgtEl>
                                        <p:attrNameLst>
                                          <p:attrName>style.visibility</p:attrName>
                                        </p:attrNameLst>
                                      </p:cBhvr>
                                      <p:to>
                                        <p:strVal val="visible"/>
                                      </p:to>
                                    </p:set>
                                    <p:animEffect transition="in" filter="box(out)">
                                      <p:cBhvr>
                                        <p:cTn id="17" dur="500"/>
                                        <p:tgtEl>
                                          <p:spTgt spid="135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矩形 136193"/>
          <p:cNvSpPr/>
          <p:nvPr/>
        </p:nvSpPr>
        <p:spPr>
          <a:xfrm>
            <a:off x="1600200" y="228600"/>
            <a:ext cx="6131560" cy="706755"/>
          </a:xfrm>
          <a:prstGeom prst="rect">
            <a:avLst/>
          </a:prstGeom>
          <a:noFill/>
          <a:ln w="9525">
            <a:noFill/>
          </a:ln>
        </p:spPr>
        <p:txBody>
          <a:bodyPr wrap="none" anchor="t" anchorCtr="0">
            <a:spAutoFit/>
          </a:bodyPr>
          <a:p>
            <a:r>
              <a:rPr lang="zh-CN" altLang="en-US" sz="4000">
                <a:solidFill>
                  <a:srgbClr val="FF0000"/>
                </a:solidFill>
                <a:latin typeface="Times New Roman" panose="02020603050405020304" pitchFamily="18" charset="0"/>
                <a:ea typeface="黑体" panose="02010609060101010101" pitchFamily="2" charset="-122"/>
              </a:rPr>
              <a:t>§</a:t>
            </a:r>
            <a:r>
              <a:rPr lang="en-US" altLang="zh-CN" sz="4000">
                <a:solidFill>
                  <a:srgbClr val="FF0000"/>
                </a:solidFill>
                <a:latin typeface="Times New Roman" panose="02020603050405020304" pitchFamily="18" charset="0"/>
                <a:ea typeface="黑体" panose="02010609060101010101" pitchFamily="2" charset="-122"/>
              </a:rPr>
              <a:t>1.3  </a:t>
            </a:r>
            <a:r>
              <a:rPr lang="zh-CN" altLang="en-US" sz="4000" dirty="0">
                <a:solidFill>
                  <a:srgbClr val="FF0000"/>
                </a:solidFill>
                <a:latin typeface="Times New Roman" panose="02020603050405020304" pitchFamily="18" charset="0"/>
                <a:ea typeface="黑体" panose="02010609060101010101" pitchFamily="2" charset="-122"/>
              </a:rPr>
              <a:t>行列式按行</a:t>
            </a:r>
            <a:r>
              <a:rPr lang="en-US" altLang="zh-CN" sz="4000">
                <a:solidFill>
                  <a:srgbClr val="FF0000"/>
                </a:solidFill>
                <a:latin typeface="Times New Roman" panose="02020603050405020304" pitchFamily="18" charset="0"/>
                <a:ea typeface="黑体" panose="02010609060101010101" pitchFamily="2" charset="-122"/>
              </a:rPr>
              <a:t>(</a:t>
            </a:r>
            <a:r>
              <a:rPr lang="zh-CN" altLang="en-US" sz="4000" dirty="0">
                <a:solidFill>
                  <a:srgbClr val="FF0000"/>
                </a:solidFill>
                <a:latin typeface="Times New Roman" panose="02020603050405020304" pitchFamily="18" charset="0"/>
                <a:ea typeface="黑体" panose="02010609060101010101" pitchFamily="2" charset="-122"/>
              </a:rPr>
              <a:t>列</a:t>
            </a:r>
            <a:r>
              <a:rPr lang="en-US" altLang="zh-CN" sz="4000">
                <a:solidFill>
                  <a:srgbClr val="FF0000"/>
                </a:solidFill>
                <a:latin typeface="Times New Roman" panose="02020603050405020304" pitchFamily="18" charset="0"/>
                <a:ea typeface="黑体" panose="02010609060101010101" pitchFamily="2" charset="-122"/>
              </a:rPr>
              <a:t>)</a:t>
            </a:r>
            <a:r>
              <a:rPr lang="zh-CN" altLang="en-US" sz="4000" dirty="0">
                <a:solidFill>
                  <a:srgbClr val="FF0000"/>
                </a:solidFill>
                <a:latin typeface="Times New Roman" panose="02020603050405020304" pitchFamily="18" charset="0"/>
                <a:ea typeface="黑体" panose="02010609060101010101" pitchFamily="2" charset="-122"/>
              </a:rPr>
              <a:t>展开 </a:t>
            </a:r>
            <a:endParaRPr lang="zh-CN" altLang="en-US" sz="4000" dirty="0">
              <a:solidFill>
                <a:srgbClr val="FF0000"/>
              </a:solidFill>
              <a:latin typeface="Times New Roman" panose="02020603050405020304" pitchFamily="18" charset="0"/>
              <a:ea typeface="黑体" panose="02010609060101010101" pitchFamily="2" charset="-122"/>
            </a:endParaRPr>
          </a:p>
        </p:txBody>
      </p:sp>
      <p:sp>
        <p:nvSpPr>
          <p:cNvPr id="136195" name="矩形 136194"/>
          <p:cNvSpPr/>
          <p:nvPr/>
        </p:nvSpPr>
        <p:spPr>
          <a:xfrm>
            <a:off x="1079500" y="868363"/>
            <a:ext cx="4672013" cy="579437"/>
          </a:xfrm>
          <a:prstGeom prst="rect">
            <a:avLst/>
          </a:prstGeom>
          <a:noFill/>
          <a:ln w="9525">
            <a:noFill/>
          </a:ln>
        </p:spPr>
        <p:txBody>
          <a:bodyPr wrap="none" anchor="t" anchorCtr="0">
            <a:spAutoFit/>
          </a:bodyPr>
          <a:p>
            <a:r>
              <a:rPr lang="zh-CN" altLang="en-US" sz="3200" dirty="0">
                <a:solidFill>
                  <a:srgbClr val="0000FF"/>
                </a:solidFill>
                <a:latin typeface="Arial Black" panose="020B0A04020102020204" pitchFamily="34" charset="0"/>
                <a:ea typeface="黑体" panose="02010609060101010101" pitchFamily="2" charset="-122"/>
              </a:rPr>
              <a:t>一、余子式与代数余子式</a:t>
            </a:r>
            <a:endParaRPr lang="zh-CN" altLang="en-US" sz="3200" dirty="0">
              <a:solidFill>
                <a:srgbClr val="0000FF"/>
              </a:solidFill>
              <a:latin typeface="Arial Black" panose="020B0A04020102020204" pitchFamily="34" charset="0"/>
              <a:ea typeface="黑体" panose="02010609060101010101" pitchFamily="2" charset="-122"/>
            </a:endParaRPr>
          </a:p>
        </p:txBody>
      </p:sp>
      <p:graphicFrame>
        <p:nvGraphicFramePr>
          <p:cNvPr id="136196" name="对象 136195"/>
          <p:cNvGraphicFramePr/>
          <p:nvPr/>
        </p:nvGraphicFramePr>
        <p:xfrm>
          <a:off x="3187700" y="2216150"/>
          <a:ext cx="5357813" cy="939800"/>
        </p:xfrm>
        <a:graphic>
          <a:graphicData uri="http://schemas.openxmlformats.org/presentationml/2006/ole">
            <mc:AlternateContent xmlns:mc="http://schemas.openxmlformats.org/markup-compatibility/2006">
              <mc:Choice xmlns:v="urn:schemas-microsoft-com:vml" Requires="v">
                <p:oleObj spid="_x0000_s3401" name="" r:id="rId1" imgW="5359400" imgH="939800" progId="Equation.3">
                  <p:embed/>
                </p:oleObj>
              </mc:Choice>
              <mc:Fallback>
                <p:oleObj name="" r:id="rId1" imgW="5359400" imgH="939800" progId="Equation.3">
                  <p:embed/>
                  <p:pic>
                    <p:nvPicPr>
                      <p:cNvPr id="0" name="图片 3400"/>
                      <p:cNvPicPr/>
                      <p:nvPr/>
                    </p:nvPicPr>
                    <p:blipFill>
                      <a:blip r:embed="rId2"/>
                      <a:stretch>
                        <a:fillRect/>
                      </a:stretch>
                    </p:blipFill>
                    <p:spPr>
                      <a:xfrm>
                        <a:off x="3187700" y="2216150"/>
                        <a:ext cx="5357813" cy="939800"/>
                      </a:xfrm>
                      <a:prstGeom prst="rect">
                        <a:avLst/>
                      </a:prstGeom>
                      <a:noFill/>
                      <a:ln w="38100">
                        <a:noFill/>
                        <a:miter/>
                      </a:ln>
                    </p:spPr>
                  </p:pic>
                </p:oleObj>
              </mc:Fallback>
            </mc:AlternateContent>
          </a:graphicData>
        </a:graphic>
      </p:graphicFrame>
      <p:graphicFrame>
        <p:nvGraphicFramePr>
          <p:cNvPr id="136197" name="对象 136196"/>
          <p:cNvGraphicFramePr/>
          <p:nvPr/>
        </p:nvGraphicFramePr>
        <p:xfrm>
          <a:off x="762000" y="1905000"/>
          <a:ext cx="2398713" cy="1320800"/>
        </p:xfrm>
        <a:graphic>
          <a:graphicData uri="http://schemas.openxmlformats.org/presentationml/2006/ole">
            <mc:AlternateContent xmlns:mc="http://schemas.openxmlformats.org/markup-compatibility/2006">
              <mc:Choice xmlns:v="urn:schemas-microsoft-com:vml" Requires="v">
                <p:oleObj spid="_x0000_s3409" name="" r:id="rId3" imgW="2399030" imgH="1320165" progId="Equation.3">
                  <p:embed/>
                </p:oleObj>
              </mc:Choice>
              <mc:Fallback>
                <p:oleObj name="" r:id="rId3" imgW="2399030" imgH="1320165" progId="Equation.3">
                  <p:embed/>
                  <p:pic>
                    <p:nvPicPr>
                      <p:cNvPr id="0" name="图片 3408"/>
                      <p:cNvPicPr/>
                      <p:nvPr/>
                    </p:nvPicPr>
                    <p:blipFill>
                      <a:blip r:embed="rId4"/>
                      <a:stretch>
                        <a:fillRect/>
                      </a:stretch>
                    </p:blipFill>
                    <p:spPr>
                      <a:xfrm>
                        <a:off x="762000" y="1905000"/>
                        <a:ext cx="2398713" cy="1320800"/>
                      </a:xfrm>
                      <a:prstGeom prst="rect">
                        <a:avLst/>
                      </a:prstGeom>
                      <a:noFill/>
                      <a:ln w="38100">
                        <a:noFill/>
                        <a:miter/>
                      </a:ln>
                    </p:spPr>
                  </p:pic>
                </p:oleObj>
              </mc:Fallback>
            </mc:AlternateContent>
          </a:graphicData>
        </a:graphic>
      </p:graphicFrame>
      <p:sp>
        <p:nvSpPr>
          <p:cNvPr id="136198" name="矩形 136197"/>
          <p:cNvSpPr/>
          <p:nvPr/>
        </p:nvSpPr>
        <p:spPr>
          <a:xfrm>
            <a:off x="1079500" y="1447800"/>
            <a:ext cx="3576638" cy="519113"/>
          </a:xfrm>
          <a:prstGeom prst="rect">
            <a:avLst/>
          </a:prstGeom>
          <a:noFill/>
          <a:ln w="9525">
            <a:noFill/>
          </a:ln>
        </p:spPr>
        <p:txBody>
          <a:bodyPr wrap="none" anchor="t" anchorCtr="0">
            <a:spAutoFit/>
          </a:bodyPr>
          <a:p>
            <a:r>
              <a:rPr lang="zh-CN" altLang="en-US" dirty="0">
                <a:latin typeface="Times New Roman" panose="02020603050405020304" pitchFamily="18" charset="0"/>
              </a:rPr>
              <a:t>引例</a:t>
            </a:r>
            <a:r>
              <a:rPr lang="en-US" altLang="zh-CN">
                <a:latin typeface="Times New Roman" panose="02020603050405020304" pitchFamily="18" charset="0"/>
              </a:rPr>
              <a:t>, </a:t>
            </a:r>
            <a:r>
              <a:rPr lang="zh-CN" altLang="en-US" dirty="0">
                <a:latin typeface="Times New Roman" panose="02020603050405020304" pitchFamily="18" charset="0"/>
              </a:rPr>
              <a:t>考察三阶行列式</a:t>
            </a:r>
            <a:endParaRPr lang="zh-CN" altLang="en-US" dirty="0">
              <a:latin typeface="Times New Roman" panose="02020603050405020304" pitchFamily="18" charset="0"/>
            </a:endParaRPr>
          </a:p>
        </p:txBody>
      </p:sp>
      <p:sp>
        <p:nvSpPr>
          <p:cNvPr id="136199" name="矩形 136198"/>
          <p:cNvSpPr/>
          <p:nvPr/>
        </p:nvSpPr>
        <p:spPr>
          <a:xfrm>
            <a:off x="914400" y="2008188"/>
            <a:ext cx="2057400" cy="381000"/>
          </a:xfrm>
          <a:prstGeom prst="rect">
            <a:avLst/>
          </a:prstGeom>
          <a:noFill/>
          <a:ln w="38100" cap="flat" cmpd="sng">
            <a:solidFill>
              <a:srgbClr val="FF0000"/>
            </a:solidFill>
            <a:prstDash val="solid"/>
            <a:miter/>
            <a:headEnd type="none" w="med" len="med"/>
            <a:tailEnd type="none" w="med" len="med"/>
          </a:ln>
        </p:spPr>
        <p:txBody>
          <a:bodyPr/>
          <a:p>
            <a:endParaRPr lang="zh-CN" altLang="en-US"/>
          </a:p>
        </p:txBody>
      </p:sp>
      <p:sp>
        <p:nvSpPr>
          <p:cNvPr id="136200" name="直接连接符 136199"/>
          <p:cNvSpPr/>
          <p:nvPr/>
        </p:nvSpPr>
        <p:spPr>
          <a:xfrm>
            <a:off x="3733800" y="2635250"/>
            <a:ext cx="1066800" cy="0"/>
          </a:xfrm>
          <a:prstGeom prst="line">
            <a:avLst/>
          </a:prstGeom>
          <a:ln w="19050" cap="flat" cmpd="sng">
            <a:solidFill>
              <a:srgbClr val="3333FF"/>
            </a:solidFill>
            <a:prstDash val="solid"/>
            <a:headEnd type="none" w="med" len="med"/>
            <a:tailEnd type="none" w="med" len="med"/>
          </a:ln>
        </p:spPr>
      </p:sp>
      <p:sp>
        <p:nvSpPr>
          <p:cNvPr id="136201" name="直接连接符 136200"/>
          <p:cNvSpPr/>
          <p:nvPr/>
        </p:nvSpPr>
        <p:spPr>
          <a:xfrm>
            <a:off x="3962400" y="3168650"/>
            <a:ext cx="1066800" cy="0"/>
          </a:xfrm>
          <a:prstGeom prst="line">
            <a:avLst/>
          </a:prstGeom>
          <a:ln w="19050" cap="flat" cmpd="sng">
            <a:solidFill>
              <a:srgbClr val="3333FF"/>
            </a:solidFill>
            <a:prstDash val="solid"/>
            <a:headEnd type="none" w="med" len="med"/>
            <a:tailEnd type="none" w="med" len="med"/>
          </a:ln>
        </p:spPr>
      </p:sp>
      <p:sp>
        <p:nvSpPr>
          <p:cNvPr id="136202" name="直接连接符 136201"/>
          <p:cNvSpPr/>
          <p:nvPr/>
        </p:nvSpPr>
        <p:spPr>
          <a:xfrm>
            <a:off x="5334000" y="2635250"/>
            <a:ext cx="1143000" cy="0"/>
          </a:xfrm>
          <a:prstGeom prst="line">
            <a:avLst/>
          </a:prstGeom>
          <a:ln w="19050" cap="flat" cmpd="sng">
            <a:solidFill>
              <a:srgbClr val="669900"/>
            </a:solidFill>
            <a:prstDash val="solid"/>
            <a:headEnd type="none" w="med" len="med"/>
            <a:tailEnd type="none" w="med" len="med"/>
          </a:ln>
        </p:spPr>
      </p:sp>
      <p:sp>
        <p:nvSpPr>
          <p:cNvPr id="136203" name="直接连接符 136202"/>
          <p:cNvSpPr/>
          <p:nvPr/>
        </p:nvSpPr>
        <p:spPr>
          <a:xfrm>
            <a:off x="5562600" y="3168650"/>
            <a:ext cx="1143000" cy="0"/>
          </a:xfrm>
          <a:prstGeom prst="line">
            <a:avLst/>
          </a:prstGeom>
          <a:ln w="19050" cap="flat" cmpd="sng">
            <a:solidFill>
              <a:srgbClr val="669900"/>
            </a:solidFill>
            <a:prstDash val="solid"/>
            <a:headEnd type="none" w="med" len="med"/>
            <a:tailEnd type="none" w="med" len="med"/>
          </a:ln>
        </p:spPr>
      </p:sp>
      <p:sp>
        <p:nvSpPr>
          <p:cNvPr id="136204" name="直接连接符 136203"/>
          <p:cNvSpPr/>
          <p:nvPr/>
        </p:nvSpPr>
        <p:spPr>
          <a:xfrm>
            <a:off x="6934200" y="2635250"/>
            <a:ext cx="1143000" cy="0"/>
          </a:xfrm>
          <a:prstGeom prst="line">
            <a:avLst/>
          </a:prstGeom>
          <a:ln w="19050" cap="flat" cmpd="sng">
            <a:solidFill>
              <a:srgbClr val="FF0000"/>
            </a:solidFill>
            <a:prstDash val="solid"/>
            <a:headEnd type="none" w="med" len="med"/>
            <a:tailEnd type="none" w="med" len="med"/>
          </a:ln>
        </p:spPr>
      </p:sp>
      <p:sp>
        <p:nvSpPr>
          <p:cNvPr id="136205" name="直接连接符 136204"/>
          <p:cNvSpPr/>
          <p:nvPr/>
        </p:nvSpPr>
        <p:spPr>
          <a:xfrm>
            <a:off x="7239000" y="3168650"/>
            <a:ext cx="1143000" cy="0"/>
          </a:xfrm>
          <a:prstGeom prst="line">
            <a:avLst/>
          </a:prstGeom>
          <a:ln w="19050" cap="flat" cmpd="sng">
            <a:solidFill>
              <a:srgbClr val="FF0000"/>
            </a:solidFill>
            <a:prstDash val="solid"/>
            <a:headEnd type="none" w="med" len="med"/>
            <a:tailEnd type="none" w="med" len="med"/>
          </a:ln>
        </p:spPr>
      </p:sp>
      <p:graphicFrame>
        <p:nvGraphicFramePr>
          <p:cNvPr id="136206" name="对象 136205"/>
          <p:cNvGraphicFramePr/>
          <p:nvPr/>
        </p:nvGraphicFramePr>
        <p:xfrm>
          <a:off x="920115" y="3542030"/>
          <a:ext cx="3147695" cy="462915"/>
        </p:xfrm>
        <a:graphic>
          <a:graphicData uri="http://schemas.openxmlformats.org/presentationml/2006/ole">
            <mc:AlternateContent xmlns:mc="http://schemas.openxmlformats.org/markup-compatibility/2006">
              <mc:Choice xmlns:v="urn:schemas-microsoft-com:vml" Requires="v">
                <p:oleObj spid="_x0000_s3412" name="" r:id="rId5" imgW="3148330" imgH="431800" progId="Equation.3">
                  <p:embed/>
                </p:oleObj>
              </mc:Choice>
              <mc:Fallback>
                <p:oleObj name="" r:id="rId5" imgW="3148330" imgH="431800" progId="Equation.3">
                  <p:embed/>
                  <p:pic>
                    <p:nvPicPr>
                      <p:cNvPr id="0" name="图片 3411"/>
                      <p:cNvPicPr/>
                      <p:nvPr/>
                    </p:nvPicPr>
                    <p:blipFill>
                      <a:blip r:embed="rId6"/>
                      <a:stretch>
                        <a:fillRect/>
                      </a:stretch>
                    </p:blipFill>
                    <p:spPr>
                      <a:xfrm>
                        <a:off x="920115" y="3542030"/>
                        <a:ext cx="3147695" cy="462915"/>
                      </a:xfrm>
                      <a:prstGeom prst="rect">
                        <a:avLst/>
                      </a:prstGeom>
                      <a:noFill/>
                      <a:ln w="38100">
                        <a:noFill/>
                        <a:miter/>
                      </a:ln>
                    </p:spPr>
                  </p:pic>
                </p:oleObj>
              </mc:Fallback>
            </mc:AlternateContent>
          </a:graphicData>
        </a:graphic>
      </p:graphicFrame>
      <p:graphicFrame>
        <p:nvGraphicFramePr>
          <p:cNvPr id="136207" name="对象 136206"/>
          <p:cNvGraphicFramePr/>
          <p:nvPr/>
        </p:nvGraphicFramePr>
        <p:xfrm>
          <a:off x="4232910" y="3538220"/>
          <a:ext cx="3135630" cy="466725"/>
        </p:xfrm>
        <a:graphic>
          <a:graphicData uri="http://schemas.openxmlformats.org/presentationml/2006/ole">
            <mc:AlternateContent xmlns:mc="http://schemas.openxmlformats.org/markup-compatibility/2006">
              <mc:Choice xmlns:v="urn:schemas-microsoft-com:vml" Requires="v">
                <p:oleObj spid="_x0000_s3413" name="" r:id="rId7" imgW="3135630" imgH="431800" progId="Equation.3">
                  <p:embed/>
                </p:oleObj>
              </mc:Choice>
              <mc:Fallback>
                <p:oleObj name="" r:id="rId7" imgW="3135630" imgH="431800" progId="Equation.3">
                  <p:embed/>
                  <p:pic>
                    <p:nvPicPr>
                      <p:cNvPr id="0" name="图片 3412"/>
                      <p:cNvPicPr/>
                      <p:nvPr/>
                    </p:nvPicPr>
                    <p:blipFill>
                      <a:blip r:embed="rId8"/>
                      <a:stretch>
                        <a:fillRect/>
                      </a:stretch>
                    </p:blipFill>
                    <p:spPr>
                      <a:xfrm>
                        <a:off x="4232910" y="3538220"/>
                        <a:ext cx="3135630" cy="466725"/>
                      </a:xfrm>
                      <a:prstGeom prst="rect">
                        <a:avLst/>
                      </a:prstGeom>
                      <a:noFill/>
                      <a:ln w="38100">
                        <a:noFill/>
                        <a:miter/>
                      </a:ln>
                    </p:spPr>
                  </p:pic>
                </p:oleObj>
              </mc:Fallback>
            </mc:AlternateContent>
          </a:graphicData>
        </a:graphic>
      </p:graphicFrame>
      <p:graphicFrame>
        <p:nvGraphicFramePr>
          <p:cNvPr id="136208" name="对象 136207"/>
          <p:cNvGraphicFramePr/>
          <p:nvPr/>
        </p:nvGraphicFramePr>
        <p:xfrm>
          <a:off x="939165" y="4195445"/>
          <a:ext cx="3177540" cy="477520"/>
        </p:xfrm>
        <a:graphic>
          <a:graphicData uri="http://schemas.openxmlformats.org/presentationml/2006/ole">
            <mc:AlternateContent xmlns:mc="http://schemas.openxmlformats.org/markup-compatibility/2006">
              <mc:Choice xmlns:v="urn:schemas-microsoft-com:vml" Requires="v">
                <p:oleObj spid="_x0000_s3411" name="" r:id="rId9" imgW="3135630" imgH="431800" progId="Equation.3">
                  <p:embed/>
                </p:oleObj>
              </mc:Choice>
              <mc:Fallback>
                <p:oleObj name="" r:id="rId9" imgW="3135630" imgH="431800" progId="Equation.3">
                  <p:embed/>
                  <p:pic>
                    <p:nvPicPr>
                      <p:cNvPr id="0" name="图片 3410"/>
                      <p:cNvPicPr/>
                      <p:nvPr/>
                    </p:nvPicPr>
                    <p:blipFill>
                      <a:blip r:embed="rId10"/>
                      <a:stretch>
                        <a:fillRect/>
                      </a:stretch>
                    </p:blipFill>
                    <p:spPr>
                      <a:xfrm>
                        <a:off x="939165" y="4195445"/>
                        <a:ext cx="3177540" cy="477520"/>
                      </a:xfrm>
                      <a:prstGeom prst="rect">
                        <a:avLst/>
                      </a:prstGeom>
                      <a:noFill/>
                      <a:ln w="38100">
                        <a:noFill/>
                        <a:miter/>
                      </a:ln>
                    </p:spPr>
                  </p:pic>
                </p:oleObj>
              </mc:Fallback>
            </mc:AlternateContent>
          </a:graphicData>
        </a:graphic>
      </p:graphicFrame>
      <p:graphicFrame>
        <p:nvGraphicFramePr>
          <p:cNvPr id="136209" name="对象 136208"/>
          <p:cNvGraphicFramePr/>
          <p:nvPr/>
        </p:nvGraphicFramePr>
        <p:xfrm>
          <a:off x="955040" y="4811395"/>
          <a:ext cx="7250430" cy="1110615"/>
        </p:xfrm>
        <a:graphic>
          <a:graphicData uri="http://schemas.openxmlformats.org/presentationml/2006/ole">
            <mc:AlternateContent xmlns:mc="http://schemas.openxmlformats.org/markup-compatibility/2006">
              <mc:Choice xmlns:v="urn:schemas-microsoft-com:vml" Requires="v">
                <p:oleObj spid="_x0000_s3407" name="" r:id="rId11" imgW="7188200" imgH="889000" progId="Equation.3">
                  <p:embed/>
                </p:oleObj>
              </mc:Choice>
              <mc:Fallback>
                <p:oleObj name="" r:id="rId11" imgW="7188200" imgH="889000" progId="Equation.3">
                  <p:embed/>
                  <p:pic>
                    <p:nvPicPr>
                      <p:cNvPr id="0" name="图片 3406"/>
                      <p:cNvPicPr/>
                      <p:nvPr/>
                    </p:nvPicPr>
                    <p:blipFill>
                      <a:blip r:embed="rId12"/>
                      <a:stretch>
                        <a:fillRect/>
                      </a:stretch>
                    </p:blipFill>
                    <p:spPr>
                      <a:xfrm>
                        <a:off x="955040" y="4811395"/>
                        <a:ext cx="7250430" cy="1110615"/>
                      </a:xfrm>
                      <a:prstGeom prst="rect">
                        <a:avLst/>
                      </a:prstGeom>
                      <a:noFill/>
                      <a:ln w="38100">
                        <a:noFill/>
                        <a:miter/>
                      </a:ln>
                    </p:spPr>
                  </p:pic>
                </p:oleObj>
              </mc:Fallback>
            </mc:AlternateContent>
          </a:graphicData>
        </a:graphic>
      </p:graphicFrame>
      <p:sp>
        <p:nvSpPr>
          <p:cNvPr id="136210" name="直接连接符 136209"/>
          <p:cNvSpPr/>
          <p:nvPr/>
        </p:nvSpPr>
        <p:spPr>
          <a:xfrm>
            <a:off x="2819400" y="2101850"/>
            <a:ext cx="0" cy="1066800"/>
          </a:xfrm>
          <a:prstGeom prst="line">
            <a:avLst/>
          </a:prstGeom>
          <a:ln w="9525" cap="flat" cmpd="sng">
            <a:solidFill>
              <a:srgbClr val="FF0000"/>
            </a:solidFill>
            <a:prstDash val="solid"/>
            <a:headEnd type="none" w="med" len="med"/>
            <a:tailEnd type="none" w="med" len="med"/>
          </a:ln>
        </p:spPr>
      </p:sp>
      <p:sp>
        <p:nvSpPr>
          <p:cNvPr id="136211" name="直接连接符 136210"/>
          <p:cNvSpPr/>
          <p:nvPr/>
        </p:nvSpPr>
        <p:spPr>
          <a:xfrm>
            <a:off x="1981200" y="2101850"/>
            <a:ext cx="0" cy="1066800"/>
          </a:xfrm>
          <a:prstGeom prst="line">
            <a:avLst/>
          </a:prstGeom>
          <a:ln w="9525" cap="flat" cmpd="sng">
            <a:solidFill>
              <a:srgbClr val="FF0000"/>
            </a:solidFill>
            <a:prstDash val="solid"/>
            <a:headEnd type="none" w="med" len="med"/>
            <a:tailEnd type="none" w="med" len="med"/>
          </a:ln>
        </p:spPr>
      </p:sp>
      <p:sp>
        <p:nvSpPr>
          <p:cNvPr id="136212" name="直接连接符 136211"/>
          <p:cNvSpPr/>
          <p:nvPr/>
        </p:nvSpPr>
        <p:spPr>
          <a:xfrm>
            <a:off x="1143000" y="2101850"/>
            <a:ext cx="0" cy="1066800"/>
          </a:xfrm>
          <a:prstGeom prst="line">
            <a:avLst/>
          </a:prstGeom>
          <a:ln w="9525" cap="flat" cmpd="sng">
            <a:solidFill>
              <a:srgbClr val="FF0000"/>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36195">
                                            <p:txEl>
                                              <p:charRg st="0" end="12"/>
                                            </p:txEl>
                                          </p:spTgt>
                                        </p:tgtEl>
                                        <p:attrNameLst>
                                          <p:attrName>style.visibility</p:attrName>
                                        </p:attrNameLst>
                                      </p:cBhvr>
                                      <p:to>
                                        <p:strVal val="visible"/>
                                      </p:to>
                                    </p:set>
                                    <p:animEffect transition="in" filter="box(out)">
                                      <p:cBhvr>
                                        <p:cTn id="7" dur="500"/>
                                        <p:tgtEl>
                                          <p:spTgt spid="136195">
                                            <p:txEl>
                                              <p:charRg st="0"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36198">
                                            <p:txEl>
                                              <p:charRg st="0" end="12"/>
                                            </p:txEl>
                                          </p:spTgt>
                                        </p:tgtEl>
                                        <p:attrNameLst>
                                          <p:attrName>style.visibility</p:attrName>
                                        </p:attrNameLst>
                                      </p:cBhvr>
                                      <p:to>
                                        <p:strVal val="visible"/>
                                      </p:to>
                                    </p:set>
                                    <p:animEffect transition="in" filter="box(out)">
                                      <p:cBhvr>
                                        <p:cTn id="12" dur="500"/>
                                        <p:tgtEl>
                                          <p:spTgt spid="136198">
                                            <p:txEl>
                                              <p:charRg st="0" end="1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36197"/>
                                        </p:tgtEl>
                                        <p:attrNameLst>
                                          <p:attrName>style.visibility</p:attrName>
                                        </p:attrNameLst>
                                      </p:cBhvr>
                                      <p:to>
                                        <p:strVal val="visible"/>
                                      </p:to>
                                    </p:set>
                                    <p:animEffect transition="in" filter="box(out)">
                                      <p:cBhvr>
                                        <p:cTn id="17" dur="500"/>
                                        <p:tgtEl>
                                          <p:spTgt spid="136197"/>
                                        </p:tgtEl>
                                      </p:cBhvr>
                                    </p:animEffect>
                                  </p:childTnLst>
                                </p:cTn>
                              </p:par>
                            </p:childTnLst>
                          </p:cTn>
                        </p:par>
                        <p:par>
                          <p:cTn id="18" fill="hold">
                            <p:stCondLst>
                              <p:cond delay="500"/>
                            </p:stCondLst>
                            <p:childTnLst>
                              <p:par>
                                <p:cTn id="19" presetID="4" presetClass="entr" presetSubtype="32" fill="hold" nodeType="afterEffect">
                                  <p:stCondLst>
                                    <p:cond delay="0"/>
                                  </p:stCondLst>
                                  <p:childTnLst>
                                    <p:set>
                                      <p:cBhvr>
                                        <p:cTn id="20" dur="1" fill="hold">
                                          <p:stCondLst>
                                            <p:cond delay="0"/>
                                          </p:stCondLst>
                                        </p:cTn>
                                        <p:tgtEl>
                                          <p:spTgt spid="136196"/>
                                        </p:tgtEl>
                                        <p:attrNameLst>
                                          <p:attrName>style.visibility</p:attrName>
                                        </p:attrNameLst>
                                      </p:cBhvr>
                                      <p:to>
                                        <p:strVal val="visible"/>
                                      </p:to>
                                    </p:set>
                                    <p:animEffect transition="in" filter="box(out)">
                                      <p:cBhvr>
                                        <p:cTn id="21" dur="500"/>
                                        <p:tgtEl>
                                          <p:spTgt spid="136196"/>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136199"/>
                                        </p:tgtEl>
                                        <p:attrNameLst>
                                          <p:attrName>style.visibility</p:attrName>
                                        </p:attrNameLst>
                                      </p:cBhvr>
                                      <p:to>
                                        <p:strVal val="visible"/>
                                      </p:to>
                                    </p:set>
                                    <p:animEffect transition="in" filter="box(out)">
                                      <p:cBhvr>
                                        <p:cTn id="26" dur="500"/>
                                        <p:tgtEl>
                                          <p:spTgt spid="136199"/>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36200"/>
                                        </p:tgtEl>
                                        <p:attrNameLst>
                                          <p:attrName>style.visibility</p:attrName>
                                        </p:attrNameLst>
                                      </p:cBhvr>
                                      <p:to>
                                        <p:strVal val="visible"/>
                                      </p:to>
                                    </p:set>
                                    <p:animEffect transition="in" filter="box(out)">
                                      <p:cBhvr>
                                        <p:cTn id="31" dur="500"/>
                                        <p:tgtEl>
                                          <p:spTgt spid="136200"/>
                                        </p:tgtEl>
                                      </p:cBhvr>
                                    </p:animEffect>
                                  </p:childTnLst>
                                </p:cTn>
                              </p:par>
                            </p:childTnLst>
                          </p:cTn>
                        </p:par>
                        <p:par>
                          <p:cTn id="32" fill="hold">
                            <p:stCondLst>
                              <p:cond delay="500"/>
                            </p:stCondLst>
                            <p:childTnLst>
                              <p:par>
                                <p:cTn id="33" presetID="4" presetClass="entr" presetSubtype="32" fill="hold" nodeType="afterEffect">
                                  <p:stCondLst>
                                    <p:cond delay="0"/>
                                  </p:stCondLst>
                                  <p:childTnLst>
                                    <p:set>
                                      <p:cBhvr>
                                        <p:cTn id="34" dur="1" fill="hold">
                                          <p:stCondLst>
                                            <p:cond delay="0"/>
                                          </p:stCondLst>
                                        </p:cTn>
                                        <p:tgtEl>
                                          <p:spTgt spid="136201"/>
                                        </p:tgtEl>
                                        <p:attrNameLst>
                                          <p:attrName>style.visibility</p:attrName>
                                        </p:attrNameLst>
                                      </p:cBhvr>
                                      <p:to>
                                        <p:strVal val="visible"/>
                                      </p:to>
                                    </p:set>
                                    <p:animEffect transition="in" filter="box(out)">
                                      <p:cBhvr>
                                        <p:cTn id="35" dur="500"/>
                                        <p:tgtEl>
                                          <p:spTgt spid="136201"/>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nodeType="clickEffect">
                                  <p:stCondLst>
                                    <p:cond delay="0"/>
                                  </p:stCondLst>
                                  <p:childTnLst>
                                    <p:set>
                                      <p:cBhvr>
                                        <p:cTn id="39" dur="1" fill="hold">
                                          <p:stCondLst>
                                            <p:cond delay="0"/>
                                          </p:stCondLst>
                                        </p:cTn>
                                        <p:tgtEl>
                                          <p:spTgt spid="136206"/>
                                        </p:tgtEl>
                                        <p:attrNameLst>
                                          <p:attrName>style.visibility</p:attrName>
                                        </p:attrNameLst>
                                      </p:cBhvr>
                                      <p:to>
                                        <p:strVal val="visible"/>
                                      </p:to>
                                    </p:set>
                                    <p:animEffect transition="in" filter="box(out)">
                                      <p:cBhvr>
                                        <p:cTn id="40" dur="500"/>
                                        <p:tgtEl>
                                          <p:spTgt spid="136206"/>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32" fill="hold" nodeType="clickEffect">
                                  <p:stCondLst>
                                    <p:cond delay="0"/>
                                  </p:stCondLst>
                                  <p:childTnLst>
                                    <p:set>
                                      <p:cBhvr>
                                        <p:cTn id="44" dur="1" fill="hold">
                                          <p:stCondLst>
                                            <p:cond delay="0"/>
                                          </p:stCondLst>
                                        </p:cTn>
                                        <p:tgtEl>
                                          <p:spTgt spid="136202"/>
                                        </p:tgtEl>
                                        <p:attrNameLst>
                                          <p:attrName>style.visibility</p:attrName>
                                        </p:attrNameLst>
                                      </p:cBhvr>
                                      <p:to>
                                        <p:strVal val="visible"/>
                                      </p:to>
                                    </p:set>
                                    <p:animEffect transition="in" filter="box(out)">
                                      <p:cBhvr>
                                        <p:cTn id="45" dur="500"/>
                                        <p:tgtEl>
                                          <p:spTgt spid="136202"/>
                                        </p:tgtEl>
                                      </p:cBhvr>
                                    </p:animEffect>
                                  </p:childTnLst>
                                </p:cTn>
                              </p:par>
                            </p:childTnLst>
                          </p:cTn>
                        </p:par>
                        <p:par>
                          <p:cTn id="46" fill="hold">
                            <p:stCondLst>
                              <p:cond delay="500"/>
                            </p:stCondLst>
                            <p:childTnLst>
                              <p:par>
                                <p:cTn id="47" presetID="4" presetClass="entr" presetSubtype="32" fill="hold" nodeType="afterEffect">
                                  <p:stCondLst>
                                    <p:cond delay="0"/>
                                  </p:stCondLst>
                                  <p:childTnLst>
                                    <p:set>
                                      <p:cBhvr>
                                        <p:cTn id="48" dur="1" fill="hold">
                                          <p:stCondLst>
                                            <p:cond delay="0"/>
                                          </p:stCondLst>
                                        </p:cTn>
                                        <p:tgtEl>
                                          <p:spTgt spid="136203"/>
                                        </p:tgtEl>
                                        <p:attrNameLst>
                                          <p:attrName>style.visibility</p:attrName>
                                        </p:attrNameLst>
                                      </p:cBhvr>
                                      <p:to>
                                        <p:strVal val="visible"/>
                                      </p:to>
                                    </p:set>
                                    <p:animEffect transition="in" filter="box(out)">
                                      <p:cBhvr>
                                        <p:cTn id="49" dur="500"/>
                                        <p:tgtEl>
                                          <p:spTgt spid="136203"/>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nodeType="clickEffect">
                                  <p:stCondLst>
                                    <p:cond delay="0"/>
                                  </p:stCondLst>
                                  <p:childTnLst>
                                    <p:set>
                                      <p:cBhvr>
                                        <p:cTn id="53" dur="1" fill="hold">
                                          <p:stCondLst>
                                            <p:cond delay="0"/>
                                          </p:stCondLst>
                                        </p:cTn>
                                        <p:tgtEl>
                                          <p:spTgt spid="136207"/>
                                        </p:tgtEl>
                                        <p:attrNameLst>
                                          <p:attrName>style.visibility</p:attrName>
                                        </p:attrNameLst>
                                      </p:cBhvr>
                                      <p:to>
                                        <p:strVal val="visible"/>
                                      </p:to>
                                    </p:set>
                                    <p:animEffect transition="in" filter="box(out)">
                                      <p:cBhvr>
                                        <p:cTn id="54" dur="500"/>
                                        <p:tgtEl>
                                          <p:spTgt spid="136207"/>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32" fill="hold" nodeType="clickEffect">
                                  <p:stCondLst>
                                    <p:cond delay="0"/>
                                  </p:stCondLst>
                                  <p:childTnLst>
                                    <p:set>
                                      <p:cBhvr>
                                        <p:cTn id="58" dur="1" fill="hold">
                                          <p:stCondLst>
                                            <p:cond delay="0"/>
                                          </p:stCondLst>
                                        </p:cTn>
                                        <p:tgtEl>
                                          <p:spTgt spid="136204"/>
                                        </p:tgtEl>
                                        <p:attrNameLst>
                                          <p:attrName>style.visibility</p:attrName>
                                        </p:attrNameLst>
                                      </p:cBhvr>
                                      <p:to>
                                        <p:strVal val="visible"/>
                                      </p:to>
                                    </p:set>
                                    <p:animEffect transition="in" filter="box(out)">
                                      <p:cBhvr>
                                        <p:cTn id="59" dur="500"/>
                                        <p:tgtEl>
                                          <p:spTgt spid="136204"/>
                                        </p:tgtEl>
                                      </p:cBhvr>
                                    </p:animEffect>
                                  </p:childTnLst>
                                </p:cTn>
                              </p:par>
                            </p:childTnLst>
                          </p:cTn>
                        </p:par>
                        <p:par>
                          <p:cTn id="60" fill="hold">
                            <p:stCondLst>
                              <p:cond delay="500"/>
                            </p:stCondLst>
                            <p:childTnLst>
                              <p:par>
                                <p:cTn id="61" presetID="4" presetClass="entr" presetSubtype="32" fill="hold" nodeType="afterEffect">
                                  <p:stCondLst>
                                    <p:cond delay="0"/>
                                  </p:stCondLst>
                                  <p:childTnLst>
                                    <p:set>
                                      <p:cBhvr>
                                        <p:cTn id="62" dur="1" fill="hold">
                                          <p:stCondLst>
                                            <p:cond delay="0"/>
                                          </p:stCondLst>
                                        </p:cTn>
                                        <p:tgtEl>
                                          <p:spTgt spid="136205"/>
                                        </p:tgtEl>
                                        <p:attrNameLst>
                                          <p:attrName>style.visibility</p:attrName>
                                        </p:attrNameLst>
                                      </p:cBhvr>
                                      <p:to>
                                        <p:strVal val="visible"/>
                                      </p:to>
                                    </p:set>
                                    <p:animEffect transition="in" filter="box(out)">
                                      <p:cBhvr>
                                        <p:cTn id="63" dur="500"/>
                                        <p:tgtEl>
                                          <p:spTgt spid="136205"/>
                                        </p:tgtEl>
                                      </p:cBhvr>
                                    </p:animEffect>
                                  </p:childTnLst>
                                </p:cTn>
                              </p:par>
                            </p:childTnLst>
                          </p:cTn>
                        </p:par>
                      </p:childTnLst>
                    </p:cTn>
                  </p:par>
                  <p:par>
                    <p:cTn id="64" fill="hold">
                      <p:stCondLst>
                        <p:cond delay="indefinite"/>
                      </p:stCondLst>
                      <p:childTnLst>
                        <p:par>
                          <p:cTn id="65" fill="hold">
                            <p:stCondLst>
                              <p:cond delay="0"/>
                            </p:stCondLst>
                            <p:childTnLst>
                              <p:par>
                                <p:cTn id="66" presetID="4" presetClass="entr" presetSubtype="32" fill="hold" nodeType="clickEffect">
                                  <p:stCondLst>
                                    <p:cond delay="0"/>
                                  </p:stCondLst>
                                  <p:childTnLst>
                                    <p:set>
                                      <p:cBhvr>
                                        <p:cTn id="67" dur="1" fill="hold">
                                          <p:stCondLst>
                                            <p:cond delay="0"/>
                                          </p:stCondLst>
                                        </p:cTn>
                                        <p:tgtEl>
                                          <p:spTgt spid="136208"/>
                                        </p:tgtEl>
                                        <p:attrNameLst>
                                          <p:attrName>style.visibility</p:attrName>
                                        </p:attrNameLst>
                                      </p:cBhvr>
                                      <p:to>
                                        <p:strVal val="visible"/>
                                      </p:to>
                                    </p:set>
                                    <p:animEffect transition="in" filter="box(out)">
                                      <p:cBhvr>
                                        <p:cTn id="68" dur="500"/>
                                        <p:tgtEl>
                                          <p:spTgt spid="136208"/>
                                        </p:tgtEl>
                                      </p:cBhvr>
                                    </p:animEffect>
                                  </p:childTnLst>
                                </p:cTn>
                              </p:par>
                            </p:childTnLst>
                          </p:cTn>
                        </p:par>
                      </p:childTnLst>
                    </p:cTn>
                  </p:par>
                  <p:par>
                    <p:cTn id="69" fill="hold">
                      <p:stCondLst>
                        <p:cond delay="indefinite"/>
                      </p:stCondLst>
                      <p:childTnLst>
                        <p:par>
                          <p:cTn id="70" fill="hold">
                            <p:stCondLst>
                              <p:cond delay="0"/>
                            </p:stCondLst>
                            <p:childTnLst>
                              <p:par>
                                <p:cTn id="71" presetID="4" presetClass="entr" presetSubtype="32" fill="hold" nodeType="clickEffect">
                                  <p:stCondLst>
                                    <p:cond delay="0"/>
                                  </p:stCondLst>
                                  <p:childTnLst>
                                    <p:set>
                                      <p:cBhvr>
                                        <p:cTn id="72" dur="1" fill="hold">
                                          <p:stCondLst>
                                            <p:cond delay="0"/>
                                          </p:stCondLst>
                                        </p:cTn>
                                        <p:tgtEl>
                                          <p:spTgt spid="136209"/>
                                        </p:tgtEl>
                                        <p:attrNameLst>
                                          <p:attrName>style.visibility</p:attrName>
                                        </p:attrNameLst>
                                      </p:cBhvr>
                                      <p:to>
                                        <p:strVal val="visible"/>
                                      </p:to>
                                    </p:set>
                                    <p:animEffect transition="in" filter="box(out)">
                                      <p:cBhvr>
                                        <p:cTn id="73" dur="500"/>
                                        <p:tgtEl>
                                          <p:spTgt spid="136209"/>
                                        </p:tgtEl>
                                      </p:cBhvr>
                                    </p:animEffect>
                                  </p:childTnLst>
                                </p:cTn>
                              </p:par>
                            </p:childTnLst>
                          </p:cTn>
                        </p:par>
                      </p:childTnLst>
                    </p:cTn>
                  </p:par>
                  <p:par>
                    <p:cTn id="74" fill="hold">
                      <p:stCondLst>
                        <p:cond delay="indefinite"/>
                      </p:stCondLst>
                      <p:childTnLst>
                        <p:par>
                          <p:cTn id="75" fill="hold">
                            <p:stCondLst>
                              <p:cond delay="0"/>
                            </p:stCondLst>
                            <p:childTnLst>
                              <p:par>
                                <p:cTn id="76" presetID="4" presetClass="entr" presetSubtype="32" fill="hold" nodeType="clickEffect">
                                  <p:stCondLst>
                                    <p:cond delay="0"/>
                                  </p:stCondLst>
                                  <p:childTnLst>
                                    <p:set>
                                      <p:cBhvr>
                                        <p:cTn id="77" dur="1" fill="hold">
                                          <p:stCondLst>
                                            <p:cond delay="0"/>
                                          </p:stCondLst>
                                        </p:cTn>
                                        <p:tgtEl>
                                          <p:spTgt spid="136212"/>
                                        </p:tgtEl>
                                        <p:attrNameLst>
                                          <p:attrName>style.visibility</p:attrName>
                                        </p:attrNameLst>
                                      </p:cBhvr>
                                      <p:to>
                                        <p:strVal val="visible"/>
                                      </p:to>
                                    </p:set>
                                    <p:animEffect transition="in" filter="box(out)">
                                      <p:cBhvr>
                                        <p:cTn id="78" dur="500"/>
                                        <p:tgtEl>
                                          <p:spTgt spid="136212"/>
                                        </p:tgtEl>
                                      </p:cBhvr>
                                    </p:animEffect>
                                  </p:childTnLst>
                                  <p:subTnLst>
                                    <p:set>
                                      <p:cBhvr override="childStyle">
                                        <p:cTn dur="1" fill="hold" display="0" masterRel="nextClick" afterEffect="1"/>
                                        <p:tgtEl>
                                          <p:spTgt spid="136212"/>
                                        </p:tgtEl>
                                        <p:attrNameLst>
                                          <p:attrName>style.visibility</p:attrName>
                                        </p:attrNameLst>
                                      </p:cBhvr>
                                      <p:to>
                                        <p:strVal val="hidden"/>
                                      </p:to>
                                    </p:set>
                                  </p:subTnLst>
                                </p:cTn>
                              </p:par>
                            </p:childTnLst>
                          </p:cTn>
                        </p:par>
                      </p:childTnLst>
                    </p:cTn>
                  </p:par>
                  <p:par>
                    <p:cTn id="79" fill="hold">
                      <p:stCondLst>
                        <p:cond delay="indefinite"/>
                      </p:stCondLst>
                      <p:childTnLst>
                        <p:par>
                          <p:cTn id="80" fill="hold">
                            <p:stCondLst>
                              <p:cond delay="0"/>
                            </p:stCondLst>
                            <p:childTnLst>
                              <p:par>
                                <p:cTn id="81" presetID="4" presetClass="entr" presetSubtype="32" fill="hold" nodeType="clickEffect">
                                  <p:stCondLst>
                                    <p:cond delay="0"/>
                                  </p:stCondLst>
                                  <p:childTnLst>
                                    <p:set>
                                      <p:cBhvr>
                                        <p:cTn id="82" dur="1" fill="hold">
                                          <p:stCondLst>
                                            <p:cond delay="0"/>
                                          </p:stCondLst>
                                        </p:cTn>
                                        <p:tgtEl>
                                          <p:spTgt spid="136211"/>
                                        </p:tgtEl>
                                        <p:attrNameLst>
                                          <p:attrName>style.visibility</p:attrName>
                                        </p:attrNameLst>
                                      </p:cBhvr>
                                      <p:to>
                                        <p:strVal val="visible"/>
                                      </p:to>
                                    </p:set>
                                    <p:animEffect transition="in" filter="box(out)">
                                      <p:cBhvr>
                                        <p:cTn id="83" dur="500"/>
                                        <p:tgtEl>
                                          <p:spTgt spid="136211"/>
                                        </p:tgtEl>
                                      </p:cBhvr>
                                    </p:animEffect>
                                  </p:childTnLst>
                                  <p:subTnLst>
                                    <p:set>
                                      <p:cBhvr override="childStyle">
                                        <p:cTn dur="1" fill="hold" display="0" masterRel="nextClick" afterEffect="1"/>
                                        <p:tgtEl>
                                          <p:spTgt spid="136211"/>
                                        </p:tgtEl>
                                        <p:attrNameLst>
                                          <p:attrName>style.visibility</p:attrName>
                                        </p:attrNameLst>
                                      </p:cBhvr>
                                      <p:to>
                                        <p:strVal val="hidden"/>
                                      </p:to>
                                    </p:set>
                                  </p:subTnLst>
                                </p:cTn>
                              </p:par>
                            </p:childTnLst>
                          </p:cTn>
                        </p:par>
                      </p:childTnLst>
                    </p:cTn>
                  </p:par>
                  <p:par>
                    <p:cTn id="84" fill="hold">
                      <p:stCondLst>
                        <p:cond delay="indefinite"/>
                      </p:stCondLst>
                      <p:childTnLst>
                        <p:par>
                          <p:cTn id="85" fill="hold">
                            <p:stCondLst>
                              <p:cond delay="0"/>
                            </p:stCondLst>
                            <p:childTnLst>
                              <p:par>
                                <p:cTn id="86" presetID="4" presetClass="entr" presetSubtype="32" fill="hold" nodeType="clickEffect">
                                  <p:stCondLst>
                                    <p:cond delay="0"/>
                                  </p:stCondLst>
                                  <p:childTnLst>
                                    <p:set>
                                      <p:cBhvr>
                                        <p:cTn id="87" dur="1" fill="hold">
                                          <p:stCondLst>
                                            <p:cond delay="0"/>
                                          </p:stCondLst>
                                        </p:cTn>
                                        <p:tgtEl>
                                          <p:spTgt spid="136210"/>
                                        </p:tgtEl>
                                        <p:attrNameLst>
                                          <p:attrName>style.visibility</p:attrName>
                                        </p:attrNameLst>
                                      </p:cBhvr>
                                      <p:to>
                                        <p:strVal val="visible"/>
                                      </p:to>
                                    </p:set>
                                    <p:animEffect transition="in" filter="box(out)">
                                      <p:cBhvr>
                                        <p:cTn id="88" dur="500"/>
                                        <p:tgtEl>
                                          <p:spTgt spid="136210"/>
                                        </p:tgtEl>
                                      </p:cBhvr>
                                    </p:animEffect>
                                  </p:childTnLst>
                                  <p:subTnLst>
                                    <p:set>
                                      <p:cBhvr override="childStyle">
                                        <p:cTn dur="1" fill="hold" display="0" masterRel="nextClick" afterEffect="1"/>
                                        <p:tgtEl>
                                          <p:spTgt spid="1362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build="p"/>
      <p:bldP spid="136198"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矩形 137217"/>
          <p:cNvSpPr/>
          <p:nvPr/>
        </p:nvSpPr>
        <p:spPr>
          <a:xfrm>
            <a:off x="179705" y="188278"/>
            <a:ext cx="8456613" cy="2417445"/>
          </a:xfrm>
          <a:prstGeom prst="rect">
            <a:avLst/>
          </a:prstGeom>
          <a:noFill/>
          <a:ln w="9525">
            <a:noFill/>
          </a:ln>
        </p:spPr>
        <p:txBody>
          <a:bodyPr anchor="t" anchorCtr="0">
            <a:spAutoFit/>
          </a:bodyPr>
          <a:p>
            <a:pPr>
              <a:lnSpc>
                <a:spcPct val="135000"/>
              </a:lnSpc>
            </a:pPr>
            <a:r>
              <a:rPr lang="en-US" altLang="zh-CN" dirty="0">
                <a:latin typeface="Times New Roman" panose="02020603050405020304" pitchFamily="18" charset="0"/>
              </a:rPr>
              <a:t>     </a:t>
            </a:r>
            <a:r>
              <a:rPr lang="zh-CN" altLang="en-US" dirty="0">
                <a:solidFill>
                  <a:srgbClr val="FF3300"/>
                </a:solidFill>
                <a:latin typeface="Times New Roman" panose="02020603050405020304" pitchFamily="18" charset="0"/>
              </a:rPr>
              <a:t>定义</a:t>
            </a:r>
            <a:r>
              <a:rPr lang="en-US" altLang="zh-CN" dirty="0">
                <a:solidFill>
                  <a:srgbClr val="FF3300"/>
                </a:solidFill>
                <a:latin typeface="Times New Roman" panose="02020603050405020304" pitchFamily="18" charset="0"/>
              </a:rPr>
              <a:t>1.3.1</a:t>
            </a:r>
            <a:r>
              <a:rPr lang="en-US" altLang="zh-CN" dirty="0">
                <a:latin typeface="Times New Roman" panose="02020603050405020304" pitchFamily="18" charset="0"/>
              </a:rPr>
              <a:t>  </a:t>
            </a:r>
            <a:r>
              <a:rPr lang="zh-CN" altLang="en-US" dirty="0">
                <a:latin typeface="Times New Roman" panose="02020603050405020304" pitchFamily="18" charset="0"/>
              </a:rPr>
              <a:t>在 </a:t>
            </a:r>
            <a:r>
              <a:rPr lang="en-US" altLang="zh-CN" i="1">
                <a:latin typeface="Times New Roman" panose="02020603050405020304" pitchFamily="18" charset="0"/>
              </a:rPr>
              <a:t>n </a:t>
            </a:r>
            <a:r>
              <a:rPr lang="zh-CN" altLang="en-US" dirty="0">
                <a:latin typeface="Times New Roman" panose="02020603050405020304" pitchFamily="18" charset="0"/>
              </a:rPr>
              <a:t>阶行列式</a:t>
            </a:r>
            <a:r>
              <a:rPr lang="en-US" altLang="zh-CN" i="1">
                <a:latin typeface="Times New Roman" panose="02020603050405020304" pitchFamily="18" charset="0"/>
              </a:rPr>
              <a:t>D=det</a:t>
            </a:r>
            <a:r>
              <a:rPr lang="zh-CN" altLang="en-US" i="1">
                <a:sym typeface="+mn-ea"/>
              </a:rPr>
              <a:t>（</a:t>
            </a:r>
            <a:r>
              <a:rPr lang="en-US" altLang="zh-CN" i="1" err="1">
                <a:sym typeface="+mn-ea"/>
              </a:rPr>
              <a:t>a</a:t>
            </a:r>
            <a:r>
              <a:rPr lang="en-US" altLang="zh-CN" i="1" baseline="-25000" err="1">
                <a:sym typeface="+mn-ea"/>
              </a:rPr>
              <a:t>ij</a:t>
            </a:r>
            <a:r>
              <a:rPr lang="en-US" altLang="zh-CN" i="1" baseline="-25000">
                <a:sym typeface="+mn-ea"/>
              </a:rPr>
              <a:t> </a:t>
            </a:r>
            <a:r>
              <a:rPr lang="zh-CN" altLang="en-US" dirty="0">
                <a:latin typeface="Times New Roman" panose="02020603050405020304" pitchFamily="18" charset="0"/>
              </a:rPr>
              <a:t>）</a:t>
            </a:r>
            <a:r>
              <a:rPr lang="zh-CN">
                <a:latin typeface="Times New Roman" panose="02020603050405020304" pitchFamily="18" charset="0"/>
              </a:rPr>
              <a:t>划去</a:t>
            </a:r>
            <a:r>
              <a:rPr lang="zh-CN" altLang="en-US" dirty="0">
                <a:latin typeface="Times New Roman" panose="02020603050405020304" pitchFamily="18" charset="0"/>
              </a:rPr>
              <a:t>元素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a:latin typeface="Times New Roman" panose="02020603050405020304" pitchFamily="18" charset="0"/>
              </a:rPr>
              <a:t> </a:t>
            </a:r>
            <a:r>
              <a:rPr lang="zh-CN" altLang="en-US" dirty="0">
                <a:latin typeface="Times New Roman" panose="02020603050405020304" pitchFamily="18" charset="0"/>
              </a:rPr>
              <a:t>所在的第 </a:t>
            </a:r>
            <a:r>
              <a:rPr lang="en-US" altLang="zh-CN" i="1">
                <a:latin typeface="Times New Roman" panose="02020603050405020304" pitchFamily="18" charset="0"/>
              </a:rPr>
              <a:t>i</a:t>
            </a:r>
            <a:r>
              <a:rPr lang="en-US" altLang="zh-CN">
                <a:latin typeface="Times New Roman" panose="02020603050405020304" pitchFamily="18" charset="0"/>
              </a:rPr>
              <a:t> </a:t>
            </a:r>
            <a:r>
              <a:rPr lang="zh-CN" altLang="en-US" dirty="0">
                <a:latin typeface="Times New Roman" panose="02020603050405020304" pitchFamily="18" charset="0"/>
              </a:rPr>
              <a:t>行和第 </a:t>
            </a:r>
            <a:r>
              <a:rPr lang="en-US" altLang="zh-CN" i="1">
                <a:latin typeface="Times New Roman" panose="02020603050405020304" pitchFamily="18" charset="0"/>
              </a:rPr>
              <a:t>j</a:t>
            </a:r>
            <a:r>
              <a:rPr lang="en-US" altLang="zh-CN">
                <a:latin typeface="Times New Roman" panose="02020603050405020304" pitchFamily="18" charset="0"/>
              </a:rPr>
              <a:t> </a:t>
            </a:r>
            <a:r>
              <a:rPr lang="zh-CN" altLang="en-US" dirty="0">
                <a:latin typeface="Times New Roman" panose="02020603050405020304" pitchFamily="18" charset="0"/>
              </a:rPr>
              <a:t>列元素后</a:t>
            </a:r>
            <a:r>
              <a:rPr lang="en-US" altLang="zh-CN">
                <a:latin typeface="Times New Roman" panose="02020603050405020304" pitchFamily="18" charset="0"/>
              </a:rPr>
              <a:t>, </a:t>
            </a:r>
            <a:r>
              <a:rPr lang="zh-CN" altLang="en-US" dirty="0">
                <a:latin typeface="Times New Roman" panose="02020603050405020304" pitchFamily="18" charset="0"/>
              </a:rPr>
              <a:t>余下的</a:t>
            </a:r>
            <a:r>
              <a:rPr lang="en-US" altLang="zh-CN">
                <a:sym typeface="+mn-ea"/>
              </a:rPr>
              <a:t> (n–1)</a:t>
            </a:r>
            <a:r>
              <a:rPr lang="en-US" altLang="zh-CN" i="1" baseline="30000">
                <a:sym typeface="+mn-ea"/>
              </a:rPr>
              <a:t>2</a:t>
            </a:r>
            <a:r>
              <a:rPr lang="en-US" altLang="zh-CN" i="1" baseline="30000">
                <a:sym typeface="+mn-ea"/>
              </a:rPr>
              <a:t> </a:t>
            </a:r>
            <a:r>
              <a:rPr lang="zh-CN" altLang="en-US" dirty="0">
                <a:latin typeface="Times New Roman" panose="02020603050405020304" pitchFamily="18" charset="0"/>
              </a:rPr>
              <a:t>个元素按原来的顺序所构成的</a:t>
            </a:r>
            <a:r>
              <a:rPr lang="en-US" altLang="zh-CN" i="1">
                <a:latin typeface="Times New Roman" panose="02020603050405020304" pitchFamily="18" charset="0"/>
              </a:rPr>
              <a:t>n</a:t>
            </a:r>
            <a:r>
              <a:rPr lang="en-US" altLang="zh-CN">
                <a:latin typeface="Times New Roman" panose="02020603050405020304" pitchFamily="18" charset="0"/>
              </a:rPr>
              <a:t>–1 </a:t>
            </a:r>
            <a:r>
              <a:rPr lang="zh-CN" altLang="en-US" dirty="0">
                <a:latin typeface="Times New Roman" panose="02020603050405020304" pitchFamily="18" charset="0"/>
              </a:rPr>
              <a:t>阶行列式，称为行列式</a:t>
            </a:r>
            <a:r>
              <a:rPr lang="en-US" altLang="zh-CN" i="1">
                <a:latin typeface="Times New Roman" panose="02020603050405020304" pitchFamily="18" charset="0"/>
              </a:rPr>
              <a:t>D</a:t>
            </a:r>
            <a:r>
              <a:rPr lang="zh-CN" altLang="en-US" dirty="0">
                <a:latin typeface="Times New Roman" panose="02020603050405020304" pitchFamily="18" charset="0"/>
              </a:rPr>
              <a:t>中</a:t>
            </a:r>
            <a:r>
              <a:rPr lang="zh-CN" altLang="en-US" dirty="0">
                <a:latin typeface="Times New Roman" panose="02020603050405020304" pitchFamily="18" charset="0"/>
              </a:rPr>
              <a:t>元素</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i="1" baseline="-25000">
                <a:latin typeface="Times New Roman" panose="02020603050405020304" pitchFamily="18" charset="0"/>
              </a:rPr>
              <a:t> </a:t>
            </a:r>
            <a:r>
              <a:rPr lang="zh-CN" altLang="en-US">
                <a:latin typeface="Times New Roman" panose="02020603050405020304" pitchFamily="18" charset="0"/>
              </a:rPr>
              <a:t>的</a:t>
            </a:r>
            <a:r>
              <a:rPr lang="zh-CN" altLang="en-US" dirty="0">
                <a:solidFill>
                  <a:srgbClr val="3333FF"/>
                </a:solidFill>
                <a:latin typeface="Times New Roman" panose="02020603050405020304" pitchFamily="18" charset="0"/>
              </a:rPr>
              <a:t>余子式</a:t>
            </a:r>
            <a:r>
              <a:rPr lang="en-US" altLang="zh-CN">
                <a:latin typeface="Times New Roman" panose="02020603050405020304" pitchFamily="18" charset="0"/>
              </a:rPr>
              <a:t>, </a:t>
            </a:r>
            <a:r>
              <a:rPr lang="zh-CN" altLang="en-US" dirty="0">
                <a:latin typeface="Times New Roman" panose="02020603050405020304" pitchFamily="18" charset="0"/>
              </a:rPr>
              <a:t>记作 </a:t>
            </a:r>
            <a:r>
              <a:rPr lang="en-US" altLang="zh-CN" i="1" err="1">
                <a:latin typeface="Times New Roman" panose="02020603050405020304" pitchFamily="18" charset="0"/>
              </a:rPr>
              <a:t>M</a:t>
            </a:r>
            <a:r>
              <a:rPr lang="en-US" altLang="zh-CN" i="1" baseline="-25000" err="1">
                <a:latin typeface="Times New Roman" panose="02020603050405020304" pitchFamily="18" charset="0"/>
              </a:rPr>
              <a:t>ij</a:t>
            </a:r>
            <a:r>
              <a:rPr lang="en-US" altLang="zh-CN" i="1" baseline="-25000">
                <a:latin typeface="Times New Roman" panose="02020603050405020304" pitchFamily="18" charset="0"/>
              </a:rPr>
              <a:t> </a:t>
            </a:r>
            <a:r>
              <a:rPr lang="en-US" altLang="zh-CN">
                <a:latin typeface="Times New Roman" panose="02020603050405020304" pitchFamily="18" charset="0"/>
              </a:rPr>
              <a:t>. </a:t>
            </a:r>
            <a:r>
              <a:rPr lang="zh-CN" altLang="en-US" dirty="0">
                <a:latin typeface="Times New Roman" panose="02020603050405020304" pitchFamily="18" charset="0"/>
              </a:rPr>
              <a:t>即</a:t>
            </a:r>
            <a:endParaRPr lang="zh-CN" altLang="en-US" dirty="0">
              <a:latin typeface="Times New Roman" panose="02020603050405020304" pitchFamily="18" charset="0"/>
            </a:endParaRPr>
          </a:p>
        </p:txBody>
      </p:sp>
      <p:graphicFrame>
        <p:nvGraphicFramePr>
          <p:cNvPr id="137219" name="对象 137218"/>
          <p:cNvGraphicFramePr/>
          <p:nvPr/>
        </p:nvGraphicFramePr>
        <p:xfrm>
          <a:off x="561975" y="2708910"/>
          <a:ext cx="7733665" cy="3535045"/>
        </p:xfrm>
        <a:graphic>
          <a:graphicData uri="http://schemas.openxmlformats.org/presentationml/2006/ole">
            <mc:AlternateContent xmlns:mc="http://schemas.openxmlformats.org/markup-compatibility/2006">
              <mc:Choice xmlns:v="urn:schemas-microsoft-com:vml" Requires="v">
                <p:oleObj spid="_x0000_s3414" name="" r:id="rId1" imgW="3467100" imgH="1854200" progId="Equation.3">
                  <p:embed/>
                </p:oleObj>
              </mc:Choice>
              <mc:Fallback>
                <p:oleObj name="" r:id="rId1" imgW="3467100" imgH="1854200" progId="Equation.3">
                  <p:embed/>
                  <p:pic>
                    <p:nvPicPr>
                      <p:cNvPr id="0" name="图片 3413"/>
                      <p:cNvPicPr/>
                      <p:nvPr/>
                    </p:nvPicPr>
                    <p:blipFill>
                      <a:blip r:embed="rId2"/>
                      <a:stretch>
                        <a:fillRect/>
                      </a:stretch>
                    </p:blipFill>
                    <p:spPr>
                      <a:xfrm>
                        <a:off x="561975" y="2708910"/>
                        <a:ext cx="7733665" cy="3535045"/>
                      </a:xfrm>
                      <a:prstGeom prst="rect">
                        <a:avLst/>
                      </a:prstGeom>
                      <a:noFill/>
                      <a:ln w="38100">
                        <a:noFill/>
                        <a:miter/>
                      </a:ln>
                    </p:spPr>
                  </p:pic>
                </p:oleObj>
              </mc:Fallback>
            </mc:AlternateContent>
          </a:graphicData>
        </a:graphic>
      </p:graphicFrame>
      <p:sp>
        <p:nvSpPr>
          <p:cNvPr id="137220" name="矩形 137219"/>
          <p:cNvSpPr/>
          <p:nvPr/>
        </p:nvSpPr>
        <p:spPr>
          <a:xfrm>
            <a:off x="4859655" y="4437380"/>
            <a:ext cx="504190" cy="476885"/>
          </a:xfrm>
          <a:prstGeom prst="rect">
            <a:avLst/>
          </a:prstGeom>
          <a:noFill/>
          <a:ln w="28575" cap="flat" cmpd="sng">
            <a:solidFill>
              <a:srgbClr val="FF3300"/>
            </a:solidFill>
            <a:prstDash val="solid"/>
            <a:miter/>
            <a:headEnd type="none" w="med" len="med"/>
            <a:tailEnd type="none" w="med" len="med"/>
          </a:ln>
        </p:spPr>
        <p:txBody>
          <a:bodyPr/>
          <a:p>
            <a:endParaRPr lang="zh-CN" altLang="en-US"/>
          </a:p>
        </p:txBody>
      </p:sp>
      <p:grpSp>
        <p:nvGrpSpPr>
          <p:cNvPr id="137221" name="组合 137220"/>
          <p:cNvGrpSpPr>
            <a:grpSpLocks noChangeAspect="1"/>
          </p:cNvGrpSpPr>
          <p:nvPr/>
        </p:nvGrpSpPr>
        <p:grpSpPr>
          <a:xfrm>
            <a:off x="1258682" y="2780665"/>
            <a:ext cx="6967855" cy="3401695"/>
            <a:chOff x="718" y="0"/>
            <a:chExt cx="4464" cy="2256"/>
          </a:xfrm>
        </p:grpSpPr>
        <p:sp>
          <p:nvSpPr>
            <p:cNvPr id="137222" name="直接连接符 137221"/>
            <p:cNvSpPr>
              <a:spLocks noChangeAspect="1"/>
            </p:cNvSpPr>
            <p:nvPr/>
          </p:nvSpPr>
          <p:spPr>
            <a:xfrm>
              <a:off x="718" y="1290"/>
              <a:ext cx="4464" cy="0"/>
            </a:xfrm>
            <a:prstGeom prst="line">
              <a:avLst/>
            </a:prstGeom>
            <a:ln w="28575" cap="flat" cmpd="sng">
              <a:solidFill>
                <a:srgbClr val="FF3300"/>
              </a:solidFill>
              <a:prstDash val="solid"/>
              <a:headEnd type="none" w="med" len="med"/>
              <a:tailEnd type="none" w="med" len="med"/>
            </a:ln>
          </p:spPr>
        </p:sp>
        <p:sp>
          <p:nvSpPr>
            <p:cNvPr id="137223" name="直接连接符 137222"/>
            <p:cNvSpPr>
              <a:spLocks noChangeAspect="1"/>
            </p:cNvSpPr>
            <p:nvPr/>
          </p:nvSpPr>
          <p:spPr>
            <a:xfrm>
              <a:off x="3194" y="0"/>
              <a:ext cx="0" cy="2256"/>
            </a:xfrm>
            <a:prstGeom prst="line">
              <a:avLst/>
            </a:prstGeom>
            <a:ln w="28575" cap="flat" cmpd="sng">
              <a:solidFill>
                <a:srgbClr val="FF3300"/>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37218">
                                            <p:txEl>
                                              <p:charRg st="0" end="96"/>
                                            </p:txEl>
                                          </p:spTgt>
                                        </p:tgtEl>
                                        <p:attrNameLst>
                                          <p:attrName>style.visibility</p:attrName>
                                        </p:attrNameLst>
                                      </p:cBhvr>
                                      <p:to>
                                        <p:strVal val="visible"/>
                                      </p:to>
                                    </p:set>
                                    <p:animEffect transition="in" filter="box(out)">
                                      <p:cBhvr>
                                        <p:cTn id="7" dur="500"/>
                                        <p:tgtEl>
                                          <p:spTgt spid="137218">
                                            <p:txEl>
                                              <p:charRg st="0" end="96"/>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37219"/>
                                        </p:tgtEl>
                                        <p:attrNameLst>
                                          <p:attrName>style.visibility</p:attrName>
                                        </p:attrNameLst>
                                      </p:cBhvr>
                                      <p:to>
                                        <p:strVal val="visible"/>
                                      </p:to>
                                    </p:set>
                                    <p:animEffect transition="in" filter="box(out)">
                                      <p:cBhvr>
                                        <p:cTn id="11" dur="500"/>
                                        <p:tgtEl>
                                          <p:spTgt spid="137219"/>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137220"/>
                                        </p:tgtEl>
                                        <p:attrNameLst>
                                          <p:attrName>style.visibility</p:attrName>
                                        </p:attrNameLst>
                                      </p:cBhvr>
                                      <p:to>
                                        <p:strVal val="visible"/>
                                      </p:to>
                                    </p:set>
                                    <p:animEffect transition="in" filter="box(out)">
                                      <p:cBhvr>
                                        <p:cTn id="16" dur="500"/>
                                        <p:tgtEl>
                                          <p:spTgt spid="137220"/>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137221"/>
                                        </p:tgtEl>
                                        <p:attrNameLst>
                                          <p:attrName>style.visibility</p:attrName>
                                        </p:attrNameLst>
                                      </p:cBhvr>
                                      <p:to>
                                        <p:strVal val="visible"/>
                                      </p:to>
                                    </p:set>
                                    <p:animEffect transition="in" filter="box(out)">
                                      <p:cBhvr>
                                        <p:cTn id="21" dur="500"/>
                                        <p:tgtEl>
                                          <p:spTgt spid="137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8242" name="对象 138241"/>
          <p:cNvGraphicFramePr/>
          <p:nvPr/>
        </p:nvGraphicFramePr>
        <p:xfrm>
          <a:off x="1037590" y="588010"/>
          <a:ext cx="6877050" cy="3049270"/>
        </p:xfrm>
        <a:graphic>
          <a:graphicData uri="http://schemas.openxmlformats.org/presentationml/2006/ole">
            <mc:AlternateContent xmlns:mc="http://schemas.openxmlformats.org/markup-compatibility/2006">
              <mc:Choice xmlns:v="urn:schemas-microsoft-com:vml" Requires="v">
                <p:oleObj spid="_x0000_s3415" name="" r:id="rId1" imgW="7315200" imgH="3225800" progId="Equation.3">
                  <p:embed/>
                </p:oleObj>
              </mc:Choice>
              <mc:Fallback>
                <p:oleObj name="" r:id="rId1" imgW="7315200" imgH="3225800" progId="Equation.3">
                  <p:embed/>
                  <p:pic>
                    <p:nvPicPr>
                      <p:cNvPr id="0" name="图片 3414"/>
                      <p:cNvPicPr/>
                      <p:nvPr/>
                    </p:nvPicPr>
                    <p:blipFill>
                      <a:blip r:embed="rId2"/>
                      <a:stretch>
                        <a:fillRect/>
                      </a:stretch>
                    </p:blipFill>
                    <p:spPr>
                      <a:xfrm>
                        <a:off x="1037590" y="588010"/>
                        <a:ext cx="6877050" cy="3049270"/>
                      </a:xfrm>
                      <a:prstGeom prst="rect">
                        <a:avLst/>
                      </a:prstGeom>
                      <a:noFill/>
                      <a:ln w="38100">
                        <a:noFill/>
                        <a:miter/>
                      </a:ln>
                    </p:spPr>
                  </p:pic>
                </p:oleObj>
              </mc:Fallback>
            </mc:AlternateContent>
          </a:graphicData>
        </a:graphic>
      </p:graphicFrame>
      <p:sp>
        <p:nvSpPr>
          <p:cNvPr id="138243" name="矩形 138242"/>
          <p:cNvSpPr/>
          <p:nvPr/>
        </p:nvSpPr>
        <p:spPr>
          <a:xfrm>
            <a:off x="900430" y="4537710"/>
            <a:ext cx="7556500" cy="549275"/>
          </a:xfrm>
          <a:prstGeom prst="rect">
            <a:avLst/>
          </a:prstGeom>
          <a:noFill/>
          <a:ln w="9525">
            <a:noFill/>
          </a:ln>
        </p:spPr>
        <p:txBody>
          <a:bodyPr wrap="none" anchor="t" anchorCtr="0">
            <a:noAutofit/>
          </a:bodyPr>
          <a:p>
            <a:r>
              <a:rPr lang="zh-CN" altLang="en-US" dirty="0">
                <a:latin typeface="Times New Roman" panose="02020603050405020304" pitchFamily="18" charset="0"/>
              </a:rPr>
              <a:t>记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i="1" baseline="-25000">
                <a:latin typeface="Times New Roman" panose="02020603050405020304" pitchFamily="18" charset="0"/>
              </a:rPr>
              <a:t> </a:t>
            </a:r>
            <a:r>
              <a:rPr lang="en-US" altLang="zh-CN">
                <a:latin typeface="Times New Roman" panose="02020603050405020304" pitchFamily="18" charset="0"/>
              </a:rPr>
              <a:t>= (–1)</a:t>
            </a:r>
            <a:r>
              <a:rPr lang="en-US" altLang="zh-CN" i="1" baseline="30000">
                <a:latin typeface="Times New Roman" panose="02020603050405020304" pitchFamily="18" charset="0"/>
              </a:rPr>
              <a:t>i</a:t>
            </a:r>
            <a:r>
              <a:rPr lang="en-US" altLang="zh-CN" baseline="30000">
                <a:latin typeface="Times New Roman" panose="02020603050405020304" pitchFamily="18" charset="0"/>
              </a:rPr>
              <a:t>+</a:t>
            </a:r>
            <a:r>
              <a:rPr lang="en-US" altLang="zh-CN" i="1" baseline="30000">
                <a:latin typeface="Times New Roman" panose="02020603050405020304" pitchFamily="18" charset="0"/>
              </a:rPr>
              <a:t>j </a:t>
            </a:r>
            <a:r>
              <a:rPr lang="en-US" altLang="zh-CN" i="1" err="1">
                <a:latin typeface="Times New Roman" panose="02020603050405020304" pitchFamily="18" charset="0"/>
              </a:rPr>
              <a:t>M</a:t>
            </a:r>
            <a:r>
              <a:rPr lang="en-US" altLang="zh-CN" i="1" baseline="-25000" err="1">
                <a:latin typeface="Times New Roman" panose="02020603050405020304" pitchFamily="18" charset="0"/>
              </a:rPr>
              <a:t>ij</a:t>
            </a:r>
            <a:r>
              <a:rPr lang="en-US" altLang="zh-CN">
                <a:latin typeface="Times New Roman" panose="02020603050405020304" pitchFamily="18" charset="0"/>
              </a:rPr>
              <a:t>, </a:t>
            </a:r>
            <a:r>
              <a:rPr lang="zh-CN" altLang="en-US" dirty="0">
                <a:latin typeface="Times New Roman" panose="02020603050405020304" pitchFamily="18" charset="0"/>
              </a:rPr>
              <a:t>称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i="1" baseline="-25000">
                <a:latin typeface="Times New Roman" panose="02020603050405020304" pitchFamily="18" charset="0"/>
              </a:rPr>
              <a:t> </a:t>
            </a:r>
            <a:r>
              <a:rPr lang="zh-CN" altLang="en-US" dirty="0">
                <a:latin typeface="Times New Roman" panose="02020603050405020304" pitchFamily="18" charset="0"/>
              </a:rPr>
              <a:t>为元素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a:latin typeface="Times New Roman" panose="02020603050405020304" pitchFamily="18" charset="0"/>
              </a:rPr>
              <a:t> </a:t>
            </a:r>
            <a:r>
              <a:rPr lang="zh-CN" altLang="en-US" dirty="0">
                <a:latin typeface="Times New Roman" panose="02020603050405020304" pitchFamily="18" charset="0"/>
              </a:rPr>
              <a:t>的</a:t>
            </a:r>
            <a:r>
              <a:rPr lang="zh-CN" altLang="en-US" dirty="0">
                <a:solidFill>
                  <a:srgbClr val="FF3300"/>
                </a:solidFill>
                <a:latin typeface="Times New Roman" panose="02020603050405020304" pitchFamily="18" charset="0"/>
              </a:rPr>
              <a:t>代数余子式</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2" name="文本框 1"/>
          <p:cNvSpPr txBox="1"/>
          <p:nvPr/>
        </p:nvSpPr>
        <p:spPr>
          <a:xfrm>
            <a:off x="2221230" y="3930015"/>
            <a:ext cx="3898900" cy="579755"/>
          </a:xfrm>
          <a:prstGeom prst="rect">
            <a:avLst/>
          </a:prstGeom>
          <a:noFill/>
        </p:spPr>
        <p:txBody>
          <a:bodyPr wrap="square" rtlCol="0">
            <a:noAutofit/>
          </a:bodyPr>
          <a:p>
            <a:r>
              <a:rPr lang="en-US" altLang="zh-CN" i="1" err="1">
                <a:sym typeface="+mn-ea"/>
              </a:rPr>
              <a:t>M</a:t>
            </a:r>
            <a:r>
              <a:rPr lang="en-US" altLang="zh-CN" i="1" baseline="-25000" err="1">
                <a:sym typeface="+mn-ea"/>
              </a:rPr>
              <a:t>ij</a:t>
            </a:r>
            <a:r>
              <a:rPr lang="zh-CN" altLang="en-US" dirty="0">
                <a:sym typeface="+mn-ea"/>
              </a:rPr>
              <a:t>是</a:t>
            </a:r>
            <a:r>
              <a:rPr lang="zh-CN" altLang="en-US" dirty="0">
                <a:sym typeface="+mn-ea"/>
              </a:rPr>
              <a:t>元素</a:t>
            </a:r>
            <a:r>
              <a:rPr lang="en-US" altLang="zh-CN" i="1" err="1">
                <a:sym typeface="+mn-ea"/>
              </a:rPr>
              <a:t>a</a:t>
            </a:r>
            <a:r>
              <a:rPr lang="en-US" altLang="zh-CN" i="1" baseline="-25000" err="1">
                <a:sym typeface="+mn-ea"/>
              </a:rPr>
              <a:t>ij</a:t>
            </a:r>
            <a:r>
              <a:rPr lang="en-US" altLang="zh-CN" i="1" baseline="-25000">
                <a:sym typeface="+mn-ea"/>
              </a:rPr>
              <a:t> </a:t>
            </a:r>
            <a:r>
              <a:rPr lang="zh-CN" altLang="en-US">
                <a:sym typeface="+mn-ea"/>
              </a:rPr>
              <a:t>的</a:t>
            </a:r>
            <a:r>
              <a:rPr lang="zh-CN" altLang="en-US" dirty="0">
                <a:solidFill>
                  <a:srgbClr val="3333FF"/>
                </a:solidFill>
                <a:sym typeface="+mn-ea"/>
              </a:rPr>
              <a:t>余子式，</a:t>
            </a:r>
            <a:endParaRPr lang="zh-CN" altLang="en-US"/>
          </a:p>
        </p:txBody>
      </p:sp>
      <p:sp>
        <p:nvSpPr>
          <p:cNvPr id="3" name="文本框 2"/>
          <p:cNvSpPr txBox="1"/>
          <p:nvPr/>
        </p:nvSpPr>
        <p:spPr>
          <a:xfrm>
            <a:off x="702945" y="5024755"/>
            <a:ext cx="7811770" cy="1238885"/>
          </a:xfrm>
          <a:prstGeom prst="rect">
            <a:avLst/>
          </a:prstGeom>
          <a:noFill/>
        </p:spPr>
        <p:txBody>
          <a:bodyPr wrap="square" rtlCol="0" anchor="t">
            <a:noAutofit/>
          </a:bodyPr>
          <a:p>
            <a:pPr>
              <a:lnSpc>
                <a:spcPct val="135000"/>
              </a:lnSpc>
            </a:pPr>
            <a:r>
              <a:rPr lang="zh-CN" altLang="en-US" dirty="0">
                <a:solidFill>
                  <a:srgbClr val="3333FF"/>
                </a:solidFill>
                <a:sym typeface="+mn-ea"/>
              </a:rPr>
              <a:t>说明：</a:t>
            </a:r>
            <a:r>
              <a:rPr lang="zh-CN" altLang="en-US" dirty="0">
                <a:sym typeface="+mn-ea"/>
              </a:rPr>
              <a:t>行列式中每个元素都分别对应着唯一的一个余子式和唯一的一个代数余子式</a:t>
            </a:r>
            <a:r>
              <a:rPr lang="en-US" altLang="zh-CN">
                <a:sym typeface="+mn-ea"/>
              </a:rPr>
              <a:t>.</a:t>
            </a:r>
            <a:endParaRPr lang="en-US" altLang="zh-CN">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38242"/>
                                        </p:tgtEl>
                                        <p:attrNameLst>
                                          <p:attrName>style.visibility</p:attrName>
                                        </p:attrNameLst>
                                      </p:cBhvr>
                                      <p:to>
                                        <p:strVal val="visible"/>
                                      </p:to>
                                    </p:set>
                                    <p:animEffect transition="in" filter="box(out)">
                                      <p:cBhvr>
                                        <p:cTn id="7" dur="500"/>
                                        <p:tgtEl>
                                          <p:spTgt spid="1382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38243">
                                            <p:txEl>
                                              <p:charRg st="0" end="43"/>
                                            </p:txEl>
                                          </p:spTgt>
                                        </p:tgtEl>
                                        <p:attrNameLst>
                                          <p:attrName>style.visibility</p:attrName>
                                        </p:attrNameLst>
                                      </p:cBhvr>
                                      <p:to>
                                        <p:strVal val="visible"/>
                                      </p:to>
                                    </p:set>
                                    <p:animEffect transition="in" filter="box(out)">
                                      <p:cBhvr>
                                        <p:cTn id="17" dur="500"/>
                                        <p:tgtEl>
                                          <p:spTgt spid="138243">
                                            <p:txEl>
                                              <p:charRg st="0" end="4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advAuto="1000" build="p"/>
      <p:bldP spid="2" grpId="0"/>
      <p:bldP spid="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文本框 139265"/>
          <p:cNvSpPr txBox="1"/>
          <p:nvPr/>
        </p:nvSpPr>
        <p:spPr>
          <a:xfrm>
            <a:off x="436880" y="760730"/>
            <a:ext cx="861695" cy="645160"/>
          </a:xfrm>
          <a:prstGeom prst="rect">
            <a:avLst/>
          </a:prstGeom>
          <a:noFill/>
          <a:ln w="9525">
            <a:noFill/>
          </a:ln>
        </p:spPr>
        <p:txBody>
          <a:bodyPr wrap="none" anchor="t" anchorCtr="0">
            <a:noAutofit/>
          </a:bodyPr>
          <a:p>
            <a:r>
              <a:rPr lang="zh-CN" altLang="en-US" dirty="0">
                <a:latin typeface="Times New Roman" panose="02020603050405020304" pitchFamily="18" charset="0"/>
              </a:rPr>
              <a:t>例如</a:t>
            </a:r>
            <a:endParaRPr lang="zh-CN" altLang="en-US" sz="2400">
              <a:latin typeface="Times New Roman" panose="02020603050405020304" pitchFamily="18" charset="0"/>
            </a:endParaRPr>
          </a:p>
        </p:txBody>
      </p:sp>
      <p:graphicFrame>
        <p:nvGraphicFramePr>
          <p:cNvPr id="139267" name="对象 139266"/>
          <p:cNvGraphicFramePr/>
          <p:nvPr/>
        </p:nvGraphicFramePr>
        <p:xfrm>
          <a:off x="1327785" y="215265"/>
          <a:ext cx="3750310" cy="1708785"/>
        </p:xfrm>
        <a:graphic>
          <a:graphicData uri="http://schemas.openxmlformats.org/presentationml/2006/ole">
            <mc:AlternateContent xmlns:mc="http://schemas.openxmlformats.org/markup-compatibility/2006">
              <mc:Choice xmlns:v="urn:schemas-microsoft-com:vml" Requires="v">
                <p:oleObj spid="_x0000_s3408" name="" r:id="rId1" imgW="3860800" imgH="1727200" progId="Equation.3">
                  <p:embed/>
                </p:oleObj>
              </mc:Choice>
              <mc:Fallback>
                <p:oleObj name="" r:id="rId1" imgW="3860800" imgH="1727200" progId="Equation.3">
                  <p:embed/>
                  <p:pic>
                    <p:nvPicPr>
                      <p:cNvPr id="0" name="图片 3407"/>
                      <p:cNvPicPr/>
                      <p:nvPr/>
                    </p:nvPicPr>
                    <p:blipFill>
                      <a:blip r:embed="rId2"/>
                      <a:stretch>
                        <a:fillRect/>
                      </a:stretch>
                    </p:blipFill>
                    <p:spPr>
                      <a:xfrm>
                        <a:off x="1327785" y="215265"/>
                        <a:ext cx="3750310" cy="1708785"/>
                      </a:xfrm>
                      <a:prstGeom prst="rect">
                        <a:avLst/>
                      </a:prstGeom>
                      <a:noFill/>
                      <a:ln w="38100">
                        <a:noFill/>
                        <a:miter/>
                      </a:ln>
                    </p:spPr>
                  </p:pic>
                </p:oleObj>
              </mc:Fallback>
            </mc:AlternateContent>
          </a:graphicData>
        </a:graphic>
      </p:graphicFrame>
      <p:graphicFrame>
        <p:nvGraphicFramePr>
          <p:cNvPr id="139268" name="对象 139267"/>
          <p:cNvGraphicFramePr/>
          <p:nvPr/>
        </p:nvGraphicFramePr>
        <p:xfrm>
          <a:off x="689610" y="1964055"/>
          <a:ext cx="3478530" cy="1359535"/>
        </p:xfrm>
        <a:graphic>
          <a:graphicData uri="http://schemas.openxmlformats.org/presentationml/2006/ole">
            <mc:AlternateContent xmlns:mc="http://schemas.openxmlformats.org/markup-compatibility/2006">
              <mc:Choice xmlns:v="urn:schemas-microsoft-com:vml" Requires="v">
                <p:oleObj spid="_x0000_s3410" name="" r:id="rId3" imgW="2555240" imgH="894080" progId="Equation.3">
                  <p:embed/>
                </p:oleObj>
              </mc:Choice>
              <mc:Fallback>
                <p:oleObj name="" r:id="rId3" imgW="2555240" imgH="894080" progId="Equation.3">
                  <p:embed/>
                  <p:pic>
                    <p:nvPicPr>
                      <p:cNvPr id="0" name="图片 3409"/>
                      <p:cNvPicPr/>
                      <p:nvPr/>
                    </p:nvPicPr>
                    <p:blipFill>
                      <a:blip r:embed="rId4"/>
                      <a:stretch>
                        <a:fillRect/>
                      </a:stretch>
                    </p:blipFill>
                    <p:spPr>
                      <a:xfrm>
                        <a:off x="689610" y="1964055"/>
                        <a:ext cx="3478530" cy="1359535"/>
                      </a:xfrm>
                      <a:prstGeom prst="rect">
                        <a:avLst/>
                      </a:prstGeom>
                      <a:noFill/>
                      <a:ln w="38100">
                        <a:noFill/>
                        <a:miter/>
                      </a:ln>
                    </p:spPr>
                  </p:pic>
                </p:oleObj>
              </mc:Fallback>
            </mc:AlternateContent>
          </a:graphicData>
        </a:graphic>
      </p:graphicFrame>
      <p:graphicFrame>
        <p:nvGraphicFramePr>
          <p:cNvPr id="139269" name="对象 139268"/>
          <p:cNvGraphicFramePr/>
          <p:nvPr/>
        </p:nvGraphicFramePr>
        <p:xfrm>
          <a:off x="4462463" y="2322513"/>
          <a:ext cx="2628900" cy="508000"/>
        </p:xfrm>
        <a:graphic>
          <a:graphicData uri="http://schemas.openxmlformats.org/presentationml/2006/ole">
            <mc:AlternateContent xmlns:mc="http://schemas.openxmlformats.org/markup-compatibility/2006">
              <mc:Choice xmlns:v="urn:schemas-microsoft-com:vml" Requires="v">
                <p:oleObj spid="_x0000_s3416" name="" r:id="rId5" imgW="2628900" imgH="508000" progId="Equation.3">
                  <p:embed/>
                </p:oleObj>
              </mc:Choice>
              <mc:Fallback>
                <p:oleObj name="" r:id="rId5" imgW="2628900" imgH="508000" progId="Equation.3">
                  <p:embed/>
                  <p:pic>
                    <p:nvPicPr>
                      <p:cNvPr id="0" name="图片 3415"/>
                      <p:cNvPicPr/>
                      <p:nvPr/>
                    </p:nvPicPr>
                    <p:blipFill>
                      <a:blip r:embed="rId6"/>
                      <a:stretch>
                        <a:fillRect/>
                      </a:stretch>
                    </p:blipFill>
                    <p:spPr>
                      <a:xfrm>
                        <a:off x="4462463" y="2322513"/>
                        <a:ext cx="2628900" cy="508000"/>
                      </a:xfrm>
                      <a:prstGeom prst="rect">
                        <a:avLst/>
                      </a:prstGeom>
                      <a:noFill/>
                      <a:ln w="38100">
                        <a:noFill/>
                        <a:miter/>
                      </a:ln>
                    </p:spPr>
                  </p:pic>
                </p:oleObj>
              </mc:Fallback>
            </mc:AlternateContent>
          </a:graphicData>
        </a:graphic>
      </p:graphicFrame>
      <p:graphicFrame>
        <p:nvGraphicFramePr>
          <p:cNvPr id="139270" name="对象 139269"/>
          <p:cNvGraphicFramePr/>
          <p:nvPr/>
        </p:nvGraphicFramePr>
        <p:xfrm>
          <a:off x="7051675" y="2322513"/>
          <a:ext cx="1270000" cy="431800"/>
        </p:xfrm>
        <a:graphic>
          <a:graphicData uri="http://schemas.openxmlformats.org/presentationml/2006/ole">
            <mc:AlternateContent xmlns:mc="http://schemas.openxmlformats.org/markup-compatibility/2006">
              <mc:Choice xmlns:v="urn:schemas-microsoft-com:vml" Requires="v">
                <p:oleObj spid="_x0000_s3424" name="" r:id="rId7" imgW="1269365" imgH="431800" progId="Equation.3">
                  <p:embed/>
                </p:oleObj>
              </mc:Choice>
              <mc:Fallback>
                <p:oleObj name="" r:id="rId7" imgW="1269365" imgH="431800" progId="Equation.3">
                  <p:embed/>
                  <p:pic>
                    <p:nvPicPr>
                      <p:cNvPr id="0" name="图片 3423"/>
                      <p:cNvPicPr/>
                      <p:nvPr/>
                    </p:nvPicPr>
                    <p:blipFill>
                      <a:blip r:embed="rId8"/>
                      <a:stretch>
                        <a:fillRect/>
                      </a:stretch>
                    </p:blipFill>
                    <p:spPr>
                      <a:xfrm>
                        <a:off x="7051675" y="2322513"/>
                        <a:ext cx="1270000" cy="431800"/>
                      </a:xfrm>
                      <a:prstGeom prst="rect">
                        <a:avLst/>
                      </a:prstGeom>
                      <a:noFill/>
                      <a:ln w="38100">
                        <a:noFill/>
                        <a:miter/>
                      </a:ln>
                    </p:spPr>
                  </p:pic>
                </p:oleObj>
              </mc:Fallback>
            </mc:AlternateContent>
          </a:graphicData>
        </a:graphic>
      </p:graphicFrame>
      <p:sp>
        <p:nvSpPr>
          <p:cNvPr id="139271" name="矩形 139270"/>
          <p:cNvSpPr/>
          <p:nvPr/>
        </p:nvSpPr>
        <p:spPr>
          <a:xfrm>
            <a:off x="3636010" y="594360"/>
            <a:ext cx="592455" cy="571500"/>
          </a:xfrm>
          <a:prstGeom prst="rect">
            <a:avLst/>
          </a:prstGeom>
          <a:noFill/>
          <a:ln w="28575" cap="flat" cmpd="sng">
            <a:solidFill>
              <a:srgbClr val="FF3300"/>
            </a:solidFill>
            <a:prstDash val="solid"/>
            <a:miter/>
            <a:headEnd type="none" w="med" len="med"/>
            <a:tailEnd type="none" w="med" len="med"/>
          </a:ln>
        </p:spPr>
        <p:txBody>
          <a:bodyPr/>
          <a:p>
            <a:endParaRPr lang="zh-CN" altLang="en-US"/>
          </a:p>
        </p:txBody>
      </p:sp>
      <p:graphicFrame>
        <p:nvGraphicFramePr>
          <p:cNvPr id="139272" name="对象 139271"/>
          <p:cNvGraphicFramePr/>
          <p:nvPr/>
        </p:nvGraphicFramePr>
        <p:xfrm>
          <a:off x="684213" y="3262313"/>
          <a:ext cx="3505200" cy="1320800"/>
        </p:xfrm>
        <a:graphic>
          <a:graphicData uri="http://schemas.openxmlformats.org/presentationml/2006/ole">
            <mc:AlternateContent xmlns:mc="http://schemas.openxmlformats.org/markup-compatibility/2006">
              <mc:Choice xmlns:v="urn:schemas-microsoft-com:vml" Requires="v">
                <p:oleObj spid="_x0000_s3417" name="" r:id="rId9" imgW="3503930" imgH="1320165" progId="Equation.3">
                  <p:embed/>
                </p:oleObj>
              </mc:Choice>
              <mc:Fallback>
                <p:oleObj name="" r:id="rId9" imgW="3503930" imgH="1320165" progId="Equation.3">
                  <p:embed/>
                  <p:pic>
                    <p:nvPicPr>
                      <p:cNvPr id="0" name="图片 3416"/>
                      <p:cNvPicPr/>
                      <p:nvPr/>
                    </p:nvPicPr>
                    <p:blipFill>
                      <a:blip r:embed="rId10"/>
                      <a:stretch>
                        <a:fillRect/>
                      </a:stretch>
                    </p:blipFill>
                    <p:spPr>
                      <a:xfrm>
                        <a:off x="684213" y="3262313"/>
                        <a:ext cx="3505200" cy="1320800"/>
                      </a:xfrm>
                      <a:prstGeom prst="rect">
                        <a:avLst/>
                      </a:prstGeom>
                      <a:noFill/>
                      <a:ln w="38100">
                        <a:noFill/>
                        <a:miter/>
                      </a:ln>
                    </p:spPr>
                  </p:pic>
                </p:oleObj>
              </mc:Fallback>
            </mc:AlternateContent>
          </a:graphicData>
        </a:graphic>
      </p:graphicFrame>
      <p:graphicFrame>
        <p:nvGraphicFramePr>
          <p:cNvPr id="139273" name="对象 139272"/>
          <p:cNvGraphicFramePr/>
          <p:nvPr/>
        </p:nvGraphicFramePr>
        <p:xfrm>
          <a:off x="4462463" y="3783013"/>
          <a:ext cx="2578100" cy="495300"/>
        </p:xfrm>
        <a:graphic>
          <a:graphicData uri="http://schemas.openxmlformats.org/presentationml/2006/ole">
            <mc:AlternateContent xmlns:mc="http://schemas.openxmlformats.org/markup-compatibility/2006">
              <mc:Choice xmlns:v="urn:schemas-microsoft-com:vml" Requires="v">
                <p:oleObj spid="_x0000_s3423" name="" r:id="rId11" imgW="2576830" imgH="495300" progId="Equation.3">
                  <p:embed/>
                </p:oleObj>
              </mc:Choice>
              <mc:Fallback>
                <p:oleObj name="" r:id="rId11" imgW="2576830" imgH="495300" progId="Equation.3">
                  <p:embed/>
                  <p:pic>
                    <p:nvPicPr>
                      <p:cNvPr id="0" name="图片 3422"/>
                      <p:cNvPicPr/>
                      <p:nvPr/>
                    </p:nvPicPr>
                    <p:blipFill>
                      <a:blip r:embed="rId12"/>
                      <a:stretch>
                        <a:fillRect/>
                      </a:stretch>
                    </p:blipFill>
                    <p:spPr>
                      <a:xfrm>
                        <a:off x="4462463" y="3783013"/>
                        <a:ext cx="2578100" cy="495300"/>
                      </a:xfrm>
                      <a:prstGeom prst="rect">
                        <a:avLst/>
                      </a:prstGeom>
                      <a:noFill/>
                      <a:ln w="38100">
                        <a:noFill/>
                        <a:miter/>
                      </a:ln>
                    </p:spPr>
                  </p:pic>
                </p:oleObj>
              </mc:Fallback>
            </mc:AlternateContent>
          </a:graphicData>
        </a:graphic>
      </p:graphicFrame>
      <p:graphicFrame>
        <p:nvGraphicFramePr>
          <p:cNvPr id="139274" name="对象 139273"/>
          <p:cNvGraphicFramePr/>
          <p:nvPr/>
        </p:nvGraphicFramePr>
        <p:xfrm>
          <a:off x="7089775" y="3821113"/>
          <a:ext cx="1257300" cy="419100"/>
        </p:xfrm>
        <a:graphic>
          <a:graphicData uri="http://schemas.openxmlformats.org/presentationml/2006/ole">
            <mc:AlternateContent xmlns:mc="http://schemas.openxmlformats.org/markup-compatibility/2006">
              <mc:Choice xmlns:v="urn:schemas-microsoft-com:vml" Requires="v">
                <p:oleObj spid="_x0000_s3422" name="" r:id="rId13" imgW="1257300" imgH="419100" progId="Equation.3">
                  <p:embed/>
                </p:oleObj>
              </mc:Choice>
              <mc:Fallback>
                <p:oleObj name="" r:id="rId13" imgW="1257300" imgH="419100" progId="Equation.3">
                  <p:embed/>
                  <p:pic>
                    <p:nvPicPr>
                      <p:cNvPr id="0" name="图片 3421"/>
                      <p:cNvPicPr/>
                      <p:nvPr/>
                    </p:nvPicPr>
                    <p:blipFill>
                      <a:blip r:embed="rId14"/>
                      <a:stretch>
                        <a:fillRect/>
                      </a:stretch>
                    </p:blipFill>
                    <p:spPr>
                      <a:xfrm>
                        <a:off x="7089775" y="3821113"/>
                        <a:ext cx="1257300" cy="419100"/>
                      </a:xfrm>
                      <a:prstGeom prst="rect">
                        <a:avLst/>
                      </a:prstGeom>
                      <a:noFill/>
                      <a:ln w="38100">
                        <a:noFill/>
                        <a:miter/>
                      </a:ln>
                    </p:spPr>
                  </p:pic>
                </p:oleObj>
              </mc:Fallback>
            </mc:AlternateContent>
          </a:graphicData>
        </a:graphic>
      </p:graphicFrame>
      <p:graphicFrame>
        <p:nvGraphicFramePr>
          <p:cNvPr id="139275" name="对象 139274"/>
          <p:cNvGraphicFramePr/>
          <p:nvPr/>
        </p:nvGraphicFramePr>
        <p:xfrm>
          <a:off x="684213" y="4678363"/>
          <a:ext cx="3517900" cy="1320800"/>
        </p:xfrm>
        <a:graphic>
          <a:graphicData uri="http://schemas.openxmlformats.org/presentationml/2006/ole">
            <mc:AlternateContent xmlns:mc="http://schemas.openxmlformats.org/markup-compatibility/2006">
              <mc:Choice xmlns:v="urn:schemas-microsoft-com:vml" Requires="v">
                <p:oleObj spid="_x0000_s3420" name="" r:id="rId15" imgW="3516630" imgH="1320165" progId="Equation.3">
                  <p:embed/>
                </p:oleObj>
              </mc:Choice>
              <mc:Fallback>
                <p:oleObj name="" r:id="rId15" imgW="3516630" imgH="1320165" progId="Equation.3">
                  <p:embed/>
                  <p:pic>
                    <p:nvPicPr>
                      <p:cNvPr id="0" name="图片 3419"/>
                      <p:cNvPicPr/>
                      <p:nvPr/>
                    </p:nvPicPr>
                    <p:blipFill>
                      <a:blip r:embed="rId16"/>
                      <a:stretch>
                        <a:fillRect/>
                      </a:stretch>
                    </p:blipFill>
                    <p:spPr>
                      <a:xfrm>
                        <a:off x="684213" y="4678363"/>
                        <a:ext cx="3517900" cy="1320800"/>
                      </a:xfrm>
                      <a:prstGeom prst="rect">
                        <a:avLst/>
                      </a:prstGeom>
                      <a:noFill/>
                      <a:ln w="38100">
                        <a:noFill/>
                        <a:miter/>
                      </a:ln>
                    </p:spPr>
                  </p:pic>
                </p:oleObj>
              </mc:Fallback>
            </mc:AlternateContent>
          </a:graphicData>
        </a:graphic>
      </p:graphicFrame>
      <p:graphicFrame>
        <p:nvGraphicFramePr>
          <p:cNvPr id="139276" name="对象 139275"/>
          <p:cNvGraphicFramePr/>
          <p:nvPr/>
        </p:nvGraphicFramePr>
        <p:xfrm>
          <a:off x="4462463" y="5192713"/>
          <a:ext cx="3606800" cy="495300"/>
        </p:xfrm>
        <a:graphic>
          <a:graphicData uri="http://schemas.openxmlformats.org/presentationml/2006/ole">
            <mc:AlternateContent xmlns:mc="http://schemas.openxmlformats.org/markup-compatibility/2006">
              <mc:Choice xmlns:v="urn:schemas-microsoft-com:vml" Requires="v">
                <p:oleObj spid="_x0000_s3418" name="" r:id="rId17" imgW="3605530" imgH="495300" progId="Equation.3">
                  <p:embed/>
                </p:oleObj>
              </mc:Choice>
              <mc:Fallback>
                <p:oleObj name="" r:id="rId17" imgW="3605530" imgH="495300" progId="Equation.3">
                  <p:embed/>
                  <p:pic>
                    <p:nvPicPr>
                      <p:cNvPr id="0" name="图片 3417"/>
                      <p:cNvPicPr/>
                      <p:nvPr/>
                    </p:nvPicPr>
                    <p:blipFill>
                      <a:blip r:embed="rId18"/>
                      <a:stretch>
                        <a:fillRect/>
                      </a:stretch>
                    </p:blipFill>
                    <p:spPr>
                      <a:xfrm>
                        <a:off x="4462463" y="5192713"/>
                        <a:ext cx="3606800" cy="495300"/>
                      </a:xfrm>
                      <a:prstGeom prst="rect">
                        <a:avLst/>
                      </a:prstGeom>
                      <a:noFill/>
                      <a:ln w="38100">
                        <a:noFill/>
                        <a:miter/>
                      </a:ln>
                    </p:spPr>
                  </p:pic>
                </p:oleObj>
              </mc:Fallback>
            </mc:AlternateContent>
          </a:graphicData>
        </a:graphic>
      </p:graphicFrame>
      <p:grpSp>
        <p:nvGrpSpPr>
          <p:cNvPr id="139277" name="组合 139276"/>
          <p:cNvGrpSpPr/>
          <p:nvPr/>
        </p:nvGrpSpPr>
        <p:grpSpPr>
          <a:xfrm>
            <a:off x="2267268" y="377190"/>
            <a:ext cx="2667000" cy="1584960"/>
            <a:chOff x="1813" y="609"/>
            <a:chExt cx="1680" cy="960"/>
          </a:xfrm>
        </p:grpSpPr>
        <p:sp>
          <p:nvSpPr>
            <p:cNvPr id="139278" name="直接连接符 139277"/>
            <p:cNvSpPr/>
            <p:nvPr/>
          </p:nvSpPr>
          <p:spPr>
            <a:xfrm>
              <a:off x="1813" y="931"/>
              <a:ext cx="1680" cy="0"/>
            </a:xfrm>
            <a:prstGeom prst="line">
              <a:avLst/>
            </a:prstGeom>
            <a:ln w="28575" cap="flat" cmpd="sng">
              <a:solidFill>
                <a:srgbClr val="FF0000"/>
              </a:solidFill>
              <a:prstDash val="sysDot"/>
              <a:headEnd type="none" w="med" len="med"/>
              <a:tailEnd type="none" w="med" len="med"/>
            </a:ln>
          </p:spPr>
        </p:sp>
        <p:sp>
          <p:nvSpPr>
            <p:cNvPr id="139279" name="直接连接符 139278"/>
            <p:cNvSpPr/>
            <p:nvPr/>
          </p:nvSpPr>
          <p:spPr>
            <a:xfrm>
              <a:off x="2902" y="609"/>
              <a:ext cx="0" cy="960"/>
            </a:xfrm>
            <a:prstGeom prst="line">
              <a:avLst/>
            </a:prstGeom>
            <a:ln w="28575" cap="flat" cmpd="sng">
              <a:solidFill>
                <a:srgbClr val="FF3300"/>
              </a:solidFill>
              <a:prstDash val="sysDot"/>
              <a:headEnd type="none" w="med" len="med"/>
              <a:tailEnd type="none" w="med" len="med"/>
            </a:ln>
          </p:spPr>
        </p:sp>
      </p:grpSp>
      <p:grpSp>
        <p:nvGrpSpPr>
          <p:cNvPr id="139280" name="组合 139279"/>
          <p:cNvGrpSpPr/>
          <p:nvPr/>
        </p:nvGrpSpPr>
        <p:grpSpPr>
          <a:xfrm>
            <a:off x="2172970" y="275591"/>
            <a:ext cx="2667000" cy="1425575"/>
            <a:chOff x="1723" y="686"/>
            <a:chExt cx="1680" cy="898"/>
          </a:xfrm>
        </p:grpSpPr>
        <p:sp>
          <p:nvSpPr>
            <p:cNvPr id="139281" name="直接连接符 139280"/>
            <p:cNvSpPr/>
            <p:nvPr/>
          </p:nvSpPr>
          <p:spPr>
            <a:xfrm flipV="1">
              <a:off x="1723" y="758"/>
              <a:ext cx="1680" cy="29"/>
            </a:xfrm>
            <a:prstGeom prst="line">
              <a:avLst/>
            </a:prstGeom>
            <a:ln w="28575" cap="flat" cmpd="sng">
              <a:solidFill>
                <a:srgbClr val="FF0000"/>
              </a:solidFill>
              <a:prstDash val="sysDot"/>
              <a:headEnd type="none" w="med" len="med"/>
              <a:tailEnd type="none" w="med" len="med"/>
            </a:ln>
          </p:spPr>
        </p:sp>
        <p:sp>
          <p:nvSpPr>
            <p:cNvPr id="139282" name="直接连接符 139281"/>
            <p:cNvSpPr/>
            <p:nvPr/>
          </p:nvSpPr>
          <p:spPr>
            <a:xfrm rot="180000">
              <a:off x="2277" y="686"/>
              <a:ext cx="66" cy="898"/>
            </a:xfrm>
            <a:prstGeom prst="line">
              <a:avLst/>
            </a:prstGeom>
            <a:ln w="28575" cap="flat" cmpd="sng">
              <a:solidFill>
                <a:srgbClr val="FF3300"/>
              </a:solidFill>
              <a:prstDash val="sysDot"/>
              <a:headEnd type="none" w="med" len="med"/>
              <a:tailEnd type="none" w="med" len="med"/>
            </a:ln>
          </p:spPr>
        </p:sp>
      </p:grpSp>
      <p:grpSp>
        <p:nvGrpSpPr>
          <p:cNvPr id="139283" name="组合 139282"/>
          <p:cNvGrpSpPr/>
          <p:nvPr/>
        </p:nvGrpSpPr>
        <p:grpSpPr>
          <a:xfrm>
            <a:off x="2244090" y="275888"/>
            <a:ext cx="2667000" cy="1565434"/>
            <a:chOff x="1782" y="518"/>
            <a:chExt cx="1680" cy="912"/>
          </a:xfrm>
        </p:grpSpPr>
        <p:sp>
          <p:nvSpPr>
            <p:cNvPr id="139284" name="直接连接符 139283"/>
            <p:cNvSpPr/>
            <p:nvPr/>
          </p:nvSpPr>
          <p:spPr>
            <a:xfrm>
              <a:off x="1782" y="1383"/>
              <a:ext cx="1680" cy="0"/>
            </a:xfrm>
            <a:prstGeom prst="line">
              <a:avLst/>
            </a:prstGeom>
            <a:ln w="28575" cap="flat" cmpd="sng">
              <a:solidFill>
                <a:srgbClr val="FF0000"/>
              </a:solidFill>
              <a:prstDash val="sysDot"/>
              <a:headEnd type="none" w="med" len="med"/>
              <a:tailEnd type="none" w="med" len="med"/>
            </a:ln>
          </p:spPr>
        </p:sp>
        <p:sp>
          <p:nvSpPr>
            <p:cNvPr id="139285" name="直接连接符 139284"/>
            <p:cNvSpPr/>
            <p:nvPr/>
          </p:nvSpPr>
          <p:spPr>
            <a:xfrm rot="300000">
              <a:off x="3254" y="518"/>
              <a:ext cx="76" cy="912"/>
            </a:xfrm>
            <a:prstGeom prst="line">
              <a:avLst/>
            </a:prstGeom>
            <a:ln w="28575" cap="flat" cmpd="sng">
              <a:solidFill>
                <a:srgbClr val="FF3300"/>
              </a:solidFill>
              <a:prstDash val="sysDot"/>
              <a:headEnd type="none" w="med" len="med"/>
              <a:tailEnd type="none" w="med" len="med"/>
            </a:ln>
          </p:spPr>
        </p:sp>
      </p:grpSp>
      <p:sp>
        <p:nvSpPr>
          <p:cNvPr id="139286" name="矩形 139285"/>
          <p:cNvSpPr/>
          <p:nvPr/>
        </p:nvSpPr>
        <p:spPr>
          <a:xfrm>
            <a:off x="2771775" y="215900"/>
            <a:ext cx="707390" cy="487045"/>
          </a:xfrm>
          <a:prstGeom prst="rect">
            <a:avLst/>
          </a:prstGeom>
          <a:noFill/>
          <a:ln w="28575" cap="flat" cmpd="sng">
            <a:solidFill>
              <a:srgbClr val="FF3300"/>
            </a:solidFill>
            <a:prstDash val="solid"/>
            <a:miter/>
            <a:headEnd type="none" w="med" len="med"/>
            <a:tailEnd type="none" w="med" len="med"/>
          </a:ln>
        </p:spPr>
        <p:txBody>
          <a:bodyPr/>
          <a:p>
            <a:endParaRPr lang="zh-CN" altLang="en-US"/>
          </a:p>
        </p:txBody>
      </p:sp>
      <p:sp>
        <p:nvSpPr>
          <p:cNvPr id="139287" name="矩形 139286"/>
          <p:cNvSpPr/>
          <p:nvPr/>
        </p:nvSpPr>
        <p:spPr>
          <a:xfrm>
            <a:off x="4228465" y="1440815"/>
            <a:ext cx="706120" cy="518795"/>
          </a:xfrm>
          <a:prstGeom prst="rect">
            <a:avLst/>
          </a:prstGeom>
          <a:noFill/>
          <a:ln w="28575" cap="flat" cmpd="sng">
            <a:solidFill>
              <a:srgbClr val="FF3300"/>
            </a:solidFill>
            <a:prstDash val="solid"/>
            <a:miter/>
            <a:headEnd type="none" w="med" len="med"/>
            <a:tailEnd type="none" w="med" len="med"/>
          </a:ln>
        </p:spPr>
        <p:txBody>
          <a:bodyPr/>
          <a:p>
            <a:endParaRPr lang="zh-CN" altLang="en-US"/>
          </a:p>
        </p:txBody>
      </p:sp>
      <p:sp>
        <p:nvSpPr>
          <p:cNvPr id="2" name="文本框 1"/>
          <p:cNvSpPr txBox="1"/>
          <p:nvPr/>
        </p:nvSpPr>
        <p:spPr>
          <a:xfrm>
            <a:off x="5010150" y="594360"/>
            <a:ext cx="3775075" cy="845820"/>
          </a:xfrm>
          <a:prstGeom prst="rect">
            <a:avLst/>
          </a:prstGeom>
          <a:noFill/>
        </p:spPr>
        <p:txBody>
          <a:bodyPr wrap="square" rtlCol="0">
            <a:noAutofit/>
          </a:bodyPr>
          <a:p>
            <a:r>
              <a:rPr lang="zh-CN" altLang="en-US"/>
              <a:t>中元素</a:t>
            </a:r>
            <a:r>
              <a:rPr lang="en-US" altLang="zh-CN"/>
              <a:t>                      </a:t>
            </a:r>
            <a:r>
              <a:rPr lang="zh-CN" altLang="en-US"/>
              <a:t>的余子式和代数余子式</a:t>
            </a:r>
            <a:r>
              <a:rPr lang="en-US" altLang="zh-CN"/>
              <a:t>.</a:t>
            </a:r>
            <a:endParaRPr lang="en-US" altLang="zh-CN"/>
          </a:p>
        </p:txBody>
      </p:sp>
      <p:graphicFrame>
        <p:nvGraphicFramePr>
          <p:cNvPr id="3" name="对象 2"/>
          <p:cNvGraphicFramePr/>
          <p:nvPr/>
        </p:nvGraphicFramePr>
        <p:xfrm>
          <a:off x="6249035" y="452755"/>
          <a:ext cx="1896110" cy="592455"/>
        </p:xfrm>
        <a:graphic>
          <a:graphicData uri="http://schemas.openxmlformats.org/presentationml/2006/ole">
            <mc:AlternateContent xmlns:mc="http://schemas.openxmlformats.org/markup-compatibility/2006">
              <mc:Choice xmlns:v="urn:schemas-microsoft-com:vml" Requires="v">
                <p:oleObj spid="_x0000_s4" name="" r:id="rId19" imgW="711200" imgH="228600" progId="Equation.KSEE3">
                  <p:embed/>
                </p:oleObj>
              </mc:Choice>
              <mc:Fallback>
                <p:oleObj name="" r:id="rId19" imgW="711200" imgH="228600" progId="Equation.KSEE3">
                  <p:embed/>
                  <p:pic>
                    <p:nvPicPr>
                      <p:cNvPr id="0" name="图片 3"/>
                      <p:cNvPicPr/>
                      <p:nvPr/>
                    </p:nvPicPr>
                    <p:blipFill>
                      <a:blip r:embed="rId20"/>
                      <a:stretch>
                        <a:fillRect/>
                      </a:stretch>
                    </p:blipFill>
                    <p:spPr>
                      <a:xfrm>
                        <a:off x="6249035" y="452755"/>
                        <a:ext cx="1896110" cy="59245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39266">
                                            <p:txEl>
                                              <p:charRg st="0" end="3"/>
                                            </p:txEl>
                                          </p:spTgt>
                                        </p:tgtEl>
                                        <p:attrNameLst>
                                          <p:attrName>style.visibility</p:attrName>
                                        </p:attrNameLst>
                                      </p:cBhvr>
                                      <p:to>
                                        <p:strVal val="visible"/>
                                      </p:to>
                                    </p:set>
                                    <p:animEffect transition="in" filter="box(out)">
                                      <p:cBhvr>
                                        <p:cTn id="7" dur="500"/>
                                        <p:tgtEl>
                                          <p:spTgt spid="139266">
                                            <p:txEl>
                                              <p:charRg st="0" end="3"/>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39267"/>
                                        </p:tgtEl>
                                        <p:attrNameLst>
                                          <p:attrName>style.visibility</p:attrName>
                                        </p:attrNameLst>
                                      </p:cBhvr>
                                      <p:to>
                                        <p:strVal val="visible"/>
                                      </p:to>
                                    </p:set>
                                    <p:animEffect transition="in" filter="box(out)">
                                      <p:cBhvr>
                                        <p:cTn id="11" dur="500"/>
                                        <p:tgtEl>
                                          <p:spTgt spid="13926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500"/>
                                        <p:tgtEl>
                                          <p:spTgt spid="2"/>
                                        </p:tgtEl>
                                      </p:cBhvr>
                                    </p:animEffect>
                                  </p:childTnLst>
                                </p:cTn>
                              </p:par>
                              <p:par>
                                <p:cTn id="17" presetID="22" presetClass="entr" presetSubtype="4"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139271"/>
                                        </p:tgtEl>
                                        <p:attrNameLst>
                                          <p:attrName>style.visibility</p:attrName>
                                        </p:attrNameLst>
                                      </p:cBhvr>
                                      <p:to>
                                        <p:strVal val="visible"/>
                                      </p:to>
                                    </p:set>
                                    <p:animEffect transition="in" filter="box(out)">
                                      <p:cBhvr>
                                        <p:cTn id="24" dur="500"/>
                                        <p:tgtEl>
                                          <p:spTgt spid="139271"/>
                                        </p:tgtEl>
                                      </p:cBhvr>
                                    </p:animEffect>
                                  </p:childTnLst>
                                  <p:subTnLst>
                                    <p:set>
                                      <p:cBhvr override="childStyle">
                                        <p:cTn dur="1" fill="hold" display="0" masterRel="nextClick" afterEffect="1"/>
                                        <p:tgtEl>
                                          <p:spTgt spid="139271"/>
                                        </p:tgtEl>
                                        <p:attrNameLst>
                                          <p:attrName>style.visibility</p:attrName>
                                        </p:attrNameLst>
                                      </p:cBhvr>
                                      <p:to>
                                        <p:strVal val="hidden"/>
                                      </p:to>
                                    </p:set>
                                  </p:subTnLst>
                                </p:cTn>
                              </p:par>
                              <p:par>
                                <p:cTn id="25" presetID="4" presetClass="entr" presetSubtype="32" fill="hold" nodeType="withEffect">
                                  <p:stCondLst>
                                    <p:cond delay="0"/>
                                  </p:stCondLst>
                                  <p:childTnLst>
                                    <p:set>
                                      <p:cBhvr>
                                        <p:cTn id="26" dur="1" fill="hold">
                                          <p:stCondLst>
                                            <p:cond delay="0"/>
                                          </p:stCondLst>
                                        </p:cTn>
                                        <p:tgtEl>
                                          <p:spTgt spid="139277"/>
                                        </p:tgtEl>
                                        <p:attrNameLst>
                                          <p:attrName>style.visibility</p:attrName>
                                        </p:attrNameLst>
                                      </p:cBhvr>
                                      <p:to>
                                        <p:strVal val="visible"/>
                                      </p:to>
                                    </p:set>
                                    <p:animEffect transition="in" filter="box(out)">
                                      <p:cBhvr>
                                        <p:cTn id="27" dur="500"/>
                                        <p:tgtEl>
                                          <p:spTgt spid="139277"/>
                                        </p:tgtEl>
                                      </p:cBhvr>
                                    </p:animEffect>
                                  </p:childTnLst>
                                  <p:subTnLst>
                                    <p:set>
                                      <p:cBhvr override="childStyle">
                                        <p:cTn dur="1" fill="hold" display="0" masterRel="nextClick" afterEffect="1"/>
                                        <p:tgtEl>
                                          <p:spTgt spid="139277"/>
                                        </p:tgtEl>
                                        <p:attrNameLst>
                                          <p:attrName>style.visibility</p:attrName>
                                        </p:attrNameLst>
                                      </p:cBhvr>
                                      <p:to>
                                        <p:strVal val="hidden"/>
                                      </p:to>
                                    </p:set>
                                  </p:subTnLst>
                                </p:cTn>
                              </p:par>
                              <p:par>
                                <p:cTn id="28" presetID="4" presetClass="entr" presetSubtype="32" fill="hold" nodeType="withEffect">
                                  <p:stCondLst>
                                    <p:cond delay="0"/>
                                  </p:stCondLst>
                                  <p:childTnLst>
                                    <p:set>
                                      <p:cBhvr>
                                        <p:cTn id="29" dur="1" fill="hold">
                                          <p:stCondLst>
                                            <p:cond delay="0"/>
                                          </p:stCondLst>
                                        </p:cTn>
                                        <p:tgtEl>
                                          <p:spTgt spid="139268"/>
                                        </p:tgtEl>
                                        <p:attrNameLst>
                                          <p:attrName>style.visibility</p:attrName>
                                        </p:attrNameLst>
                                      </p:cBhvr>
                                      <p:to>
                                        <p:strVal val="visible"/>
                                      </p:to>
                                    </p:set>
                                    <p:animEffect transition="in" filter="box(out)">
                                      <p:cBhvr>
                                        <p:cTn id="30" dur="500"/>
                                        <p:tgtEl>
                                          <p:spTgt spid="139268"/>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39269"/>
                                        </p:tgtEl>
                                        <p:attrNameLst>
                                          <p:attrName>style.visibility</p:attrName>
                                        </p:attrNameLst>
                                      </p:cBhvr>
                                      <p:to>
                                        <p:strVal val="visible"/>
                                      </p:to>
                                    </p:set>
                                    <p:animEffect transition="in" filter="box(out)">
                                      <p:cBhvr>
                                        <p:cTn id="35" dur="500"/>
                                        <p:tgtEl>
                                          <p:spTgt spid="139269"/>
                                        </p:tgtEl>
                                      </p:cBhvr>
                                    </p:animEffect>
                                  </p:childTnLst>
                                </p:cTn>
                              </p:par>
                              <p:par>
                                <p:cTn id="36" presetID="4" presetClass="entr" presetSubtype="32" fill="hold" nodeType="withEffect">
                                  <p:stCondLst>
                                    <p:cond delay="0"/>
                                  </p:stCondLst>
                                  <p:childTnLst>
                                    <p:set>
                                      <p:cBhvr>
                                        <p:cTn id="37" dur="1" fill="hold">
                                          <p:stCondLst>
                                            <p:cond delay="0"/>
                                          </p:stCondLst>
                                        </p:cTn>
                                        <p:tgtEl>
                                          <p:spTgt spid="139270"/>
                                        </p:tgtEl>
                                        <p:attrNameLst>
                                          <p:attrName>style.visibility</p:attrName>
                                        </p:attrNameLst>
                                      </p:cBhvr>
                                      <p:to>
                                        <p:strVal val="visible"/>
                                      </p:to>
                                    </p:set>
                                    <p:animEffect transition="in" filter="box(out)">
                                      <p:cBhvr>
                                        <p:cTn id="38" dur="500"/>
                                        <p:tgtEl>
                                          <p:spTgt spid="139270"/>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139286"/>
                                        </p:tgtEl>
                                        <p:attrNameLst>
                                          <p:attrName>style.visibility</p:attrName>
                                        </p:attrNameLst>
                                      </p:cBhvr>
                                      <p:to>
                                        <p:strVal val="visible"/>
                                      </p:to>
                                    </p:set>
                                    <p:animEffect transition="in" filter="box(out)">
                                      <p:cBhvr>
                                        <p:cTn id="43" dur="500"/>
                                        <p:tgtEl>
                                          <p:spTgt spid="139286"/>
                                        </p:tgtEl>
                                      </p:cBhvr>
                                    </p:animEffect>
                                  </p:childTnLst>
                                  <p:subTnLst>
                                    <p:set>
                                      <p:cBhvr override="childStyle">
                                        <p:cTn dur="1" fill="hold" display="0" masterRel="nextClick" afterEffect="1"/>
                                        <p:tgtEl>
                                          <p:spTgt spid="139286"/>
                                        </p:tgtEl>
                                        <p:attrNameLst>
                                          <p:attrName>style.visibility</p:attrName>
                                        </p:attrNameLst>
                                      </p:cBhvr>
                                      <p:to>
                                        <p:strVal val="hidden"/>
                                      </p:to>
                                    </p:set>
                                  </p:subTnLst>
                                </p:cTn>
                              </p:par>
                              <p:par>
                                <p:cTn id="44" presetID="4" presetClass="entr" presetSubtype="32" fill="hold" nodeType="withEffect">
                                  <p:stCondLst>
                                    <p:cond delay="0"/>
                                  </p:stCondLst>
                                  <p:childTnLst>
                                    <p:set>
                                      <p:cBhvr>
                                        <p:cTn id="45" dur="1" fill="hold">
                                          <p:stCondLst>
                                            <p:cond delay="0"/>
                                          </p:stCondLst>
                                        </p:cTn>
                                        <p:tgtEl>
                                          <p:spTgt spid="139280"/>
                                        </p:tgtEl>
                                        <p:attrNameLst>
                                          <p:attrName>style.visibility</p:attrName>
                                        </p:attrNameLst>
                                      </p:cBhvr>
                                      <p:to>
                                        <p:strVal val="visible"/>
                                      </p:to>
                                    </p:set>
                                    <p:animEffect transition="in" filter="box(out)">
                                      <p:cBhvr>
                                        <p:cTn id="46" dur="500"/>
                                        <p:tgtEl>
                                          <p:spTgt spid="139280"/>
                                        </p:tgtEl>
                                      </p:cBhvr>
                                    </p:animEffect>
                                  </p:childTnLst>
                                  <p:subTnLst>
                                    <p:set>
                                      <p:cBhvr override="childStyle">
                                        <p:cTn dur="1" fill="hold" display="0" masterRel="nextClick" afterEffect="1"/>
                                        <p:tgtEl>
                                          <p:spTgt spid="139280"/>
                                        </p:tgtEl>
                                        <p:attrNameLst>
                                          <p:attrName>style.visibility</p:attrName>
                                        </p:attrNameLst>
                                      </p:cBhvr>
                                      <p:to>
                                        <p:strVal val="hidden"/>
                                      </p:to>
                                    </p:set>
                                  </p:subTnLst>
                                </p:cTn>
                              </p:par>
                              <p:par>
                                <p:cTn id="47" presetID="4" presetClass="entr" presetSubtype="32" fill="hold" nodeType="withEffect">
                                  <p:stCondLst>
                                    <p:cond delay="0"/>
                                  </p:stCondLst>
                                  <p:childTnLst>
                                    <p:set>
                                      <p:cBhvr>
                                        <p:cTn id="48" dur="1" fill="hold">
                                          <p:stCondLst>
                                            <p:cond delay="0"/>
                                          </p:stCondLst>
                                        </p:cTn>
                                        <p:tgtEl>
                                          <p:spTgt spid="139272"/>
                                        </p:tgtEl>
                                        <p:attrNameLst>
                                          <p:attrName>style.visibility</p:attrName>
                                        </p:attrNameLst>
                                      </p:cBhvr>
                                      <p:to>
                                        <p:strVal val="visible"/>
                                      </p:to>
                                    </p:set>
                                    <p:animEffect transition="in" filter="box(out)">
                                      <p:cBhvr>
                                        <p:cTn id="49" dur="500"/>
                                        <p:tgtEl>
                                          <p:spTgt spid="139272"/>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nodeType="clickEffect">
                                  <p:stCondLst>
                                    <p:cond delay="0"/>
                                  </p:stCondLst>
                                  <p:childTnLst>
                                    <p:set>
                                      <p:cBhvr>
                                        <p:cTn id="53" dur="1" fill="hold">
                                          <p:stCondLst>
                                            <p:cond delay="0"/>
                                          </p:stCondLst>
                                        </p:cTn>
                                        <p:tgtEl>
                                          <p:spTgt spid="139273"/>
                                        </p:tgtEl>
                                        <p:attrNameLst>
                                          <p:attrName>style.visibility</p:attrName>
                                        </p:attrNameLst>
                                      </p:cBhvr>
                                      <p:to>
                                        <p:strVal val="visible"/>
                                      </p:to>
                                    </p:set>
                                    <p:animEffect transition="in" filter="box(out)">
                                      <p:cBhvr>
                                        <p:cTn id="54" dur="500"/>
                                        <p:tgtEl>
                                          <p:spTgt spid="139273"/>
                                        </p:tgtEl>
                                      </p:cBhvr>
                                    </p:animEffect>
                                  </p:childTnLst>
                                </p:cTn>
                              </p:par>
                              <p:par>
                                <p:cTn id="55" presetID="4" presetClass="entr" presetSubtype="32" fill="hold" nodeType="withEffect">
                                  <p:stCondLst>
                                    <p:cond delay="0"/>
                                  </p:stCondLst>
                                  <p:childTnLst>
                                    <p:set>
                                      <p:cBhvr>
                                        <p:cTn id="56" dur="1" fill="hold">
                                          <p:stCondLst>
                                            <p:cond delay="0"/>
                                          </p:stCondLst>
                                        </p:cTn>
                                        <p:tgtEl>
                                          <p:spTgt spid="139274"/>
                                        </p:tgtEl>
                                        <p:attrNameLst>
                                          <p:attrName>style.visibility</p:attrName>
                                        </p:attrNameLst>
                                      </p:cBhvr>
                                      <p:to>
                                        <p:strVal val="visible"/>
                                      </p:to>
                                    </p:set>
                                    <p:animEffect transition="in" filter="box(out)">
                                      <p:cBhvr>
                                        <p:cTn id="57" dur="500"/>
                                        <p:tgtEl>
                                          <p:spTgt spid="139274"/>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139287"/>
                                        </p:tgtEl>
                                        <p:attrNameLst>
                                          <p:attrName>style.visibility</p:attrName>
                                        </p:attrNameLst>
                                      </p:cBhvr>
                                      <p:to>
                                        <p:strVal val="visible"/>
                                      </p:to>
                                    </p:set>
                                    <p:animEffect transition="in" filter="box(out)">
                                      <p:cBhvr>
                                        <p:cTn id="62" dur="500"/>
                                        <p:tgtEl>
                                          <p:spTgt spid="139287"/>
                                        </p:tgtEl>
                                      </p:cBhvr>
                                    </p:animEffect>
                                  </p:childTnLst>
                                  <p:subTnLst>
                                    <p:set>
                                      <p:cBhvr override="childStyle">
                                        <p:cTn dur="1" fill="hold" display="0" masterRel="nextClick" afterEffect="1"/>
                                        <p:tgtEl>
                                          <p:spTgt spid="139287"/>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139283"/>
                                        </p:tgtEl>
                                        <p:attrNameLst>
                                          <p:attrName>style.visibility</p:attrName>
                                        </p:attrNameLst>
                                      </p:cBhvr>
                                      <p:to>
                                        <p:strVal val="visible"/>
                                      </p:to>
                                    </p:set>
                                    <p:animEffect transition="in" filter="box(out)">
                                      <p:cBhvr>
                                        <p:cTn id="67" dur="500"/>
                                        <p:tgtEl>
                                          <p:spTgt spid="139283"/>
                                        </p:tgtEl>
                                      </p:cBhvr>
                                    </p:animEffect>
                                  </p:childTnLst>
                                  <p:subTnLst>
                                    <p:set>
                                      <p:cBhvr override="childStyle">
                                        <p:cTn dur="1" fill="hold" display="0" masterRel="nextClick" afterEffect="1"/>
                                        <p:tgtEl>
                                          <p:spTgt spid="139283"/>
                                        </p:tgtEl>
                                        <p:attrNameLst>
                                          <p:attrName>style.visibility</p:attrName>
                                        </p:attrNameLst>
                                      </p:cBhvr>
                                      <p:to>
                                        <p:strVal val="hidden"/>
                                      </p:to>
                                    </p:set>
                                  </p:subTnLst>
                                </p:cTn>
                              </p:par>
                              <p:par>
                                <p:cTn id="68" presetID="4" presetClass="entr" presetSubtype="32" fill="hold" nodeType="withEffect">
                                  <p:stCondLst>
                                    <p:cond delay="0"/>
                                  </p:stCondLst>
                                  <p:childTnLst>
                                    <p:set>
                                      <p:cBhvr>
                                        <p:cTn id="69" dur="1" fill="hold">
                                          <p:stCondLst>
                                            <p:cond delay="0"/>
                                          </p:stCondLst>
                                        </p:cTn>
                                        <p:tgtEl>
                                          <p:spTgt spid="139275"/>
                                        </p:tgtEl>
                                        <p:attrNameLst>
                                          <p:attrName>style.visibility</p:attrName>
                                        </p:attrNameLst>
                                      </p:cBhvr>
                                      <p:to>
                                        <p:strVal val="visible"/>
                                      </p:to>
                                    </p:set>
                                    <p:animEffect transition="in" filter="box(out)">
                                      <p:cBhvr>
                                        <p:cTn id="70" dur="500"/>
                                        <p:tgtEl>
                                          <p:spTgt spid="139275"/>
                                        </p:tgtEl>
                                      </p:cBhvr>
                                    </p:animEffect>
                                  </p:childTnLst>
                                </p:cTn>
                              </p:par>
                            </p:childTnLst>
                          </p:cTn>
                        </p:par>
                      </p:childTnLst>
                    </p:cTn>
                  </p:par>
                  <p:par>
                    <p:cTn id="71" fill="hold">
                      <p:stCondLst>
                        <p:cond delay="indefinite"/>
                      </p:stCondLst>
                      <p:childTnLst>
                        <p:par>
                          <p:cTn id="72" fill="hold">
                            <p:stCondLst>
                              <p:cond delay="0"/>
                            </p:stCondLst>
                            <p:childTnLst>
                              <p:par>
                                <p:cTn id="73" presetID="4" presetClass="entr" presetSubtype="32" fill="hold" nodeType="clickEffect">
                                  <p:stCondLst>
                                    <p:cond delay="0"/>
                                  </p:stCondLst>
                                  <p:childTnLst>
                                    <p:set>
                                      <p:cBhvr>
                                        <p:cTn id="74" dur="1" fill="hold">
                                          <p:stCondLst>
                                            <p:cond delay="0"/>
                                          </p:stCondLst>
                                        </p:cTn>
                                        <p:tgtEl>
                                          <p:spTgt spid="139276"/>
                                        </p:tgtEl>
                                        <p:attrNameLst>
                                          <p:attrName>style.visibility</p:attrName>
                                        </p:attrNameLst>
                                      </p:cBhvr>
                                      <p:to>
                                        <p:strVal val="visible"/>
                                      </p:to>
                                    </p:set>
                                    <p:animEffect transition="in" filter="box(out)">
                                      <p:cBhvr>
                                        <p:cTn id="75" dur="500"/>
                                        <p:tgtEl>
                                          <p:spTgt spid="139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build="p"/>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矩形 141313"/>
          <p:cNvSpPr/>
          <p:nvPr/>
        </p:nvSpPr>
        <p:spPr>
          <a:xfrm>
            <a:off x="323850" y="404813"/>
            <a:ext cx="8456613" cy="1512570"/>
          </a:xfrm>
          <a:prstGeom prst="rect">
            <a:avLst/>
          </a:prstGeom>
          <a:noFill/>
          <a:ln w="9525">
            <a:noFill/>
          </a:ln>
        </p:spPr>
        <p:txBody>
          <a:bodyPr anchor="t" anchorCtr="0">
            <a:spAutoFit/>
          </a:bodyPr>
          <a:p>
            <a:pPr>
              <a:lnSpc>
                <a:spcPct val="110000"/>
              </a:lnSpc>
            </a:pPr>
            <a:r>
              <a:rPr lang="en-US" altLang="zh-CN" dirty="0">
                <a:solidFill>
                  <a:srgbClr val="FF3300"/>
                </a:solidFill>
                <a:latin typeface="Times New Roman" panose="02020603050405020304" pitchFamily="18" charset="0"/>
                <a:ea typeface="黑体" panose="02010609060101010101" pitchFamily="2" charset="-122"/>
              </a:rPr>
              <a:t> </a:t>
            </a:r>
            <a:r>
              <a:rPr lang="zh-CN" altLang="en-US" dirty="0">
                <a:solidFill>
                  <a:srgbClr val="FF3300"/>
                </a:solidFill>
                <a:ea typeface="黑体" panose="02010609060101010101" pitchFamily="2" charset="-122"/>
                <a:sym typeface="+mn-ea"/>
              </a:rPr>
              <a:t>引</a:t>
            </a:r>
            <a:r>
              <a:rPr lang="zh-CN" altLang="en-US" dirty="0">
                <a:solidFill>
                  <a:srgbClr val="FF3300"/>
                </a:solidFill>
                <a:latin typeface="Times New Roman" panose="02020603050405020304" pitchFamily="18" charset="0"/>
                <a:ea typeface="黑体" panose="02010609060101010101" pitchFamily="2" charset="-122"/>
              </a:rPr>
              <a:t>理</a:t>
            </a:r>
            <a:r>
              <a:rPr lang="en-US" altLang="zh-CN" dirty="0">
                <a:solidFill>
                  <a:srgbClr val="FF3300"/>
                </a:solidFill>
                <a:latin typeface="Times New Roman" panose="02020603050405020304" pitchFamily="18" charset="0"/>
                <a:ea typeface="黑体" panose="02010609060101010101" pitchFamily="2" charset="-122"/>
              </a:rPr>
              <a:t> </a:t>
            </a:r>
            <a:r>
              <a:rPr lang="en-US" altLang="zh-CN">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一个 </a:t>
            </a:r>
            <a:r>
              <a:rPr lang="en-US" altLang="zh-CN" i="1">
                <a:latin typeface="Times New Roman" panose="02020603050405020304" pitchFamily="18" charset="0"/>
              </a:rPr>
              <a:t>n </a:t>
            </a:r>
            <a:r>
              <a:rPr lang="zh-CN" altLang="en-US" dirty="0">
                <a:latin typeface="Times New Roman" panose="02020603050405020304" pitchFamily="18" charset="0"/>
              </a:rPr>
              <a:t>阶行列式</a:t>
            </a:r>
            <a:r>
              <a:rPr lang="en-US" altLang="zh-CN" i="1">
                <a:latin typeface="Times New Roman" panose="02020603050405020304" pitchFamily="18" charset="0"/>
              </a:rPr>
              <a:t>D</a:t>
            </a:r>
            <a:r>
              <a:rPr lang="zh-CN" altLang="en-US" dirty="0">
                <a:latin typeface="Times New Roman" panose="02020603050405020304" pitchFamily="18" charset="0"/>
              </a:rPr>
              <a:t>的第 </a:t>
            </a:r>
            <a:r>
              <a:rPr lang="en-US" altLang="zh-CN" i="1">
                <a:latin typeface="Times New Roman" panose="02020603050405020304" pitchFamily="18" charset="0"/>
              </a:rPr>
              <a:t>i</a:t>
            </a:r>
            <a:r>
              <a:rPr lang="en-US" altLang="zh-CN">
                <a:latin typeface="Times New Roman" panose="02020603050405020304" pitchFamily="18" charset="0"/>
              </a:rPr>
              <a:t> </a:t>
            </a:r>
            <a:r>
              <a:rPr lang="zh-CN" altLang="en-US" dirty="0">
                <a:latin typeface="Times New Roman" panose="02020603050405020304" pitchFamily="18" charset="0"/>
              </a:rPr>
              <a:t>行元素除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a:latin typeface="Times New Roman" panose="02020603050405020304" pitchFamily="18" charset="0"/>
              </a:rPr>
              <a:t> </a:t>
            </a:r>
            <a:r>
              <a:rPr lang="zh-CN" altLang="en-US" dirty="0">
                <a:latin typeface="Times New Roman" panose="02020603050405020304" pitchFamily="18" charset="0"/>
              </a:rPr>
              <a:t>外都为零</a:t>
            </a:r>
            <a:r>
              <a:rPr lang="en-US" altLang="zh-CN">
                <a:latin typeface="Times New Roman" panose="02020603050405020304" pitchFamily="18" charset="0"/>
              </a:rPr>
              <a:t>, </a:t>
            </a:r>
            <a:r>
              <a:rPr lang="zh-CN" altLang="en-US" dirty="0">
                <a:latin typeface="Times New Roman" panose="02020603050405020304" pitchFamily="18" charset="0"/>
              </a:rPr>
              <a:t>那么</a:t>
            </a:r>
            <a:r>
              <a:rPr lang="en-US" altLang="zh-CN">
                <a:latin typeface="Times New Roman" panose="02020603050405020304" pitchFamily="18" charset="0"/>
              </a:rPr>
              <a:t>, </a:t>
            </a:r>
            <a:r>
              <a:rPr lang="zh-CN" altLang="en-US" dirty="0">
                <a:latin typeface="Times New Roman" panose="02020603050405020304" pitchFamily="18" charset="0"/>
              </a:rPr>
              <a:t>行列式 </a:t>
            </a:r>
            <a:r>
              <a:rPr lang="en-US" altLang="zh-CN" i="1">
                <a:latin typeface="Times New Roman" panose="02020603050405020304" pitchFamily="18" charset="0"/>
              </a:rPr>
              <a:t>D </a:t>
            </a:r>
            <a:r>
              <a:rPr lang="zh-CN" altLang="en-US" dirty="0">
                <a:latin typeface="Times New Roman" panose="02020603050405020304" pitchFamily="18" charset="0"/>
              </a:rPr>
              <a:t>等于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i="1" baseline="-25000">
                <a:latin typeface="Times New Roman" panose="02020603050405020304" pitchFamily="18" charset="0"/>
              </a:rPr>
              <a:t> </a:t>
            </a:r>
            <a:r>
              <a:rPr lang="zh-CN" altLang="en-US">
                <a:latin typeface="Times New Roman" panose="02020603050405020304" pitchFamily="18" charset="0"/>
              </a:rPr>
              <a:t>与</a:t>
            </a:r>
            <a:r>
              <a:rPr lang="zh-CN" altLang="en-US" dirty="0">
                <a:latin typeface="Times New Roman" panose="02020603050405020304" pitchFamily="18" charset="0"/>
              </a:rPr>
              <a:t>它的代数余子式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zh-CN" altLang="en-US" dirty="0">
                <a:latin typeface="Times New Roman" panose="02020603050405020304" pitchFamily="18" charset="0"/>
              </a:rPr>
              <a:t>的乘积</a:t>
            </a:r>
            <a:r>
              <a:rPr lang="en-US" altLang="zh-CN">
                <a:latin typeface="Times New Roman" panose="02020603050405020304" pitchFamily="18" charset="0"/>
              </a:rPr>
              <a:t>, </a:t>
            </a:r>
            <a:r>
              <a:rPr lang="zh-CN" altLang="en-US" dirty="0">
                <a:latin typeface="Times New Roman" panose="02020603050405020304" pitchFamily="18" charset="0"/>
              </a:rPr>
              <a:t>即 </a:t>
            </a:r>
            <a:r>
              <a:rPr lang="en-US" altLang="zh-CN" i="1">
                <a:latin typeface="Times New Roman" panose="02020603050405020304" pitchFamily="18" charset="0"/>
              </a:rPr>
              <a:t>D</a:t>
            </a:r>
            <a:r>
              <a:rPr lang="en-US" altLang="zh-CN">
                <a:latin typeface="Times New Roman" panose="02020603050405020304" pitchFamily="18" charset="0"/>
              </a:rPr>
              <a:t> =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i="1" baseline="-25000">
                <a:latin typeface="Times New Roman" panose="02020603050405020304" pitchFamily="18" charset="0"/>
              </a:rPr>
              <a:t>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i="1" baseline="-25000">
                <a:latin typeface="Times New Roman" panose="02020603050405020304" pitchFamily="18" charset="0"/>
              </a:rPr>
              <a:t> </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41315" name="对象 141314"/>
          <p:cNvGraphicFramePr/>
          <p:nvPr/>
        </p:nvGraphicFramePr>
        <p:xfrm>
          <a:off x="433705" y="1918335"/>
          <a:ext cx="7026275" cy="3843020"/>
        </p:xfrm>
        <a:graphic>
          <a:graphicData uri="http://schemas.openxmlformats.org/presentationml/2006/ole">
            <mc:AlternateContent xmlns:mc="http://schemas.openxmlformats.org/markup-compatibility/2006">
              <mc:Choice xmlns:v="urn:schemas-microsoft-com:vml" Requires="v">
                <p:oleObj spid="_x0000_s3419" name="" r:id="rId1" imgW="3467100" imgH="1854200" progId="Equation.3">
                  <p:embed/>
                </p:oleObj>
              </mc:Choice>
              <mc:Fallback>
                <p:oleObj name="" r:id="rId1" imgW="3467100" imgH="1854200" progId="Equation.3">
                  <p:embed/>
                  <p:pic>
                    <p:nvPicPr>
                      <p:cNvPr id="0" name="图片 3418"/>
                      <p:cNvPicPr/>
                      <p:nvPr/>
                    </p:nvPicPr>
                    <p:blipFill>
                      <a:blip r:embed="rId2"/>
                      <a:stretch>
                        <a:fillRect/>
                      </a:stretch>
                    </p:blipFill>
                    <p:spPr>
                      <a:xfrm>
                        <a:off x="433705" y="1918335"/>
                        <a:ext cx="7026275" cy="3843020"/>
                      </a:xfrm>
                      <a:prstGeom prst="rect">
                        <a:avLst/>
                      </a:prstGeom>
                      <a:noFill/>
                      <a:ln w="38100">
                        <a:noFill/>
                        <a:miter/>
                      </a:ln>
                    </p:spPr>
                  </p:pic>
                </p:oleObj>
              </mc:Fallback>
            </mc:AlternateContent>
          </a:graphicData>
        </a:graphic>
      </p:graphicFrame>
      <p:sp>
        <p:nvSpPr>
          <p:cNvPr id="141316" name="矩形 141315"/>
          <p:cNvSpPr/>
          <p:nvPr/>
        </p:nvSpPr>
        <p:spPr>
          <a:xfrm>
            <a:off x="1280795" y="3861435"/>
            <a:ext cx="6050915" cy="553085"/>
          </a:xfrm>
          <a:prstGeom prst="rect">
            <a:avLst/>
          </a:prstGeom>
          <a:noFill/>
          <a:ln w="28575" cap="flat" cmpd="sng">
            <a:solidFill>
              <a:srgbClr val="FF3300"/>
            </a:solidFill>
            <a:prstDash val="solid"/>
            <a:miter/>
            <a:headEnd type="none" w="med" len="med"/>
            <a:tailEnd type="none" w="med" len="med"/>
          </a:ln>
        </p:spPr>
        <p:txBody>
          <a:bodyPr/>
          <a:p>
            <a:endParaRPr lang="zh-CN" altLang="en-US"/>
          </a:p>
        </p:txBody>
      </p:sp>
      <p:sp>
        <p:nvSpPr>
          <p:cNvPr id="141318" name="矩形 141317"/>
          <p:cNvSpPr/>
          <p:nvPr/>
        </p:nvSpPr>
        <p:spPr>
          <a:xfrm>
            <a:off x="4258310" y="3933190"/>
            <a:ext cx="588010" cy="426720"/>
          </a:xfrm>
          <a:prstGeom prst="rect">
            <a:avLst/>
          </a:prstGeom>
          <a:noFill/>
          <a:ln w="28575" cap="flat" cmpd="sng">
            <a:solidFill>
              <a:srgbClr val="FF3300"/>
            </a:solidFill>
            <a:prstDash val="solid"/>
            <a:miter/>
            <a:headEnd type="none" w="med" len="med"/>
            <a:tailEnd type="none" w="med" len="med"/>
          </a:ln>
        </p:spPr>
        <p:txBody>
          <a:bodyPr/>
          <a:p>
            <a:endParaRPr lang="zh-CN" altLang="en-US"/>
          </a:p>
        </p:txBody>
      </p:sp>
      <p:sp>
        <p:nvSpPr>
          <p:cNvPr id="3" name="矩形 2"/>
          <p:cNvSpPr/>
          <p:nvPr/>
        </p:nvSpPr>
        <p:spPr>
          <a:xfrm>
            <a:off x="7492365" y="3783965"/>
            <a:ext cx="1330960" cy="648335"/>
          </a:xfrm>
          <a:prstGeom prst="rect">
            <a:avLst/>
          </a:prstGeom>
          <a:noFill/>
          <a:ln w="9525">
            <a:noFill/>
          </a:ln>
        </p:spPr>
        <p:txBody>
          <a:bodyPr wrap="none" anchor="t" anchorCtr="0">
            <a:noAutofit/>
          </a:bodyPr>
          <a:p>
            <a:r>
              <a:rPr lang="en-US" altLang="zh-CN">
                <a:latin typeface="Times New Roman" panose="02020603050405020304" pitchFamily="18" charset="0"/>
              </a:rPr>
              <a:t>= </a:t>
            </a:r>
            <a:r>
              <a:rPr lang="en-US" altLang="zh-CN" i="1" err="1">
                <a:solidFill>
                  <a:srgbClr val="FF3300"/>
                </a:solidFill>
                <a:latin typeface="Times New Roman" panose="02020603050405020304" pitchFamily="18" charset="0"/>
              </a:rPr>
              <a:t>a</a:t>
            </a:r>
            <a:r>
              <a:rPr lang="en-US" altLang="zh-CN" i="1" baseline="-25000" err="1">
                <a:solidFill>
                  <a:srgbClr val="FF3300"/>
                </a:solidFill>
                <a:latin typeface="Times New Roman" panose="02020603050405020304" pitchFamily="18" charset="0"/>
              </a:rPr>
              <a:t>ij</a:t>
            </a:r>
            <a:r>
              <a:rPr lang="en-US" altLang="zh-CN" i="1" baseline="-25000">
                <a:solidFill>
                  <a:srgbClr val="FF3300"/>
                </a:solidFill>
                <a:latin typeface="Times New Roman" panose="02020603050405020304" pitchFamily="18" charset="0"/>
              </a:rPr>
              <a:t> </a:t>
            </a:r>
            <a:r>
              <a:rPr lang="en-US" altLang="zh-CN" i="1" err="1">
                <a:solidFill>
                  <a:srgbClr val="FF3300"/>
                </a:solidFill>
                <a:latin typeface="Times New Roman" panose="02020603050405020304" pitchFamily="18" charset="0"/>
              </a:rPr>
              <a:t>A</a:t>
            </a:r>
            <a:r>
              <a:rPr lang="en-US" altLang="zh-CN" i="1" baseline="-25000" err="1">
                <a:solidFill>
                  <a:srgbClr val="FF3300"/>
                </a:solidFill>
                <a:latin typeface="Times New Roman" panose="02020603050405020304" pitchFamily="18" charset="0"/>
              </a:rPr>
              <a:t>ij</a:t>
            </a:r>
            <a:r>
              <a:rPr lang="en-US" altLang="zh-CN" i="1" baseline="-25000">
                <a:latin typeface="Times New Roman" panose="02020603050405020304" pitchFamily="18" charset="0"/>
              </a:rPr>
              <a:t> </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4" name="文本框 3"/>
          <p:cNvSpPr txBox="1"/>
          <p:nvPr/>
        </p:nvSpPr>
        <p:spPr>
          <a:xfrm>
            <a:off x="539750" y="5831840"/>
            <a:ext cx="3073400" cy="596265"/>
          </a:xfrm>
          <a:prstGeom prst="rect">
            <a:avLst/>
          </a:prstGeom>
          <a:noFill/>
        </p:spPr>
        <p:txBody>
          <a:bodyPr wrap="square" rtlCol="0">
            <a:noAutofit/>
          </a:bodyPr>
          <a:p>
            <a:r>
              <a:rPr lang="zh-CN" altLang="en-US"/>
              <a:t>（</a:t>
            </a:r>
            <a:r>
              <a:rPr lang="zh-CN" altLang="en-US">
                <a:sym typeface="+mn-ea"/>
              </a:rPr>
              <a:t>证明可略</a:t>
            </a:r>
            <a:r>
              <a:rPr lang="zh-CN" altLang="en-US"/>
              <a:t>）</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41314">
                                            <p:txEl>
                                              <p:charRg st="0" end="94"/>
                                            </p:txEl>
                                          </p:spTgt>
                                        </p:tgtEl>
                                        <p:attrNameLst>
                                          <p:attrName>style.visibility</p:attrName>
                                        </p:attrNameLst>
                                      </p:cBhvr>
                                      <p:to>
                                        <p:strVal val="visible"/>
                                      </p:to>
                                    </p:set>
                                    <p:animEffect transition="in" filter="box(out)">
                                      <p:cBhvr>
                                        <p:cTn id="7" dur="500"/>
                                        <p:tgtEl>
                                          <p:spTgt spid="141314">
                                            <p:txEl>
                                              <p:charRg st="0" end="94"/>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41315"/>
                                        </p:tgtEl>
                                        <p:attrNameLst>
                                          <p:attrName>style.visibility</p:attrName>
                                        </p:attrNameLst>
                                      </p:cBhvr>
                                      <p:to>
                                        <p:strVal val="visible"/>
                                      </p:to>
                                    </p:set>
                                    <p:animEffect transition="in" filter="box(out)">
                                      <p:cBhvr>
                                        <p:cTn id="12" dur="500"/>
                                        <p:tgtEl>
                                          <p:spTgt spid="14131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41318"/>
                                        </p:tgtEl>
                                        <p:attrNameLst>
                                          <p:attrName>style.visibility</p:attrName>
                                        </p:attrNameLst>
                                      </p:cBhvr>
                                      <p:to>
                                        <p:strVal val="visible"/>
                                      </p:to>
                                    </p:set>
                                    <p:animEffect transition="in" filter="box(out)">
                                      <p:cBhvr>
                                        <p:cTn id="17" dur="500"/>
                                        <p:tgtEl>
                                          <p:spTgt spid="14131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41316"/>
                                        </p:tgtEl>
                                        <p:attrNameLst>
                                          <p:attrName>style.visibility</p:attrName>
                                        </p:attrNameLst>
                                      </p:cBhvr>
                                      <p:to>
                                        <p:strVal val="visible"/>
                                      </p:to>
                                    </p:set>
                                    <p:animEffect transition="in" filter="box(out)">
                                      <p:cBhvr>
                                        <p:cTn id="22" dur="500"/>
                                        <p:tgtEl>
                                          <p:spTgt spid="14131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
                                            <p:txEl>
                                              <p:charRg st="0" end="12"/>
                                            </p:txEl>
                                          </p:spTgt>
                                        </p:tgtEl>
                                        <p:attrNameLst>
                                          <p:attrName>style.visibility</p:attrName>
                                        </p:attrNameLst>
                                      </p:cBhvr>
                                      <p:to>
                                        <p:strVal val="visible"/>
                                      </p:to>
                                    </p:set>
                                    <p:animEffect transition="in" filter="box(out)">
                                      <p:cBhvr>
                                        <p:cTn id="27" dur="500"/>
                                        <p:tgtEl>
                                          <p:spTgt spid="3">
                                            <p:txEl>
                                              <p:charRg st="0" end="1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build="p"/>
      <p:bldP spid="3" grpId="0" build="p"/>
      <p:bldP spid="4"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文本框 142337"/>
          <p:cNvSpPr txBox="1"/>
          <p:nvPr/>
        </p:nvSpPr>
        <p:spPr>
          <a:xfrm>
            <a:off x="1079500" y="634365"/>
            <a:ext cx="4899025" cy="519113"/>
          </a:xfrm>
          <a:prstGeom prst="rect">
            <a:avLst/>
          </a:prstGeom>
          <a:noFill/>
          <a:ln w="9525">
            <a:noFill/>
          </a:ln>
        </p:spPr>
        <p:txBody>
          <a:bodyPr wrap="none" anchor="t" anchorCtr="0">
            <a:spAutoFit/>
          </a:bodyPr>
          <a:p>
            <a:r>
              <a:rPr lang="zh-CN" altLang="en-US" dirty="0">
                <a:solidFill>
                  <a:srgbClr val="FF3300"/>
                </a:solidFill>
                <a:latin typeface="Times New Roman" panose="02020603050405020304" pitchFamily="18" charset="0"/>
                <a:ea typeface="黑体" panose="02010609060101010101" pitchFamily="2" charset="-122"/>
              </a:rPr>
              <a:t>证</a:t>
            </a:r>
            <a:r>
              <a:rPr lang="en-US" altLang="zh-CN">
                <a:solidFill>
                  <a:srgbClr val="FF3300"/>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当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a:latin typeface="Times New Roman" panose="02020603050405020304" pitchFamily="18" charset="0"/>
              </a:rPr>
              <a:t> </a:t>
            </a:r>
            <a:r>
              <a:rPr lang="zh-CN" altLang="en-US" dirty="0">
                <a:latin typeface="Times New Roman" panose="02020603050405020304" pitchFamily="18" charset="0"/>
              </a:rPr>
              <a:t>位于第一行第一列时</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42339" name="对象 142338"/>
          <p:cNvGraphicFramePr/>
          <p:nvPr/>
        </p:nvGraphicFramePr>
        <p:xfrm>
          <a:off x="2484755" y="1200150"/>
          <a:ext cx="3556000" cy="1913890"/>
        </p:xfrm>
        <a:graphic>
          <a:graphicData uri="http://schemas.openxmlformats.org/presentationml/2006/ole">
            <mc:AlternateContent xmlns:mc="http://schemas.openxmlformats.org/markup-compatibility/2006">
              <mc:Choice xmlns:v="urn:schemas-microsoft-com:vml" Requires="v">
                <p:oleObj spid="_x0000_s3421" name="" r:id="rId1" imgW="3556000" imgH="1727200" progId="Equation.3">
                  <p:embed/>
                </p:oleObj>
              </mc:Choice>
              <mc:Fallback>
                <p:oleObj name="" r:id="rId1" imgW="3556000" imgH="1727200" progId="Equation.3">
                  <p:embed/>
                  <p:pic>
                    <p:nvPicPr>
                      <p:cNvPr id="0" name="图片 3420"/>
                      <p:cNvPicPr/>
                      <p:nvPr/>
                    </p:nvPicPr>
                    <p:blipFill>
                      <a:blip r:embed="rId2"/>
                      <a:stretch>
                        <a:fillRect/>
                      </a:stretch>
                    </p:blipFill>
                    <p:spPr>
                      <a:xfrm>
                        <a:off x="2484755" y="1200150"/>
                        <a:ext cx="3556000" cy="1913890"/>
                      </a:xfrm>
                      <a:prstGeom prst="rect">
                        <a:avLst/>
                      </a:prstGeom>
                      <a:noFill/>
                      <a:ln w="38100">
                        <a:noFill/>
                        <a:miter/>
                      </a:ln>
                    </p:spPr>
                  </p:pic>
                </p:oleObj>
              </mc:Fallback>
            </mc:AlternateContent>
          </a:graphicData>
        </a:graphic>
      </p:graphicFrame>
      <p:sp>
        <p:nvSpPr>
          <p:cNvPr id="142340" name="文本框 142339"/>
          <p:cNvSpPr txBox="1"/>
          <p:nvPr/>
        </p:nvSpPr>
        <p:spPr>
          <a:xfrm>
            <a:off x="1238885" y="3743960"/>
            <a:ext cx="4744720" cy="521970"/>
          </a:xfrm>
          <a:prstGeom prst="rect">
            <a:avLst/>
          </a:prstGeom>
          <a:noFill/>
          <a:ln w="9525">
            <a:noFill/>
          </a:ln>
        </p:spPr>
        <p:txBody>
          <a:bodyPr wrap="square" anchor="t" anchorCtr="0">
            <a:spAutoFit/>
          </a:bodyPr>
          <a:p>
            <a:r>
              <a:rPr lang="zh-CN" altLang="en-US">
                <a:latin typeface="Times New Roman" panose="02020603050405020304" pitchFamily="18" charset="0"/>
              </a:rPr>
              <a:t>又</a:t>
            </a:r>
            <a:r>
              <a:rPr lang="zh-CN" altLang="en-US" dirty="0">
                <a:latin typeface="Times New Roman" panose="02020603050405020304" pitchFamily="18" charset="0"/>
              </a:rPr>
              <a:t>由于  </a:t>
            </a:r>
            <a:r>
              <a:rPr lang="en-US" altLang="zh-CN" i="1">
                <a:latin typeface="Times New Roman" panose="02020603050405020304" pitchFamily="18" charset="0"/>
              </a:rPr>
              <a:t>A</a:t>
            </a:r>
            <a:r>
              <a:rPr lang="en-US" altLang="zh-CN" baseline="-25000">
                <a:latin typeface="Times New Roman" panose="02020603050405020304" pitchFamily="18" charset="0"/>
              </a:rPr>
              <a:t>11</a:t>
            </a:r>
            <a:r>
              <a:rPr lang="en-US" altLang="zh-CN">
                <a:latin typeface="Times New Roman" panose="02020603050405020304" pitchFamily="18" charset="0"/>
              </a:rPr>
              <a:t>=(–1)</a:t>
            </a:r>
            <a:r>
              <a:rPr lang="en-US" altLang="zh-CN" baseline="30000">
                <a:latin typeface="Times New Roman" panose="02020603050405020304" pitchFamily="18" charset="0"/>
              </a:rPr>
              <a:t>1+1</a:t>
            </a:r>
            <a:r>
              <a:rPr lang="en-US" altLang="zh-CN" i="1">
                <a:latin typeface="Times New Roman" panose="02020603050405020304" pitchFamily="18" charset="0"/>
              </a:rPr>
              <a:t>M</a:t>
            </a:r>
            <a:r>
              <a:rPr lang="en-US" altLang="zh-CN" baseline="-25000">
                <a:latin typeface="Times New Roman" panose="02020603050405020304" pitchFamily="18" charset="0"/>
              </a:rPr>
              <a:t>11</a:t>
            </a:r>
            <a:r>
              <a:rPr lang="en-US" altLang="zh-CN">
                <a:latin typeface="Times New Roman" panose="02020603050405020304" pitchFamily="18" charset="0"/>
              </a:rPr>
              <a:t>=</a:t>
            </a:r>
            <a:r>
              <a:rPr lang="en-US" altLang="zh-CN" i="1">
                <a:latin typeface="Times New Roman" panose="02020603050405020304" pitchFamily="18" charset="0"/>
              </a:rPr>
              <a:t>M</a:t>
            </a:r>
            <a:r>
              <a:rPr lang="en-US" altLang="zh-CN" baseline="-25000">
                <a:latin typeface="Times New Roman" panose="02020603050405020304" pitchFamily="18" charset="0"/>
              </a:rPr>
              <a:t>11</a:t>
            </a:r>
            <a:r>
              <a:rPr lang="en-US" altLang="zh-CN">
                <a:latin typeface="Times New Roman" panose="02020603050405020304" pitchFamily="18" charset="0"/>
              </a:rPr>
              <a:t>, </a:t>
            </a:r>
            <a:endParaRPr lang="en-US" altLang="zh-CN">
              <a:latin typeface="Times New Roman" panose="02020603050405020304" pitchFamily="18" charset="0"/>
            </a:endParaRPr>
          </a:p>
        </p:txBody>
      </p:sp>
      <p:sp>
        <p:nvSpPr>
          <p:cNvPr id="142341" name="文本框 142340"/>
          <p:cNvSpPr txBox="1"/>
          <p:nvPr/>
        </p:nvSpPr>
        <p:spPr>
          <a:xfrm>
            <a:off x="1187450" y="3168015"/>
            <a:ext cx="2498090" cy="521970"/>
          </a:xfrm>
          <a:prstGeom prst="rect">
            <a:avLst/>
          </a:prstGeom>
          <a:noFill/>
          <a:ln w="9525">
            <a:noFill/>
          </a:ln>
        </p:spPr>
        <p:txBody>
          <a:bodyPr wrap="square" anchor="t" anchorCtr="0">
            <a:spAutoFit/>
          </a:bodyPr>
          <a:p>
            <a:r>
              <a:rPr lang="en-US" altLang="zh-CN" i="1">
                <a:solidFill>
                  <a:srgbClr val="FF3300"/>
                </a:solidFill>
                <a:latin typeface="Times New Roman" panose="02020603050405020304" pitchFamily="18" charset="0"/>
              </a:rPr>
              <a:t>D </a:t>
            </a:r>
            <a:r>
              <a:rPr lang="en-US" altLang="zh-CN">
                <a:solidFill>
                  <a:srgbClr val="FF3300"/>
                </a:solidFill>
                <a:latin typeface="Times New Roman" panose="02020603050405020304" pitchFamily="18" charset="0"/>
              </a:rPr>
              <a:t>= </a:t>
            </a:r>
            <a:r>
              <a:rPr lang="en-US" altLang="zh-CN" i="1">
                <a:solidFill>
                  <a:srgbClr val="FF3300"/>
                </a:solidFill>
                <a:latin typeface="Times New Roman" panose="02020603050405020304" pitchFamily="18" charset="0"/>
              </a:rPr>
              <a:t>a</a:t>
            </a:r>
            <a:r>
              <a:rPr lang="en-US" altLang="zh-CN" baseline="-25000">
                <a:solidFill>
                  <a:srgbClr val="FF3300"/>
                </a:solidFill>
                <a:latin typeface="Times New Roman" panose="02020603050405020304" pitchFamily="18" charset="0"/>
              </a:rPr>
              <a:t>11</a:t>
            </a:r>
            <a:r>
              <a:rPr lang="en-US" altLang="zh-CN" i="1">
                <a:solidFill>
                  <a:srgbClr val="FF3300"/>
                </a:solidFill>
                <a:latin typeface="Times New Roman" panose="02020603050405020304" pitchFamily="18" charset="0"/>
              </a:rPr>
              <a:t>M</a:t>
            </a:r>
            <a:r>
              <a:rPr lang="en-US" altLang="zh-CN" baseline="-25000">
                <a:solidFill>
                  <a:srgbClr val="FF3300"/>
                </a:solidFill>
                <a:latin typeface="Times New Roman" panose="02020603050405020304" pitchFamily="18" charset="0"/>
              </a:rPr>
              <a:t>11</a:t>
            </a:r>
            <a:r>
              <a:rPr lang="en-US" altLang="zh-CN" baseline="-25000">
                <a:latin typeface="Times New Roman" panose="02020603050405020304" pitchFamily="18" charset="0"/>
              </a:rPr>
              <a:t> </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42342" name="矩形 142341"/>
          <p:cNvSpPr/>
          <p:nvPr/>
        </p:nvSpPr>
        <p:spPr>
          <a:xfrm>
            <a:off x="1278890" y="4464685"/>
            <a:ext cx="4859020" cy="521970"/>
          </a:xfrm>
          <a:prstGeom prst="rect">
            <a:avLst/>
          </a:prstGeom>
          <a:noFill/>
          <a:ln w="9525">
            <a:noFill/>
          </a:ln>
        </p:spPr>
        <p:txBody>
          <a:bodyPr wrap="square" anchor="t" anchorCtr="0">
            <a:spAutoFit/>
          </a:bodyPr>
          <a:p>
            <a:r>
              <a:rPr lang="zh-CN" altLang="en-US" dirty="0">
                <a:latin typeface="Times New Roman" panose="02020603050405020304" pitchFamily="18" charset="0"/>
              </a:rPr>
              <a:t>从而   </a:t>
            </a:r>
            <a:r>
              <a:rPr lang="en-US" altLang="zh-CN" i="1">
                <a:solidFill>
                  <a:srgbClr val="FF3300"/>
                </a:solidFill>
                <a:latin typeface="Times New Roman" panose="02020603050405020304" pitchFamily="18" charset="0"/>
              </a:rPr>
              <a:t>D </a:t>
            </a:r>
            <a:r>
              <a:rPr lang="en-US" altLang="zh-CN">
                <a:solidFill>
                  <a:srgbClr val="FF3300"/>
                </a:solidFill>
                <a:latin typeface="Times New Roman" panose="02020603050405020304" pitchFamily="18" charset="0"/>
              </a:rPr>
              <a:t>= </a:t>
            </a:r>
            <a:r>
              <a:rPr lang="en-US" altLang="zh-CN" i="1">
                <a:solidFill>
                  <a:srgbClr val="FF3300"/>
                </a:solidFill>
                <a:latin typeface="Times New Roman" panose="02020603050405020304" pitchFamily="18" charset="0"/>
              </a:rPr>
              <a:t>a</a:t>
            </a:r>
            <a:r>
              <a:rPr lang="en-US" altLang="zh-CN" baseline="-25000">
                <a:solidFill>
                  <a:srgbClr val="FF3300"/>
                </a:solidFill>
                <a:latin typeface="Times New Roman" panose="02020603050405020304" pitchFamily="18" charset="0"/>
              </a:rPr>
              <a:t>11</a:t>
            </a:r>
            <a:r>
              <a:rPr lang="en-US" altLang="zh-CN" i="1">
                <a:solidFill>
                  <a:srgbClr val="FF3300"/>
                </a:solidFill>
                <a:latin typeface="Times New Roman" panose="02020603050405020304" pitchFamily="18" charset="0"/>
              </a:rPr>
              <a:t>A</a:t>
            </a:r>
            <a:r>
              <a:rPr lang="en-US" altLang="zh-CN" baseline="-25000">
                <a:solidFill>
                  <a:srgbClr val="FF3300"/>
                </a:solidFill>
                <a:latin typeface="Times New Roman" panose="02020603050405020304" pitchFamily="18" charset="0"/>
              </a:rPr>
              <a:t>11</a:t>
            </a:r>
            <a:r>
              <a:rPr lang="en-US" altLang="zh-CN">
                <a:latin typeface="Times New Roman" panose="02020603050405020304" pitchFamily="18" charset="0"/>
              </a:rPr>
              <a:t>,</a:t>
            </a:r>
            <a:r>
              <a:rPr lang="en-US" altLang="zh-CN" baseline="-25000">
                <a:latin typeface="Times New Roman" panose="02020603050405020304" pitchFamily="18" charset="0"/>
              </a:rPr>
              <a:t>   </a:t>
            </a:r>
            <a:r>
              <a:rPr lang="zh-CN" altLang="en-US" dirty="0">
                <a:latin typeface="Times New Roman" panose="02020603050405020304" pitchFamily="18" charset="0"/>
              </a:rPr>
              <a:t>即结论成立</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42338">
                                            <p:txEl>
                                              <p:charRg st="0" end="20"/>
                                            </p:txEl>
                                          </p:spTgt>
                                        </p:tgtEl>
                                        <p:attrNameLst>
                                          <p:attrName>style.visibility</p:attrName>
                                        </p:attrNameLst>
                                      </p:cBhvr>
                                      <p:to>
                                        <p:strVal val="visible"/>
                                      </p:to>
                                    </p:set>
                                    <p:animEffect transition="in" filter="box(out)">
                                      <p:cBhvr>
                                        <p:cTn id="7" dur="500"/>
                                        <p:tgtEl>
                                          <p:spTgt spid="142338">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42339"/>
                                        </p:tgtEl>
                                        <p:attrNameLst>
                                          <p:attrName>style.visibility</p:attrName>
                                        </p:attrNameLst>
                                      </p:cBhvr>
                                      <p:to>
                                        <p:strVal val="visible"/>
                                      </p:to>
                                    </p:set>
                                    <p:animEffect transition="in" filter="box(out)">
                                      <p:cBhvr>
                                        <p:cTn id="12" dur="500"/>
                                        <p:tgtEl>
                                          <p:spTgt spid="142339"/>
                                        </p:tgtEl>
                                      </p:cBhvr>
                                    </p:animEffect>
                                  </p:childTnLst>
                                </p:cTn>
                              </p:par>
                            </p:childTnLst>
                          </p:cTn>
                        </p:par>
                        <p:par>
                          <p:cTn id="13" fill="hold">
                            <p:stCondLst>
                              <p:cond delay="500"/>
                            </p:stCondLst>
                            <p:childTnLst>
                              <p:par>
                                <p:cTn id="14" presetID="4" presetClass="entr" presetSubtype="32" fill="hold" grpId="0" nodeType="afterEffect">
                                  <p:stCondLst>
                                    <p:cond delay="0"/>
                                  </p:stCondLst>
                                  <p:childTnLst>
                                    <p:set>
                                      <p:cBhvr>
                                        <p:cTn id="15" dur="1" fill="hold">
                                          <p:stCondLst>
                                            <p:cond delay="0"/>
                                          </p:stCondLst>
                                        </p:cTn>
                                        <p:tgtEl>
                                          <p:spTgt spid="142341">
                                            <p:txEl>
                                              <p:charRg st="0" end="32"/>
                                            </p:txEl>
                                          </p:spTgt>
                                        </p:tgtEl>
                                        <p:attrNameLst>
                                          <p:attrName>style.visibility</p:attrName>
                                        </p:attrNameLst>
                                      </p:cBhvr>
                                      <p:to>
                                        <p:strVal val="visible"/>
                                      </p:to>
                                    </p:set>
                                    <p:animEffect transition="in" filter="box(out)">
                                      <p:cBhvr>
                                        <p:cTn id="16" dur="500"/>
                                        <p:tgtEl>
                                          <p:spTgt spid="142341">
                                            <p:txEl>
                                              <p:charRg st="0" end="3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142340">
                                            <p:txEl>
                                              <p:charRg st="0" end="26"/>
                                            </p:txEl>
                                          </p:spTgt>
                                        </p:tgtEl>
                                        <p:attrNameLst>
                                          <p:attrName>style.visibility</p:attrName>
                                        </p:attrNameLst>
                                      </p:cBhvr>
                                      <p:to>
                                        <p:strVal val="visible"/>
                                      </p:to>
                                    </p:set>
                                    <p:animEffect transition="in" filter="box(out)">
                                      <p:cBhvr>
                                        <p:cTn id="21" dur="500"/>
                                        <p:tgtEl>
                                          <p:spTgt spid="142340">
                                            <p:txEl>
                                              <p:charRg st="0" end="2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142342">
                                            <p:txEl>
                                              <p:charRg st="0" end="26"/>
                                            </p:txEl>
                                          </p:spTgt>
                                        </p:tgtEl>
                                        <p:attrNameLst>
                                          <p:attrName>style.visibility</p:attrName>
                                        </p:attrNameLst>
                                      </p:cBhvr>
                                      <p:to>
                                        <p:strVal val="visible"/>
                                      </p:to>
                                    </p:set>
                                    <p:animEffect transition="in" filter="box(out)">
                                      <p:cBhvr>
                                        <p:cTn id="26" dur="500"/>
                                        <p:tgtEl>
                                          <p:spTgt spid="142342">
                                            <p:txEl>
                                              <p:charRg st="0" end="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advAuto="1000" build="p"/>
      <p:bldP spid="142340" grpId="0" build="p"/>
      <p:bldP spid="142341" grpId="0" advAuto="1000" build="p"/>
      <p:bldP spid="142342"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矩形 143361"/>
          <p:cNvSpPr/>
          <p:nvPr/>
        </p:nvSpPr>
        <p:spPr>
          <a:xfrm>
            <a:off x="1029970" y="1445895"/>
            <a:ext cx="3152140" cy="728345"/>
          </a:xfrm>
          <a:prstGeom prst="rect">
            <a:avLst/>
          </a:prstGeom>
          <a:noFill/>
          <a:ln w="9525">
            <a:noFill/>
          </a:ln>
        </p:spPr>
        <p:txBody>
          <a:bodyPr wrap="none" anchor="t" anchorCtr="0">
            <a:noAutofit/>
          </a:bodyPr>
          <a:p>
            <a:r>
              <a:rPr lang="zh-CN" altLang="en-US" dirty="0">
                <a:latin typeface="Times New Roman" panose="02020603050405020304" pitchFamily="18" charset="0"/>
              </a:rPr>
              <a:t>再证一般情形</a:t>
            </a:r>
            <a:r>
              <a:rPr lang="en-US" altLang="zh-CN">
                <a:latin typeface="Times New Roman" panose="02020603050405020304" pitchFamily="18" charset="0"/>
              </a:rPr>
              <a:t>,</a:t>
            </a:r>
            <a:r>
              <a:rPr lang="zh-CN" altLang="en-US">
                <a:latin typeface="Times New Roman" panose="02020603050405020304" pitchFamily="18" charset="0"/>
              </a:rPr>
              <a:t>此时</a:t>
            </a:r>
            <a:endParaRPr lang="zh-CN" altLang="en-US">
              <a:latin typeface="Times New Roman" panose="02020603050405020304" pitchFamily="18" charset="0"/>
            </a:endParaRPr>
          </a:p>
        </p:txBody>
      </p:sp>
      <p:graphicFrame>
        <p:nvGraphicFramePr>
          <p:cNvPr id="143364" name="对象 143363"/>
          <p:cNvGraphicFramePr/>
          <p:nvPr/>
        </p:nvGraphicFramePr>
        <p:xfrm>
          <a:off x="4182110" y="575310"/>
          <a:ext cx="3962400" cy="2259330"/>
        </p:xfrm>
        <a:graphic>
          <a:graphicData uri="http://schemas.openxmlformats.org/presentationml/2006/ole">
            <mc:AlternateContent xmlns:mc="http://schemas.openxmlformats.org/markup-compatibility/2006">
              <mc:Choice xmlns:v="urn:schemas-microsoft-com:vml" Requires="v">
                <p:oleObj spid="_x0000_s3433" name="" r:id="rId1" imgW="3860800" imgH="2286000" progId="Equation.3">
                  <p:embed/>
                </p:oleObj>
              </mc:Choice>
              <mc:Fallback>
                <p:oleObj name="" r:id="rId1" imgW="3860800" imgH="2286000" progId="Equation.3">
                  <p:embed/>
                  <p:pic>
                    <p:nvPicPr>
                      <p:cNvPr id="0" name="图片 3432"/>
                      <p:cNvPicPr/>
                      <p:nvPr/>
                    </p:nvPicPr>
                    <p:blipFill>
                      <a:blip r:embed="rId2"/>
                      <a:stretch>
                        <a:fillRect/>
                      </a:stretch>
                    </p:blipFill>
                    <p:spPr>
                      <a:xfrm>
                        <a:off x="4182110" y="575310"/>
                        <a:ext cx="3962400" cy="2259330"/>
                      </a:xfrm>
                      <a:prstGeom prst="rect">
                        <a:avLst/>
                      </a:prstGeom>
                      <a:noFill/>
                      <a:ln w="38100">
                        <a:noFill/>
                        <a:miter/>
                      </a:ln>
                    </p:spPr>
                  </p:pic>
                </p:oleObj>
              </mc:Fallback>
            </mc:AlternateContent>
          </a:graphicData>
        </a:graphic>
      </p:graphicFrame>
      <p:graphicFrame>
        <p:nvGraphicFramePr>
          <p:cNvPr id="143366" name="对象 143365"/>
          <p:cNvGraphicFramePr/>
          <p:nvPr/>
        </p:nvGraphicFramePr>
        <p:xfrm>
          <a:off x="1475740" y="3789045"/>
          <a:ext cx="5903913" cy="2286000"/>
        </p:xfrm>
        <a:graphic>
          <a:graphicData uri="http://schemas.openxmlformats.org/presentationml/2006/ole">
            <mc:AlternateContent xmlns:mc="http://schemas.openxmlformats.org/markup-compatibility/2006">
              <mc:Choice xmlns:v="urn:schemas-microsoft-com:vml" Requires="v">
                <p:oleObj spid="_x0000_s3434" name="" r:id="rId3" imgW="5905500" imgH="2286000" progId="Equation.3">
                  <p:embed/>
                </p:oleObj>
              </mc:Choice>
              <mc:Fallback>
                <p:oleObj name="" r:id="rId3" imgW="5905500" imgH="2286000" progId="Equation.3">
                  <p:embed/>
                  <p:pic>
                    <p:nvPicPr>
                      <p:cNvPr id="0" name="图片 3433"/>
                      <p:cNvPicPr/>
                      <p:nvPr/>
                    </p:nvPicPr>
                    <p:blipFill>
                      <a:blip r:embed="rId4"/>
                      <a:stretch>
                        <a:fillRect/>
                      </a:stretch>
                    </p:blipFill>
                    <p:spPr>
                      <a:xfrm>
                        <a:off x="1475740" y="3789045"/>
                        <a:ext cx="5903913" cy="2286000"/>
                      </a:xfrm>
                      <a:prstGeom prst="rect">
                        <a:avLst/>
                      </a:prstGeom>
                      <a:noFill/>
                      <a:ln w="38100">
                        <a:noFill/>
                        <a:miter/>
                      </a:ln>
                    </p:spPr>
                  </p:pic>
                </p:oleObj>
              </mc:Fallback>
            </mc:AlternateContent>
          </a:graphicData>
        </a:graphic>
      </p:graphicFrame>
      <p:sp>
        <p:nvSpPr>
          <p:cNvPr id="143367" name="文本框 143366"/>
          <p:cNvSpPr txBox="1"/>
          <p:nvPr/>
        </p:nvSpPr>
        <p:spPr>
          <a:xfrm>
            <a:off x="682625" y="2948940"/>
            <a:ext cx="8001635" cy="1087120"/>
          </a:xfrm>
          <a:prstGeom prst="rect">
            <a:avLst/>
          </a:prstGeom>
          <a:noFill/>
          <a:ln w="9525">
            <a:noFill/>
          </a:ln>
        </p:spPr>
        <p:txBody>
          <a:bodyPr wrap="square" anchor="t" anchorCtr="0">
            <a:noAutofit/>
          </a:bodyPr>
          <a:p>
            <a:pPr>
              <a:lnSpc>
                <a:spcPct val="110000"/>
              </a:lnSpc>
            </a:pPr>
            <a:r>
              <a:rPr lang="en-US" altLang="zh-CN" dirty="0">
                <a:latin typeface="Times New Roman" panose="02020603050405020304" pitchFamily="18" charset="0"/>
              </a:rPr>
              <a:t>    </a:t>
            </a:r>
            <a:r>
              <a:rPr lang="zh-CN" altLang="en-US" dirty="0">
                <a:latin typeface="Times New Roman" panose="02020603050405020304" pitchFamily="18" charset="0"/>
              </a:rPr>
              <a:t>把</a:t>
            </a:r>
            <a:r>
              <a:rPr lang="en-US" altLang="zh-CN" i="1">
                <a:latin typeface="Times New Roman" panose="02020603050405020304" pitchFamily="18" charset="0"/>
              </a:rPr>
              <a:t>D</a:t>
            </a:r>
            <a:r>
              <a:rPr lang="zh-CN" altLang="en-US" dirty="0">
                <a:latin typeface="Times New Roman" panose="02020603050405020304" pitchFamily="18" charset="0"/>
              </a:rPr>
              <a:t>的第 </a:t>
            </a:r>
            <a:r>
              <a:rPr lang="en-US" altLang="zh-CN" i="1">
                <a:latin typeface="Times New Roman" panose="02020603050405020304" pitchFamily="18" charset="0"/>
              </a:rPr>
              <a:t>i </a:t>
            </a:r>
            <a:r>
              <a:rPr lang="zh-CN" altLang="en-US" dirty="0">
                <a:latin typeface="Times New Roman" panose="02020603050405020304" pitchFamily="18" charset="0"/>
              </a:rPr>
              <a:t>行依次与第 </a:t>
            </a:r>
            <a:r>
              <a:rPr lang="en-US" altLang="zh-CN" i="1">
                <a:latin typeface="Times New Roman" panose="02020603050405020304" pitchFamily="18" charset="0"/>
              </a:rPr>
              <a:t>i </a:t>
            </a:r>
            <a:r>
              <a:rPr lang="en-US" altLang="zh-CN">
                <a:latin typeface="Times New Roman" panose="02020603050405020304" pitchFamily="18" charset="0"/>
              </a:rPr>
              <a:t>–1</a:t>
            </a:r>
            <a:r>
              <a:rPr lang="zh-CN" altLang="en-US" dirty="0">
                <a:latin typeface="Times New Roman" panose="02020603050405020304" pitchFamily="18" charset="0"/>
              </a:rPr>
              <a:t>行</a:t>
            </a:r>
            <a:r>
              <a:rPr lang="en-US" altLang="zh-CN">
                <a:latin typeface="Times New Roman" panose="02020603050405020304" pitchFamily="18" charset="0"/>
              </a:rPr>
              <a:t>,</a:t>
            </a:r>
            <a:r>
              <a:rPr lang="zh-CN" altLang="en-US" dirty="0">
                <a:latin typeface="Times New Roman" panose="02020603050405020304" pitchFamily="18" charset="0"/>
              </a:rPr>
              <a:t>第 </a:t>
            </a:r>
            <a:r>
              <a:rPr lang="en-US" altLang="zh-CN" i="1">
                <a:latin typeface="Times New Roman" panose="02020603050405020304" pitchFamily="18" charset="0"/>
              </a:rPr>
              <a:t>i </a:t>
            </a:r>
            <a:r>
              <a:rPr lang="en-US" altLang="zh-CN">
                <a:latin typeface="Times New Roman" panose="02020603050405020304" pitchFamily="18" charset="0"/>
              </a:rPr>
              <a:t>–2</a:t>
            </a:r>
            <a:r>
              <a:rPr lang="zh-CN" altLang="en-US" dirty="0">
                <a:latin typeface="Times New Roman" panose="02020603050405020304" pitchFamily="18" charset="0"/>
              </a:rPr>
              <a:t>行</a:t>
            </a:r>
            <a:r>
              <a:rPr lang="en-US" altLang="zh-CN">
                <a:latin typeface="Times New Roman" panose="02020603050405020304" pitchFamily="18" charset="0"/>
              </a:rPr>
              <a:t>, ···, </a:t>
            </a:r>
            <a:r>
              <a:rPr lang="zh-CN" altLang="en-US" dirty="0">
                <a:latin typeface="Times New Roman" panose="02020603050405020304" pitchFamily="18" charset="0"/>
              </a:rPr>
              <a:t>第</a:t>
            </a:r>
            <a:r>
              <a:rPr lang="en-US" altLang="zh-CN">
                <a:latin typeface="Times New Roman" panose="02020603050405020304" pitchFamily="18" charset="0"/>
              </a:rPr>
              <a:t>1</a:t>
            </a:r>
            <a:r>
              <a:rPr lang="zh-CN" altLang="en-US" dirty="0">
                <a:latin typeface="Times New Roman" panose="02020603050405020304" pitchFamily="18" charset="0"/>
              </a:rPr>
              <a:t>行交换</a:t>
            </a:r>
            <a:r>
              <a:rPr lang="en-US" altLang="zh-CN">
                <a:latin typeface="Times New Roman" panose="02020603050405020304" pitchFamily="18" charset="0"/>
              </a:rPr>
              <a:t>, </a:t>
            </a:r>
            <a:r>
              <a:rPr lang="zh-CN" altLang="en-US" dirty="0">
                <a:latin typeface="Times New Roman" panose="02020603050405020304" pitchFamily="18" charset="0"/>
              </a:rPr>
              <a:t>得</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43362">
                                            <p:txEl>
                                              <p:charRg st="0" end="8"/>
                                            </p:txEl>
                                          </p:spTgt>
                                        </p:tgtEl>
                                        <p:attrNameLst>
                                          <p:attrName>style.visibility</p:attrName>
                                        </p:attrNameLst>
                                      </p:cBhvr>
                                      <p:to>
                                        <p:strVal val="visible"/>
                                      </p:to>
                                    </p:set>
                                    <p:animEffect transition="in" filter="box(out)">
                                      <p:cBhvr>
                                        <p:cTn id="7" dur="500"/>
                                        <p:tgtEl>
                                          <p:spTgt spid="143362">
                                            <p:txEl>
                                              <p:charRg st="0" end="8"/>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43364"/>
                                        </p:tgtEl>
                                        <p:attrNameLst>
                                          <p:attrName>style.visibility</p:attrName>
                                        </p:attrNameLst>
                                      </p:cBhvr>
                                      <p:to>
                                        <p:strVal val="visible"/>
                                      </p:to>
                                    </p:set>
                                    <p:animEffect transition="in" filter="box(out)">
                                      <p:cBhvr>
                                        <p:cTn id="11" dur="500"/>
                                        <p:tgtEl>
                                          <p:spTgt spid="143364"/>
                                        </p:tgtEl>
                                      </p:cBhvr>
                                    </p:animEffect>
                                  </p:childTnLst>
                                </p:cTn>
                              </p:par>
                            </p:childTnLst>
                          </p:cTn>
                        </p:par>
                        <p:par>
                          <p:cTn id="12" fill="hold">
                            <p:stCondLst>
                              <p:cond delay="1000"/>
                            </p:stCondLst>
                            <p:childTnLst>
                              <p:par>
                                <p:cTn id="13" presetID="4" presetClass="entr" presetSubtype="32" fill="hold" grpId="0" nodeType="afterEffect">
                                  <p:stCondLst>
                                    <p:cond delay="0"/>
                                  </p:stCondLst>
                                  <p:childTnLst>
                                    <p:set>
                                      <p:cBhvr>
                                        <p:cTn id="14" dur="1" fill="hold">
                                          <p:stCondLst>
                                            <p:cond delay="0"/>
                                          </p:stCondLst>
                                        </p:cTn>
                                        <p:tgtEl>
                                          <p:spTgt spid="143367">
                                            <p:txEl>
                                              <p:charRg st="0" end="50"/>
                                            </p:txEl>
                                          </p:spTgt>
                                        </p:tgtEl>
                                        <p:attrNameLst>
                                          <p:attrName>style.visibility</p:attrName>
                                        </p:attrNameLst>
                                      </p:cBhvr>
                                      <p:to>
                                        <p:strVal val="visible"/>
                                      </p:to>
                                    </p:set>
                                    <p:animEffect transition="in" filter="box(out)">
                                      <p:cBhvr>
                                        <p:cTn id="15" dur="500"/>
                                        <p:tgtEl>
                                          <p:spTgt spid="143367">
                                            <p:txEl>
                                              <p:charRg st="0" end="5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32" fill="hold" nodeType="clickEffect">
                                  <p:stCondLst>
                                    <p:cond delay="0"/>
                                  </p:stCondLst>
                                  <p:childTnLst>
                                    <p:set>
                                      <p:cBhvr>
                                        <p:cTn id="19" dur="1" fill="hold">
                                          <p:stCondLst>
                                            <p:cond delay="0"/>
                                          </p:stCondLst>
                                        </p:cTn>
                                        <p:tgtEl>
                                          <p:spTgt spid="143366"/>
                                        </p:tgtEl>
                                        <p:attrNameLst>
                                          <p:attrName>style.visibility</p:attrName>
                                        </p:attrNameLst>
                                      </p:cBhvr>
                                      <p:to>
                                        <p:strVal val="visible"/>
                                      </p:to>
                                    </p:set>
                                    <p:animEffect transition="in" filter="box(out)">
                                      <p:cBhvr>
                                        <p:cTn id="20" dur="500"/>
                                        <p:tgtEl>
                                          <p:spTgt spid="143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build="p"/>
      <p:bldP spid="143367" grpId="0" advAuto="100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文本框 144385"/>
          <p:cNvSpPr txBox="1"/>
          <p:nvPr/>
        </p:nvSpPr>
        <p:spPr>
          <a:xfrm>
            <a:off x="468313" y="333375"/>
            <a:ext cx="8456612" cy="1031875"/>
          </a:xfrm>
          <a:prstGeom prst="rect">
            <a:avLst/>
          </a:prstGeom>
          <a:noFill/>
          <a:ln w="9525">
            <a:noFill/>
          </a:ln>
        </p:spPr>
        <p:txBody>
          <a:bodyPr anchor="t" anchorCtr="0">
            <a:spAutoFit/>
          </a:bodyPr>
          <a:p>
            <a:pPr>
              <a:lnSpc>
                <a:spcPct val="110000"/>
              </a:lnSpc>
            </a:pPr>
            <a:r>
              <a:rPr lang="en-US" altLang="zh-CN" dirty="0">
                <a:latin typeface="Times New Roman" panose="02020603050405020304" pitchFamily="18" charset="0"/>
              </a:rPr>
              <a:t>       </a:t>
            </a:r>
            <a:r>
              <a:rPr lang="zh-CN" altLang="en-US" dirty="0">
                <a:latin typeface="Times New Roman" panose="02020603050405020304" pitchFamily="18" charset="0"/>
              </a:rPr>
              <a:t>再</a:t>
            </a:r>
            <a:r>
              <a:rPr lang="zh-CN" altLang="en-US">
                <a:latin typeface="Times New Roman" panose="02020603050405020304" pitchFamily="18" charset="0"/>
              </a:rPr>
              <a:t> </a:t>
            </a:r>
            <a:r>
              <a:rPr lang="zh-CN" altLang="en-US" dirty="0">
                <a:latin typeface="Times New Roman" panose="02020603050405020304" pitchFamily="18" charset="0"/>
              </a:rPr>
              <a:t>把</a:t>
            </a:r>
            <a:r>
              <a:rPr lang="en-US" altLang="zh-CN" i="1">
                <a:latin typeface="Times New Roman" panose="02020603050405020304" pitchFamily="18" charset="0"/>
              </a:rPr>
              <a:t>D</a:t>
            </a:r>
            <a:r>
              <a:rPr lang="zh-CN" altLang="en-US" dirty="0">
                <a:latin typeface="Times New Roman" panose="02020603050405020304" pitchFamily="18" charset="0"/>
              </a:rPr>
              <a:t>的第 </a:t>
            </a:r>
            <a:r>
              <a:rPr lang="en-US" altLang="zh-CN" i="1">
                <a:latin typeface="Times New Roman" panose="02020603050405020304" pitchFamily="18" charset="0"/>
              </a:rPr>
              <a:t>j </a:t>
            </a:r>
            <a:r>
              <a:rPr lang="zh-CN" altLang="en-US" dirty="0">
                <a:latin typeface="Times New Roman" panose="02020603050405020304" pitchFamily="18" charset="0"/>
              </a:rPr>
              <a:t>列依次与第 </a:t>
            </a:r>
            <a:r>
              <a:rPr lang="en-US" altLang="zh-CN" i="1">
                <a:latin typeface="Times New Roman" panose="02020603050405020304" pitchFamily="18" charset="0"/>
              </a:rPr>
              <a:t>j </a:t>
            </a:r>
            <a:r>
              <a:rPr lang="en-US" altLang="zh-CN">
                <a:latin typeface="Times New Roman" panose="02020603050405020304" pitchFamily="18" charset="0"/>
              </a:rPr>
              <a:t>–1</a:t>
            </a:r>
            <a:r>
              <a:rPr lang="zh-CN" altLang="en-US" dirty="0">
                <a:latin typeface="Times New Roman" panose="02020603050405020304" pitchFamily="18" charset="0"/>
              </a:rPr>
              <a:t>列</a:t>
            </a:r>
            <a:r>
              <a:rPr lang="en-US" altLang="zh-CN">
                <a:latin typeface="Times New Roman" panose="02020603050405020304" pitchFamily="18" charset="0"/>
              </a:rPr>
              <a:t>, </a:t>
            </a:r>
            <a:r>
              <a:rPr lang="zh-CN" altLang="en-US" dirty="0">
                <a:latin typeface="Times New Roman" panose="02020603050405020304" pitchFamily="18" charset="0"/>
              </a:rPr>
              <a:t>第 </a:t>
            </a:r>
            <a:r>
              <a:rPr lang="en-US" altLang="zh-CN" i="1">
                <a:latin typeface="Times New Roman" panose="02020603050405020304" pitchFamily="18" charset="0"/>
              </a:rPr>
              <a:t>j </a:t>
            </a:r>
            <a:r>
              <a:rPr lang="en-US" altLang="zh-CN">
                <a:latin typeface="Times New Roman" panose="02020603050405020304" pitchFamily="18" charset="0"/>
              </a:rPr>
              <a:t>–2</a:t>
            </a:r>
            <a:r>
              <a:rPr lang="zh-CN" altLang="en-US" dirty="0">
                <a:latin typeface="Times New Roman" panose="02020603050405020304" pitchFamily="18" charset="0"/>
              </a:rPr>
              <a:t>列</a:t>
            </a:r>
            <a:r>
              <a:rPr lang="en-US" altLang="zh-CN">
                <a:latin typeface="Times New Roman" panose="02020603050405020304" pitchFamily="18" charset="0"/>
              </a:rPr>
              <a:t>, ···, </a:t>
            </a:r>
            <a:r>
              <a:rPr lang="zh-CN" altLang="en-US" dirty="0">
                <a:latin typeface="Times New Roman" panose="02020603050405020304" pitchFamily="18" charset="0"/>
              </a:rPr>
              <a:t>第</a:t>
            </a:r>
            <a:r>
              <a:rPr lang="en-US" altLang="zh-CN">
                <a:latin typeface="Times New Roman" panose="02020603050405020304" pitchFamily="18" charset="0"/>
              </a:rPr>
              <a:t>1</a:t>
            </a:r>
            <a:r>
              <a:rPr lang="zh-CN" altLang="en-US" dirty="0">
                <a:latin typeface="Times New Roman" panose="02020603050405020304" pitchFamily="18" charset="0"/>
              </a:rPr>
              <a:t>列交换</a:t>
            </a:r>
            <a:r>
              <a:rPr lang="en-US" altLang="zh-CN">
                <a:latin typeface="Times New Roman" panose="02020603050405020304" pitchFamily="18" charset="0"/>
              </a:rPr>
              <a:t>, </a:t>
            </a:r>
            <a:r>
              <a:rPr lang="zh-CN" altLang="en-US" dirty="0">
                <a:latin typeface="Times New Roman" panose="02020603050405020304" pitchFamily="18" charset="0"/>
              </a:rPr>
              <a:t>得</a:t>
            </a:r>
            <a:endParaRPr lang="zh-CN" altLang="en-US" dirty="0">
              <a:latin typeface="Times New Roman" panose="02020603050405020304" pitchFamily="18" charset="0"/>
            </a:endParaRPr>
          </a:p>
        </p:txBody>
      </p:sp>
      <p:graphicFrame>
        <p:nvGraphicFramePr>
          <p:cNvPr id="144387" name="对象 144386"/>
          <p:cNvGraphicFramePr/>
          <p:nvPr/>
        </p:nvGraphicFramePr>
        <p:xfrm>
          <a:off x="684213" y="1125538"/>
          <a:ext cx="7429500" cy="2286000"/>
        </p:xfrm>
        <a:graphic>
          <a:graphicData uri="http://schemas.openxmlformats.org/presentationml/2006/ole">
            <mc:AlternateContent xmlns:mc="http://schemas.openxmlformats.org/markup-compatibility/2006">
              <mc:Choice xmlns:v="urn:schemas-microsoft-com:vml" Requires="v">
                <p:oleObj spid="_x0000_s3426" name="" r:id="rId1" imgW="7429500" imgH="2286000" progId="Equation.3">
                  <p:embed/>
                </p:oleObj>
              </mc:Choice>
              <mc:Fallback>
                <p:oleObj name="" r:id="rId1" imgW="7429500" imgH="2286000" progId="Equation.3">
                  <p:embed/>
                  <p:pic>
                    <p:nvPicPr>
                      <p:cNvPr id="0" name="图片 3425"/>
                      <p:cNvPicPr/>
                      <p:nvPr/>
                    </p:nvPicPr>
                    <p:blipFill>
                      <a:blip r:embed="rId2"/>
                      <a:stretch>
                        <a:fillRect/>
                      </a:stretch>
                    </p:blipFill>
                    <p:spPr>
                      <a:xfrm>
                        <a:off x="684213" y="1125538"/>
                        <a:ext cx="7429500" cy="2286000"/>
                      </a:xfrm>
                      <a:prstGeom prst="rect">
                        <a:avLst/>
                      </a:prstGeom>
                      <a:noFill/>
                      <a:ln w="38100">
                        <a:noFill/>
                        <a:miter/>
                      </a:ln>
                    </p:spPr>
                  </p:pic>
                </p:oleObj>
              </mc:Fallback>
            </mc:AlternateContent>
          </a:graphicData>
        </a:graphic>
      </p:graphicFrame>
      <p:graphicFrame>
        <p:nvGraphicFramePr>
          <p:cNvPr id="144389" name="对象 144388"/>
          <p:cNvGraphicFramePr/>
          <p:nvPr/>
        </p:nvGraphicFramePr>
        <p:xfrm>
          <a:off x="1476375" y="3747135"/>
          <a:ext cx="6056630" cy="2263140"/>
        </p:xfrm>
        <a:graphic>
          <a:graphicData uri="http://schemas.openxmlformats.org/presentationml/2006/ole">
            <mc:AlternateContent xmlns:mc="http://schemas.openxmlformats.org/markup-compatibility/2006">
              <mc:Choice xmlns:v="urn:schemas-microsoft-com:vml" Requires="v">
                <p:oleObj spid="_x0000_s3431" name="" r:id="rId3" imgW="6057900" imgH="2286000" progId="Equation.3">
                  <p:embed/>
                </p:oleObj>
              </mc:Choice>
              <mc:Fallback>
                <p:oleObj name="" r:id="rId3" imgW="6057900" imgH="2286000" progId="Equation.3">
                  <p:embed/>
                  <p:pic>
                    <p:nvPicPr>
                      <p:cNvPr id="0" name="图片 3430"/>
                      <p:cNvPicPr/>
                      <p:nvPr/>
                    </p:nvPicPr>
                    <p:blipFill>
                      <a:blip r:embed="rId4"/>
                      <a:stretch>
                        <a:fillRect/>
                      </a:stretch>
                    </p:blipFill>
                    <p:spPr>
                      <a:xfrm>
                        <a:off x="1476375" y="3747135"/>
                        <a:ext cx="6056630" cy="226314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44386">
                                            <p:txEl>
                                              <p:charRg st="0" end="52"/>
                                            </p:txEl>
                                          </p:spTgt>
                                        </p:tgtEl>
                                        <p:attrNameLst>
                                          <p:attrName>style.visibility</p:attrName>
                                        </p:attrNameLst>
                                      </p:cBhvr>
                                      <p:to>
                                        <p:strVal val="visible"/>
                                      </p:to>
                                    </p:set>
                                    <p:animEffect transition="in" filter="box(out)">
                                      <p:cBhvr>
                                        <p:cTn id="7" dur="500"/>
                                        <p:tgtEl>
                                          <p:spTgt spid="144386">
                                            <p:txEl>
                                              <p:charRg st="0" end="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44387"/>
                                        </p:tgtEl>
                                        <p:attrNameLst>
                                          <p:attrName>style.visibility</p:attrName>
                                        </p:attrNameLst>
                                      </p:cBhvr>
                                      <p:to>
                                        <p:strVal val="visible"/>
                                      </p:to>
                                    </p:set>
                                    <p:animEffect transition="in" filter="box(out)">
                                      <p:cBhvr>
                                        <p:cTn id="12" dur="500"/>
                                        <p:tgtEl>
                                          <p:spTgt spid="144387"/>
                                        </p:tgtEl>
                                      </p:cBhvr>
                                    </p:animEffect>
                                  </p:childTnLst>
                                </p:cTn>
                              </p:par>
                            </p:childTnLst>
                          </p:cTn>
                        </p:par>
                        <p:par>
                          <p:cTn id="13" fill="hold">
                            <p:stCondLst>
                              <p:cond delay="500"/>
                            </p:stCondLst>
                            <p:childTnLst>
                              <p:par>
                                <p:cTn id="14" presetID="4" presetClass="entr" presetSubtype="32" fill="hold" nodeType="afterEffect">
                                  <p:stCondLst>
                                    <p:cond delay="0"/>
                                  </p:stCondLst>
                                  <p:childTnLst>
                                    <p:set>
                                      <p:cBhvr>
                                        <p:cTn id="15" dur="1" fill="hold">
                                          <p:stCondLst>
                                            <p:cond delay="0"/>
                                          </p:stCondLst>
                                        </p:cTn>
                                        <p:tgtEl>
                                          <p:spTgt spid="144389"/>
                                        </p:tgtEl>
                                        <p:attrNameLst>
                                          <p:attrName>style.visibility</p:attrName>
                                        </p:attrNameLst>
                                      </p:cBhvr>
                                      <p:to>
                                        <p:strVal val="visible"/>
                                      </p:to>
                                    </p:set>
                                    <p:animEffect transition="in" filter="box(out)">
                                      <p:cBhvr>
                                        <p:cTn id="16" dur="500"/>
                                        <p:tgtEl>
                                          <p:spTgt spid="144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45410" name="对象 145409"/>
          <p:cNvGraphicFramePr/>
          <p:nvPr/>
        </p:nvGraphicFramePr>
        <p:xfrm>
          <a:off x="1258888" y="620713"/>
          <a:ext cx="5802312" cy="2286000"/>
        </p:xfrm>
        <a:graphic>
          <a:graphicData uri="http://schemas.openxmlformats.org/presentationml/2006/ole">
            <mc:AlternateContent xmlns:mc="http://schemas.openxmlformats.org/markup-compatibility/2006">
              <mc:Choice xmlns:v="urn:schemas-microsoft-com:vml" Requires="v">
                <p:oleObj spid="_x0000_s3427" name="" r:id="rId1" imgW="5803900" imgH="2286000" progId="Equation.3">
                  <p:embed/>
                </p:oleObj>
              </mc:Choice>
              <mc:Fallback>
                <p:oleObj name="" r:id="rId1" imgW="5803900" imgH="2286000" progId="Equation.3">
                  <p:embed/>
                  <p:pic>
                    <p:nvPicPr>
                      <p:cNvPr id="0" name="图片 3426"/>
                      <p:cNvPicPr/>
                      <p:nvPr/>
                    </p:nvPicPr>
                    <p:blipFill>
                      <a:blip r:embed="rId2"/>
                      <a:stretch>
                        <a:fillRect/>
                      </a:stretch>
                    </p:blipFill>
                    <p:spPr>
                      <a:xfrm>
                        <a:off x="1258888" y="620713"/>
                        <a:ext cx="5802312" cy="2286000"/>
                      </a:xfrm>
                      <a:prstGeom prst="rect">
                        <a:avLst/>
                      </a:prstGeom>
                      <a:noFill/>
                      <a:ln w="38100">
                        <a:noFill/>
                        <a:miter/>
                      </a:ln>
                    </p:spPr>
                  </p:pic>
                </p:oleObj>
              </mc:Fallback>
            </mc:AlternateContent>
          </a:graphicData>
        </a:graphic>
      </p:graphicFrame>
      <p:sp>
        <p:nvSpPr>
          <p:cNvPr id="145411" name="矩形 145410"/>
          <p:cNvSpPr/>
          <p:nvPr/>
        </p:nvSpPr>
        <p:spPr>
          <a:xfrm>
            <a:off x="1187450" y="3033395"/>
            <a:ext cx="2460625" cy="749935"/>
          </a:xfrm>
          <a:prstGeom prst="rect">
            <a:avLst/>
          </a:prstGeom>
          <a:noFill/>
          <a:ln w="9525">
            <a:noFill/>
          </a:ln>
        </p:spPr>
        <p:txBody>
          <a:bodyPr wrap="none" anchor="t" anchorCtr="0">
            <a:noAutofit/>
          </a:bodyPr>
          <a:p>
            <a:r>
              <a:rPr lang="en-US" altLang="zh-CN">
                <a:latin typeface="Times New Roman" panose="02020603050405020304" pitchFamily="18" charset="0"/>
              </a:rPr>
              <a:t>=(–1)</a:t>
            </a:r>
            <a:r>
              <a:rPr lang="en-US" altLang="zh-CN" i="1" baseline="30000">
                <a:latin typeface="Times New Roman" panose="02020603050405020304" pitchFamily="18" charset="0"/>
              </a:rPr>
              <a:t>i</a:t>
            </a:r>
            <a:r>
              <a:rPr lang="en-US" altLang="zh-CN" baseline="30000">
                <a:latin typeface="Times New Roman" panose="02020603050405020304" pitchFamily="18" charset="0"/>
              </a:rPr>
              <a:t>+j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i="1">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11</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45412" name="文本框 145411"/>
          <p:cNvSpPr txBox="1"/>
          <p:nvPr/>
        </p:nvSpPr>
        <p:spPr>
          <a:xfrm>
            <a:off x="1062355" y="3808730"/>
            <a:ext cx="7295515" cy="767080"/>
          </a:xfrm>
          <a:prstGeom prst="rect">
            <a:avLst/>
          </a:prstGeom>
          <a:noFill/>
          <a:ln w="9525">
            <a:noFill/>
          </a:ln>
        </p:spPr>
        <p:txBody>
          <a:bodyPr wrap="none" anchor="t" anchorCtr="0">
            <a:noAutofit/>
          </a:bodyPr>
          <a:p>
            <a:r>
              <a:rPr lang="en-US" altLang="zh-CN" i="1">
                <a:latin typeface="Times New Roman" panose="02020603050405020304" pitchFamily="18" charset="0"/>
              </a:rPr>
              <a:t>M</a:t>
            </a:r>
            <a:r>
              <a:rPr lang="en-US" altLang="zh-CN" i="1">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11</a:t>
            </a:r>
            <a:r>
              <a:rPr lang="zh-CN" altLang="en-US" dirty="0">
                <a:latin typeface="Times New Roman" panose="02020603050405020304" pitchFamily="18" charset="0"/>
              </a:rPr>
              <a:t>恰好是</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zh-CN" altLang="en-US">
                <a:latin typeface="Times New Roman" panose="02020603050405020304" pitchFamily="18" charset="0"/>
              </a:rPr>
              <a:t>在</a:t>
            </a:r>
            <a:r>
              <a:rPr lang="en-US" altLang="zh-CN" i="1">
                <a:latin typeface="Times New Roman" panose="02020603050405020304" pitchFamily="18" charset="0"/>
              </a:rPr>
              <a:t>D</a:t>
            </a:r>
            <a:r>
              <a:rPr lang="zh-CN" altLang="en-US" dirty="0">
                <a:latin typeface="Times New Roman" panose="02020603050405020304" pitchFamily="18" charset="0"/>
              </a:rPr>
              <a:t>中的余子式</a:t>
            </a:r>
            <a:r>
              <a:rPr lang="en-US" altLang="zh-CN" i="1" err="1">
                <a:latin typeface="Times New Roman" panose="02020603050405020304" pitchFamily="18" charset="0"/>
              </a:rPr>
              <a:t>M</a:t>
            </a:r>
            <a:r>
              <a:rPr lang="en-US" altLang="zh-CN" i="1" baseline="-25000" err="1">
                <a:latin typeface="Times New Roman" panose="02020603050405020304" pitchFamily="18" charset="0"/>
              </a:rPr>
              <a:t>ij</a:t>
            </a:r>
            <a:r>
              <a:rPr lang="en-US" altLang="zh-CN">
                <a:latin typeface="Times New Roman" panose="02020603050405020304" pitchFamily="18" charset="0"/>
              </a:rPr>
              <a:t>,, </a:t>
            </a:r>
            <a:r>
              <a:rPr lang="zh-CN" altLang="en-US">
                <a:latin typeface="Times New Roman" panose="02020603050405020304" pitchFamily="18" charset="0"/>
              </a:rPr>
              <a:t>即</a:t>
            </a:r>
            <a:r>
              <a:rPr lang="en-US" altLang="zh-CN" i="1">
                <a:latin typeface="Times New Roman" panose="02020603050405020304" pitchFamily="18" charset="0"/>
              </a:rPr>
              <a:t>M</a:t>
            </a:r>
            <a:r>
              <a:rPr lang="en-US" altLang="zh-CN" i="1">
                <a:latin typeface="Times New Roman" panose="02020603050405020304" pitchFamily="18" charset="0"/>
                <a:sym typeface="Symbol" panose="05050102010706020507" pitchFamily="18" charset="2"/>
              </a:rPr>
              <a:t></a:t>
            </a:r>
            <a:r>
              <a:rPr lang="en-US" altLang="zh-CN" baseline="-25000">
                <a:latin typeface="Times New Roman" panose="02020603050405020304" pitchFamily="18" charset="0"/>
              </a:rPr>
              <a:t>11</a:t>
            </a:r>
            <a:r>
              <a:rPr lang="en-US" altLang="zh-CN">
                <a:latin typeface="Times New Roman" panose="02020603050405020304" pitchFamily="18" charset="0"/>
              </a:rPr>
              <a:t>=</a:t>
            </a:r>
            <a:r>
              <a:rPr lang="en-US" altLang="zh-CN" i="1" err="1">
                <a:latin typeface="Times New Roman" panose="02020603050405020304" pitchFamily="18" charset="0"/>
              </a:rPr>
              <a:t>M</a:t>
            </a:r>
            <a:r>
              <a:rPr lang="en-US" altLang="zh-CN" i="1" baseline="-25000" err="1">
                <a:latin typeface="Times New Roman" panose="02020603050405020304" pitchFamily="18" charset="0"/>
              </a:rPr>
              <a:t>ij</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45413" name="文本框 145412"/>
          <p:cNvSpPr txBox="1"/>
          <p:nvPr/>
        </p:nvSpPr>
        <p:spPr>
          <a:xfrm>
            <a:off x="785495" y="4601210"/>
            <a:ext cx="7510780" cy="802005"/>
          </a:xfrm>
          <a:prstGeom prst="rect">
            <a:avLst/>
          </a:prstGeom>
          <a:noFill/>
          <a:ln w="9525">
            <a:noFill/>
          </a:ln>
        </p:spPr>
        <p:txBody>
          <a:bodyPr wrap="square" anchor="t" anchorCtr="0">
            <a:noAutofit/>
          </a:bodyPr>
          <a:p>
            <a:r>
              <a:rPr lang="zh-CN" altLang="en-US" dirty="0">
                <a:latin typeface="Times New Roman" panose="02020603050405020304" pitchFamily="18" charset="0"/>
              </a:rPr>
              <a:t>因此</a:t>
            </a:r>
            <a:r>
              <a:rPr lang="en-US" altLang="zh-CN">
                <a:latin typeface="Times New Roman" panose="02020603050405020304" pitchFamily="18" charset="0"/>
              </a:rPr>
              <a:t>, </a:t>
            </a:r>
            <a:r>
              <a:rPr lang="en-US" altLang="zh-CN" i="1">
                <a:latin typeface="Times New Roman" panose="02020603050405020304" pitchFamily="18" charset="0"/>
              </a:rPr>
              <a:t>D </a:t>
            </a:r>
            <a:r>
              <a:rPr lang="en-US" altLang="zh-CN">
                <a:latin typeface="Times New Roman" panose="02020603050405020304" pitchFamily="18" charset="0"/>
              </a:rPr>
              <a:t>= (–1)</a:t>
            </a:r>
            <a:r>
              <a:rPr lang="en-US" altLang="zh-CN" i="1" baseline="30000">
                <a:latin typeface="Times New Roman" panose="02020603050405020304" pitchFamily="18" charset="0"/>
              </a:rPr>
              <a:t>i</a:t>
            </a:r>
            <a:r>
              <a:rPr lang="en-US" altLang="zh-CN" baseline="30000">
                <a:latin typeface="Times New Roman" panose="02020603050405020304" pitchFamily="18" charset="0"/>
              </a:rPr>
              <a:t>+</a:t>
            </a:r>
            <a:r>
              <a:rPr lang="en-US" altLang="zh-CN" i="1" baseline="30000">
                <a:latin typeface="Times New Roman" panose="02020603050405020304" pitchFamily="18" charset="0"/>
              </a:rPr>
              <a:t>j</a:t>
            </a:r>
            <a:r>
              <a:rPr lang="en-US" altLang="zh-CN" baseline="30000">
                <a:latin typeface="Times New Roman" panose="02020603050405020304" pitchFamily="18" charset="0"/>
              </a:rPr>
              <a:t>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i="1" baseline="-25000">
                <a:latin typeface="Times New Roman" panose="02020603050405020304" pitchFamily="18" charset="0"/>
              </a:rPr>
              <a:t> </a:t>
            </a:r>
            <a:r>
              <a:rPr lang="en-US" altLang="zh-CN" i="1" err="1">
                <a:latin typeface="Times New Roman" panose="02020603050405020304" pitchFamily="18" charset="0"/>
              </a:rPr>
              <a:t>M</a:t>
            </a:r>
            <a:r>
              <a:rPr lang="en-US" altLang="zh-CN" i="1" baseline="-25000" err="1">
                <a:latin typeface="Times New Roman" panose="02020603050405020304" pitchFamily="18" charset="0"/>
              </a:rPr>
              <a:t>ij</a:t>
            </a:r>
            <a:r>
              <a:rPr lang="en-US" altLang="zh-CN">
                <a:latin typeface="Times New Roman" panose="02020603050405020304" pitchFamily="18" charset="0"/>
              </a:rPr>
              <a:t> =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i="1" baseline="-25000">
                <a:latin typeface="Times New Roman" panose="02020603050405020304" pitchFamily="18" charset="0"/>
              </a:rPr>
              <a:t> </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a:latin typeface="Times New Roman" panose="02020603050405020304" pitchFamily="18" charset="0"/>
              </a:rPr>
              <a:t>, </a:t>
            </a:r>
            <a:r>
              <a:rPr lang="zh-CN" altLang="en-US" dirty="0">
                <a:latin typeface="Times New Roman" panose="02020603050405020304" pitchFamily="18" charset="0"/>
              </a:rPr>
              <a:t>故引理结论成立</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45410"/>
                                        </p:tgtEl>
                                        <p:attrNameLst>
                                          <p:attrName>style.visibility</p:attrName>
                                        </p:attrNameLst>
                                      </p:cBhvr>
                                      <p:to>
                                        <p:strVal val="visible"/>
                                      </p:to>
                                    </p:set>
                                    <p:animEffect transition="in" filter="box(out)">
                                      <p:cBhvr>
                                        <p:cTn id="7" dur="500"/>
                                        <p:tgtEl>
                                          <p:spTgt spid="14541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45411">
                                            <p:txEl>
                                              <p:charRg st="0" end="19"/>
                                            </p:txEl>
                                          </p:spTgt>
                                        </p:tgtEl>
                                        <p:attrNameLst>
                                          <p:attrName>style.visibility</p:attrName>
                                        </p:attrNameLst>
                                      </p:cBhvr>
                                      <p:to>
                                        <p:strVal val="visible"/>
                                      </p:to>
                                    </p:set>
                                    <p:animEffect transition="in" filter="box(out)">
                                      <p:cBhvr>
                                        <p:cTn id="12" dur="500"/>
                                        <p:tgtEl>
                                          <p:spTgt spid="145411">
                                            <p:txEl>
                                              <p:charRg st="0" end="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45412">
                                            <p:txEl>
                                              <p:charRg st="0" end="38"/>
                                            </p:txEl>
                                          </p:spTgt>
                                        </p:tgtEl>
                                        <p:attrNameLst>
                                          <p:attrName>style.visibility</p:attrName>
                                        </p:attrNameLst>
                                      </p:cBhvr>
                                      <p:to>
                                        <p:strVal val="visible"/>
                                      </p:to>
                                    </p:set>
                                    <p:animEffect transition="in" filter="box(out)">
                                      <p:cBhvr>
                                        <p:cTn id="17" dur="500"/>
                                        <p:tgtEl>
                                          <p:spTgt spid="145412">
                                            <p:txEl>
                                              <p:charRg st="0" end="3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45413">
                                            <p:txEl>
                                              <p:charRg st="0" end="44"/>
                                            </p:txEl>
                                          </p:spTgt>
                                        </p:tgtEl>
                                        <p:attrNameLst>
                                          <p:attrName>style.visibility</p:attrName>
                                        </p:attrNameLst>
                                      </p:cBhvr>
                                      <p:to>
                                        <p:strVal val="visible"/>
                                      </p:to>
                                    </p:set>
                                    <p:animEffect transition="in" filter="box(out)">
                                      <p:cBhvr>
                                        <p:cTn id="22" dur="500"/>
                                        <p:tgtEl>
                                          <p:spTgt spid="145413">
                                            <p:txEl>
                                              <p:charRg st="0" end="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p:bldP spid="145412" grpId="0" build="p"/>
      <p:bldP spid="14541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文本框 146433"/>
          <p:cNvSpPr txBox="1"/>
          <p:nvPr/>
        </p:nvSpPr>
        <p:spPr>
          <a:xfrm>
            <a:off x="323850" y="1557655"/>
            <a:ext cx="8456930" cy="3220085"/>
          </a:xfrm>
          <a:prstGeom prst="rect">
            <a:avLst/>
          </a:prstGeom>
          <a:noFill/>
          <a:ln w="9525">
            <a:noFill/>
          </a:ln>
        </p:spPr>
        <p:txBody>
          <a:bodyPr>
            <a:noAutofit/>
          </a:bodyPr>
          <a:p>
            <a:pPr>
              <a:lnSpc>
                <a:spcPct val="175000"/>
              </a:lnSpc>
            </a:pPr>
            <a:r>
              <a:rPr lang="en-US" altLang="zh-CN" dirty="0">
                <a:solidFill>
                  <a:srgbClr val="FF3300"/>
                </a:solidFill>
                <a:latin typeface="Times New Roman" panose="02020603050405020304" pitchFamily="18" charset="0"/>
                <a:ea typeface="黑体" panose="02010609060101010101" pitchFamily="2" charset="-122"/>
              </a:rPr>
              <a:t>        </a:t>
            </a:r>
            <a:r>
              <a:rPr lang="zh-CN" altLang="en-US" dirty="0">
                <a:solidFill>
                  <a:srgbClr val="FF3300"/>
                </a:solidFill>
                <a:latin typeface="Times New Roman" panose="02020603050405020304" pitchFamily="18" charset="0"/>
                <a:ea typeface="黑体" panose="02010609060101010101" pitchFamily="2" charset="-122"/>
              </a:rPr>
              <a:t>定理</a:t>
            </a:r>
            <a:r>
              <a:rPr lang="en-US" altLang="zh-CN" dirty="0">
                <a:solidFill>
                  <a:srgbClr val="FF3300"/>
                </a:solidFill>
                <a:latin typeface="Times New Roman" panose="02020603050405020304" pitchFamily="18" charset="0"/>
                <a:ea typeface="黑体" panose="02010609060101010101" pitchFamily="2" charset="-122"/>
              </a:rPr>
              <a:t>1.</a:t>
            </a:r>
            <a:r>
              <a:rPr lang="en-US" altLang="zh-CN">
                <a:solidFill>
                  <a:srgbClr val="FF3300"/>
                </a:solidFill>
                <a:latin typeface="Times New Roman" panose="02020603050405020304" pitchFamily="18" charset="0"/>
                <a:ea typeface="黑体" panose="02010609060101010101" pitchFamily="2" charset="-122"/>
              </a:rPr>
              <a:t>3.1:</a:t>
            </a:r>
            <a:r>
              <a:rPr lang="en-US" altLang="zh-CN">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n阶行列式D等于它的任一行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各元素与其对应的代数余子式乘积之和</a:t>
            </a:r>
            <a:r>
              <a:rPr lang="en-US" altLang="zh-CN">
                <a:latin typeface="Times New Roman" panose="02020603050405020304" pitchFamily="18" charset="0"/>
              </a:rPr>
              <a:t>, </a:t>
            </a:r>
            <a:r>
              <a:rPr lang="zh-CN" altLang="en-US" dirty="0">
                <a:latin typeface="Times New Roman" panose="02020603050405020304" pitchFamily="18" charset="0"/>
              </a:rPr>
              <a:t>即</a:t>
            </a:r>
            <a:endParaRPr lang="zh-CN" altLang="en-US" dirty="0">
              <a:latin typeface="Times New Roman" panose="02020603050405020304" pitchFamily="18" charset="0"/>
            </a:endParaRPr>
          </a:p>
          <a:p>
            <a:pPr algn="ctr">
              <a:lnSpc>
                <a:spcPct val="175000"/>
              </a:lnSpc>
            </a:pPr>
            <a:r>
              <a:rPr lang="en-US" altLang="zh-CN" i="1">
                <a:latin typeface="Times New Roman" panose="02020603050405020304" pitchFamily="18" charset="0"/>
              </a:rPr>
              <a:t>D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1</a:t>
            </a: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1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2</a:t>
            </a: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2</a:t>
            </a:r>
            <a:r>
              <a:rPr lang="en-US" altLang="zh-CN">
                <a:latin typeface="Times New Roman" panose="02020603050405020304" pitchFamily="18" charset="0"/>
              </a:rPr>
              <a:t> + ··· + </a:t>
            </a:r>
            <a:r>
              <a:rPr lang="en-US" altLang="zh-CN" i="1" err="1">
                <a:latin typeface="Times New Roman" panose="02020603050405020304" pitchFamily="18" charset="0"/>
              </a:rPr>
              <a:t>a</a:t>
            </a:r>
            <a:r>
              <a:rPr lang="en-US" altLang="zh-CN" i="1" baseline="-25000" err="1">
                <a:latin typeface="Times New Roman" panose="02020603050405020304" pitchFamily="18" charset="0"/>
              </a:rPr>
              <a:t>in</a:t>
            </a:r>
            <a:r>
              <a:rPr lang="en-US" altLang="zh-CN" i="1" err="1">
                <a:latin typeface="Times New Roman" panose="02020603050405020304" pitchFamily="18" charset="0"/>
              </a:rPr>
              <a:t>A</a:t>
            </a:r>
            <a:r>
              <a:rPr lang="en-US" altLang="zh-CN" i="1" baseline="-25000" err="1">
                <a:latin typeface="Times New Roman" panose="02020603050405020304" pitchFamily="18" charset="0"/>
              </a:rPr>
              <a:t>in</a:t>
            </a:r>
            <a:r>
              <a:rPr lang="en-US" altLang="zh-CN">
                <a:latin typeface="Times New Roman" panose="02020603050405020304" pitchFamily="18" charset="0"/>
              </a:rPr>
              <a:t>  ( </a:t>
            </a:r>
            <a:r>
              <a:rPr lang="en-US" altLang="zh-CN" i="1">
                <a:latin typeface="Times New Roman" panose="02020603050405020304" pitchFamily="18" charset="0"/>
              </a:rPr>
              <a:t>i </a:t>
            </a:r>
            <a:r>
              <a:rPr lang="en-US" altLang="zh-CN">
                <a:latin typeface="Times New Roman" panose="02020603050405020304" pitchFamily="18" charset="0"/>
              </a:rPr>
              <a:t>=1, 2, ···, </a:t>
            </a:r>
            <a:r>
              <a:rPr lang="en-US" altLang="zh-CN" i="1">
                <a:latin typeface="Times New Roman" panose="02020603050405020304" pitchFamily="18" charset="0"/>
              </a:rPr>
              <a:t>n</a:t>
            </a:r>
            <a:r>
              <a:rPr lang="en-US" altLang="zh-CN">
                <a:latin typeface="Times New Roman" panose="02020603050405020304" pitchFamily="18" charset="0"/>
              </a:rPr>
              <a:t>);</a:t>
            </a:r>
            <a:endParaRPr lang="en-US" altLang="zh-CN">
              <a:latin typeface="Times New Roman" panose="02020603050405020304" pitchFamily="18" charset="0"/>
            </a:endParaRPr>
          </a:p>
          <a:p>
            <a:pPr algn="ctr">
              <a:lnSpc>
                <a:spcPct val="175000"/>
              </a:lnSpc>
            </a:pPr>
            <a:r>
              <a:rPr lang="en-US" altLang="zh-CN" i="1">
                <a:latin typeface="Times New Roman" panose="02020603050405020304" pitchFamily="18" charset="0"/>
              </a:rPr>
              <a:t>D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baseline="-25000">
                <a:latin typeface="Times New Roman" panose="02020603050405020304" pitchFamily="18" charset="0"/>
              </a:rPr>
              <a:t>1</a:t>
            </a:r>
            <a:r>
              <a:rPr lang="en-US" altLang="zh-CN" i="1" baseline="-25000">
                <a:latin typeface="Times New Roman" panose="02020603050405020304" pitchFamily="18" charset="0"/>
              </a:rPr>
              <a:t>j</a:t>
            </a:r>
            <a:r>
              <a:rPr lang="en-US" altLang="zh-CN" i="1">
                <a:latin typeface="Times New Roman" panose="02020603050405020304" pitchFamily="18" charset="0"/>
              </a:rPr>
              <a:t>A</a:t>
            </a:r>
            <a:r>
              <a:rPr lang="en-US" altLang="zh-CN" baseline="-25000">
                <a:latin typeface="Times New Roman" panose="02020603050405020304" pitchFamily="18" charset="0"/>
              </a:rPr>
              <a:t>1</a:t>
            </a:r>
            <a:r>
              <a:rPr lang="en-US" altLang="zh-CN" i="1" baseline="-25000">
                <a:latin typeface="Times New Roman" panose="02020603050405020304" pitchFamily="18" charset="0"/>
              </a:rPr>
              <a:t>j</a:t>
            </a:r>
            <a:r>
              <a:rPr lang="en-US" altLang="zh-CN" baseline="-25000">
                <a:latin typeface="Times New Roman" panose="02020603050405020304" pitchFamily="18" charset="0"/>
              </a:rPr>
              <a:t>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baseline="-25000">
                <a:latin typeface="Times New Roman" panose="02020603050405020304" pitchFamily="18" charset="0"/>
              </a:rPr>
              <a:t>2</a:t>
            </a:r>
            <a:r>
              <a:rPr lang="en-US" altLang="zh-CN" i="1" baseline="-25000">
                <a:latin typeface="Times New Roman" panose="02020603050405020304" pitchFamily="18" charset="0"/>
              </a:rPr>
              <a:t>j</a:t>
            </a:r>
            <a:r>
              <a:rPr lang="en-US" altLang="zh-CN" i="1">
                <a:latin typeface="Times New Roman" panose="02020603050405020304" pitchFamily="18" charset="0"/>
              </a:rPr>
              <a:t>A</a:t>
            </a:r>
            <a:r>
              <a:rPr lang="en-US" altLang="zh-CN" baseline="-25000">
                <a:latin typeface="Times New Roman" panose="02020603050405020304" pitchFamily="18" charset="0"/>
              </a:rPr>
              <a:t>2</a:t>
            </a:r>
            <a:r>
              <a:rPr lang="en-US" altLang="zh-CN" i="1" baseline="-25000">
                <a:latin typeface="Times New Roman" panose="02020603050405020304" pitchFamily="18" charset="0"/>
              </a:rPr>
              <a:t>j</a:t>
            </a:r>
            <a:r>
              <a:rPr lang="en-US" altLang="zh-CN">
                <a:latin typeface="Times New Roman" panose="02020603050405020304" pitchFamily="18" charset="0"/>
              </a:rPr>
              <a:t> + ··· + </a:t>
            </a:r>
            <a:r>
              <a:rPr lang="en-US" altLang="zh-CN" i="1" err="1">
                <a:latin typeface="Times New Roman" panose="02020603050405020304" pitchFamily="18" charset="0"/>
              </a:rPr>
              <a:t>a</a:t>
            </a:r>
            <a:r>
              <a:rPr lang="en-US" altLang="zh-CN" i="1" baseline="-25000" err="1">
                <a:latin typeface="Times New Roman" panose="02020603050405020304" pitchFamily="18" charset="0"/>
              </a:rPr>
              <a:t>nj</a:t>
            </a:r>
            <a:r>
              <a:rPr lang="en-US" altLang="zh-CN" i="1" err="1">
                <a:latin typeface="Times New Roman" panose="02020603050405020304" pitchFamily="18" charset="0"/>
              </a:rPr>
              <a:t>A</a:t>
            </a:r>
            <a:r>
              <a:rPr lang="en-US" altLang="zh-CN" i="1" baseline="-25000" err="1">
                <a:latin typeface="Times New Roman" panose="02020603050405020304" pitchFamily="18" charset="0"/>
              </a:rPr>
              <a:t>nj</a:t>
            </a:r>
            <a:r>
              <a:rPr lang="en-US" altLang="zh-CN">
                <a:latin typeface="Times New Roman" panose="02020603050405020304" pitchFamily="18" charset="0"/>
              </a:rPr>
              <a:t>  ( </a:t>
            </a:r>
            <a:r>
              <a:rPr lang="en-US" altLang="zh-CN" i="1">
                <a:latin typeface="Times New Roman" panose="02020603050405020304" pitchFamily="18" charset="0"/>
              </a:rPr>
              <a:t>j</a:t>
            </a:r>
            <a:r>
              <a:rPr lang="en-US" altLang="zh-CN" i="1">
                <a:latin typeface="Times New Roman" panose="02020603050405020304" pitchFamily="18" charset="0"/>
              </a:rPr>
              <a:t> </a:t>
            </a:r>
            <a:r>
              <a:rPr lang="en-US" altLang="zh-CN">
                <a:latin typeface="Times New Roman" panose="02020603050405020304" pitchFamily="18" charset="0"/>
              </a:rPr>
              <a:t>=1, 2, ···, </a:t>
            </a:r>
            <a:r>
              <a:rPr lang="en-US" altLang="zh-CN" i="1">
                <a:latin typeface="Times New Roman" panose="02020603050405020304" pitchFamily="18" charset="0"/>
              </a:rPr>
              <a:t>n</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46435" name="矩形 146434"/>
          <p:cNvSpPr/>
          <p:nvPr/>
        </p:nvSpPr>
        <p:spPr>
          <a:xfrm>
            <a:off x="971550" y="620713"/>
            <a:ext cx="5975350" cy="641350"/>
          </a:xfrm>
          <a:prstGeom prst="rect">
            <a:avLst/>
          </a:prstGeom>
          <a:noFill/>
          <a:ln w="9525">
            <a:noFill/>
          </a:ln>
        </p:spPr>
        <p:txBody>
          <a:bodyPr wrap="none" anchor="t" anchorCtr="0">
            <a:spAutoFit/>
          </a:bodyPr>
          <a:p>
            <a:r>
              <a:rPr lang="zh-CN" altLang="en-US" sz="3600" dirty="0">
                <a:solidFill>
                  <a:srgbClr val="3333FF"/>
                </a:solidFill>
                <a:latin typeface="Times New Roman" panose="02020603050405020304" pitchFamily="18" charset="0"/>
                <a:ea typeface="黑体" panose="02010609060101010101" pitchFamily="2" charset="-122"/>
              </a:rPr>
              <a:t>二、行列式按行</a:t>
            </a:r>
            <a:r>
              <a:rPr lang="en-US" altLang="zh-CN" sz="3600">
                <a:solidFill>
                  <a:srgbClr val="3333FF"/>
                </a:solidFill>
                <a:latin typeface="Times New Roman" panose="02020603050405020304" pitchFamily="18" charset="0"/>
                <a:ea typeface="黑体" panose="02010609060101010101" pitchFamily="2" charset="-122"/>
              </a:rPr>
              <a:t>(</a:t>
            </a:r>
            <a:r>
              <a:rPr lang="zh-CN" altLang="en-US" sz="3600" dirty="0">
                <a:solidFill>
                  <a:srgbClr val="3333FF"/>
                </a:solidFill>
                <a:latin typeface="Times New Roman" panose="02020603050405020304" pitchFamily="18" charset="0"/>
                <a:ea typeface="黑体" panose="02010609060101010101" pitchFamily="2" charset="-122"/>
              </a:rPr>
              <a:t>列</a:t>
            </a:r>
            <a:r>
              <a:rPr lang="en-US" altLang="zh-CN" sz="3600">
                <a:solidFill>
                  <a:srgbClr val="3333FF"/>
                </a:solidFill>
                <a:latin typeface="Times New Roman" panose="02020603050405020304" pitchFamily="18" charset="0"/>
                <a:ea typeface="黑体" panose="02010609060101010101" pitchFamily="2" charset="-122"/>
              </a:rPr>
              <a:t>)</a:t>
            </a:r>
            <a:r>
              <a:rPr lang="zh-CN" altLang="en-US" sz="3600" dirty="0">
                <a:solidFill>
                  <a:srgbClr val="3333FF"/>
                </a:solidFill>
                <a:latin typeface="Times New Roman" panose="02020603050405020304" pitchFamily="18" charset="0"/>
                <a:ea typeface="黑体" panose="02010609060101010101" pitchFamily="2" charset="-122"/>
              </a:rPr>
              <a:t>展开法则</a:t>
            </a:r>
            <a:endParaRPr lang="zh-CN" altLang="en-US" sz="3600" dirty="0">
              <a:solidFill>
                <a:srgbClr val="3333FF"/>
              </a:solidFill>
              <a:latin typeface="Times New Roman" panose="02020603050405020304" pitchFamily="18"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46435">
                                            <p:txEl>
                                              <p:charRg st="0" end="15"/>
                                            </p:txEl>
                                          </p:spTgt>
                                        </p:tgtEl>
                                        <p:attrNameLst>
                                          <p:attrName>style.visibility</p:attrName>
                                        </p:attrNameLst>
                                      </p:cBhvr>
                                      <p:to>
                                        <p:strVal val="visible"/>
                                      </p:to>
                                    </p:set>
                                    <p:animEffect transition="in" filter="box(out)">
                                      <p:cBhvr>
                                        <p:cTn id="7" dur="500"/>
                                        <p:tgtEl>
                                          <p:spTgt spid="146435">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46434"/>
                                        </p:tgtEl>
                                        <p:attrNameLst>
                                          <p:attrName>style.visibility</p:attrName>
                                        </p:attrNameLst>
                                      </p:cBhvr>
                                      <p:to>
                                        <p:strVal val="visible"/>
                                      </p:to>
                                    </p:set>
                                    <p:animEffect transition="in" filter="box(out)">
                                      <p:cBhvr>
                                        <p:cTn id="12" dur="500"/>
                                        <p:tgtEl>
                                          <p:spTgt spid="146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p:bldP spid="146435" grpId="0" advAuto="100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文本框 147457"/>
          <p:cNvSpPr txBox="1"/>
          <p:nvPr/>
        </p:nvSpPr>
        <p:spPr>
          <a:xfrm>
            <a:off x="539750" y="188913"/>
            <a:ext cx="660400" cy="519112"/>
          </a:xfrm>
          <a:prstGeom prst="rect">
            <a:avLst/>
          </a:prstGeom>
          <a:noFill/>
          <a:ln w="9525">
            <a:noFill/>
          </a:ln>
        </p:spPr>
        <p:txBody>
          <a:bodyPr wrap="none" anchor="t" anchorCtr="0">
            <a:spAutoFit/>
          </a:bodyPr>
          <a:p>
            <a:r>
              <a:rPr lang="zh-CN" altLang="en-US" dirty="0">
                <a:solidFill>
                  <a:srgbClr val="FF3300"/>
                </a:solidFill>
                <a:latin typeface="Times New Roman" panose="02020603050405020304" pitchFamily="18" charset="0"/>
                <a:ea typeface="黑体" panose="02010609060101010101" pitchFamily="2" charset="-122"/>
              </a:rPr>
              <a:t>证</a:t>
            </a:r>
            <a:r>
              <a:rPr lang="en-US" altLang="zh-CN">
                <a:solidFill>
                  <a:srgbClr val="FF3300"/>
                </a:solidFill>
                <a:latin typeface="Times New Roman" panose="02020603050405020304" pitchFamily="18" charset="0"/>
                <a:ea typeface="黑体" panose="02010609060101010101" pitchFamily="2" charset="-122"/>
              </a:rPr>
              <a:t>:</a:t>
            </a:r>
            <a:endParaRPr lang="en-US" altLang="zh-CN">
              <a:solidFill>
                <a:srgbClr val="FF3300"/>
              </a:solidFill>
              <a:latin typeface="Times New Roman" panose="02020603050405020304" pitchFamily="18" charset="0"/>
              <a:ea typeface="黑体" panose="02010609060101010101" pitchFamily="2" charset="-122"/>
            </a:endParaRPr>
          </a:p>
        </p:txBody>
      </p:sp>
      <p:graphicFrame>
        <p:nvGraphicFramePr>
          <p:cNvPr id="147459" name="对象 147458"/>
          <p:cNvGraphicFramePr/>
          <p:nvPr/>
        </p:nvGraphicFramePr>
        <p:xfrm>
          <a:off x="552450" y="822960"/>
          <a:ext cx="8255000" cy="2284730"/>
        </p:xfrm>
        <a:graphic>
          <a:graphicData uri="http://schemas.openxmlformats.org/presentationml/2006/ole">
            <mc:AlternateContent xmlns:mc="http://schemas.openxmlformats.org/markup-compatibility/2006">
              <mc:Choice xmlns:v="urn:schemas-microsoft-com:vml" Requires="v">
                <p:oleObj spid="_x0000_s3429" name="" r:id="rId1" imgW="8763000" imgH="2133600" progId="Equation.3">
                  <p:embed/>
                </p:oleObj>
              </mc:Choice>
              <mc:Fallback>
                <p:oleObj name="" r:id="rId1" imgW="8763000" imgH="2133600" progId="Equation.3">
                  <p:embed/>
                  <p:pic>
                    <p:nvPicPr>
                      <p:cNvPr id="0" name="图片 3428"/>
                      <p:cNvPicPr/>
                      <p:nvPr/>
                    </p:nvPicPr>
                    <p:blipFill>
                      <a:blip r:embed="rId2"/>
                      <a:stretch>
                        <a:fillRect/>
                      </a:stretch>
                    </p:blipFill>
                    <p:spPr>
                      <a:xfrm>
                        <a:off x="552450" y="822960"/>
                        <a:ext cx="8255000" cy="2284730"/>
                      </a:xfrm>
                      <a:prstGeom prst="rect">
                        <a:avLst/>
                      </a:prstGeom>
                      <a:noFill/>
                      <a:ln w="38100">
                        <a:noFill/>
                        <a:miter/>
                      </a:ln>
                    </p:spPr>
                  </p:pic>
                </p:oleObj>
              </mc:Fallback>
            </mc:AlternateContent>
          </a:graphicData>
        </a:graphic>
      </p:graphicFrame>
      <p:graphicFrame>
        <p:nvGraphicFramePr>
          <p:cNvPr id="147460" name="对象 147459"/>
          <p:cNvGraphicFramePr/>
          <p:nvPr/>
        </p:nvGraphicFramePr>
        <p:xfrm>
          <a:off x="568325" y="3644900"/>
          <a:ext cx="2540000" cy="1962150"/>
        </p:xfrm>
        <a:graphic>
          <a:graphicData uri="http://schemas.openxmlformats.org/presentationml/2006/ole">
            <mc:AlternateContent xmlns:mc="http://schemas.openxmlformats.org/markup-compatibility/2006">
              <mc:Choice xmlns:v="urn:schemas-microsoft-com:vml" Requires="v">
                <p:oleObj spid="_x0000_s3437" name="" r:id="rId3" imgW="3187700" imgH="2159000" progId="Equation.3">
                  <p:embed/>
                </p:oleObj>
              </mc:Choice>
              <mc:Fallback>
                <p:oleObj name="" r:id="rId3" imgW="3187700" imgH="2159000" progId="Equation.3">
                  <p:embed/>
                  <p:pic>
                    <p:nvPicPr>
                      <p:cNvPr id="0" name="图片 3436"/>
                      <p:cNvPicPr/>
                      <p:nvPr/>
                    </p:nvPicPr>
                    <p:blipFill>
                      <a:blip r:embed="rId4"/>
                      <a:stretch>
                        <a:fillRect/>
                      </a:stretch>
                    </p:blipFill>
                    <p:spPr>
                      <a:xfrm>
                        <a:off x="568325" y="3644900"/>
                        <a:ext cx="2540000" cy="1962150"/>
                      </a:xfrm>
                      <a:prstGeom prst="rect">
                        <a:avLst/>
                      </a:prstGeom>
                      <a:noFill/>
                      <a:ln w="38100">
                        <a:noFill/>
                        <a:miter/>
                      </a:ln>
                    </p:spPr>
                  </p:pic>
                </p:oleObj>
              </mc:Fallback>
            </mc:AlternateContent>
          </a:graphicData>
        </a:graphic>
      </p:graphicFrame>
      <p:graphicFrame>
        <p:nvGraphicFramePr>
          <p:cNvPr id="147461" name="对象 147460"/>
          <p:cNvGraphicFramePr/>
          <p:nvPr/>
        </p:nvGraphicFramePr>
        <p:xfrm>
          <a:off x="3165475" y="3646170"/>
          <a:ext cx="2341245" cy="1959610"/>
        </p:xfrm>
        <a:graphic>
          <a:graphicData uri="http://schemas.openxmlformats.org/presentationml/2006/ole">
            <mc:AlternateContent xmlns:mc="http://schemas.openxmlformats.org/markup-compatibility/2006">
              <mc:Choice xmlns:v="urn:schemas-microsoft-com:vml" Requires="v">
                <p:oleObj spid="_x0000_s3440" name="" r:id="rId5" imgW="3175000" imgH="2159000" progId="Equation.3">
                  <p:embed/>
                </p:oleObj>
              </mc:Choice>
              <mc:Fallback>
                <p:oleObj name="" r:id="rId5" imgW="3175000" imgH="2159000" progId="Equation.3">
                  <p:embed/>
                  <p:pic>
                    <p:nvPicPr>
                      <p:cNvPr id="0" name="图片 3439"/>
                      <p:cNvPicPr/>
                      <p:nvPr/>
                    </p:nvPicPr>
                    <p:blipFill>
                      <a:blip r:embed="rId6"/>
                      <a:stretch>
                        <a:fillRect/>
                      </a:stretch>
                    </p:blipFill>
                    <p:spPr>
                      <a:xfrm>
                        <a:off x="3165475" y="3646170"/>
                        <a:ext cx="2341245" cy="1959610"/>
                      </a:xfrm>
                      <a:prstGeom prst="rect">
                        <a:avLst/>
                      </a:prstGeom>
                      <a:noFill/>
                      <a:ln w="38100">
                        <a:noFill/>
                        <a:miter/>
                      </a:ln>
                    </p:spPr>
                  </p:pic>
                </p:oleObj>
              </mc:Fallback>
            </mc:AlternateContent>
          </a:graphicData>
        </a:graphic>
      </p:graphicFrame>
      <p:graphicFrame>
        <p:nvGraphicFramePr>
          <p:cNvPr id="147462" name="对象 147461"/>
          <p:cNvGraphicFramePr/>
          <p:nvPr/>
        </p:nvGraphicFramePr>
        <p:xfrm>
          <a:off x="5563870" y="3646170"/>
          <a:ext cx="3070225" cy="1960880"/>
        </p:xfrm>
        <a:graphic>
          <a:graphicData uri="http://schemas.openxmlformats.org/presentationml/2006/ole">
            <mc:AlternateContent xmlns:mc="http://schemas.openxmlformats.org/markup-compatibility/2006">
              <mc:Choice xmlns:v="urn:schemas-microsoft-com:vml" Requires="v">
                <p:oleObj spid="_x0000_s3441" name="" r:id="rId7" imgW="3835400" imgH="2159000" progId="Equation.3">
                  <p:embed/>
                </p:oleObj>
              </mc:Choice>
              <mc:Fallback>
                <p:oleObj name="" r:id="rId7" imgW="3835400" imgH="2159000" progId="Equation.3">
                  <p:embed/>
                  <p:pic>
                    <p:nvPicPr>
                      <p:cNvPr id="0" name="图片 3440"/>
                      <p:cNvPicPr/>
                      <p:nvPr/>
                    </p:nvPicPr>
                    <p:blipFill>
                      <a:blip r:embed="rId8"/>
                      <a:stretch>
                        <a:fillRect/>
                      </a:stretch>
                    </p:blipFill>
                    <p:spPr>
                      <a:xfrm>
                        <a:off x="5563870" y="3646170"/>
                        <a:ext cx="3070225" cy="19608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47458">
                                            <p:txEl>
                                              <p:charRg st="0" end="3"/>
                                            </p:txEl>
                                          </p:spTgt>
                                        </p:tgtEl>
                                        <p:attrNameLst>
                                          <p:attrName>style.visibility</p:attrName>
                                        </p:attrNameLst>
                                      </p:cBhvr>
                                      <p:to>
                                        <p:strVal val="visible"/>
                                      </p:to>
                                    </p:set>
                                    <p:animEffect transition="in" filter="box(out)">
                                      <p:cBhvr>
                                        <p:cTn id="7" dur="500"/>
                                        <p:tgtEl>
                                          <p:spTgt spid="147458">
                                            <p:txEl>
                                              <p:charRg st="0" end="3"/>
                                            </p:txEl>
                                          </p:spTgt>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1474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nodeType="clickEffect">
                                  <p:stCondLst>
                                    <p:cond delay="0"/>
                                  </p:stCondLst>
                                  <p:childTnLst>
                                    <p:set>
                                      <p:cBhvr>
                                        <p:cTn id="14" dur="1" fill="hold">
                                          <p:stCondLst>
                                            <p:cond delay="0"/>
                                          </p:stCondLst>
                                        </p:cTn>
                                        <p:tgtEl>
                                          <p:spTgt spid="147460"/>
                                        </p:tgtEl>
                                        <p:attrNameLst>
                                          <p:attrName>style.visibility</p:attrName>
                                        </p:attrNameLst>
                                      </p:cBhvr>
                                      <p:to>
                                        <p:strVal val="visible"/>
                                      </p:to>
                                    </p:set>
                                    <p:animEffect transition="in" filter="box(out)">
                                      <p:cBhvr>
                                        <p:cTn id="15" dur="500"/>
                                        <p:tgtEl>
                                          <p:spTgt spid="147460"/>
                                        </p:tgtEl>
                                      </p:cBhvr>
                                    </p:animEffect>
                                  </p:childTnLst>
                                </p:cTn>
                              </p:par>
                            </p:childTnLst>
                          </p:cTn>
                        </p:par>
                        <p:par>
                          <p:cTn id="16" fill="hold">
                            <p:stCondLst>
                              <p:cond delay="500"/>
                            </p:stCondLst>
                            <p:childTnLst>
                              <p:par>
                                <p:cTn id="17" presetID="4" presetClass="entr" presetSubtype="32" fill="hold" nodeType="afterEffect">
                                  <p:stCondLst>
                                    <p:cond delay="0"/>
                                  </p:stCondLst>
                                  <p:childTnLst>
                                    <p:set>
                                      <p:cBhvr>
                                        <p:cTn id="18" dur="1" fill="hold">
                                          <p:stCondLst>
                                            <p:cond delay="0"/>
                                          </p:stCondLst>
                                        </p:cTn>
                                        <p:tgtEl>
                                          <p:spTgt spid="147461"/>
                                        </p:tgtEl>
                                        <p:attrNameLst>
                                          <p:attrName>style.visibility</p:attrName>
                                        </p:attrNameLst>
                                      </p:cBhvr>
                                      <p:to>
                                        <p:strVal val="visible"/>
                                      </p:to>
                                    </p:set>
                                    <p:animEffect transition="in" filter="box(out)">
                                      <p:cBhvr>
                                        <p:cTn id="19" dur="500"/>
                                        <p:tgtEl>
                                          <p:spTgt spid="147461"/>
                                        </p:tgtEl>
                                      </p:cBhvr>
                                    </p:animEffect>
                                  </p:childTnLst>
                                </p:cTn>
                              </p:par>
                            </p:childTnLst>
                          </p:cTn>
                        </p:par>
                        <p:par>
                          <p:cTn id="20" fill="hold">
                            <p:stCondLst>
                              <p:cond delay="1000"/>
                            </p:stCondLst>
                            <p:childTnLst>
                              <p:par>
                                <p:cTn id="21" presetID="4" presetClass="entr" presetSubtype="32" fill="hold" nodeType="afterEffect">
                                  <p:stCondLst>
                                    <p:cond delay="0"/>
                                  </p:stCondLst>
                                  <p:childTnLst>
                                    <p:set>
                                      <p:cBhvr>
                                        <p:cTn id="22" dur="1" fill="hold">
                                          <p:stCondLst>
                                            <p:cond delay="0"/>
                                          </p:stCondLst>
                                        </p:cTn>
                                        <p:tgtEl>
                                          <p:spTgt spid="147462"/>
                                        </p:tgtEl>
                                        <p:attrNameLst>
                                          <p:attrName>style.visibility</p:attrName>
                                        </p:attrNameLst>
                                      </p:cBhvr>
                                      <p:to>
                                        <p:strVal val="visible"/>
                                      </p:to>
                                    </p:set>
                                    <p:animEffect transition="in" filter="box(out)">
                                      <p:cBhvr>
                                        <p:cTn id="23" dur="500"/>
                                        <p:tgtEl>
                                          <p:spTgt spid="147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矩形 148481"/>
          <p:cNvSpPr/>
          <p:nvPr/>
        </p:nvSpPr>
        <p:spPr>
          <a:xfrm>
            <a:off x="900430" y="1336675"/>
            <a:ext cx="6937375" cy="711835"/>
          </a:xfrm>
          <a:prstGeom prst="rect">
            <a:avLst/>
          </a:prstGeom>
          <a:noFill/>
          <a:ln w="9525">
            <a:noFill/>
          </a:ln>
        </p:spPr>
        <p:txBody>
          <a:bodyPr wrap="none" anchor="t" anchorCtr="0">
            <a:noAutofit/>
          </a:bodyPr>
          <a:p>
            <a:r>
              <a:rPr lang="en-US" altLang="zh-CN" i="1">
                <a:latin typeface="Times New Roman" panose="02020603050405020304" pitchFamily="18" charset="0"/>
              </a:rPr>
              <a:t>D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1</a:t>
            </a: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1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2</a:t>
            </a: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2</a:t>
            </a:r>
            <a:r>
              <a:rPr lang="en-US" altLang="zh-CN">
                <a:latin typeface="Times New Roman" panose="02020603050405020304" pitchFamily="18" charset="0"/>
              </a:rPr>
              <a:t> + ··· + </a:t>
            </a:r>
            <a:r>
              <a:rPr lang="en-US" altLang="zh-CN" i="1" err="1">
                <a:latin typeface="Times New Roman" panose="02020603050405020304" pitchFamily="18" charset="0"/>
              </a:rPr>
              <a:t>a</a:t>
            </a:r>
            <a:r>
              <a:rPr lang="en-US" altLang="zh-CN" i="1" baseline="-25000" err="1">
                <a:latin typeface="Times New Roman" panose="02020603050405020304" pitchFamily="18" charset="0"/>
              </a:rPr>
              <a:t>in</a:t>
            </a:r>
            <a:r>
              <a:rPr lang="en-US" altLang="zh-CN" i="1" err="1">
                <a:latin typeface="Times New Roman" panose="02020603050405020304" pitchFamily="18" charset="0"/>
              </a:rPr>
              <a:t>A</a:t>
            </a:r>
            <a:r>
              <a:rPr lang="en-US" altLang="zh-CN" i="1" baseline="-25000" err="1">
                <a:latin typeface="Times New Roman" panose="02020603050405020304" pitchFamily="18" charset="0"/>
              </a:rPr>
              <a:t>in</a:t>
            </a:r>
            <a:r>
              <a:rPr lang="en-US" altLang="zh-CN">
                <a:latin typeface="Times New Roman" panose="02020603050405020304" pitchFamily="18" charset="0"/>
              </a:rPr>
              <a:t>  ( </a:t>
            </a:r>
            <a:r>
              <a:rPr lang="en-US" altLang="zh-CN" i="1">
                <a:latin typeface="Times New Roman" panose="02020603050405020304" pitchFamily="18" charset="0"/>
              </a:rPr>
              <a:t>i </a:t>
            </a:r>
            <a:r>
              <a:rPr lang="en-US" altLang="zh-CN">
                <a:latin typeface="Times New Roman" panose="02020603050405020304" pitchFamily="18" charset="0"/>
              </a:rPr>
              <a:t>=1, 2, ···, </a:t>
            </a:r>
            <a:r>
              <a:rPr lang="en-US" altLang="zh-CN" i="1">
                <a:latin typeface="Times New Roman" panose="02020603050405020304" pitchFamily="18" charset="0"/>
              </a:rPr>
              <a:t>n</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48483" name="文本框 148482"/>
          <p:cNvSpPr txBox="1"/>
          <p:nvPr/>
        </p:nvSpPr>
        <p:spPr>
          <a:xfrm>
            <a:off x="901065" y="635000"/>
            <a:ext cx="2090420" cy="657225"/>
          </a:xfrm>
          <a:prstGeom prst="rect">
            <a:avLst/>
          </a:prstGeom>
          <a:noFill/>
          <a:ln w="9525">
            <a:noFill/>
          </a:ln>
        </p:spPr>
        <p:txBody>
          <a:bodyPr wrap="none" anchor="t" anchorCtr="0">
            <a:noAutofit/>
          </a:bodyPr>
          <a:p>
            <a:r>
              <a:rPr lang="zh-CN" altLang="en-US">
                <a:latin typeface="Times New Roman" panose="02020603050405020304" pitchFamily="18" charset="0"/>
              </a:rPr>
              <a:t>由</a:t>
            </a:r>
            <a:r>
              <a:rPr lang="zh-CN" altLang="en-US" dirty="0">
                <a:latin typeface="Times New Roman" panose="02020603050405020304" pitchFamily="18" charset="0"/>
              </a:rPr>
              <a:t>引理得</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48484" name="文本框 148483"/>
          <p:cNvSpPr txBox="1"/>
          <p:nvPr/>
        </p:nvSpPr>
        <p:spPr>
          <a:xfrm>
            <a:off x="1042988" y="2133600"/>
            <a:ext cx="4570412" cy="519113"/>
          </a:xfrm>
          <a:prstGeom prst="rect">
            <a:avLst/>
          </a:prstGeom>
          <a:noFill/>
          <a:ln w="9525">
            <a:noFill/>
          </a:ln>
        </p:spPr>
        <p:txBody>
          <a:bodyPr wrap="none" anchor="t" anchorCtr="0">
            <a:spAutoFit/>
          </a:bodyPr>
          <a:p>
            <a:r>
              <a:rPr lang="zh-CN" altLang="en-US" dirty="0">
                <a:latin typeface="Times New Roman" panose="02020603050405020304" pitchFamily="18" charset="0"/>
              </a:rPr>
              <a:t>引理的结论常用如下表达式</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48486" name="矩形 148485"/>
          <p:cNvSpPr/>
          <p:nvPr/>
        </p:nvSpPr>
        <p:spPr>
          <a:xfrm>
            <a:off x="5368290" y="3081020"/>
            <a:ext cx="2390140" cy="676275"/>
          </a:xfrm>
          <a:prstGeom prst="rect">
            <a:avLst/>
          </a:prstGeom>
          <a:noFill/>
          <a:ln w="9525">
            <a:noFill/>
          </a:ln>
        </p:spPr>
        <p:txBody>
          <a:bodyPr wrap="none" anchor="t" anchorCtr="0">
            <a:noAutofit/>
          </a:bodyPr>
          <a:p>
            <a:r>
              <a:rPr lang="en-US" altLang="zh-CN">
                <a:latin typeface="Times New Roman" panose="02020603050405020304" pitchFamily="18" charset="0"/>
              </a:rPr>
              <a:t>( </a:t>
            </a:r>
            <a:r>
              <a:rPr lang="en-US" altLang="zh-CN" i="1">
                <a:latin typeface="Times New Roman" panose="02020603050405020304" pitchFamily="18" charset="0"/>
              </a:rPr>
              <a:t>j</a:t>
            </a:r>
            <a:r>
              <a:rPr lang="en-US" altLang="zh-CN" i="1">
                <a:latin typeface="Times New Roman" panose="02020603050405020304" pitchFamily="18" charset="0"/>
              </a:rPr>
              <a:t> </a:t>
            </a:r>
            <a:r>
              <a:rPr lang="en-US" altLang="zh-CN">
                <a:latin typeface="Times New Roman" panose="02020603050405020304" pitchFamily="18" charset="0"/>
              </a:rPr>
              <a:t>=1, 2, ···, </a:t>
            </a:r>
            <a:r>
              <a:rPr lang="en-US" altLang="zh-CN" i="1">
                <a:latin typeface="Times New Roman" panose="02020603050405020304" pitchFamily="18" charset="0"/>
              </a:rPr>
              <a:t>n</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2" name="对象 -2147482371"/>
          <p:cNvGraphicFramePr>
            <a:graphicFrameLocks noChangeAspect="1"/>
          </p:cNvGraphicFramePr>
          <p:nvPr/>
        </p:nvGraphicFramePr>
        <p:xfrm>
          <a:off x="1470025" y="2841625"/>
          <a:ext cx="3898265" cy="1125855"/>
        </p:xfrm>
        <a:graphic>
          <a:graphicData uri="http://schemas.openxmlformats.org/presentationml/2006/ole">
            <mc:AlternateContent xmlns:mc="http://schemas.openxmlformats.org/markup-compatibility/2006">
              <mc:Choice xmlns:v="urn:schemas-microsoft-com:vml" Requires="v">
                <p:oleObj spid="_x0000_s3076" name="" r:id="rId1" imgW="1498600" imgH="431800" progId="Equation.DSMT4">
                  <p:embed/>
                </p:oleObj>
              </mc:Choice>
              <mc:Fallback>
                <p:oleObj name="" r:id="rId1" imgW="1498600" imgH="431800" progId="Equation.DSMT4">
                  <p:embed/>
                  <p:pic>
                    <p:nvPicPr>
                      <p:cNvPr id="0" name="图片 3075"/>
                      <p:cNvPicPr/>
                      <p:nvPr/>
                    </p:nvPicPr>
                    <p:blipFill>
                      <a:blip r:embed="rId2"/>
                      <a:stretch>
                        <a:fillRect/>
                      </a:stretch>
                    </p:blipFill>
                    <p:spPr>
                      <a:xfrm>
                        <a:off x="1470025" y="2841625"/>
                        <a:ext cx="3898265" cy="112585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48483">
                                            <p:txEl>
                                              <p:charRg st="0" end="6"/>
                                            </p:txEl>
                                          </p:spTgt>
                                        </p:tgtEl>
                                        <p:attrNameLst>
                                          <p:attrName>style.visibility</p:attrName>
                                        </p:attrNameLst>
                                      </p:cBhvr>
                                      <p:to>
                                        <p:strVal val="visible"/>
                                      </p:to>
                                    </p:set>
                                    <p:animEffect transition="in" filter="box(out)">
                                      <p:cBhvr>
                                        <p:cTn id="7" dur="500"/>
                                        <p:tgtEl>
                                          <p:spTgt spid="148483">
                                            <p:txEl>
                                              <p:charRg st="0" end="6"/>
                                            </p:txEl>
                                          </p:spTgt>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48482">
                                            <p:txEl>
                                              <p:charRg st="0" end="56"/>
                                            </p:txEl>
                                          </p:spTgt>
                                        </p:tgtEl>
                                        <p:attrNameLst>
                                          <p:attrName>style.visibility</p:attrName>
                                        </p:attrNameLst>
                                      </p:cBhvr>
                                      <p:to>
                                        <p:strVal val="visible"/>
                                      </p:to>
                                    </p:set>
                                    <p:animEffect transition="in" filter="box(out)">
                                      <p:cBhvr>
                                        <p:cTn id="11" dur="500"/>
                                        <p:tgtEl>
                                          <p:spTgt spid="148482">
                                            <p:txEl>
                                              <p:charRg st="0" end="56"/>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48484">
                                            <p:txEl>
                                              <p:charRg st="0" end="14"/>
                                            </p:txEl>
                                          </p:spTgt>
                                        </p:tgtEl>
                                        <p:attrNameLst>
                                          <p:attrName>style.visibility</p:attrName>
                                        </p:attrNameLst>
                                      </p:cBhvr>
                                      <p:to>
                                        <p:strVal val="visible"/>
                                      </p:to>
                                    </p:set>
                                    <p:animEffect transition="in" filter="box(out)">
                                      <p:cBhvr>
                                        <p:cTn id="16" dur="500"/>
                                        <p:tgtEl>
                                          <p:spTgt spid="148484">
                                            <p:txEl>
                                              <p:charRg st="0" end="1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childTnLst>
                          </p:cTn>
                        </p:par>
                        <p:par>
                          <p:cTn id="22" fill="hold">
                            <p:stCondLst>
                              <p:cond delay="500"/>
                            </p:stCondLst>
                            <p:childTnLst>
                              <p:par>
                                <p:cTn id="23" presetID="4" presetClass="entr" presetSubtype="32" fill="hold" grpId="0" nodeType="afterEffect">
                                  <p:stCondLst>
                                    <p:cond delay="0"/>
                                  </p:stCondLst>
                                  <p:childTnLst>
                                    <p:set>
                                      <p:cBhvr>
                                        <p:cTn id="24" dur="1" fill="hold">
                                          <p:stCondLst>
                                            <p:cond delay="0"/>
                                          </p:stCondLst>
                                        </p:cTn>
                                        <p:tgtEl>
                                          <p:spTgt spid="148486">
                                            <p:txEl>
                                              <p:charRg st="0" end="19"/>
                                            </p:txEl>
                                          </p:spTgt>
                                        </p:tgtEl>
                                        <p:attrNameLst>
                                          <p:attrName>style.visibility</p:attrName>
                                        </p:attrNameLst>
                                      </p:cBhvr>
                                      <p:to>
                                        <p:strVal val="visible"/>
                                      </p:to>
                                    </p:set>
                                    <p:animEffect transition="in" filter="box(out)">
                                      <p:cBhvr>
                                        <p:cTn id="25" dur="500"/>
                                        <p:tgtEl>
                                          <p:spTgt spid="148486">
                                            <p:txEl>
                                              <p:charRg st="0"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advAuto="1000" build="p"/>
      <p:bldP spid="148483" grpId="0" advAuto="1000" build="p"/>
      <p:bldP spid="148484" grpId="0" build="p"/>
      <p:bldP spid="148486" grpId="0" advAuto="100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矩形 149505"/>
          <p:cNvSpPr/>
          <p:nvPr/>
        </p:nvSpPr>
        <p:spPr>
          <a:xfrm>
            <a:off x="358775" y="304800"/>
            <a:ext cx="8456613" cy="1899285"/>
          </a:xfrm>
          <a:prstGeom prst="rect">
            <a:avLst/>
          </a:prstGeom>
          <a:noFill/>
          <a:ln w="9525">
            <a:noFill/>
          </a:ln>
        </p:spPr>
        <p:txBody>
          <a:bodyPr>
            <a:spAutoFit/>
          </a:bodyPr>
          <a:p>
            <a:pPr>
              <a:lnSpc>
                <a:spcPct val="105000"/>
              </a:lnSpc>
            </a:pPr>
            <a:r>
              <a:rPr lang="en-US" altLang="zh-CN" dirty="0">
                <a:solidFill>
                  <a:srgbClr val="FF3300"/>
                </a:solidFill>
                <a:latin typeface="Times New Roman" panose="02020603050405020304" pitchFamily="18" charset="0"/>
                <a:ea typeface="黑体" panose="02010609060101010101" pitchFamily="2" charset="-122"/>
              </a:rPr>
              <a:t>        </a:t>
            </a:r>
            <a:r>
              <a:rPr lang="zh-CN" altLang="en-US" dirty="0">
                <a:solidFill>
                  <a:srgbClr val="FF3300"/>
                </a:solidFill>
                <a:latin typeface="Times New Roman" panose="02020603050405020304" pitchFamily="18" charset="0"/>
                <a:ea typeface="黑体" panose="02010609060101010101" pitchFamily="2" charset="-122"/>
              </a:rPr>
              <a:t>定理</a:t>
            </a:r>
            <a:r>
              <a:rPr lang="en-US" altLang="zh-CN" dirty="0">
                <a:solidFill>
                  <a:srgbClr val="FF3300"/>
                </a:solidFill>
                <a:latin typeface="Times New Roman" panose="02020603050405020304" pitchFamily="18" charset="0"/>
                <a:ea typeface="黑体" panose="02010609060101010101" pitchFamily="2" charset="-122"/>
              </a:rPr>
              <a:t>1.3.2</a:t>
            </a:r>
            <a:r>
              <a:rPr lang="en-US" altLang="zh-CN">
                <a:solidFill>
                  <a:srgbClr val="FF3300"/>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ea typeface="黑体" panose="02010609060101010101" pitchFamily="2" charset="-122"/>
              </a:rPr>
              <a:t>  n</a:t>
            </a:r>
            <a:r>
              <a:rPr lang="zh-CN" altLang="en-US">
                <a:latin typeface="Times New Roman" panose="02020603050405020304" pitchFamily="18" charset="0"/>
                <a:ea typeface="黑体" panose="02010609060101010101" pitchFamily="2" charset="-122"/>
              </a:rPr>
              <a:t>阶</a:t>
            </a:r>
            <a:r>
              <a:rPr lang="zh-CN" altLang="en-US" dirty="0">
                <a:latin typeface="Times New Roman" panose="02020603050405020304" pitchFamily="18" charset="0"/>
              </a:rPr>
              <a:t>行列式</a:t>
            </a:r>
            <a:r>
              <a:rPr lang="en-US" altLang="zh-CN" dirty="0">
                <a:latin typeface="Times New Roman" panose="02020603050405020304" pitchFamily="18" charset="0"/>
              </a:rPr>
              <a:t>D</a:t>
            </a:r>
            <a:r>
              <a:rPr lang="zh-CN" altLang="en-US" dirty="0">
                <a:latin typeface="Times New Roman" panose="02020603050405020304" pitchFamily="18" charset="0"/>
              </a:rPr>
              <a:t>的任一行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元素与另一行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的对应元素的代数余子式乘积之和等于零</a:t>
            </a:r>
            <a:r>
              <a:rPr lang="en-US" altLang="zh-CN">
                <a:latin typeface="Times New Roman" panose="02020603050405020304" pitchFamily="18" charset="0"/>
              </a:rPr>
              <a:t>, </a:t>
            </a:r>
            <a:r>
              <a:rPr lang="zh-CN" altLang="en-US" dirty="0">
                <a:latin typeface="Times New Roman" panose="02020603050405020304" pitchFamily="18" charset="0"/>
              </a:rPr>
              <a:t>即</a:t>
            </a:r>
            <a:endParaRPr lang="zh-CN" altLang="en-US" dirty="0">
              <a:latin typeface="Times New Roman" panose="02020603050405020304" pitchFamily="18" charset="0"/>
            </a:endParaRPr>
          </a:p>
          <a:p>
            <a:pPr algn="ctr">
              <a:lnSpc>
                <a:spcPct val="105000"/>
              </a:lnSpc>
            </a:pP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1</a:t>
            </a:r>
            <a:r>
              <a:rPr lang="en-US" altLang="zh-CN" i="1">
                <a:latin typeface="Times New Roman" panose="02020603050405020304" pitchFamily="18" charset="0"/>
              </a:rPr>
              <a:t>A</a:t>
            </a:r>
            <a:r>
              <a:rPr lang="en-US" altLang="zh-CN" i="1" baseline="-25000">
                <a:latin typeface="Times New Roman" panose="02020603050405020304" pitchFamily="18" charset="0"/>
              </a:rPr>
              <a:t>j</a:t>
            </a:r>
            <a:r>
              <a:rPr lang="en-US" altLang="zh-CN" baseline="-25000">
                <a:latin typeface="Times New Roman" panose="02020603050405020304" pitchFamily="18" charset="0"/>
              </a:rPr>
              <a:t>1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2</a:t>
            </a:r>
            <a:r>
              <a:rPr lang="en-US" altLang="zh-CN" i="1">
                <a:latin typeface="Times New Roman" panose="02020603050405020304" pitchFamily="18" charset="0"/>
              </a:rPr>
              <a:t>A</a:t>
            </a:r>
            <a:r>
              <a:rPr lang="en-US" altLang="zh-CN" i="1" baseline="-25000">
                <a:latin typeface="Times New Roman" panose="02020603050405020304" pitchFamily="18" charset="0"/>
              </a:rPr>
              <a:t>j</a:t>
            </a:r>
            <a:r>
              <a:rPr lang="en-US" altLang="zh-CN" baseline="-25000">
                <a:latin typeface="Times New Roman" panose="02020603050405020304" pitchFamily="18" charset="0"/>
              </a:rPr>
              <a:t>2</a:t>
            </a:r>
            <a:r>
              <a:rPr lang="en-US" altLang="zh-CN">
                <a:latin typeface="Times New Roman" panose="02020603050405020304" pitchFamily="18" charset="0"/>
              </a:rPr>
              <a:t> + ··· + </a:t>
            </a:r>
            <a:r>
              <a:rPr lang="en-US" altLang="zh-CN" i="1" err="1">
                <a:latin typeface="Times New Roman" panose="02020603050405020304" pitchFamily="18" charset="0"/>
              </a:rPr>
              <a:t>a</a:t>
            </a:r>
            <a:r>
              <a:rPr lang="en-US" altLang="zh-CN" i="1" baseline="-25000" err="1">
                <a:latin typeface="Times New Roman" panose="02020603050405020304" pitchFamily="18" charset="0"/>
              </a:rPr>
              <a:t>in</a:t>
            </a:r>
            <a:r>
              <a:rPr lang="en-US" altLang="zh-CN" i="1" err="1">
                <a:latin typeface="Times New Roman" panose="02020603050405020304" pitchFamily="18" charset="0"/>
              </a:rPr>
              <a:t>A</a:t>
            </a:r>
            <a:r>
              <a:rPr lang="en-US" altLang="zh-CN" i="1" baseline="-25000" err="1">
                <a:latin typeface="Times New Roman" panose="02020603050405020304" pitchFamily="18" charset="0"/>
              </a:rPr>
              <a:t>jn</a:t>
            </a:r>
            <a:r>
              <a:rPr lang="en-US" altLang="zh-CN">
                <a:latin typeface="Times New Roman" panose="02020603050405020304" pitchFamily="18" charset="0"/>
              </a:rPr>
              <a:t> = 0,    </a:t>
            </a:r>
            <a:r>
              <a:rPr lang="en-US" altLang="zh-CN" i="1">
                <a:latin typeface="Times New Roman" panose="02020603050405020304" pitchFamily="18" charset="0"/>
              </a:rPr>
              <a:t>i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j </a:t>
            </a:r>
            <a:r>
              <a:rPr lang="en-US" altLang="zh-CN">
                <a:latin typeface="Times New Roman" panose="02020603050405020304" pitchFamily="18" charset="0"/>
              </a:rPr>
              <a:t>;</a:t>
            </a:r>
            <a:endParaRPr lang="en-US" altLang="zh-CN">
              <a:latin typeface="Times New Roman" panose="02020603050405020304" pitchFamily="18" charset="0"/>
            </a:endParaRPr>
          </a:p>
          <a:p>
            <a:pPr algn="ctr">
              <a:lnSpc>
                <a:spcPct val="105000"/>
              </a:lnSpc>
            </a:pPr>
            <a:r>
              <a:rPr lang="en-US" altLang="zh-CN" i="1">
                <a:latin typeface="Times New Roman" panose="02020603050405020304" pitchFamily="18" charset="0"/>
              </a:rPr>
              <a:t>a</a:t>
            </a:r>
            <a:r>
              <a:rPr lang="en-US" altLang="zh-CN" baseline="-25000">
                <a:latin typeface="Times New Roman" panose="02020603050405020304" pitchFamily="18" charset="0"/>
              </a:rPr>
              <a:t>1</a:t>
            </a:r>
            <a:r>
              <a:rPr lang="en-US" altLang="zh-CN" i="1" baseline="-25000">
                <a:latin typeface="Times New Roman" panose="02020603050405020304" pitchFamily="18" charset="0"/>
              </a:rPr>
              <a:t>i</a:t>
            </a:r>
            <a:r>
              <a:rPr lang="en-US" altLang="zh-CN" i="1">
                <a:latin typeface="Times New Roman" panose="02020603050405020304" pitchFamily="18" charset="0"/>
              </a:rPr>
              <a:t>A</a:t>
            </a:r>
            <a:r>
              <a:rPr lang="en-US" altLang="zh-CN" baseline="-25000">
                <a:latin typeface="Times New Roman" panose="02020603050405020304" pitchFamily="18" charset="0"/>
              </a:rPr>
              <a:t>1</a:t>
            </a:r>
            <a:r>
              <a:rPr lang="en-US" altLang="zh-CN" i="1" baseline="-25000">
                <a:latin typeface="Times New Roman" panose="02020603050405020304" pitchFamily="18" charset="0"/>
              </a:rPr>
              <a:t>j</a:t>
            </a:r>
            <a:r>
              <a:rPr lang="en-US" altLang="zh-CN" baseline="-25000">
                <a:latin typeface="Times New Roman" panose="02020603050405020304" pitchFamily="18" charset="0"/>
              </a:rPr>
              <a:t>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baseline="-25000">
                <a:latin typeface="Times New Roman" panose="02020603050405020304" pitchFamily="18" charset="0"/>
              </a:rPr>
              <a:t>2</a:t>
            </a:r>
            <a:r>
              <a:rPr lang="en-US" altLang="zh-CN" i="1" baseline="-25000">
                <a:latin typeface="Times New Roman" panose="02020603050405020304" pitchFamily="18" charset="0"/>
              </a:rPr>
              <a:t>i</a:t>
            </a:r>
            <a:r>
              <a:rPr lang="en-US" altLang="zh-CN" i="1">
                <a:latin typeface="Times New Roman" panose="02020603050405020304" pitchFamily="18" charset="0"/>
              </a:rPr>
              <a:t>A</a:t>
            </a:r>
            <a:r>
              <a:rPr lang="en-US" altLang="zh-CN" baseline="-25000">
                <a:latin typeface="Times New Roman" panose="02020603050405020304" pitchFamily="18" charset="0"/>
              </a:rPr>
              <a:t>2</a:t>
            </a:r>
            <a:r>
              <a:rPr lang="en-US" altLang="zh-CN" i="1" baseline="-25000">
                <a:latin typeface="Times New Roman" panose="02020603050405020304" pitchFamily="18" charset="0"/>
              </a:rPr>
              <a:t>j</a:t>
            </a:r>
            <a:r>
              <a:rPr lang="en-US" altLang="zh-CN">
                <a:latin typeface="Times New Roman" panose="02020603050405020304" pitchFamily="18" charset="0"/>
              </a:rPr>
              <a:t> + ··· + </a:t>
            </a:r>
            <a:r>
              <a:rPr lang="en-US" altLang="zh-CN" i="1" err="1">
                <a:latin typeface="Times New Roman" panose="02020603050405020304" pitchFamily="18" charset="0"/>
              </a:rPr>
              <a:t>a</a:t>
            </a:r>
            <a:r>
              <a:rPr lang="en-US" altLang="zh-CN" i="1" baseline="-25000" err="1">
                <a:latin typeface="Times New Roman" panose="02020603050405020304" pitchFamily="18" charset="0"/>
              </a:rPr>
              <a:t>ni</a:t>
            </a:r>
            <a:r>
              <a:rPr lang="en-US" altLang="zh-CN" i="1" err="1">
                <a:latin typeface="Times New Roman" panose="02020603050405020304" pitchFamily="18" charset="0"/>
              </a:rPr>
              <a:t>A</a:t>
            </a:r>
            <a:r>
              <a:rPr lang="en-US" altLang="zh-CN" i="1" baseline="-25000" err="1">
                <a:latin typeface="Times New Roman" panose="02020603050405020304" pitchFamily="18" charset="0"/>
              </a:rPr>
              <a:t>nj</a:t>
            </a:r>
            <a:r>
              <a:rPr lang="en-US" altLang="zh-CN">
                <a:latin typeface="Times New Roman" panose="02020603050405020304" pitchFamily="18" charset="0"/>
              </a:rPr>
              <a:t> = 0,    </a:t>
            </a:r>
            <a:r>
              <a:rPr lang="en-US" altLang="zh-CN" i="1">
                <a:latin typeface="Times New Roman" panose="02020603050405020304" pitchFamily="18" charset="0"/>
              </a:rPr>
              <a:t>i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j </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49507" name="对象 149506"/>
          <p:cNvGraphicFramePr/>
          <p:nvPr/>
        </p:nvGraphicFramePr>
        <p:xfrm>
          <a:off x="1322705" y="2846705"/>
          <a:ext cx="6688455" cy="2898140"/>
        </p:xfrm>
        <a:graphic>
          <a:graphicData uri="http://schemas.openxmlformats.org/presentationml/2006/ole">
            <mc:AlternateContent xmlns:mc="http://schemas.openxmlformats.org/markup-compatibility/2006">
              <mc:Choice xmlns:v="urn:schemas-microsoft-com:vml" Requires="v">
                <p:oleObj spid="_x0000_s3436" name="" r:id="rId1" imgW="6451600" imgH="3022600" progId="Equation.3">
                  <p:embed/>
                </p:oleObj>
              </mc:Choice>
              <mc:Fallback>
                <p:oleObj name="" r:id="rId1" imgW="6451600" imgH="3022600" progId="Equation.3">
                  <p:embed/>
                  <p:pic>
                    <p:nvPicPr>
                      <p:cNvPr id="0" name="图片 3435"/>
                      <p:cNvPicPr/>
                      <p:nvPr/>
                    </p:nvPicPr>
                    <p:blipFill>
                      <a:blip r:embed="rId2"/>
                      <a:stretch>
                        <a:fillRect/>
                      </a:stretch>
                    </p:blipFill>
                    <p:spPr>
                      <a:xfrm>
                        <a:off x="1322705" y="2846705"/>
                        <a:ext cx="6688455" cy="2898140"/>
                      </a:xfrm>
                      <a:prstGeom prst="rect">
                        <a:avLst/>
                      </a:prstGeom>
                      <a:noFill/>
                      <a:ln w="38100">
                        <a:noFill/>
                        <a:miter/>
                      </a:ln>
                    </p:spPr>
                  </p:pic>
                </p:oleObj>
              </mc:Fallback>
            </mc:AlternateContent>
          </a:graphicData>
        </a:graphic>
      </p:graphicFrame>
      <p:sp>
        <p:nvSpPr>
          <p:cNvPr id="149508" name="文本框 149507"/>
          <p:cNvSpPr txBox="1"/>
          <p:nvPr/>
        </p:nvSpPr>
        <p:spPr>
          <a:xfrm>
            <a:off x="1079500" y="2300288"/>
            <a:ext cx="6526213" cy="519112"/>
          </a:xfrm>
          <a:prstGeom prst="rect">
            <a:avLst/>
          </a:prstGeom>
          <a:noFill/>
          <a:ln w="9525">
            <a:noFill/>
          </a:ln>
        </p:spPr>
        <p:txBody>
          <a:bodyPr wrap="none" anchor="t" anchorCtr="0">
            <a:spAutoFit/>
          </a:bodyPr>
          <a:p>
            <a:r>
              <a:rPr lang="zh-CN" altLang="en-US" dirty="0">
                <a:solidFill>
                  <a:srgbClr val="FF3300"/>
                </a:solidFill>
                <a:latin typeface="Times New Roman" panose="02020603050405020304" pitchFamily="18" charset="0"/>
                <a:ea typeface="黑体" panose="02010609060101010101" pitchFamily="2" charset="-122"/>
              </a:rPr>
              <a:t>证</a:t>
            </a:r>
            <a:r>
              <a:rPr lang="en-US" altLang="zh-CN">
                <a:solidFill>
                  <a:srgbClr val="FF3300"/>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把行列式</a:t>
            </a:r>
            <a:r>
              <a:rPr lang="en-US" altLang="zh-CN" i="1">
                <a:latin typeface="Times New Roman" panose="02020603050405020304" pitchFamily="18" charset="0"/>
              </a:rPr>
              <a:t>D </a:t>
            </a:r>
            <a:r>
              <a:rPr lang="en-US" altLang="zh-CN">
                <a:latin typeface="Times New Roman" panose="02020603050405020304" pitchFamily="18" charset="0"/>
              </a:rPr>
              <a:t>= </a:t>
            </a:r>
            <a:r>
              <a:rPr lang="en-US" altLang="zh-CN" err="1">
                <a:latin typeface="Times New Roman" panose="02020603050405020304" pitchFamily="18" charset="0"/>
              </a:rPr>
              <a:t>det(</a:t>
            </a:r>
            <a:r>
              <a:rPr lang="en-US" altLang="zh-CN" i="1" err="1">
                <a:latin typeface="Times New Roman" panose="02020603050405020304" pitchFamily="18" charset="0"/>
              </a:rPr>
              <a:t>a</a:t>
            </a:r>
            <a:r>
              <a:rPr lang="en-US" altLang="zh-CN" i="1" baseline="-25000" err="1">
                <a:latin typeface="Times New Roman" panose="02020603050405020304" pitchFamily="18" charset="0"/>
              </a:rPr>
              <a:t>ij</a:t>
            </a:r>
            <a:r>
              <a:rPr lang="en-US" altLang="zh-CN">
                <a:latin typeface="Times New Roman" panose="02020603050405020304" pitchFamily="18" charset="0"/>
              </a:rPr>
              <a:t>) </a:t>
            </a:r>
            <a:r>
              <a:rPr lang="zh-CN" altLang="en-US" dirty="0">
                <a:latin typeface="Times New Roman" panose="02020603050405020304" pitchFamily="18" charset="0"/>
              </a:rPr>
              <a:t>按第 </a:t>
            </a:r>
            <a:r>
              <a:rPr lang="en-US" altLang="zh-CN" i="1">
                <a:latin typeface="Times New Roman" panose="02020603050405020304" pitchFamily="18" charset="0"/>
              </a:rPr>
              <a:t>j </a:t>
            </a:r>
            <a:r>
              <a:rPr lang="zh-CN" altLang="en-US" dirty="0">
                <a:latin typeface="Times New Roman" panose="02020603050405020304" pitchFamily="18" charset="0"/>
              </a:rPr>
              <a:t>行展开</a:t>
            </a:r>
            <a:r>
              <a:rPr lang="en-US" altLang="zh-CN">
                <a:latin typeface="Times New Roman" panose="02020603050405020304" pitchFamily="18" charset="0"/>
              </a:rPr>
              <a:t>, </a:t>
            </a:r>
            <a:r>
              <a:rPr lang="zh-CN" altLang="en-US" dirty="0">
                <a:latin typeface="Times New Roman" panose="02020603050405020304" pitchFamily="18" charset="0"/>
              </a:rPr>
              <a:t>得</a:t>
            </a:r>
            <a:endParaRPr lang="zh-CN" altLang="en-US">
              <a:latin typeface="Times New Roman" panose="02020603050405020304" pitchFamily="18" charset="0"/>
            </a:endParaRPr>
          </a:p>
        </p:txBody>
      </p:sp>
      <p:sp>
        <p:nvSpPr>
          <p:cNvPr id="149509" name="文本框 149508"/>
          <p:cNvSpPr txBox="1"/>
          <p:nvPr/>
        </p:nvSpPr>
        <p:spPr>
          <a:xfrm>
            <a:off x="1079500" y="5772785"/>
            <a:ext cx="6967855" cy="534670"/>
          </a:xfrm>
          <a:prstGeom prst="rect">
            <a:avLst/>
          </a:prstGeom>
          <a:noFill/>
          <a:ln w="9525">
            <a:noFill/>
          </a:ln>
        </p:spPr>
        <p:txBody>
          <a:bodyPr wrap="none" anchor="t" anchorCtr="0">
            <a:noAutofit/>
          </a:bodyPr>
          <a:p>
            <a:r>
              <a:rPr lang="zh-CN" altLang="en-US" dirty="0">
                <a:latin typeface="Times New Roman" panose="02020603050405020304" pitchFamily="18" charset="0"/>
              </a:rPr>
              <a:t>把 </a:t>
            </a:r>
            <a:r>
              <a:rPr lang="en-US" altLang="zh-CN" i="1" err="1">
                <a:latin typeface="Times New Roman" panose="02020603050405020304" pitchFamily="18" charset="0"/>
              </a:rPr>
              <a:t>a</a:t>
            </a:r>
            <a:r>
              <a:rPr lang="en-US" altLang="zh-CN" i="1" baseline="-25000" err="1">
                <a:latin typeface="Times New Roman" panose="02020603050405020304" pitchFamily="18" charset="0"/>
              </a:rPr>
              <a:t>jk</a:t>
            </a:r>
            <a:r>
              <a:rPr lang="en-US" altLang="zh-CN" i="1" baseline="-25000">
                <a:latin typeface="Times New Roman" panose="02020603050405020304" pitchFamily="18" charset="0"/>
              </a:rPr>
              <a:t> </a:t>
            </a:r>
            <a:r>
              <a:rPr lang="zh-CN" altLang="en-US" dirty="0">
                <a:latin typeface="Times New Roman" panose="02020603050405020304" pitchFamily="18" charset="0"/>
              </a:rPr>
              <a:t>换成 </a:t>
            </a:r>
            <a:r>
              <a:rPr lang="en-US" altLang="zh-CN" i="1" err="1">
                <a:latin typeface="Times New Roman" panose="02020603050405020304" pitchFamily="18" charset="0"/>
              </a:rPr>
              <a:t>a</a:t>
            </a:r>
            <a:r>
              <a:rPr lang="en-US" altLang="zh-CN" i="1" baseline="-25000" err="1">
                <a:latin typeface="Times New Roman" panose="02020603050405020304" pitchFamily="18" charset="0"/>
              </a:rPr>
              <a:t>ik</a:t>
            </a:r>
            <a:r>
              <a:rPr lang="en-US" altLang="zh-CN" i="1" baseline="-25000">
                <a:latin typeface="Times New Roman" panose="02020603050405020304" pitchFamily="18" charset="0"/>
              </a:rPr>
              <a:t> </a:t>
            </a:r>
            <a:r>
              <a:rPr lang="en-US" altLang="zh-CN">
                <a:latin typeface="Times New Roman" panose="02020603050405020304" pitchFamily="18" charset="0"/>
              </a:rPr>
              <a:t>(</a:t>
            </a:r>
            <a:r>
              <a:rPr lang="en-US" altLang="zh-CN" i="1">
                <a:latin typeface="Times New Roman" panose="02020603050405020304" pitchFamily="18" charset="0"/>
              </a:rPr>
              <a:t>k</a:t>
            </a:r>
            <a:r>
              <a:rPr lang="en-US" altLang="zh-CN">
                <a:latin typeface="Times New Roman" panose="02020603050405020304" pitchFamily="18" charset="0"/>
              </a:rPr>
              <a:t>=1, 2, ··· , </a:t>
            </a:r>
            <a:r>
              <a:rPr lang="en-US" altLang="zh-CN" i="1">
                <a:latin typeface="Times New Roman" panose="02020603050405020304" pitchFamily="18" charset="0"/>
              </a:rPr>
              <a:t>n </a:t>
            </a:r>
            <a:r>
              <a:rPr lang="en-US" altLang="zh-CN">
                <a:latin typeface="Times New Roman" panose="02020603050405020304" pitchFamily="18" charset="0"/>
              </a:rPr>
              <a:t>), </a:t>
            </a:r>
            <a:r>
              <a:rPr lang="zh-CN" altLang="en-US" dirty="0">
                <a:latin typeface="Times New Roman" panose="02020603050405020304" pitchFamily="18" charset="0"/>
              </a:rPr>
              <a:t>当 </a:t>
            </a:r>
            <a:r>
              <a:rPr lang="en-US" altLang="zh-CN" i="1">
                <a:latin typeface="Times New Roman" panose="02020603050405020304" pitchFamily="18" charset="0"/>
              </a:rPr>
              <a:t>i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sym typeface="Symbol" panose="05050102010706020507" pitchFamily="18" charset="2"/>
              </a:rPr>
              <a:t>j </a:t>
            </a:r>
            <a:r>
              <a:rPr lang="zh-CN" altLang="en-US" dirty="0">
                <a:latin typeface="Times New Roman" panose="02020603050405020304" pitchFamily="18" charset="0"/>
              </a:rPr>
              <a:t>时</a:t>
            </a:r>
            <a:r>
              <a:rPr lang="en-US" altLang="zh-CN">
                <a:latin typeface="Times New Roman" panose="02020603050405020304" pitchFamily="18" charset="0"/>
              </a:rPr>
              <a:t>, </a:t>
            </a:r>
            <a:r>
              <a:rPr lang="zh-CN" altLang="en-US" dirty="0">
                <a:latin typeface="Times New Roman" panose="02020603050405020304" pitchFamily="18" charset="0"/>
              </a:rPr>
              <a:t>可得</a:t>
            </a:r>
            <a:endParaRPr lang="zh-CN" altLang="en-US">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49506"/>
                                        </p:tgtEl>
                                        <p:attrNameLst>
                                          <p:attrName>style.visibility</p:attrName>
                                        </p:attrNameLst>
                                      </p:cBhvr>
                                      <p:to>
                                        <p:strVal val="visible"/>
                                      </p:to>
                                    </p:set>
                                    <p:animEffect transition="in" filter="box(out)">
                                      <p:cBhvr>
                                        <p:cTn id="7" dur="500"/>
                                        <p:tgtEl>
                                          <p:spTgt spid="14950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49508">
                                            <p:txEl>
                                              <p:charRg st="0" end="32"/>
                                            </p:txEl>
                                          </p:spTgt>
                                        </p:tgtEl>
                                        <p:attrNameLst>
                                          <p:attrName>style.visibility</p:attrName>
                                        </p:attrNameLst>
                                      </p:cBhvr>
                                      <p:to>
                                        <p:strVal val="visible"/>
                                      </p:to>
                                    </p:set>
                                    <p:animEffect transition="in" filter="box(out)">
                                      <p:cBhvr>
                                        <p:cTn id="12" dur="500"/>
                                        <p:tgtEl>
                                          <p:spTgt spid="149508">
                                            <p:txEl>
                                              <p:charRg st="0" end="32"/>
                                            </p:txEl>
                                          </p:spTgt>
                                        </p:tgtEl>
                                      </p:cBhvr>
                                    </p:animEffect>
                                  </p:childTnLst>
                                </p:cTn>
                              </p:par>
                            </p:childTnLst>
                          </p:cTn>
                        </p:par>
                        <p:par>
                          <p:cTn id="13" fill="hold">
                            <p:stCondLst>
                              <p:cond delay="500"/>
                            </p:stCondLst>
                            <p:childTnLst>
                              <p:par>
                                <p:cTn id="14" presetID="4" presetClass="entr" presetSubtype="32" fill="hold" nodeType="afterEffect">
                                  <p:stCondLst>
                                    <p:cond delay="0"/>
                                  </p:stCondLst>
                                  <p:childTnLst>
                                    <p:set>
                                      <p:cBhvr>
                                        <p:cTn id="15" dur="1" fill="hold">
                                          <p:stCondLst>
                                            <p:cond delay="0"/>
                                          </p:stCondLst>
                                        </p:cTn>
                                        <p:tgtEl>
                                          <p:spTgt spid="149507"/>
                                        </p:tgtEl>
                                        <p:attrNameLst>
                                          <p:attrName>style.visibility</p:attrName>
                                        </p:attrNameLst>
                                      </p:cBhvr>
                                      <p:to>
                                        <p:strVal val="visible"/>
                                      </p:to>
                                    </p:set>
                                    <p:animEffect transition="in" filter="box(out)">
                                      <p:cBhvr>
                                        <p:cTn id="16" dur="500"/>
                                        <p:tgtEl>
                                          <p:spTgt spid="149507"/>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149509">
                                            <p:txEl>
                                              <p:charRg st="0" end="47"/>
                                            </p:txEl>
                                          </p:spTgt>
                                        </p:tgtEl>
                                        <p:attrNameLst>
                                          <p:attrName>style.visibility</p:attrName>
                                        </p:attrNameLst>
                                      </p:cBhvr>
                                      <p:to>
                                        <p:strVal val="visible"/>
                                      </p:to>
                                    </p:set>
                                    <p:animEffect transition="in" filter="box(out)">
                                      <p:cBhvr>
                                        <p:cTn id="21" dur="500"/>
                                        <p:tgtEl>
                                          <p:spTgt spid="149509">
                                            <p:txEl>
                                              <p:charRg st="0" end="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p:bldP spid="149508" grpId="0" build="p"/>
      <p:bldP spid="149509"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0530" name="对象 150529"/>
          <p:cNvGraphicFramePr/>
          <p:nvPr/>
        </p:nvGraphicFramePr>
        <p:xfrm>
          <a:off x="821055" y="473075"/>
          <a:ext cx="5367020" cy="3410585"/>
        </p:xfrm>
        <a:graphic>
          <a:graphicData uri="http://schemas.openxmlformats.org/presentationml/2006/ole">
            <mc:AlternateContent xmlns:mc="http://schemas.openxmlformats.org/markup-compatibility/2006">
              <mc:Choice xmlns:v="urn:schemas-microsoft-com:vml" Requires="v">
                <p:oleObj spid="_x0000_s3442" name="" r:id="rId1" imgW="5473700" imgH="2971800" progId="Equation.3">
                  <p:embed/>
                </p:oleObj>
              </mc:Choice>
              <mc:Fallback>
                <p:oleObj name="" r:id="rId1" imgW="5473700" imgH="2971800" progId="Equation.3">
                  <p:embed/>
                  <p:pic>
                    <p:nvPicPr>
                      <p:cNvPr id="0" name="图片 3441"/>
                      <p:cNvPicPr/>
                      <p:nvPr/>
                    </p:nvPicPr>
                    <p:blipFill>
                      <a:blip r:embed="rId2"/>
                      <a:stretch>
                        <a:fillRect/>
                      </a:stretch>
                    </p:blipFill>
                    <p:spPr>
                      <a:xfrm>
                        <a:off x="821055" y="473075"/>
                        <a:ext cx="5367020" cy="3410585"/>
                      </a:xfrm>
                      <a:prstGeom prst="rect">
                        <a:avLst/>
                      </a:prstGeom>
                      <a:noFill/>
                      <a:ln w="38100">
                        <a:noFill/>
                        <a:miter/>
                      </a:ln>
                    </p:spPr>
                  </p:pic>
                </p:oleObj>
              </mc:Fallback>
            </mc:AlternateContent>
          </a:graphicData>
        </a:graphic>
      </p:graphicFrame>
      <p:sp>
        <p:nvSpPr>
          <p:cNvPr id="150531" name="圆角矩形标注 150530"/>
          <p:cNvSpPr/>
          <p:nvPr/>
        </p:nvSpPr>
        <p:spPr>
          <a:xfrm>
            <a:off x="6443663" y="2420938"/>
            <a:ext cx="1143000" cy="457200"/>
          </a:xfrm>
          <a:prstGeom prst="wedgeRoundRectCallout">
            <a:avLst>
              <a:gd name="adj1" fmla="val -95278"/>
              <a:gd name="adj2" fmla="val 15625"/>
              <a:gd name="adj3" fmla="val 16667"/>
            </a:avLst>
          </a:prstGeom>
          <a:noFill/>
          <a:ln w="12700" cap="flat" cmpd="sng">
            <a:solidFill>
              <a:srgbClr val="0000FF"/>
            </a:solidFill>
            <a:prstDash val="solid"/>
            <a:miter/>
            <a:headEnd type="none" w="med" len="med"/>
            <a:tailEnd type="none" w="med" len="med"/>
          </a:ln>
        </p:spPr>
        <p:txBody>
          <a:bodyPr/>
          <a:p>
            <a:pPr algn="ctr"/>
            <a:r>
              <a:rPr lang="zh-CN" altLang="en-US" sz="2400" dirty="0">
                <a:latin typeface="Times New Roman" panose="02020603050405020304" pitchFamily="18" charset="0"/>
              </a:rPr>
              <a:t>第 </a:t>
            </a:r>
            <a:r>
              <a:rPr lang="en-US" altLang="zh-CN" sz="2400" i="1">
                <a:latin typeface="Times New Roman" panose="02020603050405020304" pitchFamily="18" charset="0"/>
              </a:rPr>
              <a:t>j </a:t>
            </a:r>
            <a:r>
              <a:rPr lang="zh-CN" altLang="en-US" sz="2400" dirty="0">
                <a:latin typeface="Times New Roman" panose="02020603050405020304" pitchFamily="18" charset="0"/>
              </a:rPr>
              <a:t>行</a:t>
            </a:r>
            <a:endParaRPr lang="zh-CN" altLang="en-US" sz="2400" dirty="0">
              <a:latin typeface="Times New Roman" panose="02020603050405020304" pitchFamily="18" charset="0"/>
            </a:endParaRPr>
          </a:p>
        </p:txBody>
      </p:sp>
      <p:sp>
        <p:nvSpPr>
          <p:cNvPr id="150532" name="圆角矩形标注 150531"/>
          <p:cNvSpPr/>
          <p:nvPr/>
        </p:nvSpPr>
        <p:spPr>
          <a:xfrm>
            <a:off x="6461125" y="1582738"/>
            <a:ext cx="1143000" cy="457200"/>
          </a:xfrm>
          <a:prstGeom prst="wedgeRoundRectCallout">
            <a:avLst>
              <a:gd name="adj1" fmla="val -95278"/>
              <a:gd name="adj2" fmla="val 15625"/>
              <a:gd name="adj3" fmla="val 16667"/>
            </a:avLst>
          </a:prstGeom>
          <a:noFill/>
          <a:ln w="12700" cap="flat" cmpd="sng">
            <a:solidFill>
              <a:srgbClr val="0000FF"/>
            </a:solidFill>
            <a:prstDash val="solid"/>
            <a:miter/>
            <a:headEnd type="none" w="med" len="med"/>
            <a:tailEnd type="none" w="med" len="med"/>
          </a:ln>
        </p:spPr>
        <p:txBody>
          <a:bodyPr/>
          <a:p>
            <a:pPr algn="ctr"/>
            <a:r>
              <a:rPr lang="zh-CN" altLang="en-US" sz="2400" dirty="0">
                <a:latin typeface="Times New Roman" panose="02020603050405020304" pitchFamily="18" charset="0"/>
              </a:rPr>
              <a:t>第 </a:t>
            </a:r>
            <a:r>
              <a:rPr lang="en-US" altLang="zh-CN" sz="2400" i="1">
                <a:latin typeface="Times New Roman" panose="02020603050405020304" pitchFamily="18" charset="0"/>
              </a:rPr>
              <a:t>i </a:t>
            </a:r>
            <a:r>
              <a:rPr lang="zh-CN" altLang="en-US" sz="2400">
                <a:latin typeface="Times New Roman" panose="02020603050405020304" pitchFamily="18" charset="0"/>
              </a:rPr>
              <a:t>行</a:t>
            </a:r>
            <a:endParaRPr lang="zh-CN" altLang="en-US" sz="2400">
              <a:latin typeface="Times New Roman" panose="02020603050405020304" pitchFamily="18" charset="0"/>
            </a:endParaRPr>
          </a:p>
        </p:txBody>
      </p:sp>
      <p:grpSp>
        <p:nvGrpSpPr>
          <p:cNvPr id="150533" name="组合 150532"/>
          <p:cNvGrpSpPr/>
          <p:nvPr/>
        </p:nvGrpSpPr>
        <p:grpSpPr>
          <a:xfrm>
            <a:off x="7626866" y="1844828"/>
            <a:ext cx="1232403" cy="834004"/>
            <a:chOff x="4709" y="1540"/>
            <a:chExt cx="801" cy="508"/>
          </a:xfrm>
        </p:grpSpPr>
        <p:grpSp>
          <p:nvGrpSpPr>
            <p:cNvPr id="150534" name="组合 150533"/>
            <p:cNvGrpSpPr/>
            <p:nvPr/>
          </p:nvGrpSpPr>
          <p:grpSpPr>
            <a:xfrm>
              <a:off x="4709" y="1540"/>
              <a:ext cx="144" cy="508"/>
              <a:chOff x="4709" y="1540"/>
              <a:chExt cx="144" cy="508"/>
            </a:xfrm>
          </p:grpSpPr>
          <p:sp>
            <p:nvSpPr>
              <p:cNvPr id="150535" name="直接连接符 150534"/>
              <p:cNvSpPr/>
              <p:nvPr/>
            </p:nvSpPr>
            <p:spPr>
              <a:xfrm>
                <a:off x="4709" y="1540"/>
                <a:ext cx="144" cy="240"/>
              </a:xfrm>
              <a:prstGeom prst="line">
                <a:avLst/>
              </a:prstGeom>
              <a:ln w="9525" cap="flat" cmpd="sng">
                <a:solidFill>
                  <a:srgbClr val="FF0066"/>
                </a:solidFill>
                <a:prstDash val="solid"/>
                <a:headEnd type="none" w="med" len="med"/>
                <a:tailEnd type="none" w="med" len="med"/>
              </a:ln>
            </p:spPr>
          </p:sp>
          <p:sp>
            <p:nvSpPr>
              <p:cNvPr id="150536" name="直接连接符 150535"/>
              <p:cNvSpPr/>
              <p:nvPr/>
            </p:nvSpPr>
            <p:spPr>
              <a:xfrm flipV="1">
                <a:off x="4709" y="1760"/>
                <a:ext cx="144" cy="288"/>
              </a:xfrm>
              <a:prstGeom prst="line">
                <a:avLst/>
              </a:prstGeom>
              <a:ln w="9525" cap="flat" cmpd="sng">
                <a:solidFill>
                  <a:srgbClr val="FF0066"/>
                </a:solidFill>
                <a:prstDash val="solid"/>
                <a:headEnd type="none" w="med" len="med"/>
                <a:tailEnd type="none" w="med" len="med"/>
              </a:ln>
            </p:spPr>
          </p:sp>
        </p:grpSp>
        <p:sp>
          <p:nvSpPr>
            <p:cNvPr id="150537" name="文本框 150536"/>
            <p:cNvSpPr txBox="1"/>
            <p:nvPr/>
          </p:nvSpPr>
          <p:spPr>
            <a:xfrm>
              <a:off x="4775" y="1576"/>
              <a:ext cx="735" cy="384"/>
            </a:xfrm>
            <a:prstGeom prst="rect">
              <a:avLst/>
            </a:prstGeom>
            <a:noFill/>
            <a:ln w="9525">
              <a:noFill/>
            </a:ln>
          </p:spPr>
          <p:txBody>
            <a:bodyPr wrap="square" anchor="t" anchorCtr="0">
              <a:noAutofit/>
            </a:bodyPr>
            <a:p>
              <a:r>
                <a:rPr lang="zh-CN" altLang="en-US" dirty="0">
                  <a:solidFill>
                    <a:schemeClr val="tx2"/>
                  </a:solidFill>
                  <a:latin typeface="Times New Roman" panose="02020603050405020304" pitchFamily="18" charset="0"/>
                </a:rPr>
                <a:t>相同</a:t>
              </a:r>
              <a:endParaRPr lang="zh-CN" altLang="en-US">
                <a:solidFill>
                  <a:schemeClr val="tx2"/>
                </a:solidFill>
                <a:latin typeface="Times New Roman" panose="02020603050405020304" pitchFamily="18" charset="0"/>
              </a:endParaRPr>
            </a:p>
          </p:txBody>
        </p:sp>
      </p:grpSp>
      <p:sp>
        <p:nvSpPr>
          <p:cNvPr id="150538" name="直接连接符 150537"/>
          <p:cNvSpPr/>
          <p:nvPr/>
        </p:nvSpPr>
        <p:spPr>
          <a:xfrm>
            <a:off x="4330700" y="2596833"/>
            <a:ext cx="1600200" cy="0"/>
          </a:xfrm>
          <a:prstGeom prst="line">
            <a:avLst/>
          </a:prstGeom>
          <a:ln w="28575" cap="rnd" cmpd="sng">
            <a:solidFill>
              <a:srgbClr val="FF0000"/>
            </a:solidFill>
            <a:prstDash val="sysDot"/>
            <a:headEnd type="none" w="med" len="med"/>
            <a:tailEnd type="none" w="med" len="med"/>
          </a:ln>
        </p:spPr>
      </p:sp>
      <p:sp>
        <p:nvSpPr>
          <p:cNvPr id="150539" name="文本框 150538"/>
          <p:cNvSpPr txBox="1"/>
          <p:nvPr/>
        </p:nvSpPr>
        <p:spPr>
          <a:xfrm>
            <a:off x="1043305" y="4869180"/>
            <a:ext cx="6511925" cy="539115"/>
          </a:xfrm>
          <a:prstGeom prst="rect">
            <a:avLst/>
          </a:prstGeom>
          <a:noFill/>
          <a:ln w="9525">
            <a:noFill/>
          </a:ln>
        </p:spPr>
        <p:txBody>
          <a:bodyPr wrap="none" anchor="t" anchorCtr="0">
            <a:noAutofit/>
          </a:bodyPr>
          <a:p>
            <a:r>
              <a:rPr lang="zh-CN" altLang="en-US" dirty="0">
                <a:latin typeface="Times New Roman" panose="02020603050405020304" pitchFamily="18" charset="0"/>
              </a:rPr>
              <a:t>同理  </a:t>
            </a:r>
            <a:r>
              <a:rPr lang="en-US" altLang="zh-CN" i="1">
                <a:latin typeface="Times New Roman" panose="02020603050405020304" pitchFamily="18" charset="0"/>
              </a:rPr>
              <a:t>a</a:t>
            </a:r>
            <a:r>
              <a:rPr lang="en-US" altLang="zh-CN" baseline="-25000">
                <a:latin typeface="Times New Roman" panose="02020603050405020304" pitchFamily="18" charset="0"/>
              </a:rPr>
              <a:t>1</a:t>
            </a:r>
            <a:r>
              <a:rPr lang="en-US" altLang="zh-CN" i="1" baseline="-25000">
                <a:latin typeface="Times New Roman" panose="02020603050405020304" pitchFamily="18" charset="0"/>
              </a:rPr>
              <a:t>i</a:t>
            </a:r>
            <a:r>
              <a:rPr lang="en-US" altLang="zh-CN" i="1">
                <a:latin typeface="Times New Roman" panose="02020603050405020304" pitchFamily="18" charset="0"/>
              </a:rPr>
              <a:t>A</a:t>
            </a:r>
            <a:r>
              <a:rPr lang="en-US" altLang="zh-CN" baseline="-25000">
                <a:latin typeface="Times New Roman" panose="02020603050405020304" pitchFamily="18" charset="0"/>
              </a:rPr>
              <a:t>1</a:t>
            </a:r>
            <a:r>
              <a:rPr lang="en-US" altLang="zh-CN" i="1" baseline="-25000">
                <a:latin typeface="Times New Roman" panose="02020603050405020304" pitchFamily="18" charset="0"/>
              </a:rPr>
              <a:t>j</a:t>
            </a:r>
            <a:r>
              <a:rPr lang="en-US" altLang="zh-CN" baseline="-25000">
                <a:latin typeface="Times New Roman" panose="02020603050405020304" pitchFamily="18" charset="0"/>
              </a:rPr>
              <a:t>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baseline="-25000">
                <a:latin typeface="Times New Roman" panose="02020603050405020304" pitchFamily="18" charset="0"/>
              </a:rPr>
              <a:t>2</a:t>
            </a:r>
            <a:r>
              <a:rPr lang="en-US" altLang="zh-CN" i="1" baseline="-25000">
                <a:latin typeface="Times New Roman" panose="02020603050405020304" pitchFamily="18" charset="0"/>
              </a:rPr>
              <a:t>i</a:t>
            </a:r>
            <a:r>
              <a:rPr lang="en-US" altLang="zh-CN" i="1">
                <a:latin typeface="Times New Roman" panose="02020603050405020304" pitchFamily="18" charset="0"/>
              </a:rPr>
              <a:t>A</a:t>
            </a:r>
            <a:r>
              <a:rPr lang="en-US" altLang="zh-CN" baseline="-25000">
                <a:latin typeface="Times New Roman" panose="02020603050405020304" pitchFamily="18" charset="0"/>
              </a:rPr>
              <a:t>2</a:t>
            </a:r>
            <a:r>
              <a:rPr lang="en-US" altLang="zh-CN" i="1" baseline="-25000">
                <a:latin typeface="Times New Roman" panose="02020603050405020304" pitchFamily="18" charset="0"/>
              </a:rPr>
              <a:t>j</a:t>
            </a:r>
            <a:r>
              <a:rPr lang="en-US" altLang="zh-CN">
                <a:latin typeface="Times New Roman" panose="02020603050405020304" pitchFamily="18" charset="0"/>
              </a:rPr>
              <a:t> + ··· + </a:t>
            </a:r>
            <a:r>
              <a:rPr lang="en-US" altLang="zh-CN" i="1" err="1">
                <a:latin typeface="Times New Roman" panose="02020603050405020304" pitchFamily="18" charset="0"/>
              </a:rPr>
              <a:t>a</a:t>
            </a:r>
            <a:r>
              <a:rPr lang="en-US" altLang="zh-CN" i="1" baseline="-25000" err="1">
                <a:latin typeface="Times New Roman" panose="02020603050405020304" pitchFamily="18" charset="0"/>
              </a:rPr>
              <a:t>ni</a:t>
            </a:r>
            <a:r>
              <a:rPr lang="en-US" altLang="zh-CN" i="1" err="1">
                <a:latin typeface="Times New Roman" panose="02020603050405020304" pitchFamily="18" charset="0"/>
              </a:rPr>
              <a:t>A</a:t>
            </a:r>
            <a:r>
              <a:rPr lang="en-US" altLang="zh-CN" i="1" baseline="-25000" err="1">
                <a:latin typeface="Times New Roman" panose="02020603050405020304" pitchFamily="18" charset="0"/>
              </a:rPr>
              <a:t>nj</a:t>
            </a:r>
            <a:r>
              <a:rPr lang="en-US" altLang="zh-CN">
                <a:latin typeface="Times New Roman" panose="02020603050405020304" pitchFamily="18" charset="0"/>
              </a:rPr>
              <a:t> = 0,    </a:t>
            </a:r>
            <a:r>
              <a:rPr lang="en-US" altLang="zh-CN" i="1">
                <a:latin typeface="Times New Roman" panose="02020603050405020304" pitchFamily="18" charset="0"/>
              </a:rPr>
              <a:t>i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j </a:t>
            </a:r>
            <a:endParaRPr lang="en-US" altLang="zh-CN" i="1">
              <a:latin typeface="Times New Roman" panose="02020603050405020304" pitchFamily="18" charset="0"/>
            </a:endParaRPr>
          </a:p>
        </p:txBody>
      </p:sp>
      <p:sp>
        <p:nvSpPr>
          <p:cNvPr id="150540" name="矩形 150539"/>
          <p:cNvSpPr/>
          <p:nvPr/>
        </p:nvSpPr>
        <p:spPr>
          <a:xfrm>
            <a:off x="988695" y="4096385"/>
            <a:ext cx="6638290" cy="650875"/>
          </a:xfrm>
          <a:prstGeom prst="rect">
            <a:avLst/>
          </a:prstGeom>
          <a:noFill/>
          <a:ln w="9525">
            <a:noFill/>
          </a:ln>
        </p:spPr>
        <p:txBody>
          <a:bodyPr wrap="none" anchor="t" anchorCtr="0">
            <a:noAutofit/>
          </a:bodyPr>
          <a:p>
            <a:r>
              <a:rPr lang="en-US" altLang="zh-CN" dirty="0">
                <a:latin typeface="Times New Roman" panose="02020603050405020304" pitchFamily="18" charset="0"/>
              </a:rPr>
              <a:t> </a:t>
            </a:r>
            <a:r>
              <a:rPr lang="zh-CN" altLang="en-US" dirty="0">
                <a:latin typeface="Times New Roman" panose="02020603050405020304" pitchFamily="18" charset="0"/>
              </a:rPr>
              <a:t>所以</a:t>
            </a:r>
            <a:r>
              <a:rPr lang="en-US" altLang="zh-CN" dirty="0">
                <a:latin typeface="Times New Roman" panose="02020603050405020304" pitchFamily="18" charset="0"/>
              </a:rPr>
              <a:t> </a:t>
            </a: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1</a:t>
            </a:r>
            <a:r>
              <a:rPr lang="en-US" altLang="zh-CN" i="1">
                <a:latin typeface="Times New Roman" panose="02020603050405020304" pitchFamily="18" charset="0"/>
              </a:rPr>
              <a:t>A</a:t>
            </a:r>
            <a:r>
              <a:rPr lang="en-US" altLang="zh-CN" i="1" baseline="-25000">
                <a:latin typeface="Times New Roman" panose="02020603050405020304" pitchFamily="18" charset="0"/>
              </a:rPr>
              <a:t>j</a:t>
            </a:r>
            <a:r>
              <a:rPr lang="en-US" altLang="zh-CN" baseline="-25000">
                <a:latin typeface="Times New Roman" panose="02020603050405020304" pitchFamily="18" charset="0"/>
              </a:rPr>
              <a:t>1 </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i="1" baseline="-25000">
                <a:latin typeface="Times New Roman" panose="02020603050405020304" pitchFamily="18" charset="0"/>
              </a:rPr>
              <a:t>i</a:t>
            </a:r>
            <a:r>
              <a:rPr lang="en-US" altLang="zh-CN" baseline="-25000">
                <a:latin typeface="Times New Roman" panose="02020603050405020304" pitchFamily="18" charset="0"/>
              </a:rPr>
              <a:t>2</a:t>
            </a:r>
            <a:r>
              <a:rPr lang="en-US" altLang="zh-CN" i="1">
                <a:latin typeface="Times New Roman" panose="02020603050405020304" pitchFamily="18" charset="0"/>
              </a:rPr>
              <a:t>A</a:t>
            </a:r>
            <a:r>
              <a:rPr lang="en-US" altLang="zh-CN" i="1" baseline="-25000">
                <a:latin typeface="Times New Roman" panose="02020603050405020304" pitchFamily="18" charset="0"/>
              </a:rPr>
              <a:t>j</a:t>
            </a:r>
            <a:r>
              <a:rPr lang="en-US" altLang="zh-CN" baseline="-25000">
                <a:latin typeface="Times New Roman" panose="02020603050405020304" pitchFamily="18" charset="0"/>
              </a:rPr>
              <a:t>2</a:t>
            </a:r>
            <a:r>
              <a:rPr lang="en-US" altLang="zh-CN">
                <a:latin typeface="Times New Roman" panose="02020603050405020304" pitchFamily="18" charset="0"/>
              </a:rPr>
              <a:t> + ··· + </a:t>
            </a:r>
            <a:r>
              <a:rPr lang="en-US" altLang="zh-CN" i="1" err="1">
                <a:latin typeface="Times New Roman" panose="02020603050405020304" pitchFamily="18" charset="0"/>
              </a:rPr>
              <a:t>a</a:t>
            </a:r>
            <a:r>
              <a:rPr lang="en-US" altLang="zh-CN" i="1" baseline="-25000" err="1">
                <a:latin typeface="Times New Roman" panose="02020603050405020304" pitchFamily="18" charset="0"/>
              </a:rPr>
              <a:t>in</a:t>
            </a:r>
            <a:r>
              <a:rPr lang="en-US" altLang="zh-CN" i="1" err="1">
                <a:latin typeface="Times New Roman" panose="02020603050405020304" pitchFamily="18" charset="0"/>
              </a:rPr>
              <a:t>A</a:t>
            </a:r>
            <a:r>
              <a:rPr lang="en-US" altLang="zh-CN" i="1" baseline="-25000" err="1">
                <a:latin typeface="Times New Roman" panose="02020603050405020304" pitchFamily="18" charset="0"/>
              </a:rPr>
              <a:t>jn</a:t>
            </a:r>
            <a:r>
              <a:rPr lang="en-US" altLang="zh-CN">
                <a:latin typeface="Times New Roman" panose="02020603050405020304" pitchFamily="18" charset="0"/>
              </a:rPr>
              <a:t> = 0,    </a:t>
            </a:r>
            <a:r>
              <a:rPr lang="en-US" altLang="zh-CN" i="1">
                <a:latin typeface="Times New Roman" panose="02020603050405020304" pitchFamily="18" charset="0"/>
              </a:rPr>
              <a:t>i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j </a:t>
            </a:r>
            <a:endParaRPr lang="en-US" altLang="zh-CN" i="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150530"/>
                                        </p:tgtEl>
                                        <p:attrNameLst>
                                          <p:attrName>style.visibility</p:attrName>
                                        </p:attrNameLst>
                                      </p:cBhvr>
                                      <p:to>
                                        <p:strVal val="visible"/>
                                      </p:to>
                                    </p:set>
                                    <p:animEffect transition="in" filter="box(out)">
                                      <p:cBhvr>
                                        <p:cTn id="7" dur="500"/>
                                        <p:tgtEl>
                                          <p:spTgt spid="15053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0532"/>
                                        </p:tgtEl>
                                        <p:attrNameLst>
                                          <p:attrName>style.visibility</p:attrName>
                                        </p:attrNameLst>
                                      </p:cBhvr>
                                      <p:to>
                                        <p:strVal val="visible"/>
                                      </p:to>
                                    </p:set>
                                    <p:animEffect transition="in" filter="box(out)">
                                      <p:cBhvr>
                                        <p:cTn id="12" dur="500"/>
                                        <p:tgtEl>
                                          <p:spTgt spid="15053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50538"/>
                                        </p:tgtEl>
                                        <p:attrNameLst>
                                          <p:attrName>style.visibility</p:attrName>
                                        </p:attrNameLst>
                                      </p:cBhvr>
                                      <p:to>
                                        <p:strVal val="visible"/>
                                      </p:to>
                                    </p:set>
                                    <p:animEffect transition="in" filter="box(out)">
                                      <p:cBhvr>
                                        <p:cTn id="17" dur="500"/>
                                        <p:tgtEl>
                                          <p:spTgt spid="150538"/>
                                        </p:tgtEl>
                                      </p:cBhvr>
                                    </p:animEffect>
                                  </p:childTnLst>
                                </p:cTn>
                              </p:par>
                            </p:childTnLst>
                          </p:cTn>
                        </p:par>
                        <p:par>
                          <p:cTn id="18" fill="hold">
                            <p:stCondLst>
                              <p:cond delay="500"/>
                            </p:stCondLst>
                            <p:childTnLst>
                              <p:par>
                                <p:cTn id="19" presetID="4" presetClass="entr" presetSubtype="32" fill="hold" grpId="0" nodeType="afterEffect">
                                  <p:stCondLst>
                                    <p:cond delay="0"/>
                                  </p:stCondLst>
                                  <p:childTnLst>
                                    <p:set>
                                      <p:cBhvr>
                                        <p:cTn id="20" dur="1" fill="hold">
                                          <p:stCondLst>
                                            <p:cond delay="0"/>
                                          </p:stCondLst>
                                        </p:cTn>
                                        <p:tgtEl>
                                          <p:spTgt spid="150531"/>
                                        </p:tgtEl>
                                        <p:attrNameLst>
                                          <p:attrName>style.visibility</p:attrName>
                                        </p:attrNameLst>
                                      </p:cBhvr>
                                      <p:to>
                                        <p:strVal val="visible"/>
                                      </p:to>
                                    </p:set>
                                    <p:animEffect transition="in" filter="box(out)">
                                      <p:cBhvr>
                                        <p:cTn id="21" dur="500"/>
                                        <p:tgtEl>
                                          <p:spTgt spid="150531"/>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150533"/>
                                        </p:tgtEl>
                                        <p:attrNameLst>
                                          <p:attrName>style.visibility</p:attrName>
                                        </p:attrNameLst>
                                      </p:cBhvr>
                                      <p:to>
                                        <p:strVal val="visible"/>
                                      </p:to>
                                    </p:set>
                                    <p:animEffect transition="in" filter="box(out)">
                                      <p:cBhvr>
                                        <p:cTn id="26" dur="500"/>
                                        <p:tgtEl>
                                          <p:spTgt spid="150533"/>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50540">
                                            <p:txEl>
                                              <p:charRg st="0" end="50"/>
                                            </p:txEl>
                                          </p:spTgt>
                                        </p:tgtEl>
                                        <p:attrNameLst>
                                          <p:attrName>style.visibility</p:attrName>
                                        </p:attrNameLst>
                                      </p:cBhvr>
                                      <p:to>
                                        <p:strVal val="visible"/>
                                      </p:to>
                                    </p:set>
                                    <p:animEffect transition="in" filter="box(out)">
                                      <p:cBhvr>
                                        <p:cTn id="31" dur="500"/>
                                        <p:tgtEl>
                                          <p:spTgt spid="150540">
                                            <p:txEl>
                                              <p:charRg st="0" end="5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150539">
                                            <p:txEl>
                                              <p:charRg st="0" end="50"/>
                                            </p:txEl>
                                          </p:spTgt>
                                        </p:tgtEl>
                                        <p:attrNameLst>
                                          <p:attrName>style.visibility</p:attrName>
                                        </p:attrNameLst>
                                      </p:cBhvr>
                                      <p:to>
                                        <p:strVal val="visible"/>
                                      </p:to>
                                    </p:set>
                                    <p:animEffect transition="in" filter="box(out)">
                                      <p:cBhvr>
                                        <p:cTn id="36" dur="500"/>
                                        <p:tgtEl>
                                          <p:spTgt spid="150539">
                                            <p:txEl>
                                              <p:charRg st="0" end="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ldLvl="0" animBg="1"/>
      <p:bldP spid="150532" grpId="0" bldLvl="0" animBg="1"/>
      <p:bldP spid="150539" grpId="0" build="p"/>
      <p:bldP spid="150540"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文本框 151553"/>
          <p:cNvSpPr txBox="1"/>
          <p:nvPr/>
        </p:nvSpPr>
        <p:spPr>
          <a:xfrm>
            <a:off x="1116013" y="549275"/>
            <a:ext cx="4451350" cy="519113"/>
          </a:xfrm>
          <a:prstGeom prst="rect">
            <a:avLst/>
          </a:prstGeom>
          <a:noFill/>
          <a:ln w="9525">
            <a:noFill/>
          </a:ln>
        </p:spPr>
        <p:txBody>
          <a:bodyPr wrap="none" anchor="t" anchorCtr="0">
            <a:spAutoFit/>
          </a:bodyPr>
          <a:p>
            <a:r>
              <a:rPr lang="zh-CN" altLang="en-US" dirty="0">
                <a:solidFill>
                  <a:srgbClr val="FF3300"/>
                </a:solidFill>
                <a:latin typeface="Times New Roman" panose="02020603050405020304" pitchFamily="18" charset="0"/>
                <a:ea typeface="黑体" panose="02010609060101010101" pitchFamily="2" charset="-122"/>
              </a:rPr>
              <a:t>关于代数余子式的重要性质</a:t>
            </a:r>
            <a:endParaRPr lang="zh-CN" altLang="en-US">
              <a:solidFill>
                <a:srgbClr val="FF3300"/>
              </a:solidFill>
              <a:latin typeface="Times New Roman" panose="02020603050405020304" pitchFamily="18" charset="0"/>
              <a:ea typeface="黑体" panose="02010609060101010101" pitchFamily="2" charset="-122"/>
            </a:endParaRPr>
          </a:p>
        </p:txBody>
      </p:sp>
      <p:graphicFrame>
        <p:nvGraphicFramePr>
          <p:cNvPr id="151555" name="对象 151554"/>
          <p:cNvGraphicFramePr/>
          <p:nvPr/>
        </p:nvGraphicFramePr>
        <p:xfrm>
          <a:off x="755650" y="1484313"/>
          <a:ext cx="4862513" cy="863600"/>
        </p:xfrm>
        <a:graphic>
          <a:graphicData uri="http://schemas.openxmlformats.org/presentationml/2006/ole">
            <mc:AlternateContent xmlns:mc="http://schemas.openxmlformats.org/markup-compatibility/2006">
              <mc:Choice xmlns:v="urn:schemas-microsoft-com:vml" Requires="v">
                <p:oleObj spid="_x0000_s3439" name="" r:id="rId1" imgW="4862195" imgH="862965" progId="Equation.3">
                  <p:embed/>
                </p:oleObj>
              </mc:Choice>
              <mc:Fallback>
                <p:oleObj name="" r:id="rId1" imgW="4862195" imgH="862965" progId="Equation.3">
                  <p:embed/>
                  <p:pic>
                    <p:nvPicPr>
                      <p:cNvPr id="0" name="图片 3438"/>
                      <p:cNvPicPr/>
                      <p:nvPr/>
                    </p:nvPicPr>
                    <p:blipFill>
                      <a:blip r:embed="rId2"/>
                      <a:stretch>
                        <a:fillRect/>
                      </a:stretch>
                    </p:blipFill>
                    <p:spPr>
                      <a:xfrm>
                        <a:off x="755650" y="1484313"/>
                        <a:ext cx="4862513" cy="863600"/>
                      </a:xfrm>
                      <a:prstGeom prst="rect">
                        <a:avLst/>
                      </a:prstGeom>
                      <a:noFill/>
                      <a:ln w="38100">
                        <a:noFill/>
                        <a:miter/>
                      </a:ln>
                    </p:spPr>
                  </p:pic>
                </p:oleObj>
              </mc:Fallback>
            </mc:AlternateContent>
          </a:graphicData>
        </a:graphic>
      </p:graphicFrame>
      <p:graphicFrame>
        <p:nvGraphicFramePr>
          <p:cNvPr id="151556" name="对象 151555"/>
          <p:cNvGraphicFramePr/>
          <p:nvPr/>
        </p:nvGraphicFramePr>
        <p:xfrm>
          <a:off x="755650" y="2781300"/>
          <a:ext cx="4811713" cy="863600"/>
        </p:xfrm>
        <a:graphic>
          <a:graphicData uri="http://schemas.openxmlformats.org/presentationml/2006/ole">
            <mc:AlternateContent xmlns:mc="http://schemas.openxmlformats.org/markup-compatibility/2006">
              <mc:Choice xmlns:v="urn:schemas-microsoft-com:vml" Requires="v">
                <p:oleObj spid="_x0000_s3456" name="" r:id="rId3" imgW="4811395" imgH="862965" progId="Equation.3">
                  <p:embed/>
                </p:oleObj>
              </mc:Choice>
              <mc:Fallback>
                <p:oleObj name="" r:id="rId3" imgW="4811395" imgH="862965" progId="Equation.3">
                  <p:embed/>
                  <p:pic>
                    <p:nvPicPr>
                      <p:cNvPr id="0" name="图片 3455"/>
                      <p:cNvPicPr/>
                      <p:nvPr/>
                    </p:nvPicPr>
                    <p:blipFill>
                      <a:blip r:embed="rId4"/>
                      <a:stretch>
                        <a:fillRect/>
                      </a:stretch>
                    </p:blipFill>
                    <p:spPr>
                      <a:xfrm>
                        <a:off x="755650" y="2781300"/>
                        <a:ext cx="4811713" cy="863600"/>
                      </a:xfrm>
                      <a:prstGeom prst="rect">
                        <a:avLst/>
                      </a:prstGeom>
                      <a:noFill/>
                      <a:ln w="38100">
                        <a:noFill/>
                        <a:miter/>
                      </a:ln>
                    </p:spPr>
                  </p:pic>
                </p:oleObj>
              </mc:Fallback>
            </mc:AlternateContent>
          </a:graphicData>
        </a:graphic>
      </p:graphicFrame>
      <p:graphicFrame>
        <p:nvGraphicFramePr>
          <p:cNvPr id="151557" name="对象 151556"/>
          <p:cNvGraphicFramePr/>
          <p:nvPr/>
        </p:nvGraphicFramePr>
        <p:xfrm>
          <a:off x="2051050" y="4171950"/>
          <a:ext cx="2754630" cy="929005"/>
        </p:xfrm>
        <a:graphic>
          <a:graphicData uri="http://schemas.openxmlformats.org/presentationml/2006/ole">
            <mc:AlternateContent xmlns:mc="http://schemas.openxmlformats.org/markup-compatibility/2006">
              <mc:Choice xmlns:v="urn:schemas-microsoft-com:vml" Requires="v">
                <p:oleObj spid="_x0000_s3455" name="" r:id="rId5" imgW="2755900" imgH="939800" progId="Equation.3">
                  <p:embed/>
                </p:oleObj>
              </mc:Choice>
              <mc:Fallback>
                <p:oleObj name="" r:id="rId5" imgW="2755900" imgH="939800" progId="Equation.3">
                  <p:embed/>
                  <p:pic>
                    <p:nvPicPr>
                      <p:cNvPr id="0" name="图片 3454"/>
                      <p:cNvPicPr/>
                      <p:nvPr/>
                    </p:nvPicPr>
                    <p:blipFill>
                      <a:blip r:embed="rId6"/>
                      <a:stretch>
                        <a:fillRect/>
                      </a:stretch>
                    </p:blipFill>
                    <p:spPr>
                      <a:xfrm>
                        <a:off x="2051050" y="4171950"/>
                        <a:ext cx="2754630" cy="929005"/>
                      </a:xfrm>
                      <a:prstGeom prst="rect">
                        <a:avLst/>
                      </a:prstGeom>
                      <a:noFill/>
                      <a:ln w="38100">
                        <a:noFill/>
                        <a:miter/>
                      </a:ln>
                    </p:spPr>
                  </p:pic>
                </p:oleObj>
              </mc:Fallback>
            </mc:AlternateContent>
          </a:graphicData>
        </a:graphic>
      </p:graphicFrame>
      <p:sp>
        <p:nvSpPr>
          <p:cNvPr id="151558" name="文本框 151557"/>
          <p:cNvSpPr txBox="1"/>
          <p:nvPr/>
        </p:nvSpPr>
        <p:spPr>
          <a:xfrm>
            <a:off x="971550" y="4387215"/>
            <a:ext cx="895350" cy="713740"/>
          </a:xfrm>
          <a:prstGeom prst="rect">
            <a:avLst/>
          </a:prstGeom>
          <a:noFill/>
          <a:ln w="9525">
            <a:noFill/>
          </a:ln>
        </p:spPr>
        <p:txBody>
          <a:bodyPr wrap="none" anchor="t" anchorCtr="0">
            <a:noAutofit/>
          </a:bodyPr>
          <a:p>
            <a:r>
              <a:rPr lang="zh-CN" altLang="en-US" dirty="0">
                <a:latin typeface="Times New Roman" panose="02020603050405020304" pitchFamily="18" charset="0"/>
              </a:rPr>
              <a:t>其中</a:t>
            </a:r>
            <a:endParaRPr lang="zh-CN" altLang="en-US">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1554">
                                            <p:txEl>
                                              <p:charRg st="0" end="13"/>
                                            </p:txEl>
                                          </p:spTgt>
                                        </p:tgtEl>
                                        <p:attrNameLst>
                                          <p:attrName>style.visibility</p:attrName>
                                        </p:attrNameLst>
                                      </p:cBhvr>
                                      <p:to>
                                        <p:strVal val="visible"/>
                                      </p:to>
                                    </p:set>
                                    <p:animEffect transition="in" filter="box(out)">
                                      <p:cBhvr>
                                        <p:cTn id="7" dur="500"/>
                                        <p:tgtEl>
                                          <p:spTgt spid="151554">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51555"/>
                                        </p:tgtEl>
                                        <p:attrNameLst>
                                          <p:attrName>style.visibility</p:attrName>
                                        </p:attrNameLst>
                                      </p:cBhvr>
                                      <p:to>
                                        <p:strVal val="visible"/>
                                      </p:to>
                                    </p:set>
                                    <p:animEffect transition="in" filter="box(out)">
                                      <p:cBhvr>
                                        <p:cTn id="12" dur="500"/>
                                        <p:tgtEl>
                                          <p:spTgt spid="15155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51556"/>
                                        </p:tgtEl>
                                        <p:attrNameLst>
                                          <p:attrName>style.visibility</p:attrName>
                                        </p:attrNameLst>
                                      </p:cBhvr>
                                      <p:to>
                                        <p:strVal val="visible"/>
                                      </p:to>
                                    </p:set>
                                    <p:animEffect transition="in" filter="box(out)">
                                      <p:cBhvr>
                                        <p:cTn id="17" dur="500"/>
                                        <p:tgtEl>
                                          <p:spTgt spid="151556"/>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51558">
                                            <p:txEl>
                                              <p:charRg st="0" end="3"/>
                                            </p:txEl>
                                          </p:spTgt>
                                        </p:tgtEl>
                                        <p:attrNameLst>
                                          <p:attrName>style.visibility</p:attrName>
                                        </p:attrNameLst>
                                      </p:cBhvr>
                                      <p:to>
                                        <p:strVal val="visible"/>
                                      </p:to>
                                    </p:set>
                                    <p:animEffect transition="in" filter="box(out)">
                                      <p:cBhvr>
                                        <p:cTn id="22" dur="500"/>
                                        <p:tgtEl>
                                          <p:spTgt spid="151558">
                                            <p:txEl>
                                              <p:charRg st="0" end="3"/>
                                            </p:txEl>
                                          </p:spTgt>
                                        </p:tgtEl>
                                      </p:cBhvr>
                                    </p:animEffect>
                                  </p:childTnLst>
                                </p:cTn>
                              </p:par>
                            </p:childTnLst>
                          </p:cTn>
                        </p:par>
                        <p:par>
                          <p:cTn id="23" fill="hold">
                            <p:stCondLst>
                              <p:cond delay="500"/>
                            </p:stCondLst>
                            <p:childTnLst>
                              <p:par>
                                <p:cTn id="24" presetID="4" presetClass="entr" presetSubtype="32" fill="hold" nodeType="afterEffect">
                                  <p:stCondLst>
                                    <p:cond delay="0"/>
                                  </p:stCondLst>
                                  <p:childTnLst>
                                    <p:set>
                                      <p:cBhvr>
                                        <p:cTn id="25" dur="1" fill="hold">
                                          <p:stCondLst>
                                            <p:cond delay="0"/>
                                          </p:stCondLst>
                                        </p:cTn>
                                        <p:tgtEl>
                                          <p:spTgt spid="151557"/>
                                        </p:tgtEl>
                                        <p:attrNameLst>
                                          <p:attrName>style.visibility</p:attrName>
                                        </p:attrNameLst>
                                      </p:cBhvr>
                                      <p:to>
                                        <p:strVal val="visible"/>
                                      </p:to>
                                    </p:set>
                                    <p:animEffect transition="in" filter="box(out)">
                                      <p:cBhvr>
                                        <p:cTn id="26" dur="500"/>
                                        <p:tgtEl>
                                          <p:spTgt spid="151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build="p"/>
      <p:bldP spid="151558"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文本框 152577"/>
          <p:cNvSpPr txBox="1"/>
          <p:nvPr/>
        </p:nvSpPr>
        <p:spPr>
          <a:xfrm>
            <a:off x="663575" y="352425"/>
            <a:ext cx="3756025" cy="519113"/>
          </a:xfrm>
          <a:prstGeom prst="rect">
            <a:avLst/>
          </a:prstGeom>
          <a:noFill/>
          <a:ln w="9525">
            <a:noFill/>
          </a:ln>
        </p:spPr>
        <p:txBody>
          <a:bodyPr wrap="none" anchor="t" anchorCtr="0">
            <a:spAutoFit/>
          </a:bodyPr>
          <a:p>
            <a:r>
              <a:rPr lang="zh-CN" altLang="en-US" dirty="0">
                <a:solidFill>
                  <a:srgbClr val="FF3300"/>
                </a:solidFill>
                <a:latin typeface="Times New Roman" panose="02020603050405020304" pitchFamily="18" charset="0"/>
              </a:rPr>
              <a:t>说明：</a:t>
            </a:r>
            <a:r>
              <a:rPr lang="zh-CN" altLang="en-US" dirty="0">
                <a:latin typeface="Times New Roman" panose="02020603050405020304" pitchFamily="18" charset="0"/>
              </a:rPr>
              <a:t>由证明过程可知</a:t>
            </a:r>
            <a:endParaRPr lang="zh-CN" altLang="en-US" dirty="0">
              <a:latin typeface="Times New Roman" panose="02020603050405020304" pitchFamily="18" charset="0"/>
            </a:endParaRPr>
          </a:p>
        </p:txBody>
      </p:sp>
      <p:graphicFrame>
        <p:nvGraphicFramePr>
          <p:cNvPr id="152579" name="对象 152578"/>
          <p:cNvGraphicFramePr/>
          <p:nvPr/>
        </p:nvGraphicFramePr>
        <p:xfrm>
          <a:off x="1239838" y="1052513"/>
          <a:ext cx="2387600" cy="3683000"/>
        </p:xfrm>
        <a:graphic>
          <a:graphicData uri="http://schemas.openxmlformats.org/presentationml/2006/ole">
            <mc:AlternateContent xmlns:mc="http://schemas.openxmlformats.org/markup-compatibility/2006">
              <mc:Choice xmlns:v="urn:schemas-microsoft-com:vml" Requires="v">
                <p:oleObj spid="_x0000_s3447" name="" r:id="rId1" imgW="2387600" imgH="3683000" progId="Equation.DSMT4">
                  <p:embed/>
                </p:oleObj>
              </mc:Choice>
              <mc:Fallback>
                <p:oleObj name="" r:id="rId1" imgW="2387600" imgH="3683000" progId="Equation.DSMT4">
                  <p:embed/>
                  <p:pic>
                    <p:nvPicPr>
                      <p:cNvPr id="0" name="图片 3446"/>
                      <p:cNvPicPr/>
                      <p:nvPr/>
                    </p:nvPicPr>
                    <p:blipFill>
                      <a:blip r:embed="rId2"/>
                      <a:stretch>
                        <a:fillRect/>
                      </a:stretch>
                    </p:blipFill>
                    <p:spPr>
                      <a:xfrm>
                        <a:off x="1239838" y="1052513"/>
                        <a:ext cx="2387600" cy="3683000"/>
                      </a:xfrm>
                      <a:prstGeom prst="rect">
                        <a:avLst/>
                      </a:prstGeom>
                      <a:noFill/>
                      <a:ln w="38100">
                        <a:noFill/>
                        <a:miter/>
                      </a:ln>
                    </p:spPr>
                  </p:pic>
                </p:oleObj>
              </mc:Fallback>
            </mc:AlternateContent>
          </a:graphicData>
        </a:graphic>
      </p:graphicFrame>
      <p:graphicFrame>
        <p:nvGraphicFramePr>
          <p:cNvPr id="152580" name="对象 152579"/>
          <p:cNvGraphicFramePr/>
          <p:nvPr/>
        </p:nvGraphicFramePr>
        <p:xfrm>
          <a:off x="3800475" y="2349500"/>
          <a:ext cx="3721100" cy="431800"/>
        </p:xfrm>
        <a:graphic>
          <a:graphicData uri="http://schemas.openxmlformats.org/presentationml/2006/ole">
            <mc:AlternateContent xmlns:mc="http://schemas.openxmlformats.org/markup-compatibility/2006">
              <mc:Choice xmlns:v="urn:schemas-microsoft-com:vml" Requires="v">
                <p:oleObj spid="_x0000_s3451" name="" r:id="rId3" imgW="3719195" imgH="431800" progId="Equation.DSMT4">
                  <p:embed/>
                </p:oleObj>
              </mc:Choice>
              <mc:Fallback>
                <p:oleObj name="" r:id="rId3" imgW="3719195" imgH="431800" progId="Equation.DSMT4">
                  <p:embed/>
                  <p:pic>
                    <p:nvPicPr>
                      <p:cNvPr id="0" name="图片 3450"/>
                      <p:cNvPicPr/>
                      <p:nvPr/>
                    </p:nvPicPr>
                    <p:blipFill>
                      <a:blip r:embed="rId4"/>
                      <a:stretch>
                        <a:fillRect/>
                      </a:stretch>
                    </p:blipFill>
                    <p:spPr>
                      <a:xfrm>
                        <a:off x="3800475" y="2349500"/>
                        <a:ext cx="3721100" cy="4318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2578"/>
                                        </p:tgtEl>
                                        <p:attrNameLst>
                                          <p:attrName>style.visibility</p:attrName>
                                        </p:attrNameLst>
                                      </p:cBhvr>
                                      <p:to>
                                        <p:strVal val="visible"/>
                                      </p:to>
                                    </p:set>
                                    <p:animEffect transition="in" filter="wipe(left)">
                                      <p:cBhvr>
                                        <p:cTn id="7" dur="500"/>
                                        <p:tgtEl>
                                          <p:spTgt spid="1525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2579"/>
                                        </p:tgtEl>
                                        <p:attrNameLst>
                                          <p:attrName>style.visibility</p:attrName>
                                        </p:attrNameLst>
                                      </p:cBhvr>
                                      <p:to>
                                        <p:strVal val="visible"/>
                                      </p:to>
                                    </p:set>
                                    <p:animEffect transition="in" filter="wipe(left)">
                                      <p:cBhvr>
                                        <p:cTn id="12" dur="500"/>
                                        <p:tgtEl>
                                          <p:spTgt spid="1525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2580"/>
                                        </p:tgtEl>
                                        <p:attrNameLst>
                                          <p:attrName>style.visibility</p:attrName>
                                        </p:attrNameLst>
                                      </p:cBhvr>
                                      <p:to>
                                        <p:strVal val="visible"/>
                                      </p:to>
                                    </p:set>
                                    <p:animEffect transition="in" filter="wipe(left)">
                                      <p:cBhvr>
                                        <p:cTn id="17" dur="500"/>
                                        <p:tgtEl>
                                          <p:spTgt spid="152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3602" name="对象 153601"/>
          <p:cNvGraphicFramePr/>
          <p:nvPr/>
        </p:nvGraphicFramePr>
        <p:xfrm>
          <a:off x="1433830" y="1012825"/>
          <a:ext cx="5912485" cy="1879600"/>
        </p:xfrm>
        <a:graphic>
          <a:graphicData uri="http://schemas.openxmlformats.org/presentationml/2006/ole">
            <mc:AlternateContent xmlns:mc="http://schemas.openxmlformats.org/markup-compatibility/2006">
              <mc:Choice xmlns:v="urn:schemas-microsoft-com:vml" Requires="v">
                <p:oleObj spid="_x0000_s3446" name="" r:id="rId1" imgW="5384800" imgH="1676400" progId="Equation.DSMT4">
                  <p:embed/>
                </p:oleObj>
              </mc:Choice>
              <mc:Fallback>
                <p:oleObj name="" r:id="rId1" imgW="5384800" imgH="1676400" progId="Equation.DSMT4">
                  <p:embed/>
                  <p:pic>
                    <p:nvPicPr>
                      <p:cNvPr id="0" name="图片 3445"/>
                      <p:cNvPicPr/>
                      <p:nvPr/>
                    </p:nvPicPr>
                    <p:blipFill>
                      <a:blip r:embed="rId2"/>
                      <a:stretch>
                        <a:fillRect/>
                      </a:stretch>
                    </p:blipFill>
                    <p:spPr>
                      <a:xfrm>
                        <a:off x="1433830" y="1012825"/>
                        <a:ext cx="5912485" cy="1879600"/>
                      </a:xfrm>
                      <a:prstGeom prst="rect">
                        <a:avLst/>
                      </a:prstGeom>
                      <a:noFill/>
                      <a:ln w="38100">
                        <a:noFill/>
                        <a:miter/>
                      </a:ln>
                    </p:spPr>
                  </p:pic>
                </p:oleObj>
              </mc:Fallback>
            </mc:AlternateContent>
          </a:graphicData>
        </a:graphic>
      </p:graphicFrame>
      <p:graphicFrame>
        <p:nvGraphicFramePr>
          <p:cNvPr id="153603" name="对象 153602"/>
          <p:cNvGraphicFramePr/>
          <p:nvPr/>
        </p:nvGraphicFramePr>
        <p:xfrm>
          <a:off x="1377315" y="3293110"/>
          <a:ext cx="4412615" cy="642620"/>
        </p:xfrm>
        <a:graphic>
          <a:graphicData uri="http://schemas.openxmlformats.org/presentationml/2006/ole">
            <mc:AlternateContent xmlns:mc="http://schemas.openxmlformats.org/markup-compatibility/2006">
              <mc:Choice xmlns:v="urn:schemas-microsoft-com:vml" Requires="v">
                <p:oleObj spid="_x0000_s3448" name="" r:id="rId3" imgW="3998595" imgH="482600" progId="Equation.DSMT4">
                  <p:embed/>
                </p:oleObj>
              </mc:Choice>
              <mc:Fallback>
                <p:oleObj name="" r:id="rId3" imgW="3998595" imgH="482600" progId="Equation.DSMT4">
                  <p:embed/>
                  <p:pic>
                    <p:nvPicPr>
                      <p:cNvPr id="0" name="图片 3447"/>
                      <p:cNvPicPr/>
                      <p:nvPr/>
                    </p:nvPicPr>
                    <p:blipFill>
                      <a:blip r:embed="rId4"/>
                      <a:stretch>
                        <a:fillRect/>
                      </a:stretch>
                    </p:blipFill>
                    <p:spPr>
                      <a:xfrm>
                        <a:off x="1377315" y="3293110"/>
                        <a:ext cx="4412615" cy="642620"/>
                      </a:xfrm>
                      <a:prstGeom prst="rect">
                        <a:avLst/>
                      </a:prstGeom>
                      <a:noFill/>
                      <a:ln w="38100">
                        <a:noFill/>
                        <a:miter/>
                      </a:ln>
                    </p:spPr>
                  </p:pic>
                </p:oleObj>
              </mc:Fallback>
            </mc:AlternateContent>
          </a:graphicData>
        </a:graphic>
      </p:graphicFrame>
      <p:sp>
        <p:nvSpPr>
          <p:cNvPr id="2" name="文本框 1"/>
          <p:cNvSpPr txBox="1"/>
          <p:nvPr/>
        </p:nvSpPr>
        <p:spPr>
          <a:xfrm>
            <a:off x="2697480" y="531495"/>
            <a:ext cx="3048000" cy="521970"/>
          </a:xfrm>
          <a:prstGeom prst="rect">
            <a:avLst/>
          </a:prstGeom>
          <a:noFill/>
        </p:spPr>
        <p:txBody>
          <a:bodyPr wrap="square" rtlCol="0">
            <a:spAutoFit/>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3602"/>
                                        </p:tgtEl>
                                        <p:attrNameLst>
                                          <p:attrName>style.visibility</p:attrName>
                                        </p:attrNameLst>
                                      </p:cBhvr>
                                      <p:to>
                                        <p:strVal val="visible"/>
                                      </p:to>
                                    </p:set>
                                    <p:animEffect transition="in" filter="wipe(left)">
                                      <p:cBhvr>
                                        <p:cTn id="7" dur="500"/>
                                        <p:tgtEl>
                                          <p:spTgt spid="1536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3603"/>
                                        </p:tgtEl>
                                        <p:attrNameLst>
                                          <p:attrName>style.visibility</p:attrName>
                                        </p:attrNameLst>
                                      </p:cBhvr>
                                      <p:to>
                                        <p:strVal val="visible"/>
                                      </p:to>
                                    </p:set>
                                    <p:animEffect transition="in" filter="wipe(left)">
                                      <p:cBhvr>
                                        <p:cTn id="12" dur="500"/>
                                        <p:tgtEl>
                                          <p:spTgt spid="153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5651" name="文本框 155650"/>
          <p:cNvSpPr txBox="1"/>
          <p:nvPr/>
        </p:nvSpPr>
        <p:spPr>
          <a:xfrm>
            <a:off x="684213" y="1423988"/>
            <a:ext cx="747395" cy="521970"/>
          </a:xfrm>
          <a:prstGeom prst="rect">
            <a:avLst/>
          </a:prstGeom>
          <a:noFill/>
          <a:ln w="9525">
            <a:noFill/>
          </a:ln>
        </p:spPr>
        <p:txBody>
          <a:bodyPr wrap="none" anchor="t" anchorCtr="0">
            <a:spAutoFit/>
          </a:bodyPr>
          <a:p>
            <a:r>
              <a:rPr lang="zh-CN" altLang="en-US" dirty="0">
                <a:solidFill>
                  <a:schemeClr val="hlink"/>
                </a:solidFill>
                <a:latin typeface="Times New Roman" panose="02020603050405020304" pitchFamily="18" charset="0"/>
                <a:ea typeface="黑体" panose="02010609060101010101" pitchFamily="2" charset="-122"/>
              </a:rPr>
              <a:t>解</a:t>
            </a:r>
            <a:r>
              <a:rPr lang="en-US" altLang="zh-CN">
                <a:solidFill>
                  <a:schemeClr val="hlink"/>
                </a:solidFill>
                <a:latin typeface="Times New Roman" panose="02020603050405020304" pitchFamily="18" charset="0"/>
                <a:ea typeface="黑体" panose="02010609060101010101" pitchFamily="2" charset="-122"/>
              </a:rPr>
              <a:t>: </a:t>
            </a:r>
            <a:endParaRPr lang="zh-CN" altLang="en-US" sz="2400">
              <a:latin typeface="Times New Roman" panose="02020603050405020304" pitchFamily="18" charset="0"/>
              <a:ea typeface="黑体" panose="02010609060101010101" pitchFamily="2" charset="-122"/>
            </a:endParaRPr>
          </a:p>
        </p:txBody>
      </p:sp>
      <p:sp>
        <p:nvSpPr>
          <p:cNvPr id="155656" name="矩形 155655"/>
          <p:cNvSpPr/>
          <p:nvPr/>
        </p:nvSpPr>
        <p:spPr>
          <a:xfrm>
            <a:off x="684530" y="817880"/>
            <a:ext cx="4255135" cy="657225"/>
          </a:xfrm>
          <a:prstGeom prst="rect">
            <a:avLst/>
          </a:prstGeom>
          <a:noFill/>
          <a:ln w="9525">
            <a:noFill/>
          </a:ln>
        </p:spPr>
        <p:txBody>
          <a:bodyPr wrap="square">
            <a:noAutofit/>
          </a:bodyPr>
          <a:p>
            <a:r>
              <a:rPr lang="zh-CN" altLang="en-US" dirty="0">
                <a:solidFill>
                  <a:srgbClr val="FF0000"/>
                </a:solidFill>
                <a:latin typeface="Times New Roman" panose="02020603050405020304" pitchFamily="18" charset="0"/>
                <a:ea typeface="黑体" panose="02010609060101010101" pitchFamily="2" charset="-122"/>
              </a:rPr>
              <a:t>例</a:t>
            </a:r>
            <a:r>
              <a:rPr lang="en-US" altLang="zh-CN">
                <a:solidFill>
                  <a:srgbClr val="FF0000"/>
                </a:solidFill>
                <a:latin typeface="Times New Roman" panose="02020603050405020304" pitchFamily="18" charset="0"/>
                <a:ea typeface="黑体" panose="02010609060101010101" pitchFamily="2" charset="-122"/>
              </a:rPr>
              <a:t>13.1</a:t>
            </a:r>
            <a:r>
              <a:rPr lang="en-US" altLang="zh-CN">
                <a:solidFill>
                  <a:schemeClr val="hlink"/>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rPr>
              <a:t> </a:t>
            </a:r>
            <a:r>
              <a:rPr lang="zh-CN" altLang="en-US" dirty="0">
                <a:latin typeface="Times New Roman" panose="02020603050405020304" pitchFamily="18" charset="0"/>
              </a:rPr>
              <a:t>计算</a:t>
            </a:r>
            <a:r>
              <a:rPr lang="en-US" altLang="zh-CN" dirty="0">
                <a:latin typeface="Times New Roman" panose="02020603050405020304" pitchFamily="18" charset="0"/>
              </a:rPr>
              <a:t>4</a:t>
            </a:r>
            <a:r>
              <a:rPr lang="zh-CN" altLang="en-US" dirty="0">
                <a:latin typeface="Times New Roman" panose="02020603050405020304" pitchFamily="18" charset="0"/>
              </a:rPr>
              <a:t>阶行列式</a:t>
            </a:r>
            <a:endParaRPr lang="zh-CN" altLang="en-US" dirty="0">
              <a:latin typeface="Times New Roman" panose="02020603050405020304" pitchFamily="18" charset="0"/>
            </a:endParaRPr>
          </a:p>
        </p:txBody>
      </p:sp>
      <p:graphicFrame>
        <p:nvGraphicFramePr>
          <p:cNvPr id="2" name="对象 -2147482232"/>
          <p:cNvGraphicFramePr>
            <a:graphicFrameLocks noChangeAspect="1"/>
          </p:cNvGraphicFramePr>
          <p:nvPr/>
        </p:nvGraphicFramePr>
        <p:xfrm>
          <a:off x="4302125" y="251460"/>
          <a:ext cx="2499360" cy="1694180"/>
        </p:xfrm>
        <a:graphic>
          <a:graphicData uri="http://schemas.openxmlformats.org/presentationml/2006/ole">
            <mc:AlternateContent xmlns:mc="http://schemas.openxmlformats.org/markup-compatibility/2006">
              <mc:Choice xmlns:v="urn:schemas-microsoft-com:vml" Requires="v">
                <p:oleObj spid="_x0000_s3076" name="" r:id="rId1" imgW="1257300" imgH="914400" progId="Equation.DSMT4">
                  <p:embed/>
                </p:oleObj>
              </mc:Choice>
              <mc:Fallback>
                <p:oleObj name="" r:id="rId1" imgW="1257300" imgH="914400" progId="Equation.DSMT4">
                  <p:embed/>
                  <p:pic>
                    <p:nvPicPr>
                      <p:cNvPr id="0" name="图片 3075"/>
                      <p:cNvPicPr/>
                      <p:nvPr/>
                    </p:nvPicPr>
                    <p:blipFill>
                      <a:blip r:embed="rId2"/>
                      <a:stretch>
                        <a:fillRect/>
                      </a:stretch>
                    </p:blipFill>
                    <p:spPr>
                      <a:xfrm>
                        <a:off x="4302125" y="251460"/>
                        <a:ext cx="2499360" cy="1694180"/>
                      </a:xfrm>
                      <a:prstGeom prst="rect">
                        <a:avLst/>
                      </a:prstGeom>
                      <a:noFill/>
                      <a:ln w="38100">
                        <a:noFill/>
                        <a:miter/>
                      </a:ln>
                    </p:spPr>
                  </p:pic>
                </p:oleObj>
              </mc:Fallback>
            </mc:AlternateContent>
          </a:graphicData>
        </a:graphic>
      </p:graphicFrame>
      <p:graphicFrame>
        <p:nvGraphicFramePr>
          <p:cNvPr id="3" name="对象 -2147482231"/>
          <p:cNvGraphicFramePr>
            <a:graphicFrameLocks noChangeAspect="1"/>
          </p:cNvGraphicFramePr>
          <p:nvPr/>
        </p:nvGraphicFramePr>
        <p:xfrm>
          <a:off x="467360" y="1965960"/>
          <a:ext cx="8284845" cy="3168650"/>
        </p:xfrm>
        <a:graphic>
          <a:graphicData uri="http://schemas.openxmlformats.org/presentationml/2006/ole">
            <mc:AlternateContent xmlns:mc="http://schemas.openxmlformats.org/markup-compatibility/2006">
              <mc:Choice xmlns:v="urn:schemas-microsoft-com:vml" Requires="v">
                <p:oleObj spid="_x0000_s4" name="" r:id="rId3" imgW="4914900" imgH="1879600" progId="Equation.DSMT4">
                  <p:embed/>
                </p:oleObj>
              </mc:Choice>
              <mc:Fallback>
                <p:oleObj name="" r:id="rId3" imgW="4914900" imgH="1879600" progId="Equation.DSMT4">
                  <p:embed/>
                  <p:pic>
                    <p:nvPicPr>
                      <p:cNvPr id="0" name="图片 1"/>
                      <p:cNvPicPr/>
                      <p:nvPr/>
                    </p:nvPicPr>
                    <p:blipFill>
                      <a:blip r:embed="rId4"/>
                      <a:stretch>
                        <a:fillRect/>
                      </a:stretch>
                    </p:blipFill>
                    <p:spPr>
                      <a:xfrm>
                        <a:off x="467360" y="1965960"/>
                        <a:ext cx="8284845" cy="31686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5656">
                                            <p:txEl>
                                              <p:charRg st="0" end="10"/>
                                            </p:txEl>
                                          </p:spTgt>
                                        </p:tgtEl>
                                        <p:attrNameLst>
                                          <p:attrName>style.visibility</p:attrName>
                                        </p:attrNameLst>
                                      </p:cBhvr>
                                      <p:to>
                                        <p:strVal val="visible"/>
                                      </p:to>
                                    </p:set>
                                    <p:animEffect transition="in" filter="box(out)">
                                      <p:cBhvr>
                                        <p:cTn id="7" dur="500"/>
                                        <p:tgtEl>
                                          <p:spTgt spid="155656">
                                            <p:txEl>
                                              <p:charRg st="0" end="1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155651">
                                            <p:txEl>
                                              <p:charRg st="0" end="13"/>
                                            </p:txEl>
                                          </p:spTgt>
                                        </p:tgtEl>
                                        <p:attrNameLst>
                                          <p:attrName>style.visibility</p:attrName>
                                        </p:attrNameLst>
                                      </p:cBhvr>
                                      <p:to>
                                        <p:strVal val="visible"/>
                                      </p:to>
                                    </p:set>
                                    <p:animEffect transition="in" filter="box(out)">
                                      <p:cBhvr>
                                        <p:cTn id="15" dur="500"/>
                                        <p:tgtEl>
                                          <p:spTgt spid="155651">
                                            <p:txEl>
                                              <p:charRg st="0" end="1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P spid="155656" grpId="0" build="p"/>
    </p:bld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5651" name="文本框 155650"/>
          <p:cNvSpPr txBox="1"/>
          <p:nvPr/>
        </p:nvSpPr>
        <p:spPr>
          <a:xfrm>
            <a:off x="495300" y="2287905"/>
            <a:ext cx="8329295" cy="567055"/>
          </a:xfrm>
          <a:prstGeom prst="rect">
            <a:avLst/>
          </a:prstGeom>
          <a:noFill/>
          <a:ln w="9525">
            <a:noFill/>
          </a:ln>
        </p:spPr>
        <p:txBody>
          <a:bodyPr wrap="none" anchor="t" anchorCtr="0">
            <a:noAutofit/>
          </a:bodyPr>
          <a:p>
            <a:r>
              <a:rPr lang="zh-CN" altLang="en-US" dirty="0">
                <a:solidFill>
                  <a:schemeClr val="hlink"/>
                </a:solidFill>
                <a:latin typeface="Times New Roman" panose="02020603050405020304" pitchFamily="18" charset="0"/>
                <a:ea typeface="黑体" panose="02010609060101010101" pitchFamily="2" charset="-122"/>
              </a:rPr>
              <a:t>解</a:t>
            </a:r>
            <a:r>
              <a:rPr lang="en-US" altLang="zh-CN">
                <a:solidFill>
                  <a:schemeClr val="hlink"/>
                </a:solidFill>
                <a:latin typeface="Times New Roman" panose="02020603050405020304" pitchFamily="18" charset="0"/>
                <a:ea typeface="黑体" panose="02010609060101010101" pitchFamily="2" charset="-122"/>
              </a:rPr>
              <a:t>: </a:t>
            </a:r>
            <a:r>
              <a:rPr lang="en-US" altLang="zh-CN" sz="2400">
                <a:latin typeface="Times New Roman" panose="02020603050405020304" pitchFamily="18" charset="0"/>
                <a:ea typeface="黑体" panose="02010609060101010101" pitchFamily="2" charset="-122"/>
              </a:rPr>
              <a:t>  </a:t>
            </a:r>
            <a:r>
              <a:rPr lang="zh-CN" altLang="en-US">
                <a:latin typeface="Times New Roman" panose="02020603050405020304" pitchFamily="18" charset="0"/>
                <a:ea typeface="黑体" panose="02010609060101010101" pitchFamily="2" charset="-122"/>
              </a:rPr>
              <a:t>将第一行元素分别用</a:t>
            </a:r>
            <a:r>
              <a:rPr lang="en-US" altLang="zh-CN">
                <a:latin typeface="Times New Roman" panose="02020603050405020304" pitchFamily="18" charset="0"/>
                <a:ea typeface="黑体" panose="02010609060101010101" pitchFamily="2" charset="-122"/>
              </a:rPr>
              <a:t>0,-1,-3,8</a:t>
            </a:r>
            <a:r>
              <a:rPr lang="zh-CN" altLang="en-US">
                <a:latin typeface="Times New Roman" panose="02020603050405020304" pitchFamily="18" charset="0"/>
                <a:ea typeface="黑体" panose="02010609060101010101" pitchFamily="2" charset="-122"/>
              </a:rPr>
              <a:t>替换</a:t>
            </a:r>
            <a:r>
              <a:rPr lang="en-US" altLang="zh-CN">
                <a:latin typeface="Times New Roman" panose="02020603050405020304" pitchFamily="18" charset="0"/>
                <a:ea typeface="黑体" panose="02010609060101010101" pitchFamily="2" charset="-122"/>
              </a:rPr>
              <a:t>,</a:t>
            </a:r>
            <a:r>
              <a:rPr lang="zh-CN" altLang="en-US">
                <a:latin typeface="Times New Roman" panose="02020603050405020304" pitchFamily="18" charset="0"/>
                <a:ea typeface="黑体" panose="02010609060101010101" pitchFamily="2" charset="-122"/>
              </a:rPr>
              <a:t>得到新行列式</a:t>
            </a:r>
            <a:endParaRPr lang="zh-CN" altLang="en-US">
              <a:latin typeface="Times New Roman" panose="02020603050405020304" pitchFamily="18" charset="0"/>
              <a:ea typeface="黑体" panose="02010609060101010101" pitchFamily="2" charset="-122"/>
            </a:endParaRPr>
          </a:p>
        </p:txBody>
      </p:sp>
      <p:sp>
        <p:nvSpPr>
          <p:cNvPr id="155656" name="矩形 155655"/>
          <p:cNvSpPr/>
          <p:nvPr/>
        </p:nvSpPr>
        <p:spPr>
          <a:xfrm>
            <a:off x="408940" y="683260"/>
            <a:ext cx="4530725" cy="718185"/>
          </a:xfrm>
          <a:prstGeom prst="rect">
            <a:avLst/>
          </a:prstGeom>
          <a:noFill/>
          <a:ln w="9525">
            <a:noFill/>
          </a:ln>
        </p:spPr>
        <p:txBody>
          <a:bodyPr wrap="square">
            <a:noAutofit/>
          </a:bodyPr>
          <a:p>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1.3.</a:t>
            </a:r>
            <a:r>
              <a:rPr lang="en-US" altLang="zh-CN">
                <a:solidFill>
                  <a:srgbClr val="FF0000"/>
                </a:solidFill>
                <a:latin typeface="Times New Roman" panose="02020603050405020304" pitchFamily="18" charset="0"/>
                <a:ea typeface="黑体" panose="02010609060101010101" pitchFamily="2" charset="-122"/>
              </a:rPr>
              <a:t>2</a:t>
            </a:r>
            <a:r>
              <a:rPr lang="en-US" altLang="zh-CN">
                <a:solidFill>
                  <a:schemeClr val="hlink"/>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rPr>
              <a:t> </a:t>
            </a:r>
            <a:r>
              <a:rPr lang="zh-CN" altLang="en-US" dirty="0">
                <a:latin typeface="Times New Roman" panose="02020603050405020304" pitchFamily="18" charset="0"/>
              </a:rPr>
              <a:t>求行列式</a:t>
            </a:r>
            <a:endParaRPr lang="zh-CN" altLang="en-US" dirty="0">
              <a:latin typeface="Times New Roman" panose="02020603050405020304" pitchFamily="18" charset="0"/>
            </a:endParaRPr>
          </a:p>
        </p:txBody>
      </p:sp>
      <p:graphicFrame>
        <p:nvGraphicFramePr>
          <p:cNvPr id="2" name="对象 -2147482228"/>
          <p:cNvGraphicFramePr>
            <a:graphicFrameLocks noChangeAspect="1"/>
          </p:cNvGraphicFramePr>
          <p:nvPr/>
        </p:nvGraphicFramePr>
        <p:xfrm>
          <a:off x="3213735" y="236220"/>
          <a:ext cx="2019300" cy="1515110"/>
        </p:xfrm>
        <a:graphic>
          <a:graphicData uri="http://schemas.openxmlformats.org/presentationml/2006/ole">
            <mc:AlternateContent xmlns:mc="http://schemas.openxmlformats.org/markup-compatibility/2006">
              <mc:Choice xmlns:v="urn:schemas-microsoft-com:vml" Requires="v">
                <p:oleObj spid="_x0000_s5" name="" r:id="rId1" imgW="1257300" imgH="914400" progId="Equation.DSMT4">
                  <p:embed/>
                </p:oleObj>
              </mc:Choice>
              <mc:Fallback>
                <p:oleObj name="" r:id="rId1" imgW="1257300" imgH="914400" progId="Equation.DSMT4">
                  <p:embed/>
                  <p:pic>
                    <p:nvPicPr>
                      <p:cNvPr id="0" name="图片 4"/>
                      <p:cNvPicPr/>
                      <p:nvPr/>
                    </p:nvPicPr>
                    <p:blipFill>
                      <a:blip r:embed="rId2"/>
                      <a:stretch>
                        <a:fillRect/>
                      </a:stretch>
                    </p:blipFill>
                    <p:spPr>
                      <a:xfrm>
                        <a:off x="3213735" y="236220"/>
                        <a:ext cx="2019300" cy="1515110"/>
                      </a:xfrm>
                      <a:prstGeom prst="rect">
                        <a:avLst/>
                      </a:prstGeom>
                      <a:noFill/>
                      <a:ln w="38100">
                        <a:noFill/>
                        <a:miter/>
                      </a:ln>
                    </p:spPr>
                  </p:pic>
                </p:oleObj>
              </mc:Fallback>
            </mc:AlternateContent>
          </a:graphicData>
        </a:graphic>
      </p:graphicFrame>
      <p:sp>
        <p:nvSpPr>
          <p:cNvPr id="6" name="文本框 5"/>
          <p:cNvSpPr txBox="1"/>
          <p:nvPr/>
        </p:nvSpPr>
        <p:spPr>
          <a:xfrm>
            <a:off x="5135880" y="683260"/>
            <a:ext cx="2472690" cy="571500"/>
          </a:xfrm>
          <a:prstGeom prst="rect">
            <a:avLst/>
          </a:prstGeom>
          <a:noFill/>
        </p:spPr>
        <p:txBody>
          <a:bodyPr wrap="square" rtlCol="0">
            <a:noAutofit/>
          </a:bodyPr>
          <a:p>
            <a:r>
              <a:rPr lang="zh-CN" altLang="en-US" dirty="0">
                <a:sym typeface="+mn-ea"/>
              </a:rPr>
              <a:t>的代数余子式</a:t>
            </a:r>
            <a:endParaRPr lang="zh-CN" altLang="en-US" dirty="0"/>
          </a:p>
        </p:txBody>
      </p:sp>
      <p:graphicFrame>
        <p:nvGraphicFramePr>
          <p:cNvPr id="3" name="对象 -2147482227"/>
          <p:cNvGraphicFramePr>
            <a:graphicFrameLocks noChangeAspect="1"/>
          </p:cNvGraphicFramePr>
          <p:nvPr/>
        </p:nvGraphicFramePr>
        <p:xfrm>
          <a:off x="7333615" y="702945"/>
          <a:ext cx="1383665" cy="495300"/>
        </p:xfrm>
        <a:graphic>
          <a:graphicData uri="http://schemas.openxmlformats.org/presentationml/2006/ole">
            <mc:AlternateContent xmlns:mc="http://schemas.openxmlformats.org/markup-compatibility/2006">
              <mc:Choice xmlns:v="urn:schemas-microsoft-com:vml" Requires="v">
                <p:oleObj spid="_x0000_s7" name="" r:id="rId3" imgW="736600" imgH="228600" progId="Equation.DSMT4">
                  <p:embed/>
                </p:oleObj>
              </mc:Choice>
              <mc:Fallback>
                <p:oleObj name="" r:id="rId3" imgW="736600" imgH="228600" progId="Equation.DSMT4">
                  <p:embed/>
                  <p:pic>
                    <p:nvPicPr>
                      <p:cNvPr id="0" name="图片 6"/>
                      <p:cNvPicPr/>
                      <p:nvPr/>
                    </p:nvPicPr>
                    <p:blipFill>
                      <a:blip r:embed="rId4"/>
                      <a:stretch>
                        <a:fillRect/>
                      </a:stretch>
                    </p:blipFill>
                    <p:spPr>
                      <a:xfrm>
                        <a:off x="7333615" y="702945"/>
                        <a:ext cx="1383665" cy="495300"/>
                      </a:xfrm>
                      <a:prstGeom prst="rect">
                        <a:avLst/>
                      </a:prstGeom>
                      <a:noFill/>
                      <a:ln w="38100">
                        <a:noFill/>
                        <a:miter/>
                      </a:ln>
                    </p:spPr>
                  </p:pic>
                </p:oleObj>
              </mc:Fallback>
            </mc:AlternateContent>
          </a:graphicData>
        </a:graphic>
      </p:graphicFrame>
      <p:sp>
        <p:nvSpPr>
          <p:cNvPr id="8" name="文本框 7"/>
          <p:cNvSpPr txBox="1"/>
          <p:nvPr/>
        </p:nvSpPr>
        <p:spPr>
          <a:xfrm>
            <a:off x="899795" y="1680845"/>
            <a:ext cx="1924685" cy="521970"/>
          </a:xfrm>
          <a:prstGeom prst="rect">
            <a:avLst/>
          </a:prstGeom>
          <a:noFill/>
        </p:spPr>
        <p:txBody>
          <a:bodyPr wrap="square" rtlCol="0">
            <a:noAutofit/>
          </a:bodyPr>
          <a:p>
            <a:r>
              <a:rPr lang="zh-CN" altLang="en-US" dirty="0">
                <a:sym typeface="+mn-ea"/>
              </a:rPr>
              <a:t>的代数和</a:t>
            </a:r>
            <a:endParaRPr lang="zh-CN" altLang="en-US" dirty="0"/>
          </a:p>
        </p:txBody>
      </p:sp>
      <p:graphicFrame>
        <p:nvGraphicFramePr>
          <p:cNvPr id="4" name="对象 -2147482226"/>
          <p:cNvGraphicFramePr>
            <a:graphicFrameLocks noChangeAspect="1"/>
          </p:cNvGraphicFramePr>
          <p:nvPr/>
        </p:nvGraphicFramePr>
        <p:xfrm>
          <a:off x="2440940" y="1675765"/>
          <a:ext cx="2505710" cy="589280"/>
        </p:xfrm>
        <a:graphic>
          <a:graphicData uri="http://schemas.openxmlformats.org/presentationml/2006/ole">
            <mc:AlternateContent xmlns:mc="http://schemas.openxmlformats.org/markup-compatibility/2006">
              <mc:Choice xmlns:v="urn:schemas-microsoft-com:vml" Requires="v">
                <p:oleObj spid="_x0000_s9" name="" r:id="rId5" imgW="1130300" imgH="228600" progId="Equation.DSMT4">
                  <p:embed/>
                </p:oleObj>
              </mc:Choice>
              <mc:Fallback>
                <p:oleObj name="" r:id="rId5" imgW="1130300" imgH="228600" progId="Equation.DSMT4">
                  <p:embed/>
                  <p:pic>
                    <p:nvPicPr>
                      <p:cNvPr id="0" name="图片 8"/>
                      <p:cNvPicPr/>
                      <p:nvPr/>
                    </p:nvPicPr>
                    <p:blipFill>
                      <a:blip r:embed="rId6"/>
                      <a:stretch>
                        <a:fillRect/>
                      </a:stretch>
                    </p:blipFill>
                    <p:spPr>
                      <a:xfrm>
                        <a:off x="2440940" y="1675765"/>
                        <a:ext cx="2505710" cy="589280"/>
                      </a:xfrm>
                      <a:prstGeom prst="rect">
                        <a:avLst/>
                      </a:prstGeom>
                      <a:noFill/>
                      <a:ln w="38100">
                        <a:noFill/>
                        <a:miter/>
                      </a:ln>
                    </p:spPr>
                  </p:pic>
                </p:oleObj>
              </mc:Fallback>
            </mc:AlternateContent>
          </a:graphicData>
        </a:graphic>
      </p:graphicFrame>
      <p:graphicFrame>
        <p:nvGraphicFramePr>
          <p:cNvPr id="10" name="对象 -2147482224"/>
          <p:cNvGraphicFramePr>
            <a:graphicFrameLocks noChangeAspect="1"/>
          </p:cNvGraphicFramePr>
          <p:nvPr/>
        </p:nvGraphicFramePr>
        <p:xfrm>
          <a:off x="2918460" y="2872740"/>
          <a:ext cx="2109470" cy="1489075"/>
        </p:xfrm>
        <a:graphic>
          <a:graphicData uri="http://schemas.openxmlformats.org/presentationml/2006/ole">
            <mc:AlternateContent xmlns:mc="http://schemas.openxmlformats.org/markup-compatibility/2006">
              <mc:Choice xmlns:v="urn:schemas-microsoft-com:vml" Requires="v">
                <p:oleObj spid="_x0000_s11" name="" r:id="rId7" imgW="1295400" imgH="914400" progId="Equation.DSMT4">
                  <p:embed/>
                </p:oleObj>
              </mc:Choice>
              <mc:Fallback>
                <p:oleObj name="" r:id="rId7" imgW="1295400" imgH="914400" progId="Equation.DSMT4">
                  <p:embed/>
                  <p:pic>
                    <p:nvPicPr>
                      <p:cNvPr id="0" name="图片 9"/>
                      <p:cNvPicPr/>
                      <p:nvPr/>
                    </p:nvPicPr>
                    <p:blipFill>
                      <a:blip r:embed="rId8"/>
                      <a:stretch>
                        <a:fillRect/>
                      </a:stretch>
                    </p:blipFill>
                    <p:spPr>
                      <a:xfrm>
                        <a:off x="2918460" y="2872740"/>
                        <a:ext cx="2109470" cy="1489075"/>
                      </a:xfrm>
                      <a:prstGeom prst="rect">
                        <a:avLst/>
                      </a:prstGeom>
                      <a:noFill/>
                      <a:ln w="38100">
                        <a:noFill/>
                        <a:miter/>
                      </a:ln>
                    </p:spPr>
                  </p:pic>
                </p:oleObj>
              </mc:Fallback>
            </mc:AlternateContent>
          </a:graphicData>
        </a:graphic>
      </p:graphicFrame>
      <p:grpSp>
        <p:nvGrpSpPr>
          <p:cNvPr id="16" name="组合 15"/>
          <p:cNvGrpSpPr/>
          <p:nvPr/>
        </p:nvGrpSpPr>
        <p:grpSpPr>
          <a:xfrm>
            <a:off x="685165" y="4379595"/>
            <a:ext cx="8131810" cy="1935480"/>
            <a:chOff x="1079" y="7437"/>
            <a:chExt cx="12806" cy="3048"/>
          </a:xfrm>
        </p:grpSpPr>
        <p:sp>
          <p:nvSpPr>
            <p:cNvPr id="12" name="文本框 11"/>
            <p:cNvSpPr txBox="1"/>
            <p:nvPr/>
          </p:nvSpPr>
          <p:spPr>
            <a:xfrm>
              <a:off x="1079" y="7437"/>
              <a:ext cx="12806" cy="2948"/>
            </a:xfrm>
            <a:prstGeom prst="rect">
              <a:avLst/>
            </a:prstGeom>
            <a:noFill/>
          </p:spPr>
          <p:txBody>
            <a:bodyPr wrap="square" rtlCol="0" anchor="t">
              <a:noAutofit/>
            </a:bodyPr>
            <a:p>
              <a:pPr>
                <a:lnSpc>
                  <a:spcPct val="110000"/>
                </a:lnSpc>
              </a:pPr>
              <a:r>
                <a:rPr lang="en-US" altLang="zh-CN" i="1">
                  <a:latin typeface="+mn-lt"/>
                  <a:ea typeface="+mn-ea"/>
                  <a:cs typeface="+mn-lt"/>
                  <a:sym typeface="+mn-ea"/>
                </a:rPr>
                <a:t>D</a:t>
              </a:r>
              <a:r>
                <a:rPr lang="en-US" altLang="zh-CN" baseline="-25000">
                  <a:latin typeface="+mn-lt"/>
                  <a:ea typeface="+mn-ea"/>
                  <a:cs typeface="+mn-lt"/>
                  <a:sym typeface="+mn-ea"/>
                </a:rPr>
                <a:t>1</a:t>
              </a:r>
              <a:r>
                <a:rPr lang="zh-CN" altLang="en-US">
                  <a:latin typeface="+mn-ea"/>
                  <a:ea typeface="+mn-ea"/>
                  <a:sym typeface="+mn-ea"/>
                </a:rPr>
                <a:t>与</a:t>
              </a:r>
              <a:r>
                <a:rPr lang="en-US" altLang="zh-CN" i="1">
                  <a:latin typeface="+mn-lt"/>
                  <a:ea typeface="+mn-ea"/>
                  <a:cs typeface="+mn-lt"/>
                  <a:sym typeface="+mn-ea"/>
                </a:rPr>
                <a:t>D</a:t>
              </a:r>
              <a:r>
                <a:rPr lang="zh-CN" altLang="en-US">
                  <a:latin typeface="+mn-ea"/>
                  <a:ea typeface="+mn-ea"/>
                  <a:sym typeface="+mn-ea"/>
                </a:rPr>
                <a:t>具有相同的代数余子式</a:t>
              </a:r>
              <a:r>
                <a:rPr lang="en-US" altLang="zh-CN">
                  <a:latin typeface="+mn-ea"/>
                  <a:ea typeface="+mn-ea"/>
                  <a:sym typeface="+mn-ea"/>
                </a:rPr>
                <a:t>            </a:t>
              </a:r>
              <a:r>
                <a:rPr lang="zh-CN" altLang="en-US">
                  <a:latin typeface="+mn-ea"/>
                  <a:ea typeface="+mn-ea"/>
                  <a:sym typeface="+mn-ea"/>
                </a:rPr>
                <a:t>．将行列式</a:t>
              </a:r>
              <a:r>
                <a:rPr lang="en-US" altLang="zh-CN" i="1">
                  <a:latin typeface="+mn-lt"/>
                  <a:ea typeface="+mn-ea"/>
                  <a:cs typeface="+mn-lt"/>
                  <a:sym typeface="+mn-ea"/>
                </a:rPr>
                <a:t>D</a:t>
              </a:r>
              <a:r>
                <a:rPr lang="en-US" altLang="zh-CN" baseline="-25000">
                  <a:latin typeface="+mn-lt"/>
                  <a:ea typeface="+mn-ea"/>
                  <a:cs typeface="+mn-lt"/>
                  <a:sym typeface="+mn-ea"/>
                </a:rPr>
                <a:t>1</a:t>
              </a:r>
              <a:r>
                <a:rPr lang="zh-CN" altLang="en-US">
                  <a:latin typeface="+mn-ea"/>
                  <a:ea typeface="+mn-ea"/>
                  <a:sym typeface="+mn-ea"/>
                </a:rPr>
                <a:t>按第一行展开得</a:t>
              </a:r>
              <a:r>
                <a:rPr lang="en-US" altLang="zh-CN">
                  <a:latin typeface="+mn-ea"/>
                  <a:ea typeface="+mn-ea"/>
                  <a:sym typeface="+mn-ea"/>
                </a:rPr>
                <a:t>              .</a:t>
              </a:r>
              <a:r>
                <a:rPr lang="zh-CN" altLang="en-US">
                  <a:latin typeface="+mn-ea"/>
                  <a:ea typeface="+mn-ea"/>
                  <a:sym typeface="+mn-ea"/>
                </a:rPr>
                <a:t>另一方面，因为行列式</a:t>
              </a:r>
              <a:r>
                <a:rPr lang="en-US" altLang="zh-CN" i="1">
                  <a:latin typeface="+mn-lt"/>
                  <a:ea typeface="+mn-ea"/>
                  <a:cs typeface="+mn-lt"/>
                  <a:sym typeface="+mn-ea"/>
                </a:rPr>
                <a:t>D</a:t>
              </a:r>
              <a:r>
                <a:rPr lang="en-US" altLang="zh-CN" baseline="-25000">
                  <a:latin typeface="+mn-lt"/>
                  <a:ea typeface="+mn-ea"/>
                  <a:cs typeface="+mn-lt"/>
                  <a:sym typeface="+mn-ea"/>
                </a:rPr>
                <a:t>1</a:t>
              </a:r>
              <a:r>
                <a:rPr lang="zh-CN" altLang="en-US">
                  <a:latin typeface="+mn-ea"/>
                  <a:ea typeface="+mn-ea"/>
                  <a:sym typeface="+mn-ea"/>
                </a:rPr>
                <a:t>的第一行与第三行对应位置元素都相等，故知</a:t>
              </a:r>
              <a:r>
                <a:rPr lang="en-US" altLang="zh-CN" i="1">
                  <a:latin typeface="+mn-lt"/>
                  <a:ea typeface="+mn-ea"/>
                  <a:cs typeface="+mn-lt"/>
                  <a:sym typeface="+mn-ea"/>
                </a:rPr>
                <a:t>D</a:t>
              </a:r>
              <a:r>
                <a:rPr lang="en-US" altLang="zh-CN" baseline="-25000">
                  <a:latin typeface="+mn-lt"/>
                  <a:ea typeface="+mn-ea"/>
                  <a:cs typeface="+mn-lt"/>
                  <a:sym typeface="+mn-ea"/>
                </a:rPr>
                <a:t>1</a:t>
              </a:r>
              <a:r>
                <a:rPr lang="en-US" altLang="zh-CN">
                  <a:latin typeface="+mn-lt"/>
                  <a:ea typeface="+mn-ea"/>
                  <a:cs typeface="+mn-lt"/>
                  <a:sym typeface="+mn-ea"/>
                </a:rPr>
                <a:t>=0</a:t>
              </a:r>
              <a:r>
                <a:rPr lang="zh-CN" altLang="en-US">
                  <a:latin typeface="+mn-ea"/>
                  <a:ea typeface="+mn-ea"/>
                  <a:sym typeface="+mn-ea"/>
                </a:rPr>
                <a:t>，所以</a:t>
              </a:r>
              <a:r>
                <a:rPr lang="en-US" altLang="zh-CN">
                  <a:latin typeface="+mn-ea"/>
                  <a:ea typeface="+mn-ea"/>
                  <a:sym typeface="+mn-ea"/>
                </a:rPr>
                <a:t>                   </a:t>
              </a:r>
              <a:r>
                <a:rPr lang="zh-CN" altLang="en-US">
                  <a:latin typeface="+mn-ea"/>
                  <a:ea typeface="+mn-ea"/>
                  <a:sym typeface="+mn-ea"/>
                </a:rPr>
                <a:t>．</a:t>
              </a:r>
              <a:endParaRPr lang="zh-CN" altLang="en-US">
                <a:latin typeface="+mn-ea"/>
                <a:ea typeface="+mn-ea"/>
                <a:sym typeface="+mn-ea"/>
              </a:endParaRPr>
            </a:p>
          </p:txBody>
        </p:sp>
        <p:graphicFrame>
          <p:nvGraphicFramePr>
            <p:cNvPr id="13" name="对象 -2147482221"/>
            <p:cNvGraphicFramePr>
              <a:graphicFrameLocks noChangeAspect="1"/>
            </p:cNvGraphicFramePr>
            <p:nvPr/>
          </p:nvGraphicFramePr>
          <p:xfrm>
            <a:off x="8560" y="7554"/>
            <a:ext cx="3266" cy="754"/>
          </p:xfrm>
          <a:graphic>
            <a:graphicData uri="http://schemas.openxmlformats.org/presentationml/2006/ole">
              <mc:AlternateContent xmlns:mc="http://schemas.openxmlformats.org/markup-compatibility/2006">
                <mc:Choice xmlns:v="urn:schemas-microsoft-com:vml" Requires="v">
                  <p:oleObj spid="_x0000_s14" name="" r:id="rId9" imgW="989965" imgH="228600" progId="Equation.DSMT4">
                    <p:embed/>
                  </p:oleObj>
                </mc:Choice>
                <mc:Fallback>
                  <p:oleObj name="" r:id="rId9" imgW="989965" imgH="228600" progId="Equation.DSMT4">
                    <p:embed/>
                    <p:pic>
                      <p:nvPicPr>
                        <p:cNvPr id="0" name="图片 12"/>
                        <p:cNvPicPr/>
                        <p:nvPr/>
                      </p:nvPicPr>
                      <p:blipFill>
                        <a:blip r:embed="rId10"/>
                        <a:stretch>
                          <a:fillRect/>
                        </a:stretch>
                      </p:blipFill>
                      <p:spPr>
                        <a:xfrm>
                          <a:off x="8560" y="7554"/>
                          <a:ext cx="3266" cy="754"/>
                        </a:xfrm>
                        <a:prstGeom prst="rect">
                          <a:avLst/>
                        </a:prstGeom>
                        <a:noFill/>
                        <a:ln w="38100">
                          <a:noFill/>
                          <a:miter/>
                        </a:ln>
                      </p:spPr>
                    </p:pic>
                  </p:oleObj>
                </mc:Fallback>
              </mc:AlternateContent>
            </a:graphicData>
          </a:graphic>
        </p:graphicFrame>
        <p:graphicFrame>
          <p:nvGraphicFramePr>
            <p:cNvPr id="15" name="对象 -2147482219"/>
            <p:cNvGraphicFramePr>
              <a:graphicFrameLocks noChangeAspect="1"/>
            </p:cNvGraphicFramePr>
            <p:nvPr/>
          </p:nvGraphicFramePr>
          <p:xfrm>
            <a:off x="7000" y="8179"/>
            <a:ext cx="3848" cy="783"/>
          </p:xfrm>
          <a:graphic>
            <a:graphicData uri="http://schemas.openxmlformats.org/presentationml/2006/ole">
              <mc:AlternateContent xmlns:mc="http://schemas.openxmlformats.org/markup-compatibility/2006">
                <mc:Choice xmlns:v="urn:schemas-microsoft-com:vml" Requires="v">
                  <p:oleObj spid="_x0000_s17" name="" r:id="rId11" imgW="1091565" imgH="228600" progId="Equation.DSMT4">
                    <p:embed/>
                  </p:oleObj>
                </mc:Choice>
                <mc:Fallback>
                  <p:oleObj name="" r:id="rId11" imgW="1091565" imgH="228600" progId="Equation.DSMT4">
                    <p:embed/>
                    <p:pic>
                      <p:nvPicPr>
                        <p:cNvPr id="0" name="图片 13"/>
                        <p:cNvPicPr/>
                        <p:nvPr/>
                      </p:nvPicPr>
                      <p:blipFill>
                        <a:blip r:embed="rId12"/>
                        <a:stretch>
                          <a:fillRect/>
                        </a:stretch>
                      </p:blipFill>
                      <p:spPr>
                        <a:xfrm>
                          <a:off x="7000" y="8179"/>
                          <a:ext cx="3848" cy="783"/>
                        </a:xfrm>
                        <a:prstGeom prst="rect">
                          <a:avLst/>
                        </a:prstGeom>
                        <a:noFill/>
                        <a:ln w="38100">
                          <a:noFill/>
                          <a:miter/>
                        </a:ln>
                      </p:spPr>
                    </p:pic>
                  </p:oleObj>
                </mc:Fallback>
              </mc:AlternateContent>
            </a:graphicData>
          </a:graphic>
        </p:graphicFrame>
        <p:graphicFrame>
          <p:nvGraphicFramePr>
            <p:cNvPr id="18" name="对象 -2147482216"/>
            <p:cNvGraphicFramePr>
              <a:graphicFrameLocks noChangeAspect="1"/>
            </p:cNvGraphicFramePr>
            <p:nvPr/>
          </p:nvGraphicFramePr>
          <p:xfrm>
            <a:off x="6466" y="9595"/>
            <a:ext cx="5127" cy="890"/>
          </p:xfrm>
          <a:graphic>
            <a:graphicData uri="http://schemas.openxmlformats.org/presentationml/2006/ole">
              <mc:AlternateContent xmlns:mc="http://schemas.openxmlformats.org/markup-compatibility/2006">
                <mc:Choice xmlns:v="urn:schemas-microsoft-com:vml" Requires="v">
                  <p:oleObj spid="_x0000_s19" name="" r:id="rId13" imgW="1638300" imgH="228600" progId="Equation.DSMT4">
                    <p:embed/>
                  </p:oleObj>
                </mc:Choice>
                <mc:Fallback>
                  <p:oleObj name="" r:id="rId13" imgW="1638300" imgH="228600" progId="Equation.DSMT4">
                    <p:embed/>
                    <p:pic>
                      <p:nvPicPr>
                        <p:cNvPr id="0" name="图片 14"/>
                        <p:cNvPicPr/>
                        <p:nvPr/>
                      </p:nvPicPr>
                      <p:blipFill>
                        <a:blip r:embed="rId14"/>
                        <a:stretch>
                          <a:fillRect/>
                        </a:stretch>
                      </p:blipFill>
                      <p:spPr>
                        <a:xfrm>
                          <a:off x="6466" y="9595"/>
                          <a:ext cx="5127" cy="890"/>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5651">
                                            <p:txEl>
                                              <p:charRg st="0" end="13"/>
                                            </p:txEl>
                                          </p:spTgt>
                                        </p:tgtEl>
                                        <p:attrNameLst>
                                          <p:attrName>style.visibility</p:attrName>
                                        </p:attrNameLst>
                                      </p:cBhvr>
                                      <p:to>
                                        <p:strVal val="visible"/>
                                      </p:to>
                                    </p:set>
                                    <p:animEffect transition="in" filter="box(out)">
                                      <p:cBhvr>
                                        <p:cTn id="7" dur="500"/>
                                        <p:tgtEl>
                                          <p:spTgt spid="155651">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5651" name="文本框 155650"/>
          <p:cNvSpPr txBox="1"/>
          <p:nvPr/>
        </p:nvSpPr>
        <p:spPr>
          <a:xfrm>
            <a:off x="1115695" y="3023870"/>
            <a:ext cx="5240020" cy="687705"/>
          </a:xfrm>
          <a:prstGeom prst="rect">
            <a:avLst/>
          </a:prstGeom>
          <a:noFill/>
          <a:ln w="9525">
            <a:noFill/>
          </a:ln>
        </p:spPr>
        <p:txBody>
          <a:bodyPr wrap="none" anchor="t" anchorCtr="0">
            <a:noAutofit/>
          </a:bodyPr>
          <a:p>
            <a:r>
              <a:rPr lang="zh-CN" altLang="en-US" dirty="0">
                <a:solidFill>
                  <a:schemeClr val="hlink"/>
                </a:solidFill>
                <a:latin typeface="Times New Roman" panose="02020603050405020304" pitchFamily="18" charset="0"/>
                <a:ea typeface="黑体" panose="02010609060101010101" pitchFamily="2" charset="-122"/>
              </a:rPr>
              <a:t>解</a:t>
            </a:r>
            <a:r>
              <a:rPr lang="en-US" altLang="zh-CN">
                <a:solidFill>
                  <a:schemeClr val="hlink"/>
                </a:solidFill>
                <a:latin typeface="Times New Roman" panose="02020603050405020304" pitchFamily="18" charset="0"/>
                <a:ea typeface="黑体" panose="02010609060101010101" pitchFamily="2" charset="-122"/>
              </a:rPr>
              <a:t>: </a:t>
            </a:r>
            <a:r>
              <a:rPr lang="en-US" altLang="zh-CN" sz="2400">
                <a:latin typeface="Times New Roman" panose="02020603050405020304" pitchFamily="18" charset="0"/>
                <a:ea typeface="黑体" panose="02010609060101010101" pitchFamily="2" charset="-122"/>
              </a:rPr>
              <a:t>  </a:t>
            </a:r>
            <a:r>
              <a:rPr lang="zh-CN" altLang="en-US" b="0">
                <a:latin typeface="+mn-ea"/>
                <a:ea typeface="+mn-ea"/>
              </a:rPr>
              <a:t>将行列式</a:t>
            </a:r>
            <a:r>
              <a:rPr lang="en-US" altLang="zh-CN" b="0">
                <a:latin typeface="+mn-ea"/>
                <a:ea typeface="+mn-ea"/>
              </a:rPr>
              <a:t>   </a:t>
            </a:r>
            <a:r>
              <a:rPr lang="zh-CN" altLang="en-US" b="0">
                <a:latin typeface="+mn-ea"/>
                <a:ea typeface="+mn-ea"/>
              </a:rPr>
              <a:t>按第</a:t>
            </a:r>
            <a:r>
              <a:rPr lang="en-US" altLang="zh-CN" b="0" i="1">
                <a:latin typeface="+mn-ea"/>
                <a:ea typeface="+mn-ea"/>
              </a:rPr>
              <a:t>n</a:t>
            </a:r>
            <a:r>
              <a:rPr lang="zh-CN" altLang="en-US" b="0">
                <a:latin typeface="+mn-ea"/>
                <a:ea typeface="+mn-ea"/>
              </a:rPr>
              <a:t>行展开，得</a:t>
            </a:r>
            <a:endParaRPr lang="zh-CN" altLang="en-US" b="0">
              <a:latin typeface="+mn-ea"/>
              <a:ea typeface="+mn-ea"/>
            </a:endParaRPr>
          </a:p>
        </p:txBody>
      </p:sp>
      <p:sp>
        <p:nvSpPr>
          <p:cNvPr id="155656" name="矩形 155655"/>
          <p:cNvSpPr/>
          <p:nvPr/>
        </p:nvSpPr>
        <p:spPr>
          <a:xfrm>
            <a:off x="429895" y="908685"/>
            <a:ext cx="4047490" cy="573405"/>
          </a:xfrm>
          <a:prstGeom prst="rect">
            <a:avLst/>
          </a:prstGeom>
          <a:noFill/>
          <a:ln w="9525">
            <a:noFill/>
          </a:ln>
        </p:spPr>
        <p:txBody>
          <a:bodyPr wrap="square">
            <a:noAutofit/>
          </a:bodyPr>
          <a:p>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1.3.</a:t>
            </a:r>
            <a:r>
              <a:rPr lang="en-US" altLang="zh-CN">
                <a:solidFill>
                  <a:srgbClr val="FF0000"/>
                </a:solidFill>
                <a:latin typeface="Times New Roman" panose="02020603050405020304" pitchFamily="18" charset="0"/>
                <a:ea typeface="黑体" panose="02010609060101010101" pitchFamily="2" charset="-122"/>
              </a:rPr>
              <a:t>3</a:t>
            </a:r>
            <a:r>
              <a:rPr lang="en-US" altLang="zh-CN">
                <a:solidFill>
                  <a:schemeClr val="hlink"/>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rPr>
              <a:t> </a:t>
            </a:r>
            <a:r>
              <a:rPr lang="zh-CN" altLang="en-US">
                <a:latin typeface="Times New Roman" panose="02020603050405020304" pitchFamily="18" charset="0"/>
              </a:rPr>
              <a:t>计算</a:t>
            </a:r>
            <a:r>
              <a:rPr lang="en-US" altLang="zh-CN" i="1" dirty="0">
                <a:latin typeface="Times New Roman" panose="02020603050405020304" pitchFamily="18" charset="0"/>
              </a:rPr>
              <a:t>n</a:t>
            </a:r>
            <a:r>
              <a:rPr lang="zh-CN" altLang="en-US" dirty="0">
                <a:sym typeface="+mn-ea"/>
              </a:rPr>
              <a:t>阶</a:t>
            </a:r>
            <a:r>
              <a:rPr lang="zh-CN" altLang="en-US" dirty="0">
                <a:latin typeface="Times New Roman" panose="02020603050405020304" pitchFamily="18" charset="0"/>
              </a:rPr>
              <a:t>行列式</a:t>
            </a:r>
            <a:endParaRPr lang="zh-CN" altLang="en-US" dirty="0">
              <a:latin typeface="Times New Roman" panose="02020603050405020304" pitchFamily="18" charset="0"/>
            </a:endParaRPr>
          </a:p>
        </p:txBody>
      </p:sp>
      <p:graphicFrame>
        <p:nvGraphicFramePr>
          <p:cNvPr id="2" name="对象 -2147482214"/>
          <p:cNvGraphicFramePr>
            <a:graphicFrameLocks noChangeAspect="1"/>
          </p:cNvGraphicFramePr>
          <p:nvPr/>
        </p:nvGraphicFramePr>
        <p:xfrm>
          <a:off x="3827780" y="300355"/>
          <a:ext cx="3902075" cy="2723515"/>
        </p:xfrm>
        <a:graphic>
          <a:graphicData uri="http://schemas.openxmlformats.org/presentationml/2006/ole">
            <mc:AlternateContent xmlns:mc="http://schemas.openxmlformats.org/markup-compatibility/2006">
              <mc:Choice xmlns:v="urn:schemas-microsoft-com:vml" Requires="v">
                <p:oleObj spid="_x0000_s3076" name="" r:id="rId1" imgW="2006600" imgH="1397000" progId="Equation.3">
                  <p:embed/>
                </p:oleObj>
              </mc:Choice>
              <mc:Fallback>
                <p:oleObj name="" r:id="rId1" imgW="2006600" imgH="1397000" progId="Equation.3">
                  <p:embed/>
                  <p:pic>
                    <p:nvPicPr>
                      <p:cNvPr id="0" name="图片 3075"/>
                      <p:cNvPicPr/>
                      <p:nvPr/>
                    </p:nvPicPr>
                    <p:blipFill>
                      <a:blip r:embed="rId2"/>
                      <a:stretch>
                        <a:fillRect/>
                      </a:stretch>
                    </p:blipFill>
                    <p:spPr>
                      <a:xfrm>
                        <a:off x="3827780" y="300355"/>
                        <a:ext cx="3902075" cy="2723515"/>
                      </a:xfrm>
                      <a:prstGeom prst="rect">
                        <a:avLst/>
                      </a:prstGeom>
                      <a:noFill/>
                      <a:ln w="38100">
                        <a:noFill/>
                        <a:miter/>
                      </a:ln>
                    </p:spPr>
                  </p:pic>
                </p:oleObj>
              </mc:Fallback>
            </mc:AlternateContent>
          </a:graphicData>
        </a:graphic>
      </p:graphicFrame>
      <p:graphicFrame>
        <p:nvGraphicFramePr>
          <p:cNvPr id="3" name="对象 -2147482212"/>
          <p:cNvGraphicFramePr>
            <a:graphicFrameLocks noChangeAspect="1"/>
          </p:cNvGraphicFramePr>
          <p:nvPr/>
        </p:nvGraphicFramePr>
        <p:xfrm>
          <a:off x="827405" y="3622358"/>
          <a:ext cx="6802755" cy="610870"/>
        </p:xfrm>
        <a:graphic>
          <a:graphicData uri="http://schemas.openxmlformats.org/presentationml/2006/ole">
            <mc:AlternateContent xmlns:mc="http://schemas.openxmlformats.org/markup-compatibility/2006">
              <mc:Choice xmlns:v="urn:schemas-microsoft-com:vml" Requires="v">
                <p:oleObj spid="_x0000_s20" name="" r:id="rId3" imgW="3162300" imgH="241300" progId="Equation.DSMT4">
                  <p:embed/>
                </p:oleObj>
              </mc:Choice>
              <mc:Fallback>
                <p:oleObj name="" r:id="rId3" imgW="3162300" imgH="241300" progId="Equation.DSMT4">
                  <p:embed/>
                  <p:pic>
                    <p:nvPicPr>
                      <p:cNvPr id="0" name="图片 19"/>
                      <p:cNvPicPr/>
                      <p:nvPr/>
                    </p:nvPicPr>
                    <p:blipFill>
                      <a:blip r:embed="rId4"/>
                      <a:stretch>
                        <a:fillRect/>
                      </a:stretch>
                    </p:blipFill>
                    <p:spPr>
                      <a:xfrm>
                        <a:off x="827405" y="3622358"/>
                        <a:ext cx="6802755" cy="610870"/>
                      </a:xfrm>
                      <a:prstGeom prst="rect">
                        <a:avLst/>
                      </a:prstGeom>
                      <a:noFill/>
                      <a:ln w="38100">
                        <a:noFill/>
                        <a:miter/>
                      </a:ln>
                    </p:spPr>
                  </p:pic>
                </p:oleObj>
              </mc:Fallback>
            </mc:AlternateContent>
          </a:graphicData>
        </a:graphic>
      </p:graphicFrame>
      <p:sp>
        <p:nvSpPr>
          <p:cNvPr id="21" name="文本框 20"/>
          <p:cNvSpPr txBox="1"/>
          <p:nvPr/>
        </p:nvSpPr>
        <p:spPr>
          <a:xfrm>
            <a:off x="893445" y="4272280"/>
            <a:ext cx="1645285" cy="621665"/>
          </a:xfrm>
          <a:prstGeom prst="rect">
            <a:avLst/>
          </a:prstGeom>
          <a:noFill/>
        </p:spPr>
        <p:txBody>
          <a:bodyPr wrap="square" rtlCol="0" anchor="t">
            <a:noAutofit/>
          </a:bodyPr>
          <a:p>
            <a:r>
              <a:rPr lang="zh-CN" altLang="en-US" b="0">
                <a:latin typeface="+mn-ea"/>
                <a:ea typeface="+mn-ea"/>
                <a:sym typeface="+mn-ea"/>
              </a:rPr>
              <a:t>递推可得</a:t>
            </a:r>
            <a:endParaRPr lang="zh-CN" altLang="en-US" b="0">
              <a:latin typeface="+mn-ea"/>
              <a:ea typeface="+mn-ea"/>
              <a:sym typeface="+mn-ea"/>
            </a:endParaRPr>
          </a:p>
        </p:txBody>
      </p:sp>
      <p:grpSp>
        <p:nvGrpSpPr>
          <p:cNvPr id="29" name="组合 28"/>
          <p:cNvGrpSpPr/>
          <p:nvPr/>
        </p:nvGrpSpPr>
        <p:grpSpPr>
          <a:xfrm>
            <a:off x="2699385" y="4289425"/>
            <a:ext cx="2250440" cy="2001520"/>
            <a:chOff x="4251" y="7214"/>
            <a:chExt cx="3544" cy="2929"/>
          </a:xfrm>
        </p:grpSpPr>
        <p:graphicFrame>
          <p:nvGraphicFramePr>
            <p:cNvPr id="4" name="对象 -2147482210"/>
            <p:cNvGraphicFramePr>
              <a:graphicFrameLocks noChangeAspect="1"/>
            </p:cNvGraphicFramePr>
            <p:nvPr/>
          </p:nvGraphicFramePr>
          <p:xfrm>
            <a:off x="4251" y="7214"/>
            <a:ext cx="3544" cy="709"/>
          </p:xfrm>
          <a:graphic>
            <a:graphicData uri="http://schemas.openxmlformats.org/presentationml/2006/ole">
              <mc:AlternateContent xmlns:mc="http://schemas.openxmlformats.org/markup-compatibility/2006">
                <mc:Choice xmlns:v="urn:schemas-microsoft-com:vml" Requires="v">
                  <p:oleObj spid="_x0000_s22" name="" r:id="rId5" imgW="1143000" imgH="228600" progId="Equation.DSMT4">
                    <p:embed/>
                  </p:oleObj>
                </mc:Choice>
                <mc:Fallback>
                  <p:oleObj name="" r:id="rId5" imgW="1143000" imgH="228600" progId="Equation.DSMT4">
                    <p:embed/>
                    <p:pic>
                      <p:nvPicPr>
                        <p:cNvPr id="0" name="图片 21"/>
                        <p:cNvPicPr/>
                        <p:nvPr/>
                      </p:nvPicPr>
                      <p:blipFill>
                        <a:blip r:embed="rId6"/>
                        <a:stretch>
                          <a:fillRect/>
                        </a:stretch>
                      </p:blipFill>
                      <p:spPr>
                        <a:xfrm>
                          <a:off x="4251" y="7214"/>
                          <a:ext cx="3544" cy="709"/>
                        </a:xfrm>
                        <a:prstGeom prst="rect">
                          <a:avLst/>
                        </a:prstGeom>
                        <a:noFill/>
                        <a:ln w="38100">
                          <a:noFill/>
                          <a:miter/>
                        </a:ln>
                      </p:spPr>
                    </p:pic>
                  </p:oleObj>
                </mc:Fallback>
              </mc:AlternateContent>
            </a:graphicData>
          </a:graphic>
        </p:graphicFrame>
        <p:graphicFrame>
          <p:nvGraphicFramePr>
            <p:cNvPr id="5" name="对象 -2147482209"/>
            <p:cNvGraphicFramePr>
              <a:graphicFrameLocks noChangeAspect="1"/>
            </p:cNvGraphicFramePr>
            <p:nvPr/>
          </p:nvGraphicFramePr>
          <p:xfrm>
            <a:off x="5272" y="8008"/>
            <a:ext cx="1268" cy="407"/>
          </p:xfrm>
          <a:graphic>
            <a:graphicData uri="http://schemas.openxmlformats.org/presentationml/2006/ole">
              <mc:AlternateContent xmlns:mc="http://schemas.openxmlformats.org/markup-compatibility/2006">
                <mc:Choice xmlns:v="urn:schemas-microsoft-com:vml" Requires="v">
                  <p:oleObj spid="_x0000_s23" name="" r:id="rId7" imgW="317500" imgH="101600" progId="Equation.DSMT4">
                    <p:embed/>
                  </p:oleObj>
                </mc:Choice>
                <mc:Fallback>
                  <p:oleObj name="" r:id="rId7" imgW="317500" imgH="101600" progId="Equation.DSMT4">
                    <p:embed/>
                    <p:pic>
                      <p:nvPicPr>
                        <p:cNvPr id="0" name="图片 22"/>
                        <p:cNvPicPr/>
                        <p:nvPr/>
                      </p:nvPicPr>
                      <p:blipFill>
                        <a:blip r:embed="rId8"/>
                        <a:stretch>
                          <a:fillRect/>
                        </a:stretch>
                      </p:blipFill>
                      <p:spPr>
                        <a:xfrm>
                          <a:off x="5272" y="8008"/>
                          <a:ext cx="1268" cy="407"/>
                        </a:xfrm>
                        <a:prstGeom prst="rect">
                          <a:avLst/>
                        </a:prstGeom>
                        <a:noFill/>
                        <a:ln w="38100">
                          <a:noFill/>
                          <a:miter/>
                        </a:ln>
                      </p:spPr>
                    </p:pic>
                  </p:oleObj>
                </mc:Fallback>
              </mc:AlternateContent>
            </a:graphicData>
          </a:graphic>
        </p:graphicFrame>
        <p:graphicFrame>
          <p:nvGraphicFramePr>
            <p:cNvPr id="6" name="对象 -2147482208"/>
            <p:cNvGraphicFramePr>
              <a:graphicFrameLocks noChangeAspect="1"/>
            </p:cNvGraphicFramePr>
            <p:nvPr/>
          </p:nvGraphicFramePr>
          <p:xfrm>
            <a:off x="4591" y="8500"/>
            <a:ext cx="2988" cy="802"/>
          </p:xfrm>
          <a:graphic>
            <a:graphicData uri="http://schemas.openxmlformats.org/presentationml/2006/ole">
              <mc:AlternateContent xmlns:mc="http://schemas.openxmlformats.org/markup-compatibility/2006">
                <mc:Choice xmlns:v="urn:schemas-microsoft-com:vml" Requires="v">
                  <p:oleObj spid="_x0000_s24" name="" r:id="rId9" imgW="850900" imgH="228600" progId="Equation.DSMT4">
                    <p:embed/>
                  </p:oleObj>
                </mc:Choice>
                <mc:Fallback>
                  <p:oleObj name="" r:id="rId9" imgW="850900" imgH="228600" progId="Equation.DSMT4">
                    <p:embed/>
                    <p:pic>
                      <p:nvPicPr>
                        <p:cNvPr id="0" name="图片 23"/>
                        <p:cNvPicPr/>
                        <p:nvPr/>
                      </p:nvPicPr>
                      <p:blipFill>
                        <a:blip r:embed="rId10"/>
                        <a:stretch>
                          <a:fillRect/>
                        </a:stretch>
                      </p:blipFill>
                      <p:spPr>
                        <a:xfrm>
                          <a:off x="4591" y="8500"/>
                          <a:ext cx="2988" cy="802"/>
                        </a:xfrm>
                        <a:prstGeom prst="rect">
                          <a:avLst/>
                        </a:prstGeom>
                        <a:noFill/>
                        <a:ln w="38100">
                          <a:noFill/>
                          <a:miter/>
                        </a:ln>
                      </p:spPr>
                    </p:pic>
                  </p:oleObj>
                </mc:Fallback>
              </mc:AlternateContent>
            </a:graphicData>
          </a:graphic>
        </p:graphicFrame>
        <p:graphicFrame>
          <p:nvGraphicFramePr>
            <p:cNvPr id="7" name="对象 -2147482207"/>
            <p:cNvGraphicFramePr/>
            <p:nvPr/>
          </p:nvGraphicFramePr>
          <p:xfrm>
            <a:off x="5272" y="9387"/>
            <a:ext cx="1578" cy="757"/>
          </p:xfrm>
          <a:graphic>
            <a:graphicData uri="http://schemas.openxmlformats.org/presentationml/2006/ole">
              <mc:AlternateContent xmlns:mc="http://schemas.openxmlformats.org/markup-compatibility/2006">
                <mc:Choice xmlns:v="urn:schemas-microsoft-com:vml" Requires="v">
                  <p:oleObj spid="_x0000_s25" name="" r:id="rId11" imgW="457200" imgH="228600" progId="Equation.DSMT4">
                    <p:embed/>
                  </p:oleObj>
                </mc:Choice>
                <mc:Fallback>
                  <p:oleObj name="" r:id="rId11" imgW="457200" imgH="228600" progId="Equation.DSMT4">
                    <p:embed/>
                    <p:pic>
                      <p:nvPicPr>
                        <p:cNvPr id="0" name="图片 24"/>
                        <p:cNvPicPr/>
                        <p:nvPr/>
                      </p:nvPicPr>
                      <p:blipFill>
                        <a:blip r:embed="rId12"/>
                        <a:stretch>
                          <a:fillRect/>
                        </a:stretch>
                      </p:blipFill>
                      <p:spPr>
                        <a:xfrm>
                          <a:off x="5272" y="9387"/>
                          <a:ext cx="1578" cy="757"/>
                        </a:xfrm>
                        <a:prstGeom prst="rect">
                          <a:avLst/>
                        </a:prstGeom>
                        <a:noFill/>
                        <a:ln w="38100">
                          <a:noFill/>
                          <a:miter/>
                        </a:ln>
                      </p:spPr>
                    </p:pic>
                  </p:oleObj>
                </mc:Fallback>
              </mc:AlternateContent>
            </a:graphicData>
          </a:graphic>
        </p:graphicFrame>
      </p:grpSp>
      <p:sp>
        <p:nvSpPr>
          <p:cNvPr id="28" name="文本框 27"/>
          <p:cNvSpPr txBox="1"/>
          <p:nvPr/>
        </p:nvSpPr>
        <p:spPr>
          <a:xfrm>
            <a:off x="611505" y="264795"/>
            <a:ext cx="1900555" cy="612775"/>
          </a:xfrm>
          <a:prstGeom prst="rect">
            <a:avLst/>
          </a:prstGeom>
          <a:noFill/>
        </p:spPr>
        <p:txBody>
          <a:bodyPr wrap="square" rtlCol="0">
            <a:noAutofit/>
          </a:bodyPr>
          <a:p>
            <a:r>
              <a:rPr lang="en-US" altLang="zh-CN">
                <a:solidFill>
                  <a:srgbClr val="FF0000"/>
                </a:solidFill>
              </a:rPr>
              <a:t>(</a:t>
            </a:r>
            <a:r>
              <a:rPr lang="zh-CN" altLang="en-US">
                <a:solidFill>
                  <a:srgbClr val="FF0000"/>
                </a:solidFill>
              </a:rPr>
              <a:t>递推法</a:t>
            </a:r>
            <a:r>
              <a:rPr lang="en-US" altLang="zh-CN">
                <a:solidFill>
                  <a:srgbClr val="FF0000"/>
                </a:solidFill>
              </a:rPr>
              <a:t>)</a:t>
            </a:r>
            <a:endParaRPr lang="en-US" altLang="zh-CN">
              <a:solidFill>
                <a:srgbClr val="FF0000"/>
              </a:solidFill>
            </a:endParaRPr>
          </a:p>
        </p:txBody>
      </p:sp>
      <p:graphicFrame>
        <p:nvGraphicFramePr>
          <p:cNvPr id="16" name="对象 15"/>
          <p:cNvGraphicFramePr/>
          <p:nvPr/>
        </p:nvGraphicFramePr>
        <p:xfrm>
          <a:off x="3354705" y="3065780"/>
          <a:ext cx="473075" cy="463550"/>
        </p:xfrm>
        <a:graphic>
          <a:graphicData uri="http://schemas.openxmlformats.org/presentationml/2006/ole">
            <mc:AlternateContent xmlns:mc="http://schemas.openxmlformats.org/markup-compatibility/2006">
              <mc:Choice xmlns:v="urn:schemas-microsoft-com:vml" Requires="v">
                <p:oleObj spid="_x0000_s17" name="" r:id="rId13" imgW="203200" imgH="228600" progId="Equation.DSMT4">
                  <p:embed/>
                </p:oleObj>
              </mc:Choice>
              <mc:Fallback>
                <p:oleObj name="" r:id="rId13" imgW="203200" imgH="228600" progId="Equation.DSMT4">
                  <p:embed/>
                  <p:pic>
                    <p:nvPicPr>
                      <p:cNvPr id="0" name="图片 16"/>
                      <p:cNvPicPr/>
                      <p:nvPr/>
                    </p:nvPicPr>
                    <p:blipFill>
                      <a:blip r:embed="rId14"/>
                      <a:stretch>
                        <a:fillRect/>
                      </a:stretch>
                    </p:blipFill>
                    <p:spPr>
                      <a:xfrm>
                        <a:off x="3354705" y="3065780"/>
                        <a:ext cx="473075" cy="463550"/>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5651">
                                            <p:txEl>
                                              <p:charRg st="0" end="13"/>
                                            </p:txEl>
                                          </p:spTgt>
                                        </p:tgtEl>
                                        <p:attrNameLst>
                                          <p:attrName>style.visibility</p:attrName>
                                        </p:attrNameLst>
                                      </p:cBhvr>
                                      <p:to>
                                        <p:strVal val="visible"/>
                                      </p:to>
                                    </p:set>
                                    <p:animEffect transition="in" filter="box(out)">
                                      <p:cBhvr>
                                        <p:cTn id="7" dur="500"/>
                                        <p:tgtEl>
                                          <p:spTgt spid="155651">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linds(horizontal)">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down)">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P spid="21"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对象 -2147482206"/>
          <p:cNvGraphicFramePr>
            <a:graphicFrameLocks noChangeAspect="1"/>
          </p:cNvGraphicFramePr>
          <p:nvPr/>
        </p:nvGraphicFramePr>
        <p:xfrm>
          <a:off x="1468755" y="989330"/>
          <a:ext cx="5880100" cy="1182370"/>
        </p:xfrm>
        <a:graphic>
          <a:graphicData uri="http://schemas.openxmlformats.org/presentationml/2006/ole">
            <mc:AlternateContent xmlns:mc="http://schemas.openxmlformats.org/markup-compatibility/2006">
              <mc:Choice xmlns:v="urn:schemas-microsoft-com:vml" Requires="v">
                <p:oleObj spid="_x0000_s3076" name="" r:id="rId1" imgW="3073400" imgH="482600" progId="Equation.DSMT4">
                  <p:embed/>
                </p:oleObj>
              </mc:Choice>
              <mc:Fallback>
                <p:oleObj name="" r:id="rId1" imgW="3073400" imgH="482600" progId="Equation.DSMT4">
                  <p:embed/>
                  <p:pic>
                    <p:nvPicPr>
                      <p:cNvPr id="0" name="图片 3075"/>
                      <p:cNvPicPr/>
                      <p:nvPr/>
                    </p:nvPicPr>
                    <p:blipFill>
                      <a:blip r:embed="rId2"/>
                      <a:stretch>
                        <a:fillRect/>
                      </a:stretch>
                    </p:blipFill>
                    <p:spPr>
                      <a:xfrm>
                        <a:off x="1468755" y="989330"/>
                        <a:ext cx="5880100" cy="1182370"/>
                      </a:xfrm>
                      <a:prstGeom prst="rect">
                        <a:avLst/>
                      </a:prstGeom>
                      <a:noFill/>
                      <a:ln w="38100">
                        <a:noFill/>
                        <a:miter/>
                      </a:ln>
                    </p:spPr>
                  </p:pic>
                </p:oleObj>
              </mc:Fallback>
            </mc:AlternateContent>
          </a:graphicData>
        </a:graphic>
      </p:graphicFrame>
      <p:sp>
        <p:nvSpPr>
          <p:cNvPr id="3" name="文本框 2"/>
          <p:cNvSpPr txBox="1"/>
          <p:nvPr/>
        </p:nvSpPr>
        <p:spPr>
          <a:xfrm>
            <a:off x="1089025" y="480060"/>
            <a:ext cx="3806190" cy="518160"/>
          </a:xfrm>
          <a:prstGeom prst="rect">
            <a:avLst/>
          </a:prstGeom>
          <a:noFill/>
        </p:spPr>
        <p:txBody>
          <a:bodyPr wrap="square" rtlCol="0" anchor="t">
            <a:noAutofit/>
          </a:bodyPr>
          <a:p>
            <a:pPr>
              <a:lnSpc>
                <a:spcPct val="110000"/>
              </a:lnSpc>
            </a:pPr>
            <a:r>
              <a:rPr lang="zh-CN" altLang="en-US" b="0">
                <a:latin typeface="+mn-ea"/>
                <a:ea typeface="+mn-ea"/>
                <a:sym typeface="+mn-ea"/>
              </a:rPr>
              <a:t>又</a:t>
            </a:r>
            <a:r>
              <a:rPr lang="en-US" altLang="zh-CN" i="1">
                <a:latin typeface="+mn-lt"/>
                <a:ea typeface="+mn-ea"/>
                <a:cs typeface="+mn-lt"/>
                <a:sym typeface="+mn-ea"/>
              </a:rPr>
              <a:t>D</a:t>
            </a:r>
            <a:r>
              <a:rPr lang="en-US" altLang="zh-CN" baseline="-25000">
                <a:latin typeface="+mn-lt"/>
                <a:ea typeface="+mn-ea"/>
                <a:cs typeface="+mn-lt"/>
                <a:sym typeface="+mn-ea"/>
              </a:rPr>
              <a:t>1</a:t>
            </a:r>
            <a:r>
              <a:rPr lang="en-US" altLang="zh-CN" b="0">
                <a:latin typeface="+mn-ea"/>
                <a:ea typeface="+mn-ea"/>
                <a:sym typeface="+mn-ea"/>
              </a:rPr>
              <a:t>=</a:t>
            </a:r>
            <a:r>
              <a:rPr lang="en-US" altLang="zh-CN" i="1">
                <a:latin typeface="+mn-lt"/>
                <a:ea typeface="+mn-ea"/>
                <a:cs typeface="+mn-lt"/>
                <a:sym typeface="+mn-ea"/>
              </a:rPr>
              <a:t>a</a:t>
            </a:r>
            <a:r>
              <a:rPr lang="en-US" altLang="zh-CN" baseline="-25000">
                <a:latin typeface="+mn-lt"/>
                <a:ea typeface="+mn-ea"/>
                <a:cs typeface="+mn-lt"/>
                <a:sym typeface="+mn-ea"/>
              </a:rPr>
              <a:t>1</a:t>
            </a:r>
            <a:r>
              <a:rPr lang="en-US" altLang="zh-CN" b="0">
                <a:latin typeface="+mn-ea"/>
                <a:ea typeface="+mn-ea"/>
                <a:sym typeface="+mn-ea"/>
              </a:rPr>
              <a:t>,</a:t>
            </a:r>
            <a:r>
              <a:rPr lang="zh-CN" altLang="en-US" b="0">
                <a:latin typeface="+mn-ea"/>
                <a:ea typeface="+mn-ea"/>
                <a:sym typeface="+mn-ea"/>
              </a:rPr>
              <a:t>从而</a:t>
            </a:r>
            <a:endParaRPr lang="en-US" altLang="zh-CN" b="0">
              <a:latin typeface="+mn-ea"/>
              <a:ea typeface="+mn-ea"/>
              <a:sym typeface="+mn-ea"/>
            </a:endParaRPr>
          </a:p>
        </p:txBody>
      </p:sp>
      <p:sp>
        <p:nvSpPr>
          <p:cNvPr id="155656" name="矩形 155655"/>
          <p:cNvSpPr/>
          <p:nvPr/>
        </p:nvSpPr>
        <p:spPr>
          <a:xfrm>
            <a:off x="917575" y="2300605"/>
            <a:ext cx="4311650" cy="750570"/>
          </a:xfrm>
          <a:prstGeom prst="rect">
            <a:avLst/>
          </a:prstGeom>
          <a:noFill/>
          <a:ln w="9525">
            <a:noFill/>
          </a:ln>
        </p:spPr>
        <p:txBody>
          <a:bodyPr wrap="square">
            <a:noAutofit/>
          </a:bodyPr>
          <a:p>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1.3.</a:t>
            </a:r>
            <a:r>
              <a:rPr lang="en-US" altLang="zh-CN">
                <a:solidFill>
                  <a:srgbClr val="FF0000"/>
                </a:solidFill>
                <a:latin typeface="Times New Roman" panose="02020603050405020304" pitchFamily="18" charset="0"/>
                <a:ea typeface="黑体" panose="02010609060101010101" pitchFamily="2" charset="-122"/>
              </a:rPr>
              <a:t>4</a:t>
            </a:r>
            <a:r>
              <a:rPr lang="en-US" altLang="zh-CN">
                <a:solidFill>
                  <a:schemeClr val="hlink"/>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rPr>
              <a:t> </a:t>
            </a:r>
            <a:r>
              <a:rPr lang="zh-CN" altLang="en-US">
                <a:latin typeface="Times New Roman" panose="02020603050405020304" pitchFamily="18" charset="0"/>
              </a:rPr>
              <a:t>计算</a:t>
            </a:r>
            <a:r>
              <a:rPr lang="zh-CN" altLang="en-US" dirty="0">
                <a:latin typeface="Times New Roman" panose="02020603050405020304" pitchFamily="18" charset="0"/>
              </a:rPr>
              <a:t>阶</a:t>
            </a:r>
            <a:r>
              <a:rPr lang="en-US" altLang="zh-CN" i="1" dirty="0">
                <a:latin typeface="Times New Roman" panose="02020603050405020304" pitchFamily="18" charset="0"/>
              </a:rPr>
              <a:t>n</a:t>
            </a:r>
            <a:r>
              <a:rPr lang="zh-CN" altLang="en-US" dirty="0">
                <a:latin typeface="Times New Roman" panose="02020603050405020304" pitchFamily="18" charset="0"/>
              </a:rPr>
              <a:t>行列式</a:t>
            </a:r>
            <a:endParaRPr lang="zh-CN" altLang="en-US" dirty="0">
              <a:latin typeface="Times New Roman" panose="02020603050405020304" pitchFamily="18" charset="0"/>
            </a:endParaRPr>
          </a:p>
        </p:txBody>
      </p:sp>
      <p:graphicFrame>
        <p:nvGraphicFramePr>
          <p:cNvPr id="4" name="对象 -2147482202"/>
          <p:cNvGraphicFramePr>
            <a:graphicFrameLocks noChangeAspect="1"/>
          </p:cNvGraphicFramePr>
          <p:nvPr/>
        </p:nvGraphicFramePr>
        <p:xfrm>
          <a:off x="2328545" y="2927985"/>
          <a:ext cx="3882390" cy="2850515"/>
        </p:xfrm>
        <a:graphic>
          <a:graphicData uri="http://schemas.openxmlformats.org/presentationml/2006/ole">
            <mc:AlternateContent xmlns:mc="http://schemas.openxmlformats.org/markup-compatibility/2006">
              <mc:Choice xmlns:v="urn:schemas-microsoft-com:vml" Requires="v">
                <p:oleObj spid="_x0000_s5" name="" r:id="rId3" imgW="1739900" imgH="1397000" progId="Equation.DSMT4">
                  <p:embed/>
                </p:oleObj>
              </mc:Choice>
              <mc:Fallback>
                <p:oleObj name="" r:id="rId3" imgW="1739900" imgH="1397000" progId="Equation.DSMT4">
                  <p:embed/>
                  <p:pic>
                    <p:nvPicPr>
                      <p:cNvPr id="0" name="图片 3"/>
                      <p:cNvPicPr/>
                      <p:nvPr/>
                    </p:nvPicPr>
                    <p:blipFill>
                      <a:blip r:embed="rId4"/>
                      <a:stretch>
                        <a:fillRect/>
                      </a:stretch>
                    </p:blipFill>
                    <p:spPr>
                      <a:xfrm>
                        <a:off x="2328545" y="2927985"/>
                        <a:ext cx="3882390" cy="2850515"/>
                      </a:xfrm>
                      <a:prstGeom prst="rect">
                        <a:avLst/>
                      </a:prstGeom>
                      <a:noFill/>
                      <a:ln w="38100">
                        <a:noFill/>
                        <a:miter/>
                      </a:ln>
                    </p:spPr>
                  </p:pic>
                </p:oleObj>
              </mc:Fallback>
            </mc:AlternateContent>
          </a:graphicData>
        </a:graphic>
      </p:graphicFrame>
      <p:sp>
        <p:nvSpPr>
          <p:cNvPr id="6" name="文本框 5"/>
          <p:cNvSpPr txBox="1"/>
          <p:nvPr/>
        </p:nvSpPr>
        <p:spPr>
          <a:xfrm>
            <a:off x="6137910" y="3940810"/>
            <a:ext cx="2185670" cy="765810"/>
          </a:xfrm>
          <a:prstGeom prst="rect">
            <a:avLst/>
          </a:prstGeom>
          <a:noFill/>
        </p:spPr>
        <p:txBody>
          <a:bodyPr wrap="square" rtlCol="0" anchor="t">
            <a:noAutofit/>
          </a:bodyPr>
          <a:p>
            <a:r>
              <a:rPr lang="en-US" altLang="zh-CN" dirty="0">
                <a:sym typeface="+mn-ea"/>
              </a:rPr>
              <a:t>,</a:t>
            </a:r>
            <a:r>
              <a:rPr lang="zh-CN" altLang="en-US" dirty="0">
                <a:sym typeface="+mn-ea"/>
              </a:rPr>
              <a:t>其中</a:t>
            </a:r>
            <a:r>
              <a:rPr lang="en-US" altLang="zh-CN" i="1">
                <a:latin typeface="+mn-lt"/>
                <a:ea typeface="+mn-ea"/>
                <a:cs typeface="+mn-lt"/>
                <a:sym typeface="+mn-ea"/>
              </a:rPr>
              <a:t>a</a:t>
            </a:r>
            <a:r>
              <a:rPr lang="en-US" altLang="zh-CN" b="0">
                <a:latin typeface="+mn-lt"/>
                <a:ea typeface="+mn-ea"/>
                <a:cs typeface="+mn-lt"/>
                <a:sym typeface="+mn-ea"/>
              </a:rPr>
              <a:t>≠0.</a:t>
            </a:r>
            <a:endParaRPr lang="en-US" altLang="zh-CN" b="0" dirty="0">
              <a:latin typeface="+mn-lt"/>
              <a:ea typeface="+mn-ea"/>
              <a:cs typeface="+mn-lt"/>
              <a:sym typeface="+mn-ea"/>
            </a:endParaRPr>
          </a:p>
        </p:txBody>
      </p:sp>
      <p:graphicFrame>
        <p:nvGraphicFramePr>
          <p:cNvPr id="9" name="对象 8"/>
          <p:cNvGraphicFramePr/>
          <p:nvPr/>
        </p:nvGraphicFramePr>
        <p:xfrm>
          <a:off x="1176020" y="3883660"/>
          <a:ext cx="1130935" cy="724535"/>
        </p:xfrm>
        <a:graphic>
          <a:graphicData uri="http://schemas.openxmlformats.org/presentationml/2006/ole">
            <mc:AlternateContent xmlns:mc="http://schemas.openxmlformats.org/markup-compatibility/2006">
              <mc:Choice xmlns:v="urn:schemas-microsoft-com:vml" Requires="v">
                <p:oleObj spid="_x0000_s10" name="" r:id="rId5" imgW="637540" imgH="782955" progId="Equation.DSMT4">
                  <p:embed/>
                </p:oleObj>
              </mc:Choice>
              <mc:Fallback>
                <p:oleObj name="" r:id="rId5" imgW="637540" imgH="782955" progId="Equation.DSMT4">
                  <p:embed/>
                  <p:pic>
                    <p:nvPicPr>
                      <p:cNvPr id="0" name="图片 9"/>
                      <p:cNvPicPr/>
                      <p:nvPr/>
                    </p:nvPicPr>
                    <p:blipFill>
                      <a:blip r:embed="rId6"/>
                      <a:stretch>
                        <a:fillRect/>
                      </a:stretch>
                    </p:blipFill>
                    <p:spPr>
                      <a:xfrm>
                        <a:off x="1176020" y="3883660"/>
                        <a:ext cx="1130935" cy="72453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5656"/>
                                        </p:tgtEl>
                                        <p:attrNameLst>
                                          <p:attrName>style.visibility</p:attrName>
                                        </p:attrNameLst>
                                      </p:cBhvr>
                                      <p:to>
                                        <p:strVal val="visible"/>
                                      </p:to>
                                    </p:set>
                                    <p:animEffect transition="in" filter="wipe(down)">
                                      <p:cBhvr>
                                        <p:cTn id="17" dur="500"/>
                                        <p:tgtEl>
                                          <p:spTgt spid="1556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par>
                                <p:cTn id="23" presetID="22" presetClass="entr" presetSubtype="4"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down)">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55656" grpId="0"/>
      <p:bldP spid="6" grpId="0"/>
      <p:bldP spid="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676275" y="671195"/>
            <a:ext cx="5303520" cy="542290"/>
          </a:xfrm>
          <a:prstGeom prst="rect">
            <a:avLst/>
          </a:prstGeom>
        </p:spPr>
        <p:txBody>
          <a:bodyPr>
            <a:noAutofit/>
          </a:bodyPr>
          <a:p>
            <a:pPr defTabSz="914400">
              <a:buClrTx/>
              <a:buSzTx/>
              <a:buFontTx/>
            </a:pPr>
            <a:r>
              <a:rPr lang="zh-CN" altLang="en-US" dirty="0">
                <a:ea typeface="宋体" panose="02010600030101010101" pitchFamily="2" charset="-122"/>
              </a:rPr>
              <a:t>解</a:t>
            </a:r>
            <a:r>
              <a:rPr lang="zh-CN" altLang="en-US" dirty="0"/>
              <a:t>:</a:t>
            </a:r>
            <a:r>
              <a:rPr lang="zh-CN" altLang="en-US" dirty="0">
                <a:ea typeface="宋体" panose="02010600030101010101" pitchFamily="2" charset="-122"/>
              </a:rPr>
              <a:t> 将行列式按第</a:t>
            </a:r>
            <a:r>
              <a:rPr lang="zh-CN" altLang="en-US" dirty="0"/>
              <a:t>1</a:t>
            </a:r>
            <a:r>
              <a:rPr lang="zh-CN" altLang="en-US" dirty="0">
                <a:ea typeface="宋体" panose="02010600030101010101" pitchFamily="2" charset="-122"/>
              </a:rPr>
              <a:t>行展开，得</a:t>
            </a:r>
            <a:endParaRPr lang="zh-CN" altLang="en-US" dirty="0">
              <a:ea typeface="宋体" panose="02010600030101010101" pitchFamily="2" charset="-122"/>
            </a:endParaRPr>
          </a:p>
        </p:txBody>
      </p:sp>
      <p:graphicFrame>
        <p:nvGraphicFramePr>
          <p:cNvPr id="2" name="对象 -2147482253"/>
          <p:cNvGraphicFramePr>
            <a:graphicFrameLocks noChangeAspect="1"/>
          </p:cNvGraphicFramePr>
          <p:nvPr/>
        </p:nvGraphicFramePr>
        <p:xfrm>
          <a:off x="827405" y="1213485"/>
          <a:ext cx="7502525" cy="2713355"/>
        </p:xfrm>
        <a:graphic>
          <a:graphicData uri="http://schemas.openxmlformats.org/presentationml/2006/ole">
            <mc:AlternateContent xmlns:mc="http://schemas.openxmlformats.org/markup-compatibility/2006">
              <mc:Choice xmlns:v="urn:schemas-microsoft-com:vml" Requires="v">
                <p:oleObj spid="_x0000_s11" name="" r:id="rId1" imgW="3708400" imgH="1397000" progId="Equation.DSMT4">
                  <p:embed/>
                </p:oleObj>
              </mc:Choice>
              <mc:Fallback>
                <p:oleObj name="" r:id="rId1" imgW="3708400" imgH="1397000" progId="Equation.DSMT4">
                  <p:embed/>
                  <p:pic>
                    <p:nvPicPr>
                      <p:cNvPr id="0" name="图片 10"/>
                      <p:cNvPicPr/>
                      <p:nvPr/>
                    </p:nvPicPr>
                    <p:blipFill>
                      <a:blip r:embed="rId2"/>
                      <a:stretch>
                        <a:fillRect/>
                      </a:stretch>
                    </p:blipFill>
                    <p:spPr>
                      <a:xfrm>
                        <a:off x="827405" y="1213485"/>
                        <a:ext cx="7502525" cy="2713355"/>
                      </a:xfrm>
                      <a:prstGeom prst="rect">
                        <a:avLst/>
                      </a:prstGeom>
                      <a:noFill/>
                      <a:ln w="38100">
                        <a:noFill/>
                        <a:miter/>
                      </a:ln>
                    </p:spPr>
                  </p:pic>
                </p:oleObj>
              </mc:Fallback>
            </mc:AlternateContent>
          </a:graphicData>
        </a:graphic>
      </p:graphicFrame>
      <p:graphicFrame>
        <p:nvGraphicFramePr>
          <p:cNvPr id="3" name="对象 -2147482252"/>
          <p:cNvGraphicFramePr>
            <a:graphicFrameLocks noChangeAspect="1"/>
          </p:cNvGraphicFramePr>
          <p:nvPr/>
        </p:nvGraphicFramePr>
        <p:xfrm>
          <a:off x="1266825" y="3792855"/>
          <a:ext cx="2482850" cy="577850"/>
        </p:xfrm>
        <a:graphic>
          <a:graphicData uri="http://schemas.openxmlformats.org/presentationml/2006/ole">
            <mc:AlternateContent xmlns:mc="http://schemas.openxmlformats.org/markup-compatibility/2006">
              <mc:Choice xmlns:v="urn:schemas-microsoft-com:vml" Requires="v">
                <p:oleObj spid="_x0000_s12" name="" r:id="rId3" imgW="1104900" imgH="241300" progId="Equation.DSMT4">
                  <p:embed/>
                </p:oleObj>
              </mc:Choice>
              <mc:Fallback>
                <p:oleObj name="" r:id="rId3" imgW="1104900" imgH="241300" progId="Equation.DSMT4">
                  <p:embed/>
                  <p:pic>
                    <p:nvPicPr>
                      <p:cNvPr id="0" name="图片 11"/>
                      <p:cNvPicPr/>
                      <p:nvPr/>
                    </p:nvPicPr>
                    <p:blipFill>
                      <a:blip r:embed="rId4"/>
                      <a:stretch>
                        <a:fillRect/>
                      </a:stretch>
                    </p:blipFill>
                    <p:spPr>
                      <a:xfrm>
                        <a:off x="1266825" y="3792855"/>
                        <a:ext cx="2482850" cy="577850"/>
                      </a:xfrm>
                      <a:prstGeom prst="rect">
                        <a:avLst/>
                      </a:prstGeom>
                      <a:noFill/>
                      <a:ln w="38100">
                        <a:noFill/>
                        <a:miter/>
                      </a:ln>
                    </p:spPr>
                  </p:pic>
                </p:oleObj>
              </mc:Fallback>
            </mc:AlternateContent>
          </a:graphicData>
        </a:graphic>
      </p:graphicFrame>
      <p:grpSp>
        <p:nvGrpSpPr>
          <p:cNvPr id="9" name="组合 8"/>
          <p:cNvGrpSpPr/>
          <p:nvPr>
            <p:custDataLst>
              <p:tags r:id="rId5"/>
            </p:custDataLst>
          </p:nvPr>
        </p:nvGrpSpPr>
        <p:grpSpPr>
          <a:xfrm>
            <a:off x="732790" y="4485640"/>
            <a:ext cx="7449185" cy="521970"/>
            <a:chOff x="1154" y="7064"/>
            <a:chExt cx="11731" cy="822"/>
          </a:xfrm>
        </p:grpSpPr>
        <p:graphicFrame>
          <p:nvGraphicFramePr>
            <p:cNvPr id="4" name="对象 -2147482251"/>
            <p:cNvGraphicFramePr>
              <a:graphicFrameLocks noChangeAspect="1"/>
            </p:cNvGraphicFramePr>
            <p:nvPr>
              <p:custDataLst>
                <p:tags r:id="rId6"/>
              </p:custDataLst>
            </p:nvPr>
          </p:nvGraphicFramePr>
          <p:xfrm>
            <a:off x="1930" y="7101"/>
            <a:ext cx="4127" cy="785"/>
          </p:xfrm>
          <a:graphic>
            <a:graphicData uri="http://schemas.openxmlformats.org/presentationml/2006/ole">
              <mc:AlternateContent xmlns:mc="http://schemas.openxmlformats.org/markup-compatibility/2006">
                <mc:Choice xmlns:v="urn:schemas-microsoft-com:vml" Requires="v">
                  <p:oleObj spid="_x0000_s13" name="" r:id="rId7" imgW="1308100" imgH="241300" progId="Equation.DSMT4">
                    <p:embed/>
                  </p:oleObj>
                </mc:Choice>
                <mc:Fallback>
                  <p:oleObj name="" r:id="rId7" imgW="1308100" imgH="241300" progId="Equation.DSMT4">
                    <p:embed/>
                    <p:pic>
                      <p:nvPicPr>
                        <p:cNvPr id="0" name="图片 12"/>
                        <p:cNvPicPr/>
                        <p:nvPr/>
                      </p:nvPicPr>
                      <p:blipFill>
                        <a:blip r:embed="rId8"/>
                        <a:stretch>
                          <a:fillRect/>
                        </a:stretch>
                      </p:blipFill>
                      <p:spPr>
                        <a:xfrm>
                          <a:off x="1930" y="7101"/>
                          <a:ext cx="4127" cy="785"/>
                        </a:xfrm>
                        <a:prstGeom prst="rect">
                          <a:avLst/>
                        </a:prstGeom>
                        <a:noFill/>
                        <a:ln w="38100">
                          <a:noFill/>
                          <a:miter/>
                        </a:ln>
                      </p:spPr>
                    </p:pic>
                  </p:oleObj>
                </mc:Fallback>
              </mc:AlternateContent>
            </a:graphicData>
          </a:graphic>
        </p:graphicFrame>
        <p:sp>
          <p:nvSpPr>
            <p:cNvPr id="14" name="文本框 13"/>
            <p:cNvSpPr txBox="1"/>
            <p:nvPr>
              <p:custDataLst>
                <p:tags r:id="rId9"/>
              </p:custDataLst>
            </p:nvPr>
          </p:nvSpPr>
          <p:spPr>
            <a:xfrm>
              <a:off x="1154" y="7064"/>
              <a:ext cx="841" cy="822"/>
            </a:xfrm>
            <a:prstGeom prst="rect">
              <a:avLst/>
            </a:prstGeom>
            <a:noFill/>
          </p:spPr>
          <p:txBody>
            <a:bodyPr wrap="square" rtlCol="0">
              <a:spAutoFit/>
            </a:bodyPr>
            <a:p>
              <a:r>
                <a:rPr lang="zh-CN" altLang="en-US"/>
                <a:t>由</a:t>
              </a:r>
              <a:endParaRPr lang="zh-CN" altLang="en-US"/>
            </a:p>
          </p:txBody>
        </p:sp>
        <p:sp>
          <p:nvSpPr>
            <p:cNvPr id="15" name="文本框 14"/>
            <p:cNvSpPr txBox="1"/>
            <p:nvPr>
              <p:custDataLst>
                <p:tags r:id="rId10"/>
              </p:custDataLst>
            </p:nvPr>
          </p:nvSpPr>
          <p:spPr>
            <a:xfrm>
              <a:off x="6054" y="7064"/>
              <a:ext cx="705" cy="822"/>
            </a:xfrm>
            <a:prstGeom prst="rect">
              <a:avLst/>
            </a:prstGeom>
            <a:noFill/>
          </p:spPr>
          <p:txBody>
            <a:bodyPr wrap="square" rtlCol="0">
              <a:spAutoFit/>
            </a:bodyPr>
            <a:p>
              <a:r>
                <a:rPr lang="zh-CN" altLang="en-US"/>
                <a:t>得</a:t>
              </a:r>
              <a:endParaRPr lang="zh-CN" altLang="en-US"/>
            </a:p>
          </p:txBody>
        </p:sp>
        <p:graphicFrame>
          <p:nvGraphicFramePr>
            <p:cNvPr id="5" name="对象 -2147482250"/>
            <p:cNvGraphicFramePr>
              <a:graphicFrameLocks noChangeAspect="1"/>
            </p:cNvGraphicFramePr>
            <p:nvPr/>
          </p:nvGraphicFramePr>
          <p:xfrm>
            <a:off x="6759" y="7072"/>
            <a:ext cx="6127" cy="813"/>
          </p:xfrm>
          <a:graphic>
            <a:graphicData uri="http://schemas.openxmlformats.org/presentationml/2006/ole">
              <mc:AlternateContent xmlns:mc="http://schemas.openxmlformats.org/markup-compatibility/2006">
                <mc:Choice xmlns:v="urn:schemas-microsoft-com:vml" Requires="v">
                  <p:oleObj spid="_x0000_s16" name="" r:id="rId11" imgW="1752600" imgH="228600" progId="Equation.DSMT4">
                    <p:embed/>
                  </p:oleObj>
                </mc:Choice>
                <mc:Fallback>
                  <p:oleObj name="" r:id="rId11" imgW="1752600" imgH="228600" progId="Equation.DSMT4">
                    <p:embed/>
                    <p:pic>
                      <p:nvPicPr>
                        <p:cNvPr id="0" name="图片 15"/>
                        <p:cNvPicPr/>
                        <p:nvPr/>
                      </p:nvPicPr>
                      <p:blipFill>
                        <a:blip r:embed="rId12"/>
                        <a:stretch>
                          <a:fillRect/>
                        </a:stretch>
                      </p:blipFill>
                      <p:spPr>
                        <a:xfrm>
                          <a:off x="6759" y="7072"/>
                          <a:ext cx="6127" cy="813"/>
                        </a:xfrm>
                        <a:prstGeom prst="rect">
                          <a:avLst/>
                        </a:prstGeom>
                        <a:noFill/>
                        <a:ln w="38100">
                          <a:noFill/>
                          <a:miter/>
                        </a:ln>
                      </p:spPr>
                    </p:pic>
                  </p:oleObj>
                </mc:Fallback>
              </mc:AlternateContent>
            </a:graphicData>
          </a:graphic>
        </p:graphicFrame>
      </p:grpSp>
      <p:grpSp>
        <p:nvGrpSpPr>
          <p:cNvPr id="10" name="组合 9"/>
          <p:cNvGrpSpPr/>
          <p:nvPr>
            <p:custDataLst>
              <p:tags r:id="rId13"/>
            </p:custDataLst>
          </p:nvPr>
        </p:nvGrpSpPr>
        <p:grpSpPr>
          <a:xfrm>
            <a:off x="971550" y="5166360"/>
            <a:ext cx="5686425" cy="528955"/>
            <a:chOff x="1530" y="8136"/>
            <a:chExt cx="8955" cy="833"/>
          </a:xfrm>
        </p:grpSpPr>
        <p:sp>
          <p:nvSpPr>
            <p:cNvPr id="17" name="文本框 16"/>
            <p:cNvSpPr txBox="1"/>
            <p:nvPr>
              <p:custDataLst>
                <p:tags r:id="rId14"/>
              </p:custDataLst>
            </p:nvPr>
          </p:nvSpPr>
          <p:spPr>
            <a:xfrm>
              <a:off x="1530" y="8147"/>
              <a:ext cx="2849" cy="822"/>
            </a:xfrm>
            <a:prstGeom prst="rect">
              <a:avLst/>
            </a:prstGeom>
          </p:spPr>
          <p:txBody>
            <a:bodyPr wrap="square">
              <a:spAutoFit/>
            </a:bodyPr>
            <a:p>
              <a:pPr defTabSz="266700"/>
              <a:r>
                <a:rPr lang="zh-CN" altLang="en-US">
                  <a:latin typeface="Times New Roman" panose="02020603050405020304"/>
                  <a:ea typeface="宋体" panose="02010600030101010101" pitchFamily="2" charset="-122"/>
                </a:rPr>
                <a:t>所以数列</a:t>
              </a:r>
              <a:endParaRPr lang="zh-CN" altLang="en-US">
                <a:latin typeface="Times New Roman" panose="02020603050405020304"/>
                <a:ea typeface="宋体" panose="02010600030101010101" pitchFamily="2" charset="-122"/>
              </a:endParaRPr>
            </a:p>
          </p:txBody>
        </p:sp>
        <p:graphicFrame>
          <p:nvGraphicFramePr>
            <p:cNvPr id="6" name="对象 -2147482249"/>
            <p:cNvGraphicFramePr/>
            <p:nvPr>
              <p:custDataLst>
                <p:tags r:id="rId15"/>
              </p:custDataLst>
            </p:nvPr>
          </p:nvGraphicFramePr>
          <p:xfrm>
            <a:off x="3905" y="8136"/>
            <a:ext cx="2854" cy="808"/>
          </p:xfrm>
          <a:graphic>
            <a:graphicData uri="http://schemas.openxmlformats.org/presentationml/2006/ole">
              <mc:AlternateContent xmlns:mc="http://schemas.openxmlformats.org/markup-compatibility/2006">
                <mc:Choice xmlns:v="urn:schemas-microsoft-com:vml" Requires="v">
                  <p:oleObj spid="_x0000_s18" name="" r:id="rId16" imgW="787400" imgH="228600" progId="Equation.DSMT4">
                    <p:embed/>
                  </p:oleObj>
                </mc:Choice>
                <mc:Fallback>
                  <p:oleObj name="" r:id="rId16" imgW="787400" imgH="228600" progId="Equation.DSMT4">
                    <p:embed/>
                    <p:pic>
                      <p:nvPicPr>
                        <p:cNvPr id="0" name="图片 17"/>
                        <p:cNvPicPr/>
                        <p:nvPr/>
                      </p:nvPicPr>
                      <p:blipFill>
                        <a:blip r:embed="rId17"/>
                        <a:stretch>
                          <a:fillRect/>
                        </a:stretch>
                      </p:blipFill>
                      <p:spPr>
                        <a:xfrm>
                          <a:off x="3905" y="8136"/>
                          <a:ext cx="2854" cy="808"/>
                        </a:xfrm>
                        <a:prstGeom prst="rect">
                          <a:avLst/>
                        </a:prstGeom>
                        <a:noFill/>
                        <a:ln w="38100">
                          <a:noFill/>
                          <a:miter/>
                        </a:ln>
                      </p:spPr>
                    </p:pic>
                  </p:oleObj>
                </mc:Fallback>
              </mc:AlternateContent>
            </a:graphicData>
          </a:graphic>
        </p:graphicFrame>
        <p:sp>
          <p:nvSpPr>
            <p:cNvPr id="19" name="文本框 18"/>
            <p:cNvSpPr txBox="1"/>
            <p:nvPr>
              <p:custDataLst>
                <p:tags r:id="rId18"/>
              </p:custDataLst>
            </p:nvPr>
          </p:nvSpPr>
          <p:spPr>
            <a:xfrm>
              <a:off x="6832" y="8136"/>
              <a:ext cx="3653" cy="822"/>
            </a:xfrm>
            <a:prstGeom prst="rect">
              <a:avLst/>
            </a:prstGeom>
          </p:spPr>
          <p:txBody>
            <a:bodyPr wrap="square">
              <a:spAutoFit/>
            </a:bodyPr>
            <a:p>
              <a:pPr defTabSz="266700"/>
              <a:r>
                <a:rPr lang="zh-CN" altLang="en-US">
                  <a:latin typeface="+mn-ea"/>
                  <a:ea typeface="+mn-ea"/>
                  <a:cs typeface="+mn-ea"/>
                </a:rPr>
                <a:t>是等比数列</a:t>
              </a:r>
              <a:r>
                <a:rPr lang="en-US" altLang="zh-CN">
                  <a:latin typeface="+mn-ea"/>
                  <a:ea typeface="+mn-ea"/>
                  <a:cs typeface="+mn-ea"/>
                </a:rPr>
                <a:t>.</a:t>
              </a:r>
              <a:endParaRPr lang="zh-CN" altLang="en-US">
                <a:latin typeface="+mn-ea"/>
                <a:ea typeface="+mn-ea"/>
                <a:cs typeface="+mn-ea"/>
                <a:sym typeface="+mn-ea"/>
              </a:endParaRPr>
            </a:p>
          </p:txBody>
        </p:sp>
      </p:grpSp>
      <p:graphicFrame>
        <p:nvGraphicFramePr>
          <p:cNvPr id="8" name="对象 -2147482248"/>
          <p:cNvGraphicFramePr/>
          <p:nvPr/>
        </p:nvGraphicFramePr>
        <p:xfrm>
          <a:off x="971550" y="5688330"/>
          <a:ext cx="6225540" cy="616585"/>
        </p:xfrm>
        <a:graphic>
          <a:graphicData uri="http://schemas.openxmlformats.org/presentationml/2006/ole">
            <mc:AlternateContent xmlns:mc="http://schemas.openxmlformats.org/markup-compatibility/2006">
              <mc:Choice xmlns:v="urn:schemas-microsoft-com:vml" Requires="v">
                <p:oleObj spid="_x0000_s20" name="" r:id="rId19" imgW="2005965" imgH="241300" progId="Equation.DSMT4">
                  <p:embed/>
                </p:oleObj>
              </mc:Choice>
              <mc:Fallback>
                <p:oleObj name="" r:id="rId19" imgW="2005965" imgH="241300" progId="Equation.DSMT4">
                  <p:embed/>
                  <p:pic>
                    <p:nvPicPr>
                      <p:cNvPr id="0" name="图片 19"/>
                      <p:cNvPicPr/>
                      <p:nvPr/>
                    </p:nvPicPr>
                    <p:blipFill>
                      <a:blip r:embed="rId20"/>
                      <a:stretch>
                        <a:fillRect/>
                      </a:stretch>
                    </p:blipFill>
                    <p:spPr>
                      <a:xfrm>
                        <a:off x="971550" y="5688330"/>
                        <a:ext cx="6225540" cy="61658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down)">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3" name="组合 32"/>
          <p:cNvGrpSpPr/>
          <p:nvPr/>
        </p:nvGrpSpPr>
        <p:grpSpPr>
          <a:xfrm>
            <a:off x="760730" y="525780"/>
            <a:ext cx="7476490" cy="539115"/>
            <a:chOff x="1352" y="828"/>
            <a:chExt cx="11922" cy="849"/>
          </a:xfrm>
        </p:grpSpPr>
        <p:graphicFrame>
          <p:nvGraphicFramePr>
            <p:cNvPr id="4" name="对象 -2147482251"/>
            <p:cNvGraphicFramePr>
              <a:graphicFrameLocks noChangeAspect="1"/>
            </p:cNvGraphicFramePr>
            <p:nvPr/>
          </p:nvGraphicFramePr>
          <p:xfrm>
            <a:off x="2199" y="865"/>
            <a:ext cx="4357" cy="785"/>
          </p:xfrm>
          <a:graphic>
            <a:graphicData uri="http://schemas.openxmlformats.org/presentationml/2006/ole">
              <mc:AlternateContent xmlns:mc="http://schemas.openxmlformats.org/markup-compatibility/2006">
                <mc:Choice xmlns:v="urn:schemas-microsoft-com:vml" Requires="v">
                  <p:oleObj spid="_x0000_s13" name="" r:id="rId1" imgW="1308100" imgH="241300" progId="Equation.DSMT4">
                    <p:embed/>
                  </p:oleObj>
                </mc:Choice>
                <mc:Fallback>
                  <p:oleObj name="" r:id="rId1" imgW="1308100" imgH="241300" progId="Equation.DSMT4">
                    <p:embed/>
                    <p:pic>
                      <p:nvPicPr>
                        <p:cNvPr id="0" name="图片 12"/>
                        <p:cNvPicPr/>
                        <p:nvPr/>
                      </p:nvPicPr>
                      <p:blipFill>
                        <a:blip r:embed="rId2"/>
                        <a:stretch>
                          <a:fillRect/>
                        </a:stretch>
                      </p:blipFill>
                      <p:spPr>
                        <a:xfrm>
                          <a:off x="2199" y="865"/>
                          <a:ext cx="4357" cy="785"/>
                        </a:xfrm>
                        <a:prstGeom prst="rect">
                          <a:avLst/>
                        </a:prstGeom>
                        <a:noFill/>
                        <a:ln w="38100">
                          <a:noFill/>
                          <a:miter/>
                        </a:ln>
                      </p:spPr>
                    </p:pic>
                  </p:oleObj>
                </mc:Fallback>
              </mc:AlternateContent>
            </a:graphicData>
          </a:graphic>
        </p:graphicFrame>
        <p:sp>
          <p:nvSpPr>
            <p:cNvPr id="14" name="文本框 13"/>
            <p:cNvSpPr txBox="1"/>
            <p:nvPr/>
          </p:nvSpPr>
          <p:spPr>
            <a:xfrm>
              <a:off x="1352" y="828"/>
              <a:ext cx="736" cy="822"/>
            </a:xfrm>
            <a:prstGeom prst="rect">
              <a:avLst/>
            </a:prstGeom>
            <a:noFill/>
          </p:spPr>
          <p:txBody>
            <a:bodyPr wrap="square" rtlCol="0">
              <a:spAutoFit/>
            </a:bodyPr>
            <a:p>
              <a:r>
                <a:rPr lang="zh-CN" altLang="en-US"/>
                <a:t>由</a:t>
              </a:r>
              <a:endParaRPr lang="zh-CN" altLang="en-US"/>
            </a:p>
          </p:txBody>
        </p:sp>
        <p:sp>
          <p:nvSpPr>
            <p:cNvPr id="15" name="文本框 14"/>
            <p:cNvSpPr txBox="1"/>
            <p:nvPr/>
          </p:nvSpPr>
          <p:spPr>
            <a:xfrm>
              <a:off x="6386" y="828"/>
              <a:ext cx="1075" cy="822"/>
            </a:xfrm>
            <a:prstGeom prst="rect">
              <a:avLst/>
            </a:prstGeom>
            <a:noFill/>
          </p:spPr>
          <p:txBody>
            <a:bodyPr wrap="square" rtlCol="0">
              <a:spAutoFit/>
            </a:bodyPr>
            <a:p>
              <a:r>
                <a:rPr lang="zh-CN" altLang="en-US"/>
                <a:t>得</a:t>
              </a:r>
              <a:endParaRPr lang="zh-CN" altLang="en-US"/>
            </a:p>
          </p:txBody>
        </p:sp>
        <p:graphicFrame>
          <p:nvGraphicFramePr>
            <p:cNvPr id="5" name="对象 -2147482250"/>
            <p:cNvGraphicFramePr>
              <a:graphicFrameLocks noChangeAspect="1"/>
            </p:cNvGraphicFramePr>
            <p:nvPr/>
          </p:nvGraphicFramePr>
          <p:xfrm>
            <a:off x="7200" y="864"/>
            <a:ext cx="6074" cy="813"/>
          </p:xfrm>
          <a:graphic>
            <a:graphicData uri="http://schemas.openxmlformats.org/presentationml/2006/ole">
              <mc:AlternateContent xmlns:mc="http://schemas.openxmlformats.org/markup-compatibility/2006">
                <mc:Choice xmlns:v="urn:schemas-microsoft-com:vml" Requires="v">
                  <p:oleObj spid="_x0000_s16" name="" r:id="rId3" imgW="1752600" imgH="228600" progId="Equation.DSMT4">
                    <p:embed/>
                  </p:oleObj>
                </mc:Choice>
                <mc:Fallback>
                  <p:oleObj name="" r:id="rId3" imgW="1752600" imgH="228600" progId="Equation.DSMT4">
                    <p:embed/>
                    <p:pic>
                      <p:nvPicPr>
                        <p:cNvPr id="0" name="图片 15"/>
                        <p:cNvPicPr/>
                        <p:nvPr/>
                      </p:nvPicPr>
                      <p:blipFill>
                        <a:blip r:embed="rId4"/>
                        <a:stretch>
                          <a:fillRect/>
                        </a:stretch>
                      </p:blipFill>
                      <p:spPr>
                        <a:xfrm>
                          <a:off x="7200" y="864"/>
                          <a:ext cx="6074" cy="813"/>
                        </a:xfrm>
                        <a:prstGeom prst="rect">
                          <a:avLst/>
                        </a:prstGeom>
                        <a:noFill/>
                        <a:ln w="38100">
                          <a:noFill/>
                          <a:miter/>
                        </a:ln>
                      </p:spPr>
                    </p:pic>
                  </p:oleObj>
                </mc:Fallback>
              </mc:AlternateContent>
            </a:graphicData>
          </a:graphic>
        </p:graphicFrame>
      </p:grpSp>
      <p:grpSp>
        <p:nvGrpSpPr>
          <p:cNvPr id="34" name="组合 33"/>
          <p:cNvGrpSpPr/>
          <p:nvPr/>
        </p:nvGrpSpPr>
        <p:grpSpPr>
          <a:xfrm>
            <a:off x="1014095" y="1197610"/>
            <a:ext cx="5996305" cy="530860"/>
            <a:chOff x="963" y="1886"/>
            <a:chExt cx="8614" cy="836"/>
          </a:xfrm>
        </p:grpSpPr>
        <p:sp>
          <p:nvSpPr>
            <p:cNvPr id="17" name="文本框 16"/>
            <p:cNvSpPr txBox="1"/>
            <p:nvPr/>
          </p:nvSpPr>
          <p:spPr>
            <a:xfrm>
              <a:off x="963" y="1886"/>
              <a:ext cx="2802" cy="822"/>
            </a:xfrm>
            <a:prstGeom prst="rect">
              <a:avLst/>
            </a:prstGeom>
          </p:spPr>
          <p:txBody>
            <a:bodyPr wrap="square">
              <a:spAutoFit/>
            </a:bodyPr>
            <a:p>
              <a:pPr defTabSz="266700"/>
              <a:r>
                <a:rPr lang="zh-CN" altLang="en-US">
                  <a:latin typeface="Times New Roman" panose="02020603050405020304"/>
                  <a:ea typeface="宋体" panose="02010600030101010101" pitchFamily="2" charset="-122"/>
                </a:rPr>
                <a:t>所以数列</a:t>
              </a:r>
              <a:endParaRPr lang="zh-CN" altLang="en-US">
                <a:latin typeface="Times New Roman" panose="02020603050405020304"/>
                <a:ea typeface="宋体" panose="02010600030101010101" pitchFamily="2" charset="-122"/>
              </a:endParaRPr>
            </a:p>
          </p:txBody>
        </p:sp>
        <p:graphicFrame>
          <p:nvGraphicFramePr>
            <p:cNvPr id="6" name="对象 -2147482249"/>
            <p:cNvGraphicFramePr/>
            <p:nvPr/>
          </p:nvGraphicFramePr>
          <p:xfrm>
            <a:off x="3345" y="1900"/>
            <a:ext cx="2840" cy="808"/>
          </p:xfrm>
          <a:graphic>
            <a:graphicData uri="http://schemas.openxmlformats.org/presentationml/2006/ole">
              <mc:AlternateContent xmlns:mc="http://schemas.openxmlformats.org/markup-compatibility/2006">
                <mc:Choice xmlns:v="urn:schemas-microsoft-com:vml" Requires="v">
                  <p:oleObj spid="_x0000_s18" name="" r:id="rId5" imgW="787400" imgH="228600" progId="Equation.DSMT4">
                    <p:embed/>
                  </p:oleObj>
                </mc:Choice>
                <mc:Fallback>
                  <p:oleObj name="" r:id="rId5" imgW="787400" imgH="228600" progId="Equation.DSMT4">
                    <p:embed/>
                    <p:pic>
                      <p:nvPicPr>
                        <p:cNvPr id="0" name="图片 17"/>
                        <p:cNvPicPr/>
                        <p:nvPr/>
                      </p:nvPicPr>
                      <p:blipFill>
                        <a:blip r:embed="rId6"/>
                        <a:stretch>
                          <a:fillRect/>
                        </a:stretch>
                      </p:blipFill>
                      <p:spPr>
                        <a:xfrm>
                          <a:off x="3345" y="1900"/>
                          <a:ext cx="2840" cy="808"/>
                        </a:xfrm>
                        <a:prstGeom prst="rect">
                          <a:avLst/>
                        </a:prstGeom>
                        <a:noFill/>
                        <a:ln w="38100">
                          <a:noFill/>
                          <a:miter/>
                        </a:ln>
                      </p:spPr>
                    </p:pic>
                  </p:oleObj>
                </mc:Fallback>
              </mc:AlternateContent>
            </a:graphicData>
          </a:graphic>
        </p:graphicFrame>
        <p:sp>
          <p:nvSpPr>
            <p:cNvPr id="19" name="文本框 18"/>
            <p:cNvSpPr txBox="1"/>
            <p:nvPr/>
          </p:nvSpPr>
          <p:spPr>
            <a:xfrm>
              <a:off x="6237" y="1900"/>
              <a:ext cx="3340" cy="822"/>
            </a:xfrm>
            <a:prstGeom prst="rect">
              <a:avLst/>
            </a:prstGeom>
          </p:spPr>
          <p:txBody>
            <a:bodyPr wrap="square">
              <a:spAutoFit/>
            </a:bodyPr>
            <a:p>
              <a:pPr defTabSz="266700"/>
              <a:r>
                <a:rPr lang="zh-CN" altLang="en-US">
                  <a:latin typeface="+mn-ea"/>
                  <a:ea typeface="+mn-ea"/>
                  <a:cs typeface="+mn-ea"/>
                </a:rPr>
                <a:t>是等比数列</a:t>
              </a:r>
              <a:r>
                <a:rPr lang="en-US" altLang="zh-CN">
                  <a:latin typeface="+mn-ea"/>
                  <a:ea typeface="+mn-ea"/>
                  <a:cs typeface="+mn-ea"/>
                </a:rPr>
                <a:t>.</a:t>
              </a:r>
              <a:endParaRPr lang="zh-CN" altLang="en-US">
                <a:latin typeface="+mn-ea"/>
                <a:ea typeface="+mn-ea"/>
                <a:cs typeface="+mn-ea"/>
                <a:sym typeface="+mn-ea"/>
              </a:endParaRPr>
            </a:p>
          </p:txBody>
        </p:sp>
      </p:grpSp>
      <p:graphicFrame>
        <p:nvGraphicFramePr>
          <p:cNvPr id="8" name="对象 -2147482248"/>
          <p:cNvGraphicFramePr/>
          <p:nvPr/>
        </p:nvGraphicFramePr>
        <p:xfrm>
          <a:off x="1118553" y="1728470"/>
          <a:ext cx="6104890" cy="616585"/>
        </p:xfrm>
        <a:graphic>
          <a:graphicData uri="http://schemas.openxmlformats.org/presentationml/2006/ole">
            <mc:AlternateContent xmlns:mc="http://schemas.openxmlformats.org/markup-compatibility/2006">
              <mc:Choice xmlns:v="urn:schemas-microsoft-com:vml" Requires="v">
                <p:oleObj spid="_x0000_s20" name="" r:id="rId7" imgW="2005965" imgH="241300" progId="Equation.DSMT4">
                  <p:embed/>
                </p:oleObj>
              </mc:Choice>
              <mc:Fallback>
                <p:oleObj name="" r:id="rId7" imgW="2005965" imgH="241300" progId="Equation.DSMT4">
                  <p:embed/>
                  <p:pic>
                    <p:nvPicPr>
                      <p:cNvPr id="0" name="图片 19"/>
                      <p:cNvPicPr/>
                      <p:nvPr/>
                    </p:nvPicPr>
                    <p:blipFill>
                      <a:blip r:embed="rId8"/>
                      <a:stretch>
                        <a:fillRect/>
                      </a:stretch>
                    </p:blipFill>
                    <p:spPr>
                      <a:xfrm>
                        <a:off x="1118553" y="1728470"/>
                        <a:ext cx="6104890" cy="616585"/>
                      </a:xfrm>
                      <a:prstGeom prst="rect">
                        <a:avLst/>
                      </a:prstGeom>
                      <a:noFill/>
                      <a:ln w="38100">
                        <a:noFill/>
                        <a:miter/>
                      </a:ln>
                    </p:spPr>
                  </p:pic>
                </p:oleObj>
              </mc:Fallback>
            </mc:AlternateContent>
          </a:graphicData>
        </a:graphic>
      </p:graphicFrame>
      <p:graphicFrame>
        <p:nvGraphicFramePr>
          <p:cNvPr id="7" name="对象 -2147482245"/>
          <p:cNvGraphicFramePr/>
          <p:nvPr/>
        </p:nvGraphicFramePr>
        <p:xfrm>
          <a:off x="1333500" y="3107055"/>
          <a:ext cx="5311140" cy="659130"/>
        </p:xfrm>
        <a:graphic>
          <a:graphicData uri="http://schemas.openxmlformats.org/presentationml/2006/ole">
            <mc:AlternateContent xmlns:mc="http://schemas.openxmlformats.org/markup-compatibility/2006">
              <mc:Choice xmlns:v="urn:schemas-microsoft-com:vml" Requires="v">
                <p:oleObj spid="_x0000_s21" name="" r:id="rId9" imgW="2044700" imgH="241300" progId="Equation.DSMT4">
                  <p:embed/>
                </p:oleObj>
              </mc:Choice>
              <mc:Fallback>
                <p:oleObj name="" r:id="rId9" imgW="2044700" imgH="241300" progId="Equation.DSMT4">
                  <p:embed/>
                  <p:pic>
                    <p:nvPicPr>
                      <p:cNvPr id="0" name="图片 20"/>
                      <p:cNvPicPr/>
                      <p:nvPr/>
                    </p:nvPicPr>
                    <p:blipFill>
                      <a:blip r:embed="rId10"/>
                      <a:stretch>
                        <a:fillRect/>
                      </a:stretch>
                    </p:blipFill>
                    <p:spPr>
                      <a:xfrm>
                        <a:off x="1333500" y="3107055"/>
                        <a:ext cx="5311140" cy="659130"/>
                      </a:xfrm>
                      <a:prstGeom prst="rect">
                        <a:avLst/>
                      </a:prstGeom>
                      <a:noFill/>
                      <a:ln w="38100">
                        <a:noFill/>
                        <a:miter/>
                      </a:ln>
                    </p:spPr>
                  </p:pic>
                </p:oleObj>
              </mc:Fallback>
            </mc:AlternateContent>
          </a:graphicData>
        </a:graphic>
      </p:graphicFrame>
      <p:grpSp>
        <p:nvGrpSpPr>
          <p:cNvPr id="35" name="组合 34"/>
          <p:cNvGrpSpPr/>
          <p:nvPr/>
        </p:nvGrpSpPr>
        <p:grpSpPr>
          <a:xfrm>
            <a:off x="682625" y="2470150"/>
            <a:ext cx="6604000" cy="619472"/>
            <a:chOff x="909" y="4040"/>
            <a:chExt cx="10566" cy="884"/>
          </a:xfrm>
        </p:grpSpPr>
        <p:sp>
          <p:nvSpPr>
            <p:cNvPr id="9" name="文本框 8"/>
            <p:cNvSpPr txBox="1"/>
            <p:nvPr/>
          </p:nvSpPr>
          <p:spPr>
            <a:xfrm>
              <a:off x="909" y="4071"/>
              <a:ext cx="2889" cy="745"/>
            </a:xfrm>
            <a:prstGeom prst="rect">
              <a:avLst/>
            </a:prstGeom>
          </p:spPr>
          <p:txBody>
            <a:bodyPr wrap="square">
              <a:spAutoFit/>
            </a:bodyPr>
            <a:p>
              <a:pPr defTabSz="266700">
                <a:buClrTx/>
                <a:buSzTx/>
                <a:buFontTx/>
              </a:pPr>
              <a:r>
                <a:rPr lang="zh-CN" altLang="en-US">
                  <a:latin typeface="Times New Roman" panose="02020603050405020304"/>
                  <a:ea typeface="宋体" panose="02010600030101010101" pitchFamily="2" charset="-122"/>
                </a:rPr>
                <a:t>由行列式</a:t>
              </a:r>
              <a:endParaRPr lang="zh-CN" altLang="en-US">
                <a:latin typeface="Times New Roman" panose="02020603050405020304"/>
                <a:ea typeface="宋体" panose="02010600030101010101" pitchFamily="2" charset="-122"/>
              </a:endParaRPr>
            </a:p>
          </p:txBody>
        </p:sp>
        <p:graphicFrame>
          <p:nvGraphicFramePr>
            <p:cNvPr id="2" name="对象 -2147482247"/>
            <p:cNvGraphicFramePr/>
            <p:nvPr/>
          </p:nvGraphicFramePr>
          <p:xfrm>
            <a:off x="3510" y="4040"/>
            <a:ext cx="2509" cy="884"/>
          </p:xfrm>
          <a:graphic>
            <a:graphicData uri="http://schemas.openxmlformats.org/presentationml/2006/ole">
              <mc:AlternateContent xmlns:mc="http://schemas.openxmlformats.org/markup-compatibility/2006">
                <mc:Choice xmlns:v="urn:schemas-microsoft-com:vml" Requires="v">
                  <p:oleObj spid="_x0000_s3076" name="" r:id="rId11" imgW="545465" imgH="228600" progId="Equation.DSMT4">
                    <p:embed/>
                  </p:oleObj>
                </mc:Choice>
                <mc:Fallback>
                  <p:oleObj name="" r:id="rId11" imgW="545465" imgH="228600" progId="Equation.DSMT4">
                    <p:embed/>
                    <p:pic>
                      <p:nvPicPr>
                        <p:cNvPr id="0" name="图片 3075"/>
                        <p:cNvPicPr/>
                        <p:nvPr/>
                      </p:nvPicPr>
                      <p:blipFill>
                        <a:blip r:embed="rId12"/>
                        <a:stretch>
                          <a:fillRect/>
                        </a:stretch>
                      </p:blipFill>
                      <p:spPr>
                        <a:xfrm>
                          <a:off x="3510" y="4040"/>
                          <a:ext cx="2509" cy="884"/>
                        </a:xfrm>
                        <a:prstGeom prst="rect">
                          <a:avLst/>
                        </a:prstGeom>
                        <a:noFill/>
                        <a:ln w="38100">
                          <a:noFill/>
                          <a:miter/>
                        </a:ln>
                      </p:spPr>
                    </p:pic>
                  </p:oleObj>
                </mc:Fallback>
              </mc:AlternateContent>
            </a:graphicData>
          </a:graphic>
        </p:graphicFrame>
        <p:graphicFrame>
          <p:nvGraphicFramePr>
            <p:cNvPr id="3" name="对象 -2147482246"/>
            <p:cNvGraphicFramePr/>
            <p:nvPr/>
          </p:nvGraphicFramePr>
          <p:xfrm>
            <a:off x="6292" y="4076"/>
            <a:ext cx="2539" cy="817"/>
          </p:xfrm>
          <a:graphic>
            <a:graphicData uri="http://schemas.openxmlformats.org/presentationml/2006/ole">
              <mc:AlternateContent xmlns:mc="http://schemas.openxmlformats.org/markup-compatibility/2006">
                <mc:Choice xmlns:v="urn:schemas-microsoft-com:vml" Requires="v">
                  <p:oleObj spid="_x0000_s10" name="" r:id="rId13" imgW="571500" imgH="241300" progId="Equation.DSMT4">
                    <p:embed/>
                  </p:oleObj>
                </mc:Choice>
                <mc:Fallback>
                  <p:oleObj name="" r:id="rId13" imgW="571500" imgH="241300" progId="Equation.DSMT4">
                    <p:embed/>
                    <p:pic>
                      <p:nvPicPr>
                        <p:cNvPr id="0" name="图片 9"/>
                        <p:cNvPicPr/>
                        <p:nvPr/>
                      </p:nvPicPr>
                      <p:blipFill>
                        <a:blip r:embed="rId14"/>
                        <a:stretch>
                          <a:fillRect/>
                        </a:stretch>
                      </p:blipFill>
                      <p:spPr>
                        <a:xfrm>
                          <a:off x="6292" y="4076"/>
                          <a:ext cx="2539" cy="817"/>
                        </a:xfrm>
                        <a:prstGeom prst="rect">
                          <a:avLst/>
                        </a:prstGeom>
                        <a:noFill/>
                        <a:ln w="38100">
                          <a:noFill/>
                          <a:miter/>
                        </a:ln>
                      </p:spPr>
                    </p:pic>
                  </p:oleObj>
                </mc:Fallback>
              </mc:AlternateContent>
            </a:graphicData>
          </a:graphic>
        </p:graphicFrame>
        <p:sp>
          <p:nvSpPr>
            <p:cNvPr id="22" name="文本框 21"/>
            <p:cNvSpPr txBox="1"/>
            <p:nvPr/>
          </p:nvSpPr>
          <p:spPr>
            <a:xfrm>
              <a:off x="9014" y="4102"/>
              <a:ext cx="2461" cy="745"/>
            </a:xfrm>
            <a:prstGeom prst="rect">
              <a:avLst/>
            </a:prstGeom>
          </p:spPr>
          <p:txBody>
            <a:bodyPr wrap="square">
              <a:spAutoFit/>
            </a:bodyPr>
            <a:p>
              <a:pPr defTabSz="266700">
                <a:buClrTx/>
                <a:buSzTx/>
                <a:buFontTx/>
              </a:pPr>
              <a:r>
                <a:rPr lang="zh-CN" altLang="en-US">
                  <a:latin typeface="Times New Roman" panose="02020603050405020304"/>
                  <a:ea typeface="宋体" panose="02010600030101010101" pitchFamily="2" charset="-122"/>
                </a:rPr>
                <a:t>得</a:t>
              </a:r>
              <a:endParaRPr lang="zh-CN" altLang="en-US">
                <a:latin typeface="Times New Roman" panose="02020603050405020304"/>
                <a:ea typeface="宋体" panose="02010600030101010101" pitchFamily="2" charset="-122"/>
              </a:endParaRPr>
            </a:p>
          </p:txBody>
        </p:sp>
      </p:grpSp>
      <p:grpSp>
        <p:nvGrpSpPr>
          <p:cNvPr id="36" name="组合 35"/>
          <p:cNvGrpSpPr/>
          <p:nvPr/>
        </p:nvGrpSpPr>
        <p:grpSpPr>
          <a:xfrm>
            <a:off x="611505" y="3919855"/>
            <a:ext cx="7033260" cy="922655"/>
            <a:chOff x="963" y="6308"/>
            <a:chExt cx="11076" cy="1346"/>
          </a:xfrm>
        </p:grpSpPr>
        <p:sp>
          <p:nvSpPr>
            <p:cNvPr id="23" name="文本框 22"/>
            <p:cNvSpPr txBox="1"/>
            <p:nvPr/>
          </p:nvSpPr>
          <p:spPr>
            <a:xfrm>
              <a:off x="963" y="6535"/>
              <a:ext cx="1597" cy="761"/>
            </a:xfrm>
            <a:prstGeom prst="rect">
              <a:avLst/>
            </a:prstGeom>
          </p:spPr>
          <p:txBody>
            <a:bodyPr wrap="square">
              <a:spAutoFit/>
            </a:bodyPr>
            <a:p>
              <a:pPr defTabSz="266700">
                <a:buClrTx/>
                <a:buSzTx/>
                <a:buFontTx/>
              </a:pPr>
              <a:r>
                <a:rPr lang="zh-CN" altLang="en-US">
                  <a:latin typeface="Times New Roman" panose="02020603050405020304"/>
                  <a:ea typeface="宋体" panose="02010600030101010101" pitchFamily="2" charset="-122"/>
                </a:rPr>
                <a:t>即</a:t>
              </a:r>
              <a:endParaRPr lang="zh-CN" altLang="en-US">
                <a:latin typeface="Times New Roman" panose="02020603050405020304"/>
                <a:ea typeface="宋体" panose="02010600030101010101" pitchFamily="2" charset="-122"/>
              </a:endParaRPr>
            </a:p>
          </p:txBody>
        </p:sp>
        <p:graphicFrame>
          <p:nvGraphicFramePr>
            <p:cNvPr id="11" name="对象 -2147482244"/>
            <p:cNvGraphicFramePr/>
            <p:nvPr/>
          </p:nvGraphicFramePr>
          <p:xfrm>
            <a:off x="2096" y="6308"/>
            <a:ext cx="3740" cy="1239"/>
          </p:xfrm>
          <a:graphic>
            <a:graphicData uri="http://schemas.openxmlformats.org/presentationml/2006/ole">
              <mc:AlternateContent xmlns:mc="http://schemas.openxmlformats.org/markup-compatibility/2006">
                <mc:Choice xmlns:v="urn:schemas-microsoft-com:vml" Requires="v">
                  <p:oleObj spid="_x0000_s24" name="" r:id="rId15" imgW="889000" imgH="393700" progId="Equation.DSMT4">
                    <p:embed/>
                  </p:oleObj>
                </mc:Choice>
                <mc:Fallback>
                  <p:oleObj name="" r:id="rId15" imgW="889000" imgH="393700" progId="Equation.DSMT4">
                    <p:embed/>
                    <p:pic>
                      <p:nvPicPr>
                        <p:cNvPr id="0" name="图片 23"/>
                        <p:cNvPicPr/>
                        <p:nvPr/>
                      </p:nvPicPr>
                      <p:blipFill>
                        <a:blip r:embed="rId16"/>
                        <a:stretch>
                          <a:fillRect/>
                        </a:stretch>
                      </p:blipFill>
                      <p:spPr>
                        <a:xfrm>
                          <a:off x="2096" y="6308"/>
                          <a:ext cx="3740" cy="1239"/>
                        </a:xfrm>
                        <a:prstGeom prst="rect">
                          <a:avLst/>
                        </a:prstGeom>
                        <a:noFill/>
                        <a:ln w="38100">
                          <a:noFill/>
                          <a:miter/>
                        </a:ln>
                      </p:spPr>
                    </p:pic>
                  </p:oleObj>
                </mc:Fallback>
              </mc:AlternateContent>
            </a:graphicData>
          </a:graphic>
        </p:graphicFrame>
        <p:graphicFrame>
          <p:nvGraphicFramePr>
            <p:cNvPr id="12" name="对象 -2147482243"/>
            <p:cNvGraphicFramePr/>
            <p:nvPr/>
          </p:nvGraphicFramePr>
          <p:xfrm>
            <a:off x="7313" y="6422"/>
            <a:ext cx="2265" cy="1232"/>
          </p:xfrm>
          <a:graphic>
            <a:graphicData uri="http://schemas.openxmlformats.org/presentationml/2006/ole">
              <mc:AlternateContent xmlns:mc="http://schemas.openxmlformats.org/markup-compatibility/2006">
                <mc:Choice xmlns:v="urn:schemas-microsoft-com:vml" Requires="v">
                  <p:oleObj spid="_x0000_s25" name="" r:id="rId17" imgW="457200" imgH="393700" progId="Equation.DSMT4">
                    <p:embed/>
                  </p:oleObj>
                </mc:Choice>
                <mc:Fallback>
                  <p:oleObj name="" r:id="rId17" imgW="457200" imgH="393700" progId="Equation.DSMT4">
                    <p:embed/>
                    <p:pic>
                      <p:nvPicPr>
                        <p:cNvPr id="0" name="图片 24"/>
                        <p:cNvPicPr/>
                        <p:nvPr/>
                      </p:nvPicPr>
                      <p:blipFill>
                        <a:blip r:embed="rId18"/>
                        <a:stretch>
                          <a:fillRect/>
                        </a:stretch>
                      </p:blipFill>
                      <p:spPr>
                        <a:xfrm>
                          <a:off x="7313" y="6422"/>
                          <a:ext cx="2265" cy="1232"/>
                        </a:xfrm>
                        <a:prstGeom prst="rect">
                          <a:avLst/>
                        </a:prstGeom>
                        <a:noFill/>
                        <a:ln w="38100">
                          <a:noFill/>
                          <a:miter/>
                        </a:ln>
                      </p:spPr>
                    </p:pic>
                  </p:oleObj>
                </mc:Fallback>
              </mc:AlternateContent>
            </a:graphicData>
          </a:graphic>
        </p:graphicFrame>
        <p:sp>
          <p:nvSpPr>
            <p:cNvPr id="26" name="文本框 25"/>
            <p:cNvSpPr txBox="1"/>
            <p:nvPr/>
          </p:nvSpPr>
          <p:spPr>
            <a:xfrm>
              <a:off x="6019" y="6535"/>
              <a:ext cx="1848" cy="761"/>
            </a:xfrm>
            <a:prstGeom prst="rect">
              <a:avLst/>
            </a:prstGeom>
            <a:noFill/>
          </p:spPr>
          <p:txBody>
            <a:bodyPr wrap="square" rtlCol="0" anchor="t">
              <a:spAutoFit/>
            </a:bodyPr>
            <a:p>
              <a:r>
                <a:rPr lang="zh-CN" altLang="en-US">
                  <a:latin typeface="Times New Roman" panose="02020603050405020304"/>
                  <a:sym typeface="+mn-ea"/>
                </a:rPr>
                <a:t>由</a:t>
              </a:r>
              <a:endParaRPr lang="zh-CN" altLang="en-US">
                <a:latin typeface="Times New Roman" panose="02020603050405020304"/>
                <a:sym typeface="+mn-ea"/>
              </a:endParaRPr>
            </a:p>
          </p:txBody>
        </p:sp>
        <p:sp>
          <p:nvSpPr>
            <p:cNvPr id="29" name="文本框 28"/>
            <p:cNvSpPr txBox="1"/>
            <p:nvPr/>
          </p:nvSpPr>
          <p:spPr>
            <a:xfrm>
              <a:off x="9578" y="6622"/>
              <a:ext cx="2461" cy="761"/>
            </a:xfrm>
            <a:prstGeom prst="rect">
              <a:avLst/>
            </a:prstGeom>
          </p:spPr>
          <p:txBody>
            <a:bodyPr wrap="square">
              <a:spAutoFit/>
            </a:bodyPr>
            <a:p>
              <a:pPr defTabSz="266700">
                <a:buClrTx/>
                <a:buSzTx/>
                <a:buFontTx/>
              </a:pPr>
              <a:r>
                <a:rPr lang="zh-CN" altLang="en-US">
                  <a:latin typeface="Times New Roman" panose="02020603050405020304"/>
                  <a:ea typeface="宋体" panose="02010600030101010101" pitchFamily="2" charset="-122"/>
                </a:rPr>
                <a:t>得</a:t>
              </a:r>
              <a:endParaRPr lang="zh-CN" altLang="en-US">
                <a:latin typeface="Times New Roman" panose="02020603050405020304"/>
                <a:ea typeface="宋体" panose="02010600030101010101" pitchFamily="2" charset="-122"/>
              </a:endParaRPr>
            </a:p>
          </p:txBody>
        </p:sp>
      </p:grpSp>
      <p:grpSp>
        <p:nvGrpSpPr>
          <p:cNvPr id="37" name="组合 36"/>
          <p:cNvGrpSpPr/>
          <p:nvPr/>
        </p:nvGrpSpPr>
        <p:grpSpPr>
          <a:xfrm>
            <a:off x="1014730" y="4923155"/>
            <a:ext cx="5500370" cy="972820"/>
            <a:chOff x="1598" y="7925"/>
            <a:chExt cx="8662" cy="1360"/>
          </a:xfrm>
        </p:grpSpPr>
        <p:graphicFrame>
          <p:nvGraphicFramePr>
            <p:cNvPr id="27" name="对象 -2147482242"/>
            <p:cNvGraphicFramePr/>
            <p:nvPr/>
          </p:nvGraphicFramePr>
          <p:xfrm>
            <a:off x="1598" y="7925"/>
            <a:ext cx="3242" cy="1360"/>
          </p:xfrm>
          <a:graphic>
            <a:graphicData uri="http://schemas.openxmlformats.org/presentationml/2006/ole">
              <mc:AlternateContent xmlns:mc="http://schemas.openxmlformats.org/markup-compatibility/2006">
                <mc:Choice xmlns:v="urn:schemas-microsoft-com:vml" Requires="v">
                  <p:oleObj spid="_x0000_s28" name="" r:id="rId19" imgW="698500" imgH="393700" progId="Equation.DSMT4">
                    <p:embed/>
                  </p:oleObj>
                </mc:Choice>
                <mc:Fallback>
                  <p:oleObj name="" r:id="rId19" imgW="698500" imgH="393700" progId="Equation.DSMT4">
                    <p:embed/>
                    <p:pic>
                      <p:nvPicPr>
                        <p:cNvPr id="0" name="图片 26"/>
                        <p:cNvPicPr/>
                        <p:nvPr/>
                      </p:nvPicPr>
                      <p:blipFill>
                        <a:blip r:embed="rId20"/>
                        <a:stretch>
                          <a:fillRect/>
                        </a:stretch>
                      </p:blipFill>
                      <p:spPr>
                        <a:xfrm>
                          <a:off x="1598" y="7925"/>
                          <a:ext cx="3242" cy="1360"/>
                        </a:xfrm>
                        <a:prstGeom prst="rect">
                          <a:avLst/>
                        </a:prstGeom>
                        <a:noFill/>
                        <a:ln w="38100">
                          <a:noFill/>
                          <a:miter/>
                        </a:ln>
                      </p:spPr>
                    </p:pic>
                  </p:oleObj>
                </mc:Fallback>
              </mc:AlternateContent>
            </a:graphicData>
          </a:graphic>
        </p:graphicFrame>
        <p:graphicFrame>
          <p:nvGraphicFramePr>
            <p:cNvPr id="30" name="对象 -2147482241"/>
            <p:cNvGraphicFramePr/>
            <p:nvPr/>
          </p:nvGraphicFramePr>
          <p:xfrm>
            <a:off x="6406" y="8009"/>
            <a:ext cx="3854" cy="1073"/>
          </p:xfrm>
          <a:graphic>
            <a:graphicData uri="http://schemas.openxmlformats.org/presentationml/2006/ole">
              <mc:AlternateContent xmlns:mc="http://schemas.openxmlformats.org/markup-compatibility/2006">
                <mc:Choice xmlns:v="urn:schemas-microsoft-com:vml" Requires="v">
                  <p:oleObj spid="_x0000_s31" name="" r:id="rId21" imgW="876300" imgH="241300" progId="Equation.DSMT4">
                    <p:embed/>
                  </p:oleObj>
                </mc:Choice>
                <mc:Fallback>
                  <p:oleObj name="" r:id="rId21" imgW="876300" imgH="241300" progId="Equation.DSMT4">
                    <p:embed/>
                    <p:pic>
                      <p:nvPicPr>
                        <p:cNvPr id="0" name="图片 28"/>
                        <p:cNvPicPr/>
                        <p:nvPr/>
                      </p:nvPicPr>
                      <p:blipFill>
                        <a:blip r:embed="rId22"/>
                        <a:stretch>
                          <a:fillRect/>
                        </a:stretch>
                      </p:blipFill>
                      <p:spPr>
                        <a:xfrm>
                          <a:off x="6406" y="8009"/>
                          <a:ext cx="3854" cy="1073"/>
                        </a:xfrm>
                        <a:prstGeom prst="rect">
                          <a:avLst/>
                        </a:prstGeom>
                        <a:noFill/>
                        <a:ln w="38100">
                          <a:noFill/>
                          <a:miter/>
                        </a:ln>
                      </p:spPr>
                    </p:pic>
                  </p:oleObj>
                </mc:Fallback>
              </mc:AlternateContent>
            </a:graphicData>
          </a:graphic>
        </p:graphicFrame>
        <p:sp>
          <p:nvSpPr>
            <p:cNvPr id="32" name="文本框 31"/>
            <p:cNvSpPr txBox="1"/>
            <p:nvPr/>
          </p:nvSpPr>
          <p:spPr>
            <a:xfrm>
              <a:off x="5003" y="8194"/>
              <a:ext cx="2101" cy="730"/>
            </a:xfrm>
            <a:prstGeom prst="rect">
              <a:avLst/>
            </a:prstGeom>
            <a:noFill/>
          </p:spPr>
          <p:txBody>
            <a:bodyPr wrap="square" rtlCol="0" anchor="t">
              <a:spAutoFit/>
            </a:bodyPr>
            <a:p>
              <a:r>
                <a:rPr lang="zh-CN" altLang="en-US">
                  <a:latin typeface="Times New Roman" panose="02020603050405020304"/>
                  <a:sym typeface="+mn-ea"/>
                </a:rPr>
                <a:t>所以</a:t>
              </a:r>
              <a:endParaRPr lang="zh-CN" altLang="en-US">
                <a:latin typeface="Times New Roman" panose="02020603050405020304"/>
                <a:sym typeface="+mn-e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down)">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down)">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down)">
                                      <p:cBhvr>
                                        <p:cTn id="32" dur="5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wipe(down)">
                                      <p:cBhvr>
                                        <p:cTn id="3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55651" name="文本框 155650"/>
          <p:cNvSpPr txBox="1"/>
          <p:nvPr/>
        </p:nvSpPr>
        <p:spPr>
          <a:xfrm>
            <a:off x="539115" y="3171825"/>
            <a:ext cx="3332480" cy="598805"/>
          </a:xfrm>
          <a:prstGeom prst="rect">
            <a:avLst/>
          </a:prstGeom>
          <a:noFill/>
          <a:ln w="9525">
            <a:noFill/>
          </a:ln>
        </p:spPr>
        <p:txBody>
          <a:bodyPr wrap="none" anchor="t" anchorCtr="0">
            <a:noAutofit/>
          </a:bodyPr>
          <a:p>
            <a:pPr algn="l"/>
            <a:r>
              <a:rPr lang="zh-CN" altLang="en-US" dirty="0">
                <a:solidFill>
                  <a:schemeClr val="hlink"/>
                </a:solidFill>
                <a:latin typeface="Times New Roman" panose="02020603050405020304" pitchFamily="18" charset="0"/>
                <a:ea typeface="黑体" panose="02010609060101010101" pitchFamily="2" charset="-122"/>
              </a:rPr>
              <a:t>解</a:t>
            </a:r>
            <a:r>
              <a:rPr lang="en-US" altLang="zh-CN">
                <a:solidFill>
                  <a:schemeClr val="hlink"/>
                </a:solidFill>
                <a:latin typeface="Times New Roman" panose="02020603050405020304" pitchFamily="18" charset="0"/>
                <a:ea typeface="黑体" panose="02010609060101010101" pitchFamily="2" charset="-122"/>
              </a:rPr>
              <a:t>: </a:t>
            </a:r>
            <a:r>
              <a:rPr lang="en-US" altLang="zh-CN" sz="2400">
                <a:latin typeface="Times New Roman" panose="02020603050405020304" pitchFamily="18" charset="0"/>
                <a:ea typeface="黑体" panose="02010609060101010101" pitchFamily="2" charset="-122"/>
              </a:rPr>
              <a:t> </a:t>
            </a:r>
            <a:r>
              <a:rPr lang="zh-CN" altLang="en-US" sz="2400" b="0">
                <a:latin typeface="+mn-ea"/>
                <a:ea typeface="+mn-ea"/>
              </a:rPr>
              <a:t>构造</a:t>
            </a:r>
            <a:r>
              <a:rPr lang="en-US" altLang="zh-CN" sz="2400" b="0" i="1">
                <a:latin typeface="Times New Roman" panose="02020603050405020304" pitchFamily="18" charset="0"/>
                <a:ea typeface="黑体" panose="02010609060101010101" pitchFamily="2" charset="-122"/>
              </a:rPr>
              <a:t>n</a:t>
            </a:r>
            <a:r>
              <a:rPr lang="en-US" altLang="zh-CN" sz="2400" b="0">
                <a:latin typeface="Times New Roman" panose="02020603050405020304" pitchFamily="18" charset="0"/>
                <a:ea typeface="黑体" panose="02010609060101010101" pitchFamily="2" charset="-122"/>
              </a:rPr>
              <a:t>+1</a:t>
            </a:r>
            <a:r>
              <a:rPr lang="zh-CN" altLang="en-US" b="0">
                <a:latin typeface="+mn-ea"/>
                <a:ea typeface="+mn-ea"/>
                <a:sym typeface="+mn-ea"/>
              </a:rPr>
              <a:t>阶行</a:t>
            </a:r>
            <a:r>
              <a:rPr lang="zh-CN" altLang="en-US" b="0">
                <a:latin typeface="+mn-ea"/>
                <a:ea typeface="+mn-ea"/>
              </a:rPr>
              <a:t>列式</a:t>
            </a:r>
            <a:endParaRPr lang="zh-CN" altLang="en-US" b="0">
              <a:latin typeface="+mn-ea"/>
              <a:ea typeface="+mn-ea"/>
            </a:endParaRPr>
          </a:p>
        </p:txBody>
      </p:sp>
      <p:sp>
        <p:nvSpPr>
          <p:cNvPr id="155656" name="矩形 155655"/>
          <p:cNvSpPr/>
          <p:nvPr/>
        </p:nvSpPr>
        <p:spPr>
          <a:xfrm>
            <a:off x="539115" y="659130"/>
            <a:ext cx="4400550" cy="1351915"/>
          </a:xfrm>
          <a:prstGeom prst="rect">
            <a:avLst/>
          </a:prstGeom>
          <a:noFill/>
          <a:ln w="9525">
            <a:noFill/>
          </a:ln>
        </p:spPr>
        <p:txBody>
          <a:bodyPr wrap="square">
            <a:noAutofit/>
          </a:bodyPr>
          <a:p>
            <a:pPr>
              <a:lnSpc>
                <a:spcPct val="120000"/>
              </a:lnSpc>
            </a:pPr>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1.3.</a:t>
            </a:r>
            <a:r>
              <a:rPr lang="en-US" altLang="zh-CN">
                <a:solidFill>
                  <a:srgbClr val="FF0000"/>
                </a:solidFill>
                <a:latin typeface="Times New Roman" panose="02020603050405020304" pitchFamily="18" charset="0"/>
                <a:ea typeface="黑体" panose="02010609060101010101" pitchFamily="2" charset="-122"/>
              </a:rPr>
              <a:t>5</a:t>
            </a:r>
            <a:r>
              <a:rPr lang="en-US" altLang="zh-CN">
                <a:solidFill>
                  <a:schemeClr val="hlink"/>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rPr>
              <a:t> </a:t>
            </a:r>
            <a:r>
              <a:rPr lang="zh-CN" altLang="en-US">
                <a:latin typeface="Times New Roman" panose="02020603050405020304" pitchFamily="18" charset="0"/>
              </a:rPr>
              <a:t>已知</a:t>
            </a:r>
            <a:r>
              <a:rPr lang="en-US" altLang="zh-CN" i="1" dirty="0">
                <a:sym typeface="+mn-ea"/>
              </a:rPr>
              <a:t>x</a:t>
            </a:r>
            <a:r>
              <a:rPr lang="en-US" altLang="zh-CN" i="1" baseline="-25000" dirty="0">
                <a:sym typeface="+mn-ea"/>
              </a:rPr>
              <a:t>i</a:t>
            </a:r>
            <a:r>
              <a:rPr lang="en-US" altLang="zh-CN" b="0">
                <a:latin typeface="+mn-lt"/>
                <a:ea typeface="+mn-ea"/>
                <a:cs typeface="+mn-lt"/>
                <a:sym typeface="+mn-ea"/>
              </a:rPr>
              <a:t>≠</a:t>
            </a:r>
            <a:r>
              <a:rPr lang="en-US" altLang="zh-CN" i="1">
                <a:latin typeface="+mn-lt"/>
                <a:ea typeface="+mn-ea"/>
                <a:cs typeface="+mn-lt"/>
                <a:sym typeface="+mn-ea"/>
              </a:rPr>
              <a:t>a</a:t>
            </a:r>
            <a:r>
              <a:rPr lang="en-US" altLang="zh-CN" b="0">
                <a:latin typeface="+mn-lt"/>
                <a:ea typeface="+mn-ea"/>
                <a:cs typeface="+mn-lt"/>
                <a:sym typeface="+mn-ea"/>
              </a:rPr>
              <a:t>(i=1,2,...,</a:t>
            </a:r>
            <a:r>
              <a:rPr lang="en-US" altLang="zh-CN" b="0" i="1">
                <a:latin typeface="+mn-lt"/>
                <a:ea typeface="+mn-ea"/>
                <a:cs typeface="+mn-lt"/>
                <a:sym typeface="+mn-ea"/>
              </a:rPr>
              <a:t>n</a:t>
            </a:r>
            <a:r>
              <a:rPr lang="en-US" altLang="zh-CN" b="0">
                <a:latin typeface="+mn-lt"/>
                <a:ea typeface="+mn-ea"/>
                <a:cs typeface="+mn-lt"/>
                <a:sym typeface="+mn-ea"/>
              </a:rPr>
              <a:t>)</a:t>
            </a:r>
            <a:r>
              <a:rPr lang="zh-CN" altLang="en-US" b="0">
                <a:latin typeface="+mn-lt"/>
                <a:ea typeface="+mn-ea"/>
                <a:cs typeface="+mn-lt"/>
                <a:sym typeface="+mn-ea"/>
              </a:rPr>
              <a:t>，</a:t>
            </a:r>
            <a:r>
              <a:rPr lang="en-US" altLang="zh-CN" b="0">
                <a:latin typeface="+mn-lt"/>
                <a:ea typeface="+mn-ea"/>
                <a:cs typeface="+mn-lt"/>
                <a:sym typeface="+mn-ea"/>
              </a:rPr>
              <a:t>     </a:t>
            </a:r>
            <a:endParaRPr lang="en-US" altLang="zh-CN" b="0">
              <a:latin typeface="+mn-lt"/>
              <a:ea typeface="+mn-ea"/>
              <a:cs typeface="+mn-lt"/>
              <a:sym typeface="+mn-ea"/>
            </a:endParaRPr>
          </a:p>
          <a:p>
            <a:pPr>
              <a:lnSpc>
                <a:spcPct val="120000"/>
              </a:lnSpc>
            </a:pPr>
            <a:r>
              <a:rPr lang="en-US" altLang="zh-CN">
                <a:latin typeface="Times New Roman" panose="02020603050405020304" pitchFamily="18" charset="0"/>
              </a:rPr>
              <a:t>               </a:t>
            </a:r>
            <a:r>
              <a:rPr lang="zh-CN" altLang="en-US">
                <a:latin typeface="Times New Roman" panose="02020603050405020304" pitchFamily="18" charset="0"/>
              </a:rPr>
              <a:t>计算</a:t>
            </a:r>
            <a:r>
              <a:rPr lang="zh-CN" altLang="en-US" dirty="0">
                <a:latin typeface="Times New Roman" panose="02020603050405020304" pitchFamily="18" charset="0"/>
              </a:rPr>
              <a:t>阶</a:t>
            </a:r>
            <a:r>
              <a:rPr lang="en-US" altLang="zh-CN" i="1" dirty="0">
                <a:latin typeface="Times New Roman" panose="02020603050405020304" pitchFamily="18" charset="0"/>
              </a:rPr>
              <a:t>n</a:t>
            </a:r>
            <a:r>
              <a:rPr lang="zh-CN" altLang="en-US" dirty="0">
                <a:latin typeface="Times New Roman" panose="02020603050405020304" pitchFamily="18" charset="0"/>
              </a:rPr>
              <a:t>行列式</a:t>
            </a:r>
            <a:endParaRPr lang="zh-CN" altLang="en-US" dirty="0">
              <a:latin typeface="Times New Roman" panose="02020603050405020304" pitchFamily="18" charset="0"/>
            </a:endParaRPr>
          </a:p>
        </p:txBody>
      </p:sp>
      <p:sp>
        <p:nvSpPr>
          <p:cNvPr id="28" name="文本框 27"/>
          <p:cNvSpPr txBox="1"/>
          <p:nvPr/>
        </p:nvSpPr>
        <p:spPr>
          <a:xfrm>
            <a:off x="755015" y="205105"/>
            <a:ext cx="2117090" cy="536575"/>
          </a:xfrm>
          <a:prstGeom prst="rect">
            <a:avLst/>
          </a:prstGeom>
          <a:noFill/>
        </p:spPr>
        <p:txBody>
          <a:bodyPr wrap="square" rtlCol="0">
            <a:noAutofit/>
          </a:bodyPr>
          <a:p>
            <a:r>
              <a:rPr lang="en-US" altLang="zh-CN">
                <a:solidFill>
                  <a:srgbClr val="FF0000"/>
                </a:solidFill>
              </a:rPr>
              <a:t>(</a:t>
            </a:r>
            <a:r>
              <a:rPr lang="zh-CN" altLang="en-US">
                <a:solidFill>
                  <a:srgbClr val="FF0000"/>
                </a:solidFill>
              </a:rPr>
              <a:t>加边法</a:t>
            </a:r>
            <a:r>
              <a:rPr lang="en-US" altLang="zh-CN">
                <a:solidFill>
                  <a:srgbClr val="FF0000"/>
                </a:solidFill>
              </a:rPr>
              <a:t>)</a:t>
            </a:r>
            <a:endParaRPr lang="en-US" altLang="zh-CN">
              <a:solidFill>
                <a:srgbClr val="FF0000"/>
              </a:solidFill>
            </a:endParaRPr>
          </a:p>
        </p:txBody>
      </p:sp>
      <p:graphicFrame>
        <p:nvGraphicFramePr>
          <p:cNvPr id="2" name="对象 -2147482185"/>
          <p:cNvGraphicFramePr>
            <a:graphicFrameLocks noChangeAspect="1"/>
          </p:cNvGraphicFramePr>
          <p:nvPr/>
        </p:nvGraphicFramePr>
        <p:xfrm>
          <a:off x="4716145" y="559435"/>
          <a:ext cx="3822065" cy="2276475"/>
        </p:xfrm>
        <a:graphic>
          <a:graphicData uri="http://schemas.openxmlformats.org/presentationml/2006/ole">
            <mc:AlternateContent xmlns:mc="http://schemas.openxmlformats.org/markup-compatibility/2006">
              <mc:Choice xmlns:v="urn:schemas-microsoft-com:vml" Requires="v">
                <p:oleObj spid="_x0000_s8" name="" r:id="rId1" imgW="1587500" imgH="1168400" progId="Equation.3">
                  <p:embed/>
                </p:oleObj>
              </mc:Choice>
              <mc:Fallback>
                <p:oleObj name="" r:id="rId1" imgW="1587500" imgH="1168400" progId="Equation.3">
                  <p:embed/>
                  <p:pic>
                    <p:nvPicPr>
                      <p:cNvPr id="0" name="图片 7"/>
                      <p:cNvPicPr/>
                      <p:nvPr/>
                    </p:nvPicPr>
                    <p:blipFill>
                      <a:blip r:embed="rId2"/>
                      <a:stretch>
                        <a:fillRect/>
                      </a:stretch>
                    </p:blipFill>
                    <p:spPr>
                      <a:xfrm>
                        <a:off x="4716145" y="559435"/>
                        <a:ext cx="3822065" cy="2276475"/>
                      </a:xfrm>
                      <a:prstGeom prst="rect">
                        <a:avLst/>
                      </a:prstGeom>
                      <a:noFill/>
                      <a:ln w="38100">
                        <a:noFill/>
                        <a:miter/>
                      </a:ln>
                    </p:spPr>
                  </p:pic>
                </p:oleObj>
              </mc:Fallback>
            </mc:AlternateContent>
          </a:graphicData>
        </a:graphic>
      </p:graphicFrame>
      <p:graphicFrame>
        <p:nvGraphicFramePr>
          <p:cNvPr id="3" name="对象 -2147482183"/>
          <p:cNvGraphicFramePr>
            <a:graphicFrameLocks noChangeAspect="1"/>
          </p:cNvGraphicFramePr>
          <p:nvPr/>
        </p:nvGraphicFramePr>
        <p:xfrm>
          <a:off x="3755390" y="2778125"/>
          <a:ext cx="3674745" cy="2558415"/>
        </p:xfrm>
        <a:graphic>
          <a:graphicData uri="http://schemas.openxmlformats.org/presentationml/2006/ole">
            <mc:AlternateContent xmlns:mc="http://schemas.openxmlformats.org/markup-compatibility/2006">
              <mc:Choice xmlns:v="urn:schemas-microsoft-com:vml" Requires="v">
                <p:oleObj spid="_x0000_s10" name="" r:id="rId3" imgW="1943100" imgH="1397000" progId="Equation.3">
                  <p:embed/>
                </p:oleObj>
              </mc:Choice>
              <mc:Fallback>
                <p:oleObj name="" r:id="rId3" imgW="1943100" imgH="1397000" progId="Equation.3">
                  <p:embed/>
                  <p:pic>
                    <p:nvPicPr>
                      <p:cNvPr id="0" name="图片 9"/>
                      <p:cNvPicPr/>
                      <p:nvPr/>
                    </p:nvPicPr>
                    <p:blipFill>
                      <a:blip r:embed="rId4"/>
                      <a:stretch>
                        <a:fillRect/>
                      </a:stretch>
                    </p:blipFill>
                    <p:spPr>
                      <a:xfrm>
                        <a:off x="3755390" y="2778125"/>
                        <a:ext cx="3674745" cy="2558415"/>
                      </a:xfrm>
                      <a:prstGeom prst="rect">
                        <a:avLst/>
                      </a:prstGeom>
                      <a:noFill/>
                      <a:ln w="38100">
                        <a:noFill/>
                        <a:miter/>
                      </a:ln>
                    </p:spPr>
                  </p:pic>
                </p:oleObj>
              </mc:Fallback>
            </mc:AlternateContent>
          </a:graphicData>
        </a:graphic>
      </p:graphicFrame>
      <p:sp>
        <p:nvSpPr>
          <p:cNvPr id="11" name="文本框 10"/>
          <p:cNvSpPr txBox="1"/>
          <p:nvPr/>
        </p:nvSpPr>
        <p:spPr>
          <a:xfrm>
            <a:off x="554990" y="5336540"/>
            <a:ext cx="8274685" cy="953135"/>
          </a:xfrm>
          <a:prstGeom prst="rect">
            <a:avLst/>
          </a:prstGeom>
          <a:noFill/>
        </p:spPr>
        <p:txBody>
          <a:bodyPr wrap="square" rtlCol="0" anchor="t">
            <a:spAutoFit/>
          </a:bodyPr>
          <a:p>
            <a:pPr algn="l"/>
            <a:r>
              <a:rPr lang="zh-CN" altLang="en-US" b="0">
                <a:latin typeface="+mn-ea"/>
                <a:ea typeface="+mn-ea"/>
                <a:sym typeface="+mn-ea"/>
              </a:rPr>
              <a:t>将行列式</a:t>
            </a:r>
            <a:r>
              <a:rPr lang="en-US" altLang="zh-CN" i="1">
                <a:latin typeface="+mn-lt"/>
                <a:ea typeface="+mn-ea"/>
                <a:cs typeface="+mn-lt"/>
                <a:sym typeface="+mn-ea"/>
              </a:rPr>
              <a:t>D</a:t>
            </a:r>
            <a:r>
              <a:rPr lang="en-US" altLang="zh-CN" baseline="-25000">
                <a:latin typeface="+mn-lt"/>
                <a:ea typeface="+mn-ea"/>
                <a:cs typeface="+mn-lt"/>
                <a:sym typeface="+mn-ea"/>
              </a:rPr>
              <a:t>1</a:t>
            </a:r>
            <a:r>
              <a:rPr lang="zh-CN" altLang="en-US" b="0">
                <a:latin typeface="+mn-ea"/>
                <a:ea typeface="+mn-ea"/>
                <a:sym typeface="+mn-ea"/>
              </a:rPr>
              <a:t>按第</a:t>
            </a:r>
            <a:r>
              <a:rPr lang="en-US" altLang="zh-CN" b="0">
                <a:latin typeface="+mn-ea"/>
                <a:ea typeface="+mn-ea"/>
                <a:sym typeface="+mn-ea"/>
              </a:rPr>
              <a:t>1</a:t>
            </a:r>
            <a:r>
              <a:rPr lang="zh-CN" altLang="en-US" b="0">
                <a:latin typeface="+mn-ea"/>
                <a:ea typeface="+mn-ea"/>
                <a:sym typeface="+mn-ea"/>
              </a:rPr>
              <a:t>行展开，得</a:t>
            </a:r>
            <a:r>
              <a:rPr lang="en-US" altLang="zh-CN" i="1">
                <a:latin typeface="+mn-lt"/>
                <a:ea typeface="+mn-ea"/>
                <a:cs typeface="+mn-lt"/>
                <a:sym typeface="+mn-ea"/>
              </a:rPr>
              <a:t>D</a:t>
            </a:r>
            <a:r>
              <a:rPr lang="en-US" altLang="zh-CN" baseline="-25000">
                <a:latin typeface="+mn-lt"/>
                <a:ea typeface="+mn-ea"/>
                <a:cs typeface="+mn-lt"/>
                <a:sym typeface="+mn-ea"/>
              </a:rPr>
              <a:t>1</a:t>
            </a:r>
            <a:r>
              <a:rPr lang="en-US" altLang="zh-CN">
                <a:latin typeface="+mn-lt"/>
                <a:ea typeface="+mn-ea"/>
                <a:cs typeface="+mn-lt"/>
                <a:sym typeface="+mn-ea"/>
              </a:rPr>
              <a:t>=</a:t>
            </a:r>
            <a:r>
              <a:rPr lang="en-US" altLang="zh-CN" i="1">
                <a:latin typeface="+mn-lt"/>
                <a:ea typeface="+mn-ea"/>
                <a:cs typeface="+mn-lt"/>
                <a:sym typeface="+mn-ea"/>
              </a:rPr>
              <a:t>D</a:t>
            </a:r>
            <a:r>
              <a:rPr lang="zh-CN" altLang="en-US" b="0">
                <a:latin typeface="+mn-ea"/>
                <a:ea typeface="+mn-ea"/>
                <a:sym typeface="+mn-ea"/>
              </a:rPr>
              <a:t>．将</a:t>
            </a:r>
            <a:r>
              <a:rPr lang="en-US" altLang="zh-CN" i="1">
                <a:latin typeface="+mn-lt"/>
                <a:ea typeface="+mn-ea"/>
                <a:cs typeface="+mn-lt"/>
                <a:sym typeface="+mn-ea"/>
              </a:rPr>
              <a:t>D</a:t>
            </a:r>
            <a:r>
              <a:rPr lang="en-US" altLang="zh-CN" baseline="-25000">
                <a:latin typeface="+mn-lt"/>
                <a:ea typeface="+mn-ea"/>
                <a:cs typeface="+mn-lt"/>
                <a:sym typeface="+mn-ea"/>
              </a:rPr>
              <a:t>1</a:t>
            </a:r>
            <a:r>
              <a:rPr lang="zh-CN" altLang="en-US" b="0">
                <a:latin typeface="+mn-ea"/>
                <a:ea typeface="+mn-ea"/>
                <a:sym typeface="+mn-ea"/>
              </a:rPr>
              <a:t>中的第</a:t>
            </a:r>
            <a:r>
              <a:rPr lang="en-US" altLang="zh-CN" b="0">
                <a:latin typeface="+mn-ea"/>
                <a:ea typeface="+mn-ea"/>
                <a:sym typeface="+mn-ea"/>
              </a:rPr>
              <a:t>1</a:t>
            </a:r>
            <a:r>
              <a:rPr lang="zh-CN" altLang="en-US" b="0">
                <a:latin typeface="+mn-ea"/>
                <a:ea typeface="+mn-ea"/>
                <a:sym typeface="+mn-ea"/>
              </a:rPr>
              <a:t>列乘以</a:t>
            </a:r>
            <a:r>
              <a:rPr lang="en-US" altLang="zh-CN" b="0">
                <a:latin typeface="+mn-ea"/>
                <a:ea typeface="+mn-ea"/>
                <a:sym typeface="+mn-ea"/>
              </a:rPr>
              <a:t>-</a:t>
            </a:r>
            <a:r>
              <a:rPr lang="en-US" altLang="zh-CN" i="1">
                <a:latin typeface="+mn-lt"/>
                <a:ea typeface="+mn-ea"/>
                <a:cs typeface="+mn-lt"/>
                <a:sym typeface="+mn-ea"/>
              </a:rPr>
              <a:t>a</a:t>
            </a:r>
            <a:r>
              <a:rPr lang="zh-CN" altLang="en-US" b="0">
                <a:latin typeface="+mn-ea"/>
                <a:ea typeface="+mn-ea"/>
                <a:sym typeface="+mn-ea"/>
              </a:rPr>
              <a:t>分别加到其余各列上，得</a:t>
            </a:r>
            <a:endParaRPr lang="zh-CN" altLang="en-US" b="0">
              <a:latin typeface="+mn-ea"/>
              <a:ea typeface="+mn-ea"/>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5651">
                                            <p:txEl>
                                              <p:charRg st="0" end="13"/>
                                            </p:txEl>
                                          </p:spTgt>
                                        </p:tgtEl>
                                        <p:attrNameLst>
                                          <p:attrName>style.visibility</p:attrName>
                                        </p:attrNameLst>
                                      </p:cBhvr>
                                      <p:to>
                                        <p:strVal val="visible"/>
                                      </p:to>
                                    </p:set>
                                    <p:animEffect transition="in" filter="box(out)">
                                      <p:cBhvr>
                                        <p:cTn id="7" dur="500"/>
                                        <p:tgtEl>
                                          <p:spTgt spid="155651">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P spid="1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对象 -2147474278"/>
          <p:cNvGraphicFramePr>
            <a:graphicFrameLocks noChangeAspect="1"/>
          </p:cNvGraphicFramePr>
          <p:nvPr/>
        </p:nvGraphicFramePr>
        <p:xfrm>
          <a:off x="2195195" y="476250"/>
          <a:ext cx="4218305" cy="2011045"/>
        </p:xfrm>
        <a:graphic>
          <a:graphicData uri="http://schemas.openxmlformats.org/presentationml/2006/ole">
            <mc:AlternateContent xmlns:mc="http://schemas.openxmlformats.org/markup-compatibility/2006">
              <mc:Choice xmlns:v="urn:schemas-microsoft-com:vml" Requires="v">
                <p:oleObj spid="_x0000_s3076" name="" r:id="rId1" imgW="2451100" imgH="1168400" progId="Equation.3">
                  <p:embed/>
                </p:oleObj>
              </mc:Choice>
              <mc:Fallback>
                <p:oleObj name="" r:id="rId1" imgW="2451100" imgH="1168400" progId="Equation.3">
                  <p:embed/>
                  <p:pic>
                    <p:nvPicPr>
                      <p:cNvPr id="0" name="图片 3075"/>
                      <p:cNvPicPr/>
                      <p:nvPr/>
                    </p:nvPicPr>
                    <p:blipFill>
                      <a:blip r:embed="rId2"/>
                      <a:stretch>
                        <a:fillRect/>
                      </a:stretch>
                    </p:blipFill>
                    <p:spPr>
                      <a:xfrm>
                        <a:off x="2195195" y="476250"/>
                        <a:ext cx="4218305" cy="2011045"/>
                      </a:xfrm>
                      <a:prstGeom prst="rect">
                        <a:avLst/>
                      </a:prstGeom>
                      <a:noFill/>
                      <a:ln w="38100">
                        <a:noFill/>
                        <a:miter/>
                      </a:ln>
                    </p:spPr>
                  </p:pic>
                </p:oleObj>
              </mc:Fallback>
            </mc:AlternateContent>
          </a:graphicData>
        </a:graphic>
      </p:graphicFrame>
      <p:grpSp>
        <p:nvGrpSpPr>
          <p:cNvPr id="7" name="组合 6"/>
          <p:cNvGrpSpPr/>
          <p:nvPr/>
        </p:nvGrpSpPr>
        <p:grpSpPr>
          <a:xfrm>
            <a:off x="323215" y="2636520"/>
            <a:ext cx="8274050" cy="1096645"/>
            <a:chOff x="509" y="4152"/>
            <a:chExt cx="13030" cy="1727"/>
          </a:xfrm>
        </p:grpSpPr>
        <p:sp>
          <p:nvSpPr>
            <p:cNvPr id="11" name="文本框 10"/>
            <p:cNvSpPr txBox="1"/>
            <p:nvPr/>
          </p:nvSpPr>
          <p:spPr>
            <a:xfrm>
              <a:off x="509" y="4379"/>
              <a:ext cx="13031" cy="1501"/>
            </a:xfrm>
            <a:prstGeom prst="rect">
              <a:avLst/>
            </a:prstGeom>
            <a:noFill/>
          </p:spPr>
          <p:txBody>
            <a:bodyPr wrap="square" rtlCol="0" anchor="t">
              <a:spAutoFit/>
            </a:bodyPr>
            <a:p>
              <a:r>
                <a:rPr lang="zh-CN" altLang="en-US" b="0">
                  <a:latin typeface="+mn-ea"/>
                  <a:ea typeface="+mn-ea"/>
                  <a:sym typeface="+mn-ea"/>
                </a:rPr>
                <a:t>在将第</a:t>
              </a:r>
              <a:r>
                <a:rPr lang="en-US" b="0">
                  <a:latin typeface="+mn-ea"/>
                  <a:ea typeface="+mn-ea"/>
                  <a:sym typeface="+mn-ea"/>
                </a:rPr>
                <a:t>2</a:t>
              </a:r>
              <a:r>
                <a:rPr lang="zh-CN" altLang="en-US" b="0">
                  <a:latin typeface="+mn-ea"/>
                  <a:ea typeface="+mn-ea"/>
                  <a:sym typeface="+mn-ea"/>
                </a:rPr>
                <a:t>列乘以</a:t>
              </a:r>
              <a:r>
                <a:rPr lang="en-US" altLang="zh-CN" b="0">
                  <a:latin typeface="+mn-ea"/>
                  <a:ea typeface="+mn-ea"/>
                  <a:sym typeface="+mn-ea"/>
                </a:rPr>
                <a:t>    </a:t>
              </a:r>
              <a:r>
                <a:rPr lang="zh-CN" altLang="en-US" b="0">
                  <a:latin typeface="+mn-ea"/>
                  <a:ea typeface="+mn-ea"/>
                  <a:sym typeface="+mn-ea"/>
                </a:rPr>
                <a:t>加到第</a:t>
              </a:r>
              <a:r>
                <a:rPr lang="en-US" altLang="zh-CN" b="0">
                  <a:latin typeface="+mn-ea"/>
                  <a:ea typeface="+mn-ea"/>
                  <a:sym typeface="+mn-ea"/>
                </a:rPr>
                <a:t>1</a:t>
              </a:r>
              <a:r>
                <a:rPr lang="zh-CN" altLang="en-US" b="0">
                  <a:latin typeface="+mn-ea"/>
                  <a:ea typeface="+mn-ea"/>
                  <a:sym typeface="+mn-ea"/>
                </a:rPr>
                <a:t>列，将第</a:t>
              </a:r>
              <a:r>
                <a:rPr lang="en-US" altLang="zh-CN" b="0">
                  <a:latin typeface="+mn-ea"/>
                  <a:ea typeface="+mn-ea"/>
                  <a:sym typeface="+mn-ea"/>
                </a:rPr>
                <a:t>3</a:t>
              </a:r>
              <a:r>
                <a:rPr lang="zh-CN" altLang="en-US" b="0">
                  <a:latin typeface="+mn-ea"/>
                  <a:ea typeface="+mn-ea"/>
                  <a:sym typeface="+mn-ea"/>
                </a:rPr>
                <a:t>列乘以</a:t>
              </a:r>
              <a:r>
                <a:rPr lang="en-US" altLang="zh-CN" b="0">
                  <a:latin typeface="+mn-ea"/>
                  <a:ea typeface="+mn-ea"/>
                  <a:sym typeface="+mn-ea"/>
                </a:rPr>
                <a:t>    </a:t>
              </a:r>
              <a:r>
                <a:rPr lang="zh-CN" altLang="en-US" b="0">
                  <a:latin typeface="+mn-ea"/>
                  <a:ea typeface="+mn-ea"/>
                  <a:sym typeface="+mn-ea"/>
                </a:rPr>
                <a:t>分别加到</a:t>
              </a:r>
              <a:r>
                <a:rPr lang="zh-CN" altLang="en-US" b="0">
                  <a:latin typeface="+mn-ea"/>
                  <a:ea typeface="+mn-ea"/>
                  <a:sym typeface="+mn-ea"/>
                </a:rPr>
                <a:t>第</a:t>
              </a:r>
              <a:r>
                <a:rPr lang="en-US" altLang="zh-CN" b="0">
                  <a:latin typeface="+mn-ea"/>
                  <a:ea typeface="+mn-ea"/>
                  <a:sym typeface="+mn-ea"/>
                </a:rPr>
                <a:t>1</a:t>
              </a:r>
              <a:r>
                <a:rPr lang="zh-CN" altLang="en-US" b="0">
                  <a:latin typeface="+mn-ea"/>
                  <a:ea typeface="+mn-ea"/>
                  <a:sym typeface="+mn-ea"/>
                </a:rPr>
                <a:t>列</a:t>
              </a:r>
              <a:r>
                <a:rPr lang="zh-CN" altLang="en-US" b="0">
                  <a:latin typeface="+mn-ea"/>
                  <a:ea typeface="+mn-ea"/>
                  <a:sym typeface="+mn-ea"/>
                </a:rPr>
                <a:t>上，以此类推，得</a:t>
              </a:r>
              <a:endParaRPr lang="zh-CN" altLang="en-US" b="0">
                <a:latin typeface="+mn-ea"/>
                <a:ea typeface="+mn-ea"/>
                <a:sym typeface="+mn-ea"/>
              </a:endParaRPr>
            </a:p>
          </p:txBody>
        </p:sp>
        <p:graphicFrame>
          <p:nvGraphicFramePr>
            <p:cNvPr id="3" name="对象 -2147482177"/>
            <p:cNvGraphicFramePr>
              <a:graphicFrameLocks noChangeAspect="1"/>
            </p:cNvGraphicFramePr>
            <p:nvPr/>
          </p:nvGraphicFramePr>
          <p:xfrm>
            <a:off x="4252" y="4152"/>
            <a:ext cx="1005" cy="1071"/>
          </p:xfrm>
          <a:graphic>
            <a:graphicData uri="http://schemas.openxmlformats.org/presentationml/2006/ole">
              <mc:AlternateContent xmlns:mc="http://schemas.openxmlformats.org/markup-compatibility/2006">
                <mc:Choice xmlns:v="urn:schemas-microsoft-com:vml" Requires="v">
                  <p:oleObj spid="_x0000_s4" name="" r:id="rId3" imgW="405765" imgH="431800" progId="Equation.DSMT4">
                    <p:embed/>
                  </p:oleObj>
                </mc:Choice>
                <mc:Fallback>
                  <p:oleObj name="" r:id="rId3" imgW="405765" imgH="431800" progId="Equation.DSMT4">
                    <p:embed/>
                    <p:pic>
                      <p:nvPicPr>
                        <p:cNvPr id="0" name="图片 1"/>
                        <p:cNvPicPr/>
                        <p:nvPr/>
                      </p:nvPicPr>
                      <p:blipFill>
                        <a:blip r:embed="rId4"/>
                        <a:stretch>
                          <a:fillRect/>
                        </a:stretch>
                      </p:blipFill>
                      <p:spPr>
                        <a:xfrm>
                          <a:off x="4252" y="4152"/>
                          <a:ext cx="1005" cy="1071"/>
                        </a:xfrm>
                        <a:prstGeom prst="rect">
                          <a:avLst/>
                        </a:prstGeom>
                        <a:noFill/>
                        <a:ln w="38100">
                          <a:noFill/>
                          <a:miter/>
                        </a:ln>
                      </p:spPr>
                    </p:pic>
                  </p:oleObj>
                </mc:Fallback>
              </mc:AlternateContent>
            </a:graphicData>
          </a:graphic>
        </p:graphicFrame>
        <p:graphicFrame>
          <p:nvGraphicFramePr>
            <p:cNvPr id="5" name="对象 -2147482177"/>
            <p:cNvGraphicFramePr>
              <a:graphicFrameLocks noChangeAspect="1"/>
            </p:cNvGraphicFramePr>
            <p:nvPr/>
          </p:nvGraphicFramePr>
          <p:xfrm>
            <a:off x="11509" y="4266"/>
            <a:ext cx="1039" cy="1071"/>
          </p:xfrm>
          <a:graphic>
            <a:graphicData uri="http://schemas.openxmlformats.org/presentationml/2006/ole">
              <mc:AlternateContent xmlns:mc="http://schemas.openxmlformats.org/markup-compatibility/2006">
                <mc:Choice xmlns:v="urn:schemas-microsoft-com:vml" Requires="v">
                  <p:oleObj spid="_x0000_s6" name="" r:id="rId5" imgW="419100" imgH="431800" progId="Equation.DSMT4">
                    <p:embed/>
                  </p:oleObj>
                </mc:Choice>
                <mc:Fallback>
                  <p:oleObj name="" r:id="rId5" imgW="419100" imgH="431800" progId="Equation.DSMT4">
                    <p:embed/>
                    <p:pic>
                      <p:nvPicPr>
                        <p:cNvPr id="0" name="图片 1"/>
                        <p:cNvPicPr/>
                        <p:nvPr/>
                      </p:nvPicPr>
                      <p:blipFill>
                        <a:blip r:embed="rId6"/>
                        <a:stretch>
                          <a:fillRect/>
                        </a:stretch>
                      </p:blipFill>
                      <p:spPr>
                        <a:xfrm>
                          <a:off x="11509" y="4266"/>
                          <a:ext cx="1039" cy="1071"/>
                        </a:xfrm>
                        <a:prstGeom prst="rect">
                          <a:avLst/>
                        </a:prstGeom>
                        <a:noFill/>
                        <a:ln w="38100">
                          <a:noFill/>
                          <a:miter/>
                        </a:ln>
                      </p:spPr>
                    </p:pic>
                  </p:oleObj>
                </mc:Fallback>
              </mc:AlternateContent>
            </a:graphicData>
          </a:graphic>
        </p:graphicFrame>
      </p:grpSp>
      <p:graphicFrame>
        <p:nvGraphicFramePr>
          <p:cNvPr id="8" name="对象 -2147482174"/>
          <p:cNvGraphicFramePr>
            <a:graphicFrameLocks noChangeAspect="1"/>
          </p:cNvGraphicFramePr>
          <p:nvPr/>
        </p:nvGraphicFramePr>
        <p:xfrm>
          <a:off x="2051685" y="3644900"/>
          <a:ext cx="4343400" cy="2254250"/>
        </p:xfrm>
        <a:graphic>
          <a:graphicData uri="http://schemas.openxmlformats.org/presentationml/2006/ole">
            <mc:AlternateContent xmlns:mc="http://schemas.openxmlformats.org/markup-compatibility/2006">
              <mc:Choice xmlns:v="urn:schemas-microsoft-com:vml" Requires="v">
                <p:oleObj spid="_x0000_s9" name="" r:id="rId7" imgW="2691765" imgH="1397000" progId="Equation.3">
                  <p:embed/>
                </p:oleObj>
              </mc:Choice>
              <mc:Fallback>
                <p:oleObj name="" r:id="rId7" imgW="2691765" imgH="1397000" progId="Equation.3">
                  <p:embed/>
                  <p:pic>
                    <p:nvPicPr>
                      <p:cNvPr id="0" name="图片 4"/>
                      <p:cNvPicPr/>
                      <p:nvPr/>
                    </p:nvPicPr>
                    <p:blipFill>
                      <a:blip r:embed="rId8"/>
                      <a:stretch>
                        <a:fillRect/>
                      </a:stretch>
                    </p:blipFill>
                    <p:spPr>
                      <a:xfrm>
                        <a:off x="2051685" y="3644900"/>
                        <a:ext cx="4343400" cy="2254250"/>
                      </a:xfrm>
                      <a:prstGeom prst="rect">
                        <a:avLst/>
                      </a:prstGeom>
                      <a:noFill/>
                      <a:ln w="38100">
                        <a:noFill/>
                        <a:miter/>
                      </a:ln>
                    </p:spPr>
                  </p:pic>
                </p:oleObj>
              </mc:Fallback>
            </mc:AlternateContent>
          </a:graphicData>
        </a:graphic>
      </p:graphicFrame>
      <p:graphicFrame>
        <p:nvGraphicFramePr>
          <p:cNvPr id="10" name="对象 -2147474277"/>
          <p:cNvGraphicFramePr>
            <a:graphicFrameLocks noChangeAspect="1"/>
          </p:cNvGraphicFramePr>
          <p:nvPr/>
        </p:nvGraphicFramePr>
        <p:xfrm>
          <a:off x="2032000" y="5876925"/>
          <a:ext cx="4023360" cy="741680"/>
        </p:xfrm>
        <a:graphic>
          <a:graphicData uri="http://schemas.openxmlformats.org/presentationml/2006/ole">
            <mc:AlternateContent xmlns:mc="http://schemas.openxmlformats.org/markup-compatibility/2006">
              <mc:Choice xmlns:v="urn:schemas-microsoft-com:vml" Requires="v">
                <p:oleObj spid="_x0000_s12" name="" r:id="rId9" imgW="2616200" imgH="482600" progId="Equation.3">
                  <p:embed/>
                </p:oleObj>
              </mc:Choice>
              <mc:Fallback>
                <p:oleObj name="" r:id="rId9" imgW="2616200" imgH="482600" progId="Equation.3">
                  <p:embed/>
                  <p:pic>
                    <p:nvPicPr>
                      <p:cNvPr id="0" name="图片 5"/>
                      <p:cNvPicPr/>
                      <p:nvPr/>
                    </p:nvPicPr>
                    <p:blipFill>
                      <a:blip r:embed="rId10"/>
                      <a:stretch>
                        <a:fillRect/>
                      </a:stretch>
                    </p:blipFill>
                    <p:spPr>
                      <a:xfrm>
                        <a:off x="2032000" y="5876925"/>
                        <a:ext cx="4023360" cy="74168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57698" name="对象 157697"/>
          <p:cNvGraphicFramePr/>
          <p:nvPr/>
        </p:nvGraphicFramePr>
        <p:xfrm>
          <a:off x="900113" y="981075"/>
          <a:ext cx="6881812" cy="2182813"/>
        </p:xfrm>
        <a:graphic>
          <a:graphicData uri="http://schemas.openxmlformats.org/presentationml/2006/ole">
            <mc:AlternateContent xmlns:mc="http://schemas.openxmlformats.org/markup-compatibility/2006">
              <mc:Choice xmlns:v="urn:schemas-microsoft-com:vml" Requires="v">
                <p:oleObj spid="_x0000_s3473" name="" r:id="rId1" imgW="6883400" imgH="2184400" progId="Equation.3">
                  <p:embed/>
                </p:oleObj>
              </mc:Choice>
              <mc:Fallback>
                <p:oleObj name="" r:id="rId1" imgW="6883400" imgH="2184400" progId="Equation.3">
                  <p:embed/>
                  <p:pic>
                    <p:nvPicPr>
                      <p:cNvPr id="0" name="图片 3472"/>
                      <p:cNvPicPr/>
                      <p:nvPr/>
                    </p:nvPicPr>
                    <p:blipFill>
                      <a:blip r:embed="rId2"/>
                      <a:stretch>
                        <a:fillRect/>
                      </a:stretch>
                    </p:blipFill>
                    <p:spPr>
                      <a:xfrm>
                        <a:off x="900113" y="981075"/>
                        <a:ext cx="6881812" cy="2182813"/>
                      </a:xfrm>
                      <a:prstGeom prst="rect">
                        <a:avLst/>
                      </a:prstGeom>
                      <a:noFill/>
                      <a:ln w="38100">
                        <a:noFill/>
                        <a:miter/>
                      </a:ln>
                    </p:spPr>
                  </p:pic>
                </p:oleObj>
              </mc:Fallback>
            </mc:AlternateContent>
          </a:graphicData>
        </a:graphic>
      </p:graphicFrame>
      <p:graphicFrame>
        <p:nvGraphicFramePr>
          <p:cNvPr id="157699" name="对象 157698"/>
          <p:cNvGraphicFramePr/>
          <p:nvPr/>
        </p:nvGraphicFramePr>
        <p:xfrm>
          <a:off x="8316913" y="1916113"/>
          <a:ext cx="419100" cy="393700"/>
        </p:xfrm>
        <a:graphic>
          <a:graphicData uri="http://schemas.openxmlformats.org/presentationml/2006/ole">
            <mc:AlternateContent xmlns:mc="http://schemas.openxmlformats.org/markup-compatibility/2006">
              <mc:Choice xmlns:v="urn:schemas-microsoft-com:vml" Requires="v">
                <p:oleObj spid="_x0000_s3476" name="" r:id="rId3" imgW="419100" imgH="393700" progId="Equation.3">
                  <p:embed/>
                </p:oleObj>
              </mc:Choice>
              <mc:Fallback>
                <p:oleObj name="" r:id="rId3" imgW="419100" imgH="393700" progId="Equation.3">
                  <p:embed/>
                  <p:pic>
                    <p:nvPicPr>
                      <p:cNvPr id="0" name="图片 3475"/>
                      <p:cNvPicPr/>
                      <p:nvPr/>
                    </p:nvPicPr>
                    <p:blipFill>
                      <a:blip r:embed="rId4"/>
                      <a:stretch>
                        <a:fillRect/>
                      </a:stretch>
                    </p:blipFill>
                    <p:spPr>
                      <a:xfrm>
                        <a:off x="8316913" y="1916113"/>
                        <a:ext cx="419100" cy="393700"/>
                      </a:xfrm>
                      <a:prstGeom prst="rect">
                        <a:avLst/>
                      </a:prstGeom>
                      <a:noFill/>
                      <a:ln w="38100">
                        <a:noFill/>
                        <a:miter/>
                      </a:ln>
                    </p:spPr>
                  </p:pic>
                </p:oleObj>
              </mc:Fallback>
            </mc:AlternateContent>
          </a:graphicData>
        </a:graphic>
      </p:graphicFrame>
      <p:sp>
        <p:nvSpPr>
          <p:cNvPr id="157700" name="矩形 157699"/>
          <p:cNvSpPr/>
          <p:nvPr/>
        </p:nvSpPr>
        <p:spPr>
          <a:xfrm>
            <a:off x="1079500" y="292100"/>
            <a:ext cx="7453313" cy="521970"/>
          </a:xfrm>
          <a:prstGeom prst="rect">
            <a:avLst/>
          </a:prstGeom>
          <a:noFill/>
          <a:ln w="9525">
            <a:noFill/>
          </a:ln>
        </p:spPr>
        <p:txBody>
          <a:bodyPr>
            <a:spAutoFit/>
          </a:bodyPr>
          <a:p>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1.3.</a:t>
            </a:r>
            <a:r>
              <a:rPr lang="en-US" altLang="zh-CN">
                <a:solidFill>
                  <a:srgbClr val="FF0000"/>
                </a:solidFill>
                <a:latin typeface="Times New Roman" panose="02020603050405020304" pitchFamily="18" charset="0"/>
                <a:ea typeface="黑体" panose="02010609060101010101" pitchFamily="2" charset="-122"/>
              </a:rPr>
              <a:t>6</a:t>
            </a:r>
            <a:r>
              <a:rPr lang="en-US" altLang="zh-CN">
                <a:solidFill>
                  <a:schemeClr val="hlink"/>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证明范德蒙德</a:t>
            </a:r>
            <a:r>
              <a:rPr lang="en-US" altLang="zh-CN">
                <a:latin typeface="Times New Roman" panose="02020603050405020304" pitchFamily="18" charset="0"/>
              </a:rPr>
              <a:t>(</a:t>
            </a:r>
            <a:r>
              <a:rPr lang="en-US" altLang="zh-CN" err="1">
                <a:latin typeface="Times New Roman" panose="02020603050405020304" pitchFamily="18" charset="0"/>
              </a:rPr>
              <a:t>Vandermonde</a:t>
            </a:r>
            <a:r>
              <a:rPr lang="en-US" altLang="zh-CN">
                <a:latin typeface="Times New Roman" panose="02020603050405020304" pitchFamily="18" charset="0"/>
              </a:rPr>
              <a:t>)</a:t>
            </a:r>
            <a:r>
              <a:rPr lang="zh-CN" altLang="en-US" dirty="0">
                <a:latin typeface="Times New Roman" panose="02020603050405020304" pitchFamily="18" charset="0"/>
              </a:rPr>
              <a:t>行列式</a:t>
            </a:r>
            <a:endParaRPr lang="zh-CN" altLang="en-US" dirty="0">
              <a:latin typeface="Times New Roman" panose="02020603050405020304" pitchFamily="18" charset="0"/>
            </a:endParaRPr>
          </a:p>
        </p:txBody>
      </p:sp>
      <p:sp>
        <p:nvSpPr>
          <p:cNvPr id="157701" name="文本框 157700"/>
          <p:cNvSpPr txBox="1"/>
          <p:nvPr/>
        </p:nvSpPr>
        <p:spPr>
          <a:xfrm>
            <a:off x="323850" y="3573463"/>
            <a:ext cx="8820150" cy="519112"/>
          </a:xfrm>
          <a:prstGeom prst="rect">
            <a:avLst/>
          </a:prstGeom>
          <a:noFill/>
          <a:ln w="9525">
            <a:noFill/>
          </a:ln>
        </p:spPr>
        <p:txBody>
          <a:bodyPr wrap="none" anchor="t" anchorCtr="0">
            <a:spAutoFit/>
          </a:bodyPr>
          <a:p>
            <a:r>
              <a:rPr lang="zh-CN" altLang="en-US" dirty="0">
                <a:latin typeface="Times New Roman" panose="02020603050405020304" pitchFamily="18" charset="0"/>
              </a:rPr>
              <a:t>说明：（</a:t>
            </a:r>
            <a:r>
              <a:rPr lang="en-US" altLang="zh-CN">
                <a:latin typeface="Times New Roman" panose="02020603050405020304" pitchFamily="18" charset="0"/>
              </a:rPr>
              <a:t>1</a:t>
            </a:r>
            <a:r>
              <a:rPr lang="zh-CN" altLang="en-US" dirty="0">
                <a:latin typeface="Times New Roman" panose="02020603050405020304" pitchFamily="18" charset="0"/>
              </a:rPr>
              <a:t>）范德蒙德</a:t>
            </a:r>
            <a:r>
              <a:rPr lang="en-US" altLang="zh-CN">
                <a:latin typeface="Times New Roman" panose="02020603050405020304" pitchFamily="18" charset="0"/>
              </a:rPr>
              <a:t>(</a:t>
            </a:r>
            <a:r>
              <a:rPr lang="en-US" altLang="zh-CN" err="1">
                <a:latin typeface="Times New Roman" panose="02020603050405020304" pitchFamily="18" charset="0"/>
              </a:rPr>
              <a:t>Vandermonde</a:t>
            </a:r>
            <a:r>
              <a:rPr lang="en-US" altLang="zh-CN">
                <a:latin typeface="Times New Roman" panose="02020603050405020304" pitchFamily="18" charset="0"/>
              </a:rPr>
              <a:t>)</a:t>
            </a:r>
            <a:r>
              <a:rPr lang="zh-CN" altLang="en-US" dirty="0">
                <a:latin typeface="Times New Roman" panose="02020603050405020304" pitchFamily="18" charset="0"/>
              </a:rPr>
              <a:t>行列式的特点是：</a:t>
            </a:r>
            <a:endParaRPr lang="zh-CN" altLang="en-US" dirty="0">
              <a:latin typeface="Times New Roman" panose="02020603050405020304" pitchFamily="18" charset="0"/>
            </a:endParaRPr>
          </a:p>
        </p:txBody>
      </p:sp>
      <p:sp>
        <p:nvSpPr>
          <p:cNvPr id="157702" name="文本框 157701"/>
          <p:cNvSpPr txBox="1"/>
          <p:nvPr/>
        </p:nvSpPr>
        <p:spPr>
          <a:xfrm>
            <a:off x="1763713" y="4149725"/>
            <a:ext cx="6940550" cy="519113"/>
          </a:xfrm>
          <a:prstGeom prst="rect">
            <a:avLst/>
          </a:prstGeom>
          <a:noFill/>
          <a:ln w="9525">
            <a:noFill/>
          </a:ln>
        </p:spPr>
        <p:txBody>
          <a:bodyPr wrap="none" anchor="t" anchorCtr="0">
            <a:spAutoFit/>
          </a:bodyPr>
          <a:p>
            <a:r>
              <a:rPr lang="zh-CN" altLang="en-US" dirty="0">
                <a:latin typeface="Times New Roman" panose="02020603050405020304" pitchFamily="18" charset="0"/>
              </a:rPr>
              <a:t>每列（行）元素都是分别是同一个数的不同</a:t>
            </a:r>
            <a:endParaRPr lang="zh-CN" altLang="en-US" dirty="0">
              <a:latin typeface="Times New Roman" panose="02020603050405020304" pitchFamily="18" charset="0"/>
            </a:endParaRPr>
          </a:p>
        </p:txBody>
      </p:sp>
      <p:sp>
        <p:nvSpPr>
          <p:cNvPr id="157703" name="文本框 157702"/>
          <p:cNvSpPr txBox="1"/>
          <p:nvPr/>
        </p:nvSpPr>
        <p:spPr>
          <a:xfrm>
            <a:off x="1692275" y="4868863"/>
            <a:ext cx="7451725" cy="519112"/>
          </a:xfrm>
          <a:prstGeom prst="rect">
            <a:avLst/>
          </a:prstGeom>
          <a:noFill/>
          <a:ln w="9525">
            <a:noFill/>
          </a:ln>
        </p:spPr>
        <p:txBody>
          <a:bodyPr>
            <a:spAutoFit/>
          </a:bodyPr>
          <a:p>
            <a:r>
              <a:rPr lang="zh-CN" altLang="en-US" dirty="0">
                <a:latin typeface="Times New Roman" panose="02020603050405020304" pitchFamily="18" charset="0"/>
              </a:rPr>
              <a:t>方幂，方幂的次数从上到下（自左至右）按</a:t>
            </a:r>
            <a:endParaRPr lang="zh-CN" altLang="en-US" dirty="0">
              <a:latin typeface="Times New Roman" panose="02020603050405020304" pitchFamily="18" charset="0"/>
            </a:endParaRPr>
          </a:p>
        </p:txBody>
      </p:sp>
      <p:sp>
        <p:nvSpPr>
          <p:cNvPr id="157704" name="矩形 157703"/>
          <p:cNvSpPr/>
          <p:nvPr/>
        </p:nvSpPr>
        <p:spPr>
          <a:xfrm>
            <a:off x="1763713" y="5589588"/>
            <a:ext cx="4471987" cy="519112"/>
          </a:xfrm>
          <a:prstGeom prst="rect">
            <a:avLst/>
          </a:prstGeom>
          <a:noFill/>
          <a:ln w="9525">
            <a:noFill/>
          </a:ln>
        </p:spPr>
        <p:txBody>
          <a:bodyPr wrap="none" anchor="t" anchorCtr="0">
            <a:spAutoFit/>
          </a:bodyPr>
          <a:p>
            <a:r>
              <a:rPr lang="zh-CN" altLang="en-US" dirty="0">
                <a:latin typeface="Times New Roman" panose="02020603050405020304" pitchFamily="18" charset="0"/>
              </a:rPr>
              <a:t>递升次序排列</a:t>
            </a:r>
            <a:r>
              <a:rPr lang="en-US" altLang="zh-CN">
                <a:latin typeface="Times New Roman" panose="02020603050405020304" pitchFamily="18" charset="0"/>
              </a:rPr>
              <a:t>, </a:t>
            </a:r>
            <a:r>
              <a:rPr lang="zh-CN" altLang="en-US" dirty="0">
                <a:latin typeface="Times New Roman" panose="02020603050405020304" pitchFamily="18" charset="0"/>
              </a:rPr>
              <a:t>从</a:t>
            </a:r>
            <a:r>
              <a:rPr lang="en-US" altLang="zh-CN">
                <a:latin typeface="Times New Roman" panose="02020603050405020304" pitchFamily="18" charset="0"/>
              </a:rPr>
              <a:t>0</a:t>
            </a:r>
            <a:r>
              <a:rPr lang="zh-CN" altLang="en-US" dirty="0">
                <a:latin typeface="Times New Roman" panose="02020603050405020304" pitchFamily="18" charset="0"/>
              </a:rPr>
              <a:t>到 </a:t>
            </a:r>
            <a:r>
              <a:rPr lang="en-US" altLang="zh-CN" i="1">
                <a:latin typeface="Times New Roman" panose="02020603050405020304" pitchFamily="18" charset="0"/>
              </a:rPr>
              <a:t>n</a:t>
            </a:r>
            <a:r>
              <a:rPr lang="en-US" altLang="zh-CN">
                <a:latin typeface="Times New Roman" panose="02020603050405020304" pitchFamily="18" charset="0"/>
              </a:rPr>
              <a:t>–1</a:t>
            </a:r>
            <a:r>
              <a:rPr lang="zh-CN" altLang="en-US" dirty="0">
                <a:latin typeface="Times New Roman" panose="02020603050405020304" pitchFamily="18" charset="0"/>
              </a:rPr>
              <a:t>次</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57700">
                                            <p:txEl>
                                              <p:charRg st="0" end="27"/>
                                            </p:txEl>
                                          </p:spTgt>
                                        </p:tgtEl>
                                        <p:attrNameLst>
                                          <p:attrName>style.visibility</p:attrName>
                                        </p:attrNameLst>
                                      </p:cBhvr>
                                      <p:to>
                                        <p:strVal val="visible"/>
                                      </p:to>
                                    </p:set>
                                    <p:animEffect transition="in" filter="box(out)">
                                      <p:cBhvr>
                                        <p:cTn id="7" dur="500"/>
                                        <p:tgtEl>
                                          <p:spTgt spid="157700">
                                            <p:txEl>
                                              <p:charRg st="0" end="27"/>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57698"/>
                                        </p:tgtEl>
                                        <p:attrNameLst>
                                          <p:attrName>style.visibility</p:attrName>
                                        </p:attrNameLst>
                                      </p:cBhvr>
                                      <p:to>
                                        <p:strVal val="visible"/>
                                      </p:to>
                                    </p:set>
                                    <p:animEffect transition="in" filter="box(out)">
                                      <p:cBhvr>
                                        <p:cTn id="11" dur="500"/>
                                        <p:tgtEl>
                                          <p:spTgt spid="157698"/>
                                        </p:tgtEl>
                                      </p:cBhvr>
                                    </p:animEffect>
                                  </p:childTnLst>
                                </p:cTn>
                              </p:par>
                            </p:childTnLst>
                          </p:cTn>
                        </p:par>
                        <p:par>
                          <p:cTn id="12" fill="hold">
                            <p:stCondLst>
                              <p:cond delay="1000"/>
                            </p:stCondLst>
                            <p:childTnLst>
                              <p:par>
                                <p:cTn id="13" presetID="4" presetClass="entr" presetSubtype="32" fill="hold" nodeType="afterEffect">
                                  <p:stCondLst>
                                    <p:cond delay="0"/>
                                  </p:stCondLst>
                                  <p:childTnLst>
                                    <p:set>
                                      <p:cBhvr>
                                        <p:cTn id="14" dur="1" fill="hold">
                                          <p:stCondLst>
                                            <p:cond delay="0"/>
                                          </p:stCondLst>
                                        </p:cTn>
                                        <p:tgtEl>
                                          <p:spTgt spid="157699"/>
                                        </p:tgtEl>
                                        <p:attrNameLst>
                                          <p:attrName>style.visibility</p:attrName>
                                        </p:attrNameLst>
                                      </p:cBhvr>
                                      <p:to>
                                        <p:strVal val="visible"/>
                                      </p:to>
                                    </p:set>
                                    <p:animEffect transition="in" filter="box(out)">
                                      <p:cBhvr>
                                        <p:cTn id="15" dur="500"/>
                                        <p:tgtEl>
                                          <p:spTgt spid="15769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57701"/>
                                        </p:tgtEl>
                                        <p:attrNameLst>
                                          <p:attrName>style.visibility</p:attrName>
                                        </p:attrNameLst>
                                      </p:cBhvr>
                                      <p:to>
                                        <p:strVal val="visible"/>
                                      </p:to>
                                    </p:set>
                                    <p:animEffect transition="in" filter="wipe(left)">
                                      <p:cBhvr>
                                        <p:cTn id="20" dur="500"/>
                                        <p:tgtEl>
                                          <p:spTgt spid="15770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57702"/>
                                        </p:tgtEl>
                                        <p:attrNameLst>
                                          <p:attrName>style.visibility</p:attrName>
                                        </p:attrNameLst>
                                      </p:cBhvr>
                                      <p:to>
                                        <p:strVal val="visible"/>
                                      </p:to>
                                    </p:set>
                                    <p:animEffect transition="in" filter="wipe(left)">
                                      <p:cBhvr>
                                        <p:cTn id="25" dur="500"/>
                                        <p:tgtEl>
                                          <p:spTgt spid="157702"/>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57703"/>
                                        </p:tgtEl>
                                        <p:attrNameLst>
                                          <p:attrName>style.visibility</p:attrName>
                                        </p:attrNameLst>
                                      </p:cBhvr>
                                      <p:to>
                                        <p:strVal val="visible"/>
                                      </p:to>
                                    </p:set>
                                    <p:animEffect transition="in" filter="wipe(left)">
                                      <p:cBhvr>
                                        <p:cTn id="29" dur="500"/>
                                        <p:tgtEl>
                                          <p:spTgt spid="157703"/>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157704"/>
                                        </p:tgtEl>
                                        <p:attrNameLst>
                                          <p:attrName>style.visibility</p:attrName>
                                        </p:attrNameLst>
                                      </p:cBhvr>
                                      <p:to>
                                        <p:strVal val="visible"/>
                                      </p:to>
                                    </p:set>
                                    <p:animEffect transition="in" filter="wipe(left)">
                                      <p:cBhvr>
                                        <p:cTn id="33" dur="500"/>
                                        <p:tgtEl>
                                          <p:spTgt spid="157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0" grpId="0" advAuto="1000" build="p"/>
      <p:bldP spid="157701" grpId="0"/>
      <p:bldP spid="157702" grpId="0"/>
      <p:bldP spid="157703" grpId="0"/>
      <p:bldP spid="157704"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文本框 158721"/>
          <p:cNvSpPr txBox="1"/>
          <p:nvPr/>
        </p:nvSpPr>
        <p:spPr>
          <a:xfrm>
            <a:off x="1095375" y="661988"/>
            <a:ext cx="7397750" cy="519112"/>
          </a:xfrm>
          <a:prstGeom prst="rect">
            <a:avLst/>
          </a:prstGeom>
          <a:noFill/>
          <a:ln w="9525">
            <a:noFill/>
          </a:ln>
        </p:spPr>
        <p:txBody>
          <a:bodyPr wrap="none" anchor="t" anchorCtr="0">
            <a:spAutoFit/>
          </a:bodyPr>
          <a:p>
            <a:r>
              <a:rPr lang="zh-CN" altLang="en-US" dirty="0">
                <a:latin typeface="Times New Roman" panose="02020603050405020304" pitchFamily="18" charset="0"/>
              </a:rPr>
              <a:t>（</a:t>
            </a:r>
            <a:r>
              <a:rPr lang="en-US" altLang="zh-CN">
                <a:latin typeface="Times New Roman" panose="02020603050405020304" pitchFamily="18" charset="0"/>
              </a:rPr>
              <a:t>2</a:t>
            </a:r>
            <a:r>
              <a:rPr lang="zh-CN" altLang="en-US" dirty="0">
                <a:latin typeface="Times New Roman" panose="02020603050405020304" pitchFamily="18" charset="0"/>
              </a:rPr>
              <a:t>）范德蒙德</a:t>
            </a:r>
            <a:r>
              <a:rPr lang="en-US" altLang="zh-CN">
                <a:latin typeface="Times New Roman" panose="02020603050405020304" pitchFamily="18" charset="0"/>
              </a:rPr>
              <a:t>(</a:t>
            </a:r>
            <a:r>
              <a:rPr lang="en-US" altLang="zh-CN" err="1">
                <a:latin typeface="Times New Roman" panose="02020603050405020304" pitchFamily="18" charset="0"/>
              </a:rPr>
              <a:t>Vandermonde</a:t>
            </a:r>
            <a:r>
              <a:rPr lang="en-US" altLang="zh-CN">
                <a:latin typeface="Times New Roman" panose="02020603050405020304" pitchFamily="18" charset="0"/>
              </a:rPr>
              <a:t>)</a:t>
            </a:r>
            <a:r>
              <a:rPr lang="zh-CN" altLang="en-US" dirty="0">
                <a:latin typeface="Times New Roman" panose="02020603050405020304" pitchFamily="18" charset="0"/>
              </a:rPr>
              <a:t>行列式的结果是</a:t>
            </a:r>
            <a:endParaRPr lang="zh-CN" altLang="en-US" dirty="0">
              <a:latin typeface="Times New Roman" panose="02020603050405020304" pitchFamily="18" charset="0"/>
            </a:endParaRPr>
          </a:p>
        </p:txBody>
      </p:sp>
      <p:sp>
        <p:nvSpPr>
          <p:cNvPr id="158723" name="文本框 158722"/>
          <p:cNvSpPr txBox="1"/>
          <p:nvPr/>
        </p:nvSpPr>
        <p:spPr>
          <a:xfrm>
            <a:off x="1600200" y="1431925"/>
            <a:ext cx="1606550" cy="519113"/>
          </a:xfrm>
          <a:prstGeom prst="rect">
            <a:avLst/>
          </a:prstGeom>
          <a:noFill/>
          <a:ln w="9525">
            <a:noFill/>
          </a:ln>
        </p:spPr>
        <p:txBody>
          <a:bodyPr wrap="none" anchor="t" anchorCtr="0">
            <a:spAutoFit/>
          </a:bodyPr>
          <a:p>
            <a:r>
              <a:rPr lang="zh-CN" altLang="en-US" dirty="0">
                <a:latin typeface="Times New Roman" panose="02020603050405020304" pitchFamily="18" charset="0"/>
              </a:rPr>
              <a:t>满足条件</a:t>
            </a:r>
            <a:endParaRPr lang="zh-CN" altLang="en-US" dirty="0">
              <a:latin typeface="Times New Roman" panose="02020603050405020304" pitchFamily="18" charset="0"/>
            </a:endParaRPr>
          </a:p>
        </p:txBody>
      </p:sp>
      <p:graphicFrame>
        <p:nvGraphicFramePr>
          <p:cNvPr id="158724" name="对象 158723"/>
          <p:cNvGraphicFramePr/>
          <p:nvPr/>
        </p:nvGraphicFramePr>
        <p:xfrm>
          <a:off x="3203575" y="1557338"/>
          <a:ext cx="1790700" cy="393700"/>
        </p:xfrm>
        <a:graphic>
          <a:graphicData uri="http://schemas.openxmlformats.org/presentationml/2006/ole">
            <mc:AlternateContent xmlns:mc="http://schemas.openxmlformats.org/markup-compatibility/2006">
              <mc:Choice xmlns:v="urn:schemas-microsoft-com:vml" Requires="v">
                <p:oleObj spid="_x0000_s3479" name="" r:id="rId1" imgW="1790065" imgH="393700" progId="Equation.DSMT4">
                  <p:embed/>
                </p:oleObj>
              </mc:Choice>
              <mc:Fallback>
                <p:oleObj name="" r:id="rId1" imgW="1790065" imgH="393700" progId="Equation.DSMT4">
                  <p:embed/>
                  <p:pic>
                    <p:nvPicPr>
                      <p:cNvPr id="0" name="图片 3478"/>
                      <p:cNvPicPr/>
                      <p:nvPr/>
                    </p:nvPicPr>
                    <p:blipFill>
                      <a:blip r:embed="rId2"/>
                      <a:stretch>
                        <a:fillRect/>
                      </a:stretch>
                    </p:blipFill>
                    <p:spPr>
                      <a:xfrm>
                        <a:off x="3203575" y="1557338"/>
                        <a:ext cx="1790700" cy="393700"/>
                      </a:xfrm>
                      <a:prstGeom prst="rect">
                        <a:avLst/>
                      </a:prstGeom>
                      <a:noFill/>
                      <a:ln w="38100">
                        <a:noFill/>
                        <a:miter/>
                      </a:ln>
                    </p:spPr>
                  </p:pic>
                </p:oleObj>
              </mc:Fallback>
            </mc:AlternateContent>
          </a:graphicData>
        </a:graphic>
      </p:graphicFrame>
      <p:sp>
        <p:nvSpPr>
          <p:cNvPr id="158725" name="文本框 158724"/>
          <p:cNvSpPr txBox="1"/>
          <p:nvPr/>
        </p:nvSpPr>
        <p:spPr>
          <a:xfrm>
            <a:off x="5076825" y="1412875"/>
            <a:ext cx="1962150" cy="519113"/>
          </a:xfrm>
          <a:prstGeom prst="rect">
            <a:avLst/>
          </a:prstGeom>
          <a:noFill/>
          <a:ln w="9525">
            <a:noFill/>
          </a:ln>
        </p:spPr>
        <p:txBody>
          <a:bodyPr wrap="none" anchor="t" anchorCtr="0">
            <a:spAutoFit/>
          </a:bodyPr>
          <a:p>
            <a:r>
              <a:rPr lang="zh-CN" altLang="en-US" dirty="0">
                <a:latin typeface="Times New Roman" panose="02020603050405020304" pitchFamily="18" charset="0"/>
              </a:rPr>
              <a:t>的所有因子</a:t>
            </a:r>
            <a:endParaRPr lang="zh-CN" altLang="en-US" dirty="0">
              <a:latin typeface="Times New Roman" panose="02020603050405020304" pitchFamily="18" charset="0"/>
            </a:endParaRPr>
          </a:p>
        </p:txBody>
      </p:sp>
      <p:graphicFrame>
        <p:nvGraphicFramePr>
          <p:cNvPr id="158726" name="对象 158725"/>
          <p:cNvGraphicFramePr/>
          <p:nvPr/>
        </p:nvGraphicFramePr>
        <p:xfrm>
          <a:off x="7019925" y="1484313"/>
          <a:ext cx="1270000" cy="469900"/>
        </p:xfrm>
        <a:graphic>
          <a:graphicData uri="http://schemas.openxmlformats.org/presentationml/2006/ole">
            <mc:AlternateContent xmlns:mc="http://schemas.openxmlformats.org/markup-compatibility/2006">
              <mc:Choice xmlns:v="urn:schemas-microsoft-com:vml" Requires="v">
                <p:oleObj spid="_x0000_s3477" name="" r:id="rId3" imgW="1269365" imgH="469900" progId="Equation.DSMT4">
                  <p:embed/>
                </p:oleObj>
              </mc:Choice>
              <mc:Fallback>
                <p:oleObj name="" r:id="rId3" imgW="1269365" imgH="469900" progId="Equation.DSMT4">
                  <p:embed/>
                  <p:pic>
                    <p:nvPicPr>
                      <p:cNvPr id="0" name="图片 3476"/>
                      <p:cNvPicPr/>
                      <p:nvPr/>
                    </p:nvPicPr>
                    <p:blipFill>
                      <a:blip r:embed="rId4"/>
                      <a:stretch>
                        <a:fillRect/>
                      </a:stretch>
                    </p:blipFill>
                    <p:spPr>
                      <a:xfrm>
                        <a:off x="7019925" y="1484313"/>
                        <a:ext cx="1270000" cy="469900"/>
                      </a:xfrm>
                      <a:prstGeom prst="rect">
                        <a:avLst/>
                      </a:prstGeom>
                      <a:noFill/>
                      <a:ln w="38100">
                        <a:noFill/>
                        <a:miter/>
                      </a:ln>
                    </p:spPr>
                  </p:pic>
                </p:oleObj>
              </mc:Fallback>
            </mc:AlternateContent>
          </a:graphicData>
        </a:graphic>
      </p:graphicFrame>
      <p:sp>
        <p:nvSpPr>
          <p:cNvPr id="158727" name="文本框 158726"/>
          <p:cNvSpPr txBox="1"/>
          <p:nvPr/>
        </p:nvSpPr>
        <p:spPr>
          <a:xfrm>
            <a:off x="1671638" y="2295525"/>
            <a:ext cx="2673350" cy="519113"/>
          </a:xfrm>
          <a:prstGeom prst="rect">
            <a:avLst/>
          </a:prstGeom>
          <a:noFill/>
          <a:ln w="9525">
            <a:noFill/>
          </a:ln>
        </p:spPr>
        <p:txBody>
          <a:bodyPr wrap="none" anchor="t" anchorCtr="0">
            <a:spAutoFit/>
          </a:bodyPr>
          <a:p>
            <a:r>
              <a:rPr lang="zh-CN" altLang="en-US" dirty="0">
                <a:latin typeface="Times New Roman" panose="02020603050405020304" pitchFamily="18" charset="0"/>
              </a:rPr>
              <a:t>的连乘积，共有</a:t>
            </a:r>
            <a:endParaRPr lang="zh-CN" altLang="en-US" dirty="0">
              <a:latin typeface="Times New Roman" panose="02020603050405020304" pitchFamily="18" charset="0"/>
            </a:endParaRPr>
          </a:p>
        </p:txBody>
      </p:sp>
      <p:graphicFrame>
        <p:nvGraphicFramePr>
          <p:cNvPr id="158728" name="对象 158727"/>
          <p:cNvGraphicFramePr/>
          <p:nvPr/>
        </p:nvGraphicFramePr>
        <p:xfrm>
          <a:off x="4284663" y="2205038"/>
          <a:ext cx="1219200" cy="825500"/>
        </p:xfrm>
        <a:graphic>
          <a:graphicData uri="http://schemas.openxmlformats.org/presentationml/2006/ole">
            <mc:AlternateContent xmlns:mc="http://schemas.openxmlformats.org/markup-compatibility/2006">
              <mc:Choice xmlns:v="urn:schemas-microsoft-com:vml" Requires="v">
                <p:oleObj spid="_x0000_s3474" name="" r:id="rId5" imgW="1219200" imgH="825500" progId="Equation.DSMT4">
                  <p:embed/>
                </p:oleObj>
              </mc:Choice>
              <mc:Fallback>
                <p:oleObj name="" r:id="rId5" imgW="1219200" imgH="825500" progId="Equation.DSMT4">
                  <p:embed/>
                  <p:pic>
                    <p:nvPicPr>
                      <p:cNvPr id="0" name="图片 3473"/>
                      <p:cNvPicPr/>
                      <p:nvPr/>
                    </p:nvPicPr>
                    <p:blipFill>
                      <a:blip r:embed="rId6"/>
                      <a:stretch>
                        <a:fillRect/>
                      </a:stretch>
                    </p:blipFill>
                    <p:spPr>
                      <a:xfrm>
                        <a:off x="4284663" y="2205038"/>
                        <a:ext cx="1219200" cy="825500"/>
                      </a:xfrm>
                      <a:prstGeom prst="rect">
                        <a:avLst/>
                      </a:prstGeom>
                      <a:noFill/>
                      <a:ln w="38100">
                        <a:noFill/>
                        <a:miter/>
                      </a:ln>
                    </p:spPr>
                  </p:pic>
                </p:oleObj>
              </mc:Fallback>
            </mc:AlternateContent>
          </a:graphicData>
        </a:graphic>
      </p:graphicFrame>
      <p:sp>
        <p:nvSpPr>
          <p:cNvPr id="158729" name="文本框 158728"/>
          <p:cNvSpPr txBox="1"/>
          <p:nvPr/>
        </p:nvSpPr>
        <p:spPr>
          <a:xfrm>
            <a:off x="5580063" y="2349500"/>
            <a:ext cx="1339850" cy="519113"/>
          </a:xfrm>
          <a:prstGeom prst="rect">
            <a:avLst/>
          </a:prstGeom>
          <a:noFill/>
          <a:ln w="9525">
            <a:noFill/>
          </a:ln>
        </p:spPr>
        <p:txBody>
          <a:bodyPr wrap="none" anchor="t" anchorCtr="0">
            <a:spAutoFit/>
          </a:bodyPr>
          <a:p>
            <a:r>
              <a:rPr lang="zh-CN" altLang="en-US" dirty="0">
                <a:latin typeface="Times New Roman" panose="02020603050405020304" pitchFamily="18" charset="0"/>
              </a:rPr>
              <a:t>个因子</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2" name="文本框 1"/>
          <p:cNvSpPr txBox="1"/>
          <p:nvPr/>
        </p:nvSpPr>
        <p:spPr>
          <a:xfrm>
            <a:off x="921385" y="3101340"/>
            <a:ext cx="2361565" cy="638810"/>
          </a:xfrm>
          <a:prstGeom prst="rect">
            <a:avLst/>
          </a:prstGeom>
          <a:noFill/>
        </p:spPr>
        <p:txBody>
          <a:bodyPr wrap="square" rtlCol="0">
            <a:noAutofit/>
          </a:bodyPr>
          <a:p>
            <a:r>
              <a:rPr lang="zh-CN" altLang="en-US"/>
              <a:t>（证明可略）</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8722"/>
                                        </p:tgtEl>
                                        <p:attrNameLst>
                                          <p:attrName>style.visibility</p:attrName>
                                        </p:attrNameLst>
                                      </p:cBhvr>
                                      <p:to>
                                        <p:strVal val="visible"/>
                                      </p:to>
                                    </p:set>
                                    <p:animEffect transition="in" filter="wipe(left)">
                                      <p:cBhvr>
                                        <p:cTn id="7" dur="500"/>
                                        <p:tgtEl>
                                          <p:spTgt spid="1587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8723"/>
                                        </p:tgtEl>
                                        <p:attrNameLst>
                                          <p:attrName>style.visibility</p:attrName>
                                        </p:attrNameLst>
                                      </p:cBhvr>
                                      <p:to>
                                        <p:strVal val="visible"/>
                                      </p:to>
                                    </p:set>
                                    <p:animEffect transition="in" filter="wipe(left)">
                                      <p:cBhvr>
                                        <p:cTn id="12" dur="500"/>
                                        <p:tgtEl>
                                          <p:spTgt spid="1587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8724"/>
                                        </p:tgtEl>
                                        <p:attrNameLst>
                                          <p:attrName>style.visibility</p:attrName>
                                        </p:attrNameLst>
                                      </p:cBhvr>
                                      <p:to>
                                        <p:strVal val="visible"/>
                                      </p:to>
                                    </p:set>
                                    <p:animEffect transition="in" filter="wipe(left)">
                                      <p:cBhvr>
                                        <p:cTn id="17" dur="500"/>
                                        <p:tgtEl>
                                          <p:spTgt spid="1587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8725"/>
                                        </p:tgtEl>
                                        <p:attrNameLst>
                                          <p:attrName>style.visibility</p:attrName>
                                        </p:attrNameLst>
                                      </p:cBhvr>
                                      <p:to>
                                        <p:strVal val="visible"/>
                                      </p:to>
                                    </p:set>
                                    <p:animEffect transition="in" filter="wipe(left)">
                                      <p:cBhvr>
                                        <p:cTn id="22" dur="500"/>
                                        <p:tgtEl>
                                          <p:spTgt spid="1587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8726"/>
                                        </p:tgtEl>
                                        <p:attrNameLst>
                                          <p:attrName>style.visibility</p:attrName>
                                        </p:attrNameLst>
                                      </p:cBhvr>
                                      <p:to>
                                        <p:strVal val="visible"/>
                                      </p:to>
                                    </p:set>
                                    <p:animEffect transition="in" filter="wipe(left)">
                                      <p:cBhvr>
                                        <p:cTn id="27" dur="500"/>
                                        <p:tgtEl>
                                          <p:spTgt spid="1587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8727"/>
                                        </p:tgtEl>
                                        <p:attrNameLst>
                                          <p:attrName>style.visibility</p:attrName>
                                        </p:attrNameLst>
                                      </p:cBhvr>
                                      <p:to>
                                        <p:strVal val="visible"/>
                                      </p:to>
                                    </p:set>
                                    <p:animEffect transition="in" filter="wipe(left)">
                                      <p:cBhvr>
                                        <p:cTn id="32" dur="500"/>
                                        <p:tgtEl>
                                          <p:spTgt spid="15872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8728"/>
                                        </p:tgtEl>
                                        <p:attrNameLst>
                                          <p:attrName>style.visibility</p:attrName>
                                        </p:attrNameLst>
                                      </p:cBhvr>
                                      <p:to>
                                        <p:strVal val="visible"/>
                                      </p:to>
                                    </p:set>
                                    <p:animEffect transition="in" filter="wipe(left)">
                                      <p:cBhvr>
                                        <p:cTn id="37" dur="500"/>
                                        <p:tgtEl>
                                          <p:spTgt spid="15872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8729"/>
                                        </p:tgtEl>
                                        <p:attrNameLst>
                                          <p:attrName>style.visibility</p:attrName>
                                        </p:attrNameLst>
                                      </p:cBhvr>
                                      <p:to>
                                        <p:strVal val="visible"/>
                                      </p:to>
                                    </p:set>
                                    <p:animEffect transition="in" filter="wipe(left)">
                                      <p:cBhvr>
                                        <p:cTn id="42" dur="500"/>
                                        <p:tgtEl>
                                          <p:spTgt spid="158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2" grpId="0"/>
      <p:bldP spid="158723" grpId="0"/>
      <p:bldP spid="158725" grpId="0"/>
      <p:bldP spid="158727" grpId="0"/>
      <p:bldP spid="158729"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文本框 159745"/>
          <p:cNvSpPr txBox="1"/>
          <p:nvPr/>
        </p:nvSpPr>
        <p:spPr>
          <a:xfrm>
            <a:off x="1079500" y="404813"/>
            <a:ext cx="3048000" cy="519112"/>
          </a:xfrm>
          <a:prstGeom prst="rect">
            <a:avLst/>
          </a:prstGeom>
          <a:noFill/>
          <a:ln w="9525">
            <a:noFill/>
          </a:ln>
        </p:spPr>
        <p:txBody>
          <a:bodyPr>
            <a:spAutoFit/>
          </a:bodyPr>
          <a:p>
            <a:pPr>
              <a:spcBef>
                <a:spcPct val="50000"/>
              </a:spcBef>
            </a:pPr>
            <a:r>
              <a:rPr lang="zh-CN" altLang="en-US" dirty="0">
                <a:solidFill>
                  <a:schemeClr val="hlink"/>
                </a:solidFill>
                <a:latin typeface="Times New Roman" panose="02020603050405020304" pitchFamily="18" charset="0"/>
                <a:ea typeface="黑体" panose="02010609060101010101" pitchFamily="2" charset="-122"/>
              </a:rPr>
              <a:t>证</a:t>
            </a:r>
            <a:r>
              <a:rPr lang="en-US" altLang="zh-CN">
                <a:solidFill>
                  <a:schemeClr val="hlink"/>
                </a:solidFill>
                <a:latin typeface="Times New Roman" panose="02020603050405020304" pitchFamily="18" charset="0"/>
                <a:ea typeface="黑体" panose="02010609060101010101" pitchFamily="2" charset="-122"/>
              </a:rPr>
              <a:t>:</a:t>
            </a:r>
            <a:r>
              <a:rPr lang="en-US" altLang="zh-CN">
                <a:latin typeface="黑体" panose="02010609060101010101" pitchFamily="2" charset="-122"/>
                <a:ea typeface="黑体" panose="02010609060101010101" pitchFamily="2" charset="-122"/>
              </a:rPr>
              <a:t> </a:t>
            </a:r>
            <a:r>
              <a:rPr lang="zh-CN" altLang="en-US" dirty="0">
                <a:latin typeface="Times New Roman" panose="02020603050405020304" pitchFamily="18" charset="0"/>
              </a:rPr>
              <a:t>用数学归纳法</a:t>
            </a:r>
            <a:endParaRPr lang="zh-CN" altLang="en-US">
              <a:latin typeface="Times New Roman" panose="02020603050405020304" pitchFamily="18" charset="0"/>
            </a:endParaRPr>
          </a:p>
        </p:txBody>
      </p:sp>
      <p:graphicFrame>
        <p:nvGraphicFramePr>
          <p:cNvPr id="159747" name="对象 159746"/>
          <p:cNvGraphicFramePr/>
          <p:nvPr/>
        </p:nvGraphicFramePr>
        <p:xfrm>
          <a:off x="1528763" y="892175"/>
          <a:ext cx="2182812" cy="889000"/>
        </p:xfrm>
        <a:graphic>
          <a:graphicData uri="http://schemas.openxmlformats.org/presentationml/2006/ole">
            <mc:AlternateContent xmlns:mc="http://schemas.openxmlformats.org/markup-compatibility/2006">
              <mc:Choice xmlns:v="urn:schemas-microsoft-com:vml" Requires="v">
                <p:oleObj spid="_x0000_s3481" name="" r:id="rId1" imgW="2184400" imgH="889000" progId="Equation.3">
                  <p:embed/>
                </p:oleObj>
              </mc:Choice>
              <mc:Fallback>
                <p:oleObj name="" r:id="rId1" imgW="2184400" imgH="889000" progId="Equation.3">
                  <p:embed/>
                  <p:pic>
                    <p:nvPicPr>
                      <p:cNvPr id="0" name="图片 3480"/>
                      <p:cNvPicPr/>
                      <p:nvPr/>
                    </p:nvPicPr>
                    <p:blipFill>
                      <a:blip r:embed="rId2"/>
                      <a:stretch>
                        <a:fillRect/>
                      </a:stretch>
                    </p:blipFill>
                    <p:spPr>
                      <a:xfrm>
                        <a:off x="1528763" y="892175"/>
                        <a:ext cx="2182812" cy="889000"/>
                      </a:xfrm>
                      <a:prstGeom prst="rect">
                        <a:avLst/>
                      </a:prstGeom>
                      <a:noFill/>
                      <a:ln w="38100">
                        <a:noFill/>
                        <a:miter/>
                      </a:ln>
                    </p:spPr>
                  </p:pic>
                </p:oleObj>
              </mc:Fallback>
            </mc:AlternateContent>
          </a:graphicData>
        </a:graphic>
      </p:graphicFrame>
      <p:graphicFrame>
        <p:nvGraphicFramePr>
          <p:cNvPr id="159748" name="对象 159747"/>
          <p:cNvGraphicFramePr/>
          <p:nvPr/>
        </p:nvGraphicFramePr>
        <p:xfrm>
          <a:off x="3962400" y="1084263"/>
          <a:ext cx="1384300" cy="419100"/>
        </p:xfrm>
        <a:graphic>
          <a:graphicData uri="http://schemas.openxmlformats.org/presentationml/2006/ole">
            <mc:AlternateContent xmlns:mc="http://schemas.openxmlformats.org/markup-compatibility/2006">
              <mc:Choice xmlns:v="urn:schemas-microsoft-com:vml" Requires="v">
                <p:oleObj spid="_x0000_s3480" name="" r:id="rId3" imgW="1384300" imgH="419100" progId="Equation.3">
                  <p:embed/>
                </p:oleObj>
              </mc:Choice>
              <mc:Fallback>
                <p:oleObj name="" r:id="rId3" imgW="1384300" imgH="419100" progId="Equation.3">
                  <p:embed/>
                  <p:pic>
                    <p:nvPicPr>
                      <p:cNvPr id="0" name="图片 3479"/>
                      <p:cNvPicPr/>
                      <p:nvPr/>
                    </p:nvPicPr>
                    <p:blipFill>
                      <a:blip r:embed="rId4"/>
                      <a:stretch>
                        <a:fillRect/>
                      </a:stretch>
                    </p:blipFill>
                    <p:spPr>
                      <a:xfrm>
                        <a:off x="3962400" y="1084263"/>
                        <a:ext cx="1384300" cy="419100"/>
                      </a:xfrm>
                      <a:prstGeom prst="rect">
                        <a:avLst/>
                      </a:prstGeom>
                      <a:noFill/>
                      <a:ln w="38100">
                        <a:noFill/>
                        <a:miter/>
                      </a:ln>
                    </p:spPr>
                  </p:pic>
                </p:oleObj>
              </mc:Fallback>
            </mc:AlternateContent>
          </a:graphicData>
        </a:graphic>
      </p:graphicFrame>
      <p:graphicFrame>
        <p:nvGraphicFramePr>
          <p:cNvPr id="159749" name="对象 159748"/>
          <p:cNvGraphicFramePr/>
          <p:nvPr/>
        </p:nvGraphicFramePr>
        <p:xfrm>
          <a:off x="5475288" y="1084263"/>
          <a:ext cx="2601912" cy="698500"/>
        </p:xfrm>
        <a:graphic>
          <a:graphicData uri="http://schemas.openxmlformats.org/presentationml/2006/ole">
            <mc:AlternateContent xmlns:mc="http://schemas.openxmlformats.org/markup-compatibility/2006">
              <mc:Choice xmlns:v="urn:schemas-microsoft-com:vml" Requires="v">
                <p:oleObj spid="_x0000_s3475" name="" r:id="rId5" imgW="2603500" imgH="698500" progId="Equation.3">
                  <p:embed/>
                </p:oleObj>
              </mc:Choice>
              <mc:Fallback>
                <p:oleObj name="" r:id="rId5" imgW="2603500" imgH="698500" progId="Equation.3">
                  <p:embed/>
                  <p:pic>
                    <p:nvPicPr>
                      <p:cNvPr id="0" name="图片 3474"/>
                      <p:cNvPicPr/>
                      <p:nvPr/>
                    </p:nvPicPr>
                    <p:blipFill>
                      <a:blip r:embed="rId6"/>
                      <a:stretch>
                        <a:fillRect/>
                      </a:stretch>
                    </p:blipFill>
                    <p:spPr>
                      <a:xfrm>
                        <a:off x="5475288" y="1084263"/>
                        <a:ext cx="2601912" cy="698500"/>
                      </a:xfrm>
                      <a:prstGeom prst="rect">
                        <a:avLst/>
                      </a:prstGeom>
                      <a:noFill/>
                      <a:ln w="38100">
                        <a:noFill/>
                        <a:miter/>
                      </a:ln>
                    </p:spPr>
                  </p:pic>
                </p:oleObj>
              </mc:Fallback>
            </mc:AlternateContent>
          </a:graphicData>
        </a:graphic>
      </p:graphicFrame>
      <p:sp>
        <p:nvSpPr>
          <p:cNvPr id="159750" name="文本框 159749"/>
          <p:cNvSpPr txBox="1"/>
          <p:nvPr/>
        </p:nvSpPr>
        <p:spPr>
          <a:xfrm>
            <a:off x="1042988" y="2060575"/>
            <a:ext cx="4291012" cy="519113"/>
          </a:xfrm>
          <a:prstGeom prst="rect">
            <a:avLst/>
          </a:prstGeom>
          <a:noFill/>
          <a:ln w="9525">
            <a:noFill/>
          </a:ln>
        </p:spPr>
        <p:txBody>
          <a:bodyPr wrap="none" anchor="t" anchorCtr="0">
            <a:spAutoFit/>
          </a:bodyPr>
          <a:p>
            <a:r>
              <a:rPr lang="zh-CN" altLang="en-US" dirty="0">
                <a:latin typeface="Times New Roman" panose="02020603050405020304" pitchFamily="18" charset="0"/>
              </a:rPr>
              <a:t>所以</a:t>
            </a:r>
            <a:r>
              <a:rPr lang="en-US" altLang="zh-CN">
                <a:latin typeface="Times New Roman" panose="02020603050405020304" pitchFamily="18" charset="0"/>
              </a:rPr>
              <a:t>, </a:t>
            </a:r>
            <a:r>
              <a:rPr lang="zh-CN" altLang="en-US" dirty="0">
                <a:latin typeface="Times New Roman" panose="02020603050405020304" pitchFamily="18" charset="0"/>
              </a:rPr>
              <a:t>当 </a:t>
            </a:r>
            <a:r>
              <a:rPr lang="en-US" altLang="zh-CN" i="1">
                <a:latin typeface="Times New Roman" panose="02020603050405020304" pitchFamily="18" charset="0"/>
              </a:rPr>
              <a:t>n</a:t>
            </a:r>
            <a:r>
              <a:rPr lang="en-US" altLang="zh-CN">
                <a:latin typeface="Times New Roman" panose="02020603050405020304" pitchFamily="18" charset="0"/>
              </a:rPr>
              <a:t>=2 </a:t>
            </a:r>
            <a:r>
              <a:rPr lang="zh-CN" altLang="en-US" dirty="0">
                <a:latin typeface="Times New Roman" panose="02020603050405020304" pitchFamily="18" charset="0"/>
              </a:rPr>
              <a:t>时</a:t>
            </a:r>
            <a:r>
              <a:rPr lang="en-US" altLang="zh-CN">
                <a:latin typeface="Times New Roman" panose="02020603050405020304" pitchFamily="18" charset="0"/>
              </a:rPr>
              <a:t>, (1)</a:t>
            </a:r>
            <a:r>
              <a:rPr lang="zh-CN" altLang="en-US" dirty="0">
                <a:latin typeface="Times New Roman" panose="02020603050405020304" pitchFamily="18" charset="0"/>
              </a:rPr>
              <a:t>式成立</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59751" name="文本框 159750"/>
          <p:cNvSpPr txBox="1"/>
          <p:nvPr/>
        </p:nvSpPr>
        <p:spPr>
          <a:xfrm>
            <a:off x="1042988" y="2708275"/>
            <a:ext cx="6539865" cy="521970"/>
          </a:xfrm>
          <a:prstGeom prst="rect">
            <a:avLst/>
          </a:prstGeom>
          <a:noFill/>
          <a:ln w="9525">
            <a:noFill/>
          </a:ln>
        </p:spPr>
        <p:txBody>
          <a:bodyPr wrap="none" anchor="t" anchorCtr="0">
            <a:spAutoFit/>
          </a:bodyPr>
          <a:p>
            <a:r>
              <a:rPr lang="zh-CN" altLang="en-US" dirty="0">
                <a:latin typeface="Times New Roman" panose="02020603050405020304" pitchFamily="18" charset="0"/>
              </a:rPr>
              <a:t>假设对 </a:t>
            </a:r>
            <a:r>
              <a:rPr lang="en-US" altLang="zh-CN" i="1">
                <a:latin typeface="Times New Roman" panose="02020603050405020304" pitchFamily="18" charset="0"/>
              </a:rPr>
              <a:t>n</a:t>
            </a:r>
            <a:r>
              <a:rPr lang="en-US" altLang="zh-CN">
                <a:latin typeface="Times New Roman" panose="02020603050405020304" pitchFamily="18" charset="0"/>
              </a:rPr>
              <a:t>-1 </a:t>
            </a:r>
            <a:r>
              <a:rPr lang="zh-CN" altLang="en-US" dirty="0">
                <a:latin typeface="Times New Roman" panose="02020603050405020304" pitchFamily="18" charset="0"/>
              </a:rPr>
              <a:t>阶范德蒙德行列式</a:t>
            </a:r>
            <a:r>
              <a:rPr lang="en-US" altLang="zh-CN">
                <a:latin typeface="Times New Roman" panose="02020603050405020304" pitchFamily="18" charset="0"/>
              </a:rPr>
              <a:t> (1)</a:t>
            </a:r>
            <a:r>
              <a:rPr lang="zh-CN" altLang="en-US" dirty="0">
                <a:latin typeface="Times New Roman" panose="02020603050405020304" pitchFamily="18" charset="0"/>
              </a:rPr>
              <a:t>式成立</a:t>
            </a:r>
            <a:r>
              <a:rPr lang="en-US" altLang="zh-CN">
                <a:latin typeface="Times New Roman" panose="02020603050405020304" pitchFamily="18" charset="0"/>
              </a:rPr>
              <a:t>. </a:t>
            </a:r>
            <a:endParaRPr lang="en-US" altLang="zh-CN">
              <a:latin typeface="Times New Roman" panose="02020603050405020304" pitchFamily="18" charset="0"/>
            </a:endParaRPr>
          </a:p>
        </p:txBody>
      </p:sp>
      <p:sp>
        <p:nvSpPr>
          <p:cNvPr id="159752" name="矩形 159751"/>
          <p:cNvSpPr/>
          <p:nvPr/>
        </p:nvSpPr>
        <p:spPr>
          <a:xfrm>
            <a:off x="358775" y="3429000"/>
            <a:ext cx="8785225" cy="1031875"/>
          </a:xfrm>
          <a:prstGeom prst="rect">
            <a:avLst/>
          </a:prstGeom>
          <a:noFill/>
          <a:ln w="9525">
            <a:noFill/>
          </a:ln>
        </p:spPr>
        <p:txBody>
          <a:bodyPr>
            <a:spAutoFit/>
          </a:bodyPr>
          <a:p>
            <a:pPr>
              <a:lnSpc>
                <a:spcPct val="110000"/>
              </a:lnSpc>
            </a:pPr>
            <a:r>
              <a:rPr lang="en-US" altLang="zh-CN" dirty="0">
                <a:latin typeface="Times New Roman" panose="02020603050405020304" pitchFamily="18" charset="0"/>
              </a:rPr>
              <a:t>        </a:t>
            </a:r>
            <a:r>
              <a:rPr lang="zh-CN" altLang="en-US" dirty="0">
                <a:latin typeface="Times New Roman" panose="02020603050405020304" pitchFamily="18" charset="0"/>
              </a:rPr>
              <a:t>对 </a:t>
            </a:r>
            <a:r>
              <a:rPr lang="en-US" altLang="zh-CN" i="1">
                <a:latin typeface="Times New Roman" panose="02020603050405020304" pitchFamily="18" charset="0"/>
              </a:rPr>
              <a:t>n</a:t>
            </a:r>
            <a:r>
              <a:rPr lang="en-US" altLang="zh-CN">
                <a:latin typeface="Times New Roman" panose="02020603050405020304" pitchFamily="18" charset="0"/>
              </a:rPr>
              <a:t> </a:t>
            </a:r>
            <a:r>
              <a:rPr lang="zh-CN" altLang="en-US" dirty="0">
                <a:latin typeface="Times New Roman" panose="02020603050405020304" pitchFamily="18" charset="0"/>
              </a:rPr>
              <a:t>阶范德蒙德行列式</a:t>
            </a:r>
            <a:r>
              <a:rPr lang="en-US" altLang="zh-CN">
                <a:latin typeface="Times New Roman" panose="02020603050405020304" pitchFamily="18" charset="0"/>
              </a:rPr>
              <a:t>, </a:t>
            </a:r>
            <a:r>
              <a:rPr lang="zh-CN" altLang="en-US" dirty="0">
                <a:latin typeface="Times New Roman" panose="02020603050405020304" pitchFamily="18" charset="0"/>
              </a:rPr>
              <a:t>作如下变换</a:t>
            </a:r>
            <a:r>
              <a:rPr lang="en-US" altLang="zh-CN">
                <a:latin typeface="Times New Roman" panose="02020603050405020304" pitchFamily="18" charset="0"/>
              </a:rPr>
              <a:t>,  </a:t>
            </a:r>
            <a:r>
              <a:rPr lang="en-US" altLang="zh-CN" i="1" err="1">
                <a:solidFill>
                  <a:srgbClr val="FF3300"/>
                </a:solidFill>
                <a:latin typeface="Times New Roman" panose="02020603050405020304" pitchFamily="18" charset="0"/>
              </a:rPr>
              <a:t>r</a:t>
            </a:r>
            <a:r>
              <a:rPr lang="en-US" altLang="zh-CN" i="1" baseline="-25000" err="1">
                <a:solidFill>
                  <a:srgbClr val="FF3300"/>
                </a:solidFill>
                <a:latin typeface="Times New Roman" panose="02020603050405020304" pitchFamily="18" charset="0"/>
              </a:rPr>
              <a:t>i</a:t>
            </a:r>
            <a:r>
              <a:rPr lang="en-US" altLang="zh-CN" i="1" baseline="-25000">
                <a:solidFill>
                  <a:srgbClr val="FF3300"/>
                </a:solidFill>
                <a:latin typeface="Times New Roman" panose="02020603050405020304" pitchFamily="18" charset="0"/>
              </a:rPr>
              <a:t> </a:t>
            </a:r>
            <a:r>
              <a:rPr lang="en-US" altLang="zh-CN">
                <a:solidFill>
                  <a:srgbClr val="FF3300"/>
                </a:solidFill>
                <a:latin typeface="Times New Roman" panose="02020603050405020304" pitchFamily="18" charset="0"/>
              </a:rPr>
              <a:t>–</a:t>
            </a:r>
            <a:r>
              <a:rPr lang="en-US" altLang="zh-CN" i="1">
                <a:solidFill>
                  <a:srgbClr val="FF3300"/>
                </a:solidFill>
                <a:latin typeface="Times New Roman" panose="02020603050405020304" pitchFamily="18" charset="0"/>
              </a:rPr>
              <a:t>x</a:t>
            </a:r>
            <a:r>
              <a:rPr lang="en-US" altLang="zh-CN" baseline="-25000">
                <a:solidFill>
                  <a:srgbClr val="FF3300"/>
                </a:solidFill>
                <a:latin typeface="Times New Roman" panose="02020603050405020304" pitchFamily="18" charset="0"/>
              </a:rPr>
              <a:t>1</a:t>
            </a:r>
            <a:r>
              <a:rPr lang="en-US" altLang="zh-CN" i="1">
                <a:solidFill>
                  <a:srgbClr val="FF3300"/>
                </a:solidFill>
                <a:latin typeface="Times New Roman" panose="02020603050405020304" pitchFamily="18" charset="0"/>
              </a:rPr>
              <a:t>r</a:t>
            </a:r>
            <a:r>
              <a:rPr lang="en-US" altLang="zh-CN" i="1" baseline="-25000">
                <a:solidFill>
                  <a:srgbClr val="FF3300"/>
                </a:solidFill>
                <a:latin typeface="Times New Roman" panose="02020603050405020304" pitchFamily="18" charset="0"/>
              </a:rPr>
              <a:t>i</a:t>
            </a:r>
            <a:r>
              <a:rPr lang="en-US" altLang="zh-CN" baseline="-25000">
                <a:solidFill>
                  <a:srgbClr val="FF3300"/>
                </a:solidFill>
                <a:latin typeface="Times New Roman" panose="02020603050405020304" pitchFamily="18" charset="0"/>
              </a:rPr>
              <a:t>-1</a:t>
            </a:r>
            <a:r>
              <a:rPr lang="en-US" altLang="zh-CN">
                <a:latin typeface="Times New Roman" panose="02020603050405020304" pitchFamily="18" charset="0"/>
              </a:rPr>
              <a:t>  </a:t>
            </a:r>
            <a:endParaRPr lang="en-US" altLang="zh-CN">
              <a:latin typeface="Times New Roman" panose="02020603050405020304" pitchFamily="18" charset="0"/>
            </a:endParaRPr>
          </a:p>
          <a:p>
            <a:pPr>
              <a:lnSpc>
                <a:spcPct val="110000"/>
              </a:lnSpc>
            </a:pPr>
            <a:r>
              <a:rPr lang="en-US" altLang="zh-CN">
                <a:latin typeface="Times New Roman" panose="02020603050405020304" pitchFamily="18" charset="0"/>
              </a:rPr>
              <a:t>   ( </a:t>
            </a:r>
            <a:r>
              <a:rPr lang="en-US" altLang="zh-CN" i="1">
                <a:latin typeface="Times New Roman" panose="02020603050405020304" pitchFamily="18" charset="0"/>
              </a:rPr>
              <a:t>i </a:t>
            </a:r>
            <a:r>
              <a:rPr lang="en-US" altLang="zh-CN">
                <a:latin typeface="Times New Roman" panose="02020603050405020304" pitchFamily="18" charset="0"/>
              </a:rPr>
              <a:t>= </a:t>
            </a:r>
            <a:r>
              <a:rPr lang="en-US" altLang="zh-CN" i="1">
                <a:latin typeface="Times New Roman" panose="02020603050405020304" pitchFamily="18" charset="0"/>
              </a:rPr>
              <a:t>n</a:t>
            </a:r>
            <a:r>
              <a:rPr lang="en-US" altLang="zh-CN">
                <a:latin typeface="Times New Roman" panose="02020603050405020304" pitchFamily="18" charset="0"/>
              </a:rPr>
              <a:t>, </a:t>
            </a:r>
            <a:r>
              <a:rPr lang="en-US" altLang="zh-CN" i="1">
                <a:latin typeface="Times New Roman" panose="02020603050405020304" pitchFamily="18" charset="0"/>
              </a:rPr>
              <a:t>n</a:t>
            </a:r>
            <a:r>
              <a:rPr lang="en-US" altLang="zh-CN">
                <a:latin typeface="Times New Roman" panose="02020603050405020304" pitchFamily="18" charset="0"/>
              </a:rPr>
              <a:t>–1, ··· , 2, 1 ). </a:t>
            </a:r>
            <a:r>
              <a:rPr lang="zh-CN" altLang="en-US" dirty="0">
                <a:latin typeface="Times New Roman" panose="02020603050405020304" pitchFamily="18" charset="0"/>
              </a:rPr>
              <a:t>得</a:t>
            </a:r>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9746">
                                            <p:txEl>
                                              <p:charRg st="0" end="10"/>
                                            </p:txEl>
                                          </p:spTgt>
                                        </p:tgtEl>
                                        <p:attrNameLst>
                                          <p:attrName>style.visibility</p:attrName>
                                        </p:attrNameLst>
                                      </p:cBhvr>
                                      <p:to>
                                        <p:strVal val="visible"/>
                                      </p:to>
                                    </p:set>
                                    <p:animEffect transition="in" filter="box(out)">
                                      <p:cBhvr>
                                        <p:cTn id="7" dur="500"/>
                                        <p:tgtEl>
                                          <p:spTgt spid="159746">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59747"/>
                                        </p:tgtEl>
                                        <p:attrNameLst>
                                          <p:attrName>style.visibility</p:attrName>
                                        </p:attrNameLst>
                                      </p:cBhvr>
                                      <p:to>
                                        <p:strVal val="visible"/>
                                      </p:to>
                                    </p:set>
                                    <p:animEffect transition="in" filter="box(out)">
                                      <p:cBhvr>
                                        <p:cTn id="12" dur="500"/>
                                        <p:tgtEl>
                                          <p:spTgt spid="15974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59748"/>
                                        </p:tgtEl>
                                        <p:attrNameLst>
                                          <p:attrName>style.visibility</p:attrName>
                                        </p:attrNameLst>
                                      </p:cBhvr>
                                      <p:to>
                                        <p:strVal val="visible"/>
                                      </p:to>
                                    </p:set>
                                    <p:animEffect transition="in" filter="box(out)">
                                      <p:cBhvr>
                                        <p:cTn id="17" dur="500"/>
                                        <p:tgtEl>
                                          <p:spTgt spid="15974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59749"/>
                                        </p:tgtEl>
                                        <p:attrNameLst>
                                          <p:attrName>style.visibility</p:attrName>
                                        </p:attrNameLst>
                                      </p:cBhvr>
                                      <p:to>
                                        <p:strVal val="visible"/>
                                      </p:to>
                                    </p:set>
                                    <p:animEffect transition="in" filter="box(out)">
                                      <p:cBhvr>
                                        <p:cTn id="22" dur="500"/>
                                        <p:tgtEl>
                                          <p:spTgt spid="15974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59750">
                                            <p:txEl>
                                              <p:charRg st="0" end="21"/>
                                            </p:txEl>
                                          </p:spTgt>
                                        </p:tgtEl>
                                        <p:attrNameLst>
                                          <p:attrName>style.visibility</p:attrName>
                                        </p:attrNameLst>
                                      </p:cBhvr>
                                      <p:to>
                                        <p:strVal val="visible"/>
                                      </p:to>
                                    </p:set>
                                    <p:animEffect transition="in" filter="box(out)">
                                      <p:cBhvr>
                                        <p:cTn id="27" dur="500"/>
                                        <p:tgtEl>
                                          <p:spTgt spid="159750">
                                            <p:txEl>
                                              <p:charRg st="0" end="2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59751">
                                            <p:txEl>
                                              <p:charRg st="0" end="27"/>
                                            </p:txEl>
                                          </p:spTgt>
                                        </p:tgtEl>
                                        <p:attrNameLst>
                                          <p:attrName>style.visibility</p:attrName>
                                        </p:attrNameLst>
                                      </p:cBhvr>
                                      <p:to>
                                        <p:strVal val="visible"/>
                                      </p:to>
                                    </p:set>
                                    <p:animEffect transition="in" filter="box(out)">
                                      <p:cBhvr>
                                        <p:cTn id="32" dur="500"/>
                                        <p:tgtEl>
                                          <p:spTgt spid="159751">
                                            <p:txEl>
                                              <p:charRg st="0" end="2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59752">
                                            <p:txEl>
                                              <p:charRg st="0" end="43"/>
                                            </p:txEl>
                                          </p:spTgt>
                                        </p:tgtEl>
                                        <p:attrNameLst>
                                          <p:attrName>style.visibility</p:attrName>
                                        </p:attrNameLst>
                                      </p:cBhvr>
                                      <p:to>
                                        <p:strVal val="visible"/>
                                      </p:to>
                                    </p:set>
                                    <p:animEffect transition="in" filter="box(out)">
                                      <p:cBhvr>
                                        <p:cTn id="37" dur="500"/>
                                        <p:tgtEl>
                                          <p:spTgt spid="159752">
                                            <p:txEl>
                                              <p:charRg st="0" end="4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59752">
                                            <p:txEl>
                                              <p:charRg st="43" end="76"/>
                                            </p:txEl>
                                          </p:spTgt>
                                        </p:tgtEl>
                                        <p:attrNameLst>
                                          <p:attrName>style.visibility</p:attrName>
                                        </p:attrNameLst>
                                      </p:cBhvr>
                                      <p:to>
                                        <p:strVal val="visible"/>
                                      </p:to>
                                    </p:set>
                                    <p:animEffect transition="in" filter="box(out)">
                                      <p:cBhvr>
                                        <p:cTn id="42" dur="500"/>
                                        <p:tgtEl>
                                          <p:spTgt spid="159752">
                                            <p:txEl>
                                              <p:charRg st="43" end="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build="p"/>
      <p:bldP spid="159750" grpId="0" build="p"/>
      <p:bldP spid="159751" grpId="0" build="p"/>
      <p:bldP spid="159752"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0770" name="对象 160769"/>
          <p:cNvGraphicFramePr/>
          <p:nvPr/>
        </p:nvGraphicFramePr>
        <p:xfrm>
          <a:off x="471170" y="228600"/>
          <a:ext cx="8388985" cy="2159000"/>
        </p:xfrm>
        <a:graphic>
          <a:graphicData uri="http://schemas.openxmlformats.org/presentationml/2006/ole">
            <mc:AlternateContent xmlns:mc="http://schemas.openxmlformats.org/markup-compatibility/2006">
              <mc:Choice xmlns:v="urn:schemas-microsoft-com:vml" Requires="v">
                <p:oleObj spid="_x0000_s3478" name="" r:id="rId1" imgW="8750300" imgH="2159000" progId="Equation.3">
                  <p:embed/>
                </p:oleObj>
              </mc:Choice>
              <mc:Fallback>
                <p:oleObj name="" r:id="rId1" imgW="8750300" imgH="2159000" progId="Equation.3">
                  <p:embed/>
                  <p:pic>
                    <p:nvPicPr>
                      <p:cNvPr id="0" name="图片 3477"/>
                      <p:cNvPicPr/>
                      <p:nvPr/>
                    </p:nvPicPr>
                    <p:blipFill>
                      <a:blip r:embed="rId2"/>
                      <a:stretch>
                        <a:fillRect/>
                      </a:stretch>
                    </p:blipFill>
                    <p:spPr>
                      <a:xfrm>
                        <a:off x="471170" y="228600"/>
                        <a:ext cx="8388985" cy="2159000"/>
                      </a:xfrm>
                      <a:prstGeom prst="rect">
                        <a:avLst/>
                      </a:prstGeom>
                      <a:noFill/>
                      <a:ln w="38100">
                        <a:noFill/>
                        <a:miter/>
                      </a:ln>
                    </p:spPr>
                  </p:pic>
                </p:oleObj>
              </mc:Fallback>
            </mc:AlternateContent>
          </a:graphicData>
        </a:graphic>
      </p:graphicFrame>
      <p:sp>
        <p:nvSpPr>
          <p:cNvPr id="160771" name="文本框 160770"/>
          <p:cNvSpPr txBox="1"/>
          <p:nvPr/>
        </p:nvSpPr>
        <p:spPr>
          <a:xfrm>
            <a:off x="992505" y="2514600"/>
            <a:ext cx="7867650" cy="521970"/>
          </a:xfrm>
          <a:prstGeom prst="rect">
            <a:avLst/>
          </a:prstGeom>
          <a:noFill/>
          <a:ln w="9525">
            <a:noFill/>
          </a:ln>
        </p:spPr>
        <p:txBody>
          <a:bodyPr wrap="square" anchor="t" anchorCtr="0">
            <a:spAutoFit/>
          </a:bodyPr>
          <a:p>
            <a:r>
              <a:rPr lang="zh-CN" altLang="en-US">
                <a:latin typeface="Times New Roman" panose="02020603050405020304" pitchFamily="18" charset="0"/>
              </a:rPr>
              <a:t>按</a:t>
            </a:r>
            <a:r>
              <a:rPr lang="zh-CN" altLang="en-US" dirty="0">
                <a:latin typeface="Times New Roman" panose="02020603050405020304" pitchFamily="18" charset="0"/>
              </a:rPr>
              <a:t>第一列展开</a:t>
            </a:r>
            <a:r>
              <a:rPr lang="en-US" altLang="zh-CN">
                <a:latin typeface="Times New Roman" panose="02020603050405020304" pitchFamily="18" charset="0"/>
              </a:rPr>
              <a:t>, </a:t>
            </a:r>
            <a:r>
              <a:rPr lang="zh-CN" altLang="en-US" dirty="0">
                <a:latin typeface="Times New Roman" panose="02020603050405020304" pitchFamily="18" charset="0"/>
              </a:rPr>
              <a:t>并把每列的公因子</a:t>
            </a:r>
            <a:r>
              <a:rPr lang="en-US" altLang="zh-CN">
                <a:latin typeface="Times New Roman" panose="02020603050405020304" pitchFamily="18" charset="0"/>
              </a:rPr>
              <a:t>( </a:t>
            </a:r>
            <a:r>
              <a:rPr lang="en-US" altLang="zh-CN" i="1">
                <a:latin typeface="Times New Roman" panose="02020603050405020304" pitchFamily="18" charset="0"/>
              </a:rPr>
              <a:t>x</a:t>
            </a:r>
            <a:r>
              <a:rPr lang="en-US" altLang="zh-CN" i="1" baseline="-25000">
                <a:latin typeface="Times New Roman" panose="02020603050405020304" pitchFamily="18" charset="0"/>
              </a:rPr>
              <a:t>i </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baseline="-25000">
                <a:latin typeface="Times New Roman" panose="02020603050405020304" pitchFamily="18" charset="0"/>
              </a:rPr>
              <a:t>1 </a:t>
            </a:r>
            <a:r>
              <a:rPr lang="en-US" altLang="zh-CN">
                <a:latin typeface="Times New Roman" panose="02020603050405020304" pitchFamily="18" charset="0"/>
              </a:rPr>
              <a:t>)</a:t>
            </a:r>
            <a:r>
              <a:rPr lang="zh-CN" altLang="en-US" dirty="0">
                <a:latin typeface="Times New Roman" panose="02020603050405020304" pitchFamily="18" charset="0"/>
              </a:rPr>
              <a:t>提出</a:t>
            </a:r>
            <a:r>
              <a:rPr lang="en-US" altLang="zh-CN">
                <a:latin typeface="Times New Roman" panose="02020603050405020304" pitchFamily="18" charset="0"/>
              </a:rPr>
              <a:t>, </a:t>
            </a:r>
            <a:endParaRPr lang="zh-CN" altLang="en-US">
              <a:latin typeface="Times New Roman" panose="02020603050405020304" pitchFamily="18" charset="0"/>
            </a:endParaRPr>
          </a:p>
        </p:txBody>
      </p:sp>
      <p:sp>
        <p:nvSpPr>
          <p:cNvPr id="160772" name="矩形 160771"/>
          <p:cNvSpPr/>
          <p:nvPr/>
        </p:nvSpPr>
        <p:spPr>
          <a:xfrm>
            <a:off x="358775" y="2971800"/>
            <a:ext cx="660400" cy="519113"/>
          </a:xfrm>
          <a:prstGeom prst="rect">
            <a:avLst/>
          </a:prstGeom>
          <a:noFill/>
          <a:ln w="9525">
            <a:noFill/>
          </a:ln>
        </p:spPr>
        <p:txBody>
          <a:bodyPr wrap="none" anchor="t" anchorCtr="0">
            <a:spAutoFit/>
          </a:bodyPr>
          <a:p>
            <a:r>
              <a:rPr lang="zh-CN" altLang="en-US" dirty="0">
                <a:latin typeface="Times New Roman" panose="02020603050405020304" pitchFamily="18" charset="0"/>
              </a:rPr>
              <a:t>有</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60773" name="对象 160772"/>
          <p:cNvGraphicFramePr/>
          <p:nvPr/>
        </p:nvGraphicFramePr>
        <p:xfrm>
          <a:off x="683260" y="3056255"/>
          <a:ext cx="8085455" cy="1608455"/>
        </p:xfrm>
        <a:graphic>
          <a:graphicData uri="http://schemas.openxmlformats.org/presentationml/2006/ole">
            <mc:AlternateContent xmlns:mc="http://schemas.openxmlformats.org/markup-compatibility/2006">
              <mc:Choice xmlns:v="urn:schemas-microsoft-com:vml" Requires="v">
                <p:oleObj spid="_x0000_s3492" name="" r:id="rId3" imgW="8686800" imgH="1727200" progId="Equation.3">
                  <p:embed/>
                </p:oleObj>
              </mc:Choice>
              <mc:Fallback>
                <p:oleObj name="" r:id="rId3" imgW="8686800" imgH="1727200" progId="Equation.3">
                  <p:embed/>
                  <p:pic>
                    <p:nvPicPr>
                      <p:cNvPr id="0" name="图片 3491"/>
                      <p:cNvPicPr/>
                      <p:nvPr/>
                    </p:nvPicPr>
                    <p:blipFill>
                      <a:blip r:embed="rId4"/>
                      <a:stretch>
                        <a:fillRect/>
                      </a:stretch>
                    </p:blipFill>
                    <p:spPr>
                      <a:xfrm>
                        <a:off x="683260" y="3056255"/>
                        <a:ext cx="8085455" cy="1608455"/>
                      </a:xfrm>
                      <a:prstGeom prst="rect">
                        <a:avLst/>
                      </a:prstGeom>
                      <a:noFill/>
                      <a:ln w="38100">
                        <a:noFill/>
                        <a:miter/>
                      </a:ln>
                    </p:spPr>
                  </p:pic>
                </p:oleObj>
              </mc:Fallback>
            </mc:AlternateContent>
          </a:graphicData>
        </a:graphic>
      </p:graphicFrame>
      <p:sp>
        <p:nvSpPr>
          <p:cNvPr id="160774" name="圆角矩形标注 160773"/>
          <p:cNvSpPr/>
          <p:nvPr/>
        </p:nvSpPr>
        <p:spPr>
          <a:xfrm>
            <a:off x="971550" y="4118610"/>
            <a:ext cx="4114800" cy="541020"/>
          </a:xfrm>
          <a:prstGeom prst="wedgeRoundRectCallout">
            <a:avLst>
              <a:gd name="adj1" fmla="val 72106"/>
              <a:gd name="adj2" fmla="val -95833"/>
              <a:gd name="adj3" fmla="val 16667"/>
            </a:avLst>
          </a:prstGeom>
          <a:noFill/>
          <a:ln w="12700" cap="flat" cmpd="sng">
            <a:solidFill>
              <a:srgbClr val="0000FF"/>
            </a:solidFill>
            <a:prstDash val="solid"/>
            <a:miter/>
            <a:headEnd type="none" w="med" len="med"/>
            <a:tailEnd type="none" w="med" len="med"/>
          </a:ln>
        </p:spPr>
        <p:txBody>
          <a:bodyPr/>
          <a:p>
            <a:pPr algn="ctr"/>
            <a:r>
              <a:rPr lang="en-US" altLang="zh-CN" i="1">
                <a:latin typeface="Times New Roman" panose="02020603050405020304" pitchFamily="18" charset="0"/>
              </a:rPr>
              <a:t>n</a:t>
            </a:r>
            <a:r>
              <a:rPr lang="en-US" altLang="zh-CN">
                <a:latin typeface="Times New Roman" panose="02020603050405020304" pitchFamily="18" charset="0"/>
              </a:rPr>
              <a:t>–1</a:t>
            </a:r>
            <a:r>
              <a:rPr lang="zh-CN" altLang="en-US" dirty="0">
                <a:latin typeface="Times New Roman" panose="02020603050405020304" pitchFamily="18" charset="0"/>
              </a:rPr>
              <a:t>阶范德蒙德行列式</a:t>
            </a:r>
            <a:endParaRPr lang="zh-CN" altLang="en-US" dirty="0">
              <a:latin typeface="Times New Roman" panose="02020603050405020304" pitchFamily="18" charset="0"/>
            </a:endParaRPr>
          </a:p>
        </p:txBody>
      </p:sp>
      <p:graphicFrame>
        <p:nvGraphicFramePr>
          <p:cNvPr id="160775" name="对象 160774"/>
          <p:cNvGraphicFramePr/>
          <p:nvPr/>
        </p:nvGraphicFramePr>
        <p:xfrm>
          <a:off x="1027430" y="5262245"/>
          <a:ext cx="7224395" cy="770255"/>
        </p:xfrm>
        <a:graphic>
          <a:graphicData uri="http://schemas.openxmlformats.org/presentationml/2006/ole">
            <mc:AlternateContent xmlns:mc="http://schemas.openxmlformats.org/markup-compatibility/2006">
              <mc:Choice xmlns:v="urn:schemas-microsoft-com:vml" Requires="v">
                <p:oleObj spid="_x0000_s3489" name="" r:id="rId5" imgW="7226300" imgH="698500" progId="Equation.3">
                  <p:embed/>
                </p:oleObj>
              </mc:Choice>
              <mc:Fallback>
                <p:oleObj name="" r:id="rId5" imgW="7226300" imgH="698500" progId="Equation.3">
                  <p:embed/>
                  <p:pic>
                    <p:nvPicPr>
                      <p:cNvPr id="0" name="图片 3488"/>
                      <p:cNvPicPr/>
                      <p:nvPr/>
                    </p:nvPicPr>
                    <p:blipFill>
                      <a:blip r:embed="rId6"/>
                      <a:stretch>
                        <a:fillRect/>
                      </a:stretch>
                    </p:blipFill>
                    <p:spPr>
                      <a:xfrm>
                        <a:off x="1027430" y="5262245"/>
                        <a:ext cx="7224395" cy="770255"/>
                      </a:xfrm>
                      <a:prstGeom prst="rect">
                        <a:avLst/>
                      </a:prstGeom>
                      <a:noFill/>
                      <a:ln w="38100">
                        <a:noFill/>
                        <a:miter/>
                      </a:ln>
                    </p:spPr>
                  </p:pic>
                </p:oleObj>
              </mc:Fallback>
            </mc:AlternateContent>
          </a:graphicData>
        </a:graphic>
      </p:graphicFrame>
      <p:graphicFrame>
        <p:nvGraphicFramePr>
          <p:cNvPr id="160776" name="对象 160775"/>
          <p:cNvGraphicFramePr/>
          <p:nvPr/>
        </p:nvGraphicFramePr>
        <p:xfrm>
          <a:off x="1600200" y="5835650"/>
          <a:ext cx="2360930" cy="793750"/>
        </p:xfrm>
        <a:graphic>
          <a:graphicData uri="http://schemas.openxmlformats.org/presentationml/2006/ole">
            <mc:AlternateContent xmlns:mc="http://schemas.openxmlformats.org/markup-compatibility/2006">
              <mc:Choice xmlns:v="urn:schemas-microsoft-com:vml" Requires="v">
                <p:oleObj spid="_x0000_s3482" name="" r:id="rId7" imgW="2362200" imgH="698500" progId="Equation.3">
                  <p:embed/>
                </p:oleObj>
              </mc:Choice>
              <mc:Fallback>
                <p:oleObj name="" r:id="rId7" imgW="2362200" imgH="698500" progId="Equation.3">
                  <p:embed/>
                  <p:pic>
                    <p:nvPicPr>
                      <p:cNvPr id="0" name="图片 3481"/>
                      <p:cNvPicPr/>
                      <p:nvPr/>
                    </p:nvPicPr>
                    <p:blipFill>
                      <a:blip r:embed="rId8"/>
                      <a:stretch>
                        <a:fillRect/>
                      </a:stretch>
                    </p:blipFill>
                    <p:spPr>
                      <a:xfrm>
                        <a:off x="1600200" y="5835650"/>
                        <a:ext cx="2360930" cy="793750"/>
                      </a:xfrm>
                      <a:prstGeom prst="rect">
                        <a:avLst/>
                      </a:prstGeom>
                      <a:noFill/>
                      <a:ln w="38100">
                        <a:noFill/>
                        <a:miter/>
                      </a:ln>
                    </p:spPr>
                  </p:pic>
                </p:oleObj>
              </mc:Fallback>
            </mc:AlternateContent>
          </a:graphicData>
        </a:graphic>
      </p:graphicFrame>
      <p:sp>
        <p:nvSpPr>
          <p:cNvPr id="160777" name="文本框 160776"/>
          <p:cNvSpPr txBox="1"/>
          <p:nvPr/>
        </p:nvSpPr>
        <p:spPr>
          <a:xfrm>
            <a:off x="1079500" y="4691380"/>
            <a:ext cx="3517900" cy="631190"/>
          </a:xfrm>
          <a:prstGeom prst="rect">
            <a:avLst/>
          </a:prstGeom>
          <a:noFill/>
          <a:ln w="9525">
            <a:noFill/>
          </a:ln>
        </p:spPr>
        <p:txBody>
          <a:bodyPr wrap="none" anchor="t" anchorCtr="0">
            <a:noAutofit/>
          </a:bodyPr>
          <a:p>
            <a:r>
              <a:rPr lang="zh-CN" altLang="en-US">
                <a:latin typeface="Times New Roman" panose="02020603050405020304" pitchFamily="18" charset="0"/>
              </a:rPr>
              <a:t>则</a:t>
            </a:r>
            <a:r>
              <a:rPr lang="zh-CN" altLang="en-US" dirty="0">
                <a:latin typeface="Times New Roman" panose="02020603050405020304" pitchFamily="18" charset="0"/>
              </a:rPr>
              <a:t>根据归纳假设得证</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160770"/>
                                        </p:tgtEl>
                                        <p:attrNameLst>
                                          <p:attrName>style.visibility</p:attrName>
                                        </p:attrNameLst>
                                      </p:cBhvr>
                                      <p:to>
                                        <p:strVal val="visible"/>
                                      </p:to>
                                    </p:set>
                                    <p:animEffect transition="in" filter="box(out)">
                                      <p:cBhvr>
                                        <p:cTn id="7" dur="500"/>
                                        <p:tgtEl>
                                          <p:spTgt spid="16077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60771">
                                            <p:txEl>
                                              <p:charRg st="0" end="32"/>
                                            </p:txEl>
                                          </p:spTgt>
                                        </p:tgtEl>
                                        <p:attrNameLst>
                                          <p:attrName>style.visibility</p:attrName>
                                        </p:attrNameLst>
                                      </p:cBhvr>
                                      <p:to>
                                        <p:strVal val="visible"/>
                                      </p:to>
                                    </p:set>
                                    <p:animEffect transition="in" filter="box(out)">
                                      <p:cBhvr>
                                        <p:cTn id="12" dur="500"/>
                                        <p:tgtEl>
                                          <p:spTgt spid="160771">
                                            <p:txEl>
                                              <p:charRg st="0" end="32"/>
                                            </p:txEl>
                                          </p:spTgt>
                                        </p:tgtEl>
                                      </p:cBhvr>
                                    </p:animEffect>
                                  </p:childTnLst>
                                </p:cTn>
                              </p:par>
                            </p:childTnLst>
                          </p:cTn>
                        </p:par>
                        <p:par>
                          <p:cTn id="13" fill="hold">
                            <p:stCondLst>
                              <p:cond delay="500"/>
                            </p:stCondLst>
                            <p:childTnLst>
                              <p:par>
                                <p:cTn id="14" presetID="4" presetClass="entr" presetSubtype="32" fill="hold" grpId="0" nodeType="afterEffect">
                                  <p:stCondLst>
                                    <p:cond delay="0"/>
                                  </p:stCondLst>
                                  <p:childTnLst>
                                    <p:set>
                                      <p:cBhvr>
                                        <p:cTn id="15" dur="1" fill="hold">
                                          <p:stCondLst>
                                            <p:cond delay="0"/>
                                          </p:stCondLst>
                                        </p:cTn>
                                        <p:tgtEl>
                                          <p:spTgt spid="160772">
                                            <p:txEl>
                                              <p:charRg st="0" end="3"/>
                                            </p:txEl>
                                          </p:spTgt>
                                        </p:tgtEl>
                                        <p:attrNameLst>
                                          <p:attrName>style.visibility</p:attrName>
                                        </p:attrNameLst>
                                      </p:cBhvr>
                                      <p:to>
                                        <p:strVal val="visible"/>
                                      </p:to>
                                    </p:set>
                                    <p:animEffect transition="in" filter="box(out)">
                                      <p:cBhvr>
                                        <p:cTn id="16" dur="500"/>
                                        <p:tgtEl>
                                          <p:spTgt spid="160772">
                                            <p:txEl>
                                              <p:charRg st="0" end="3"/>
                                            </p:txEl>
                                          </p:spTgt>
                                        </p:tgtEl>
                                      </p:cBhvr>
                                    </p:animEffect>
                                  </p:childTnLst>
                                </p:cTn>
                              </p:par>
                            </p:childTnLst>
                          </p:cTn>
                        </p:par>
                        <p:par>
                          <p:cTn id="17" fill="hold">
                            <p:stCondLst>
                              <p:cond delay="1000"/>
                            </p:stCondLst>
                            <p:childTnLst>
                              <p:par>
                                <p:cTn id="18" presetID="4" presetClass="entr" presetSubtype="32" fill="hold" nodeType="afterEffect">
                                  <p:stCondLst>
                                    <p:cond delay="0"/>
                                  </p:stCondLst>
                                  <p:childTnLst>
                                    <p:set>
                                      <p:cBhvr>
                                        <p:cTn id="19" dur="1" fill="hold">
                                          <p:stCondLst>
                                            <p:cond delay="0"/>
                                          </p:stCondLst>
                                        </p:cTn>
                                        <p:tgtEl>
                                          <p:spTgt spid="160773"/>
                                        </p:tgtEl>
                                        <p:attrNameLst>
                                          <p:attrName>style.visibility</p:attrName>
                                        </p:attrNameLst>
                                      </p:cBhvr>
                                      <p:to>
                                        <p:strVal val="visible"/>
                                      </p:to>
                                    </p:set>
                                    <p:animEffect transition="in" filter="box(out)">
                                      <p:cBhvr>
                                        <p:cTn id="20" dur="500"/>
                                        <p:tgtEl>
                                          <p:spTgt spid="160773"/>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60774"/>
                                        </p:tgtEl>
                                        <p:attrNameLst>
                                          <p:attrName>style.visibility</p:attrName>
                                        </p:attrNameLst>
                                      </p:cBhvr>
                                      <p:to>
                                        <p:strVal val="visible"/>
                                      </p:to>
                                    </p:set>
                                    <p:animEffect transition="in" filter="box(out)">
                                      <p:cBhvr>
                                        <p:cTn id="25" dur="500"/>
                                        <p:tgtEl>
                                          <p:spTgt spid="160774"/>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60777">
                                            <p:txEl>
                                              <p:charRg st="0" end="11"/>
                                            </p:txEl>
                                          </p:spTgt>
                                        </p:tgtEl>
                                        <p:attrNameLst>
                                          <p:attrName>style.visibility</p:attrName>
                                        </p:attrNameLst>
                                      </p:cBhvr>
                                      <p:to>
                                        <p:strVal val="visible"/>
                                      </p:to>
                                    </p:set>
                                    <p:animEffect transition="in" filter="box(out)">
                                      <p:cBhvr>
                                        <p:cTn id="30" dur="500"/>
                                        <p:tgtEl>
                                          <p:spTgt spid="160777">
                                            <p:txEl>
                                              <p:charRg st="0" end="11"/>
                                            </p:txEl>
                                          </p:spTgt>
                                        </p:tgtEl>
                                      </p:cBhvr>
                                    </p:animEffect>
                                  </p:childTnLst>
                                </p:cTn>
                              </p:par>
                            </p:childTnLst>
                          </p:cTn>
                        </p:par>
                        <p:par>
                          <p:cTn id="31" fill="hold">
                            <p:stCondLst>
                              <p:cond delay="500"/>
                            </p:stCondLst>
                            <p:childTnLst>
                              <p:par>
                                <p:cTn id="32" presetID="4" presetClass="entr" presetSubtype="32" fill="hold" nodeType="afterEffect">
                                  <p:stCondLst>
                                    <p:cond delay="0"/>
                                  </p:stCondLst>
                                  <p:childTnLst>
                                    <p:set>
                                      <p:cBhvr>
                                        <p:cTn id="33" dur="1" fill="hold">
                                          <p:stCondLst>
                                            <p:cond delay="0"/>
                                          </p:stCondLst>
                                        </p:cTn>
                                        <p:tgtEl>
                                          <p:spTgt spid="160775"/>
                                        </p:tgtEl>
                                        <p:attrNameLst>
                                          <p:attrName>style.visibility</p:attrName>
                                        </p:attrNameLst>
                                      </p:cBhvr>
                                      <p:to>
                                        <p:strVal val="visible"/>
                                      </p:to>
                                    </p:set>
                                    <p:animEffect transition="in" filter="box(out)">
                                      <p:cBhvr>
                                        <p:cTn id="34" dur="500"/>
                                        <p:tgtEl>
                                          <p:spTgt spid="160775"/>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nodeType="clickEffect">
                                  <p:stCondLst>
                                    <p:cond delay="0"/>
                                  </p:stCondLst>
                                  <p:childTnLst>
                                    <p:set>
                                      <p:cBhvr>
                                        <p:cTn id="38" dur="1" fill="hold">
                                          <p:stCondLst>
                                            <p:cond delay="0"/>
                                          </p:stCondLst>
                                        </p:cTn>
                                        <p:tgtEl>
                                          <p:spTgt spid="160776"/>
                                        </p:tgtEl>
                                        <p:attrNameLst>
                                          <p:attrName>style.visibility</p:attrName>
                                        </p:attrNameLst>
                                      </p:cBhvr>
                                      <p:to>
                                        <p:strVal val="visible"/>
                                      </p:to>
                                    </p:set>
                                    <p:animEffect transition="in" filter="box(out)">
                                      <p:cBhvr>
                                        <p:cTn id="39" dur="500"/>
                                        <p:tgtEl>
                                          <p:spTgt spid="160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P spid="160772" grpId="0" advAuto="1000" build="p"/>
      <p:bldP spid="160774" grpId="0" bldLvl="0" animBg="1"/>
      <p:bldP spid="160777"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文本框 161793"/>
          <p:cNvSpPr txBox="1"/>
          <p:nvPr/>
        </p:nvSpPr>
        <p:spPr>
          <a:xfrm>
            <a:off x="1079500" y="381000"/>
            <a:ext cx="2173605" cy="521970"/>
          </a:xfrm>
          <a:prstGeom prst="rect">
            <a:avLst/>
          </a:prstGeom>
          <a:noFill/>
          <a:ln w="9525">
            <a:noFill/>
          </a:ln>
        </p:spPr>
        <p:txBody>
          <a:bodyPr wrap="none" anchor="t" anchorCtr="0">
            <a:spAutoFit/>
          </a:bodyPr>
          <a:p>
            <a:r>
              <a:rPr lang="zh-CN" altLang="en-US" dirty="0">
                <a:solidFill>
                  <a:srgbClr val="FF0000"/>
                </a:solidFill>
                <a:latin typeface="Times New Roman" panose="02020603050405020304" pitchFamily="18" charset="0"/>
                <a:ea typeface="黑体" panose="02010609060101010101" pitchFamily="2" charset="-122"/>
              </a:rPr>
              <a:t>例</a:t>
            </a:r>
            <a:r>
              <a:rPr lang="en-US" altLang="zh-CN" dirty="0">
                <a:solidFill>
                  <a:srgbClr val="FF0000"/>
                </a:solidFill>
                <a:latin typeface="Times New Roman" panose="02020603050405020304" pitchFamily="18" charset="0"/>
                <a:ea typeface="黑体" panose="02010609060101010101" pitchFamily="2" charset="-122"/>
              </a:rPr>
              <a:t>1.3.</a:t>
            </a:r>
            <a:r>
              <a:rPr lang="en-US" altLang="zh-CN">
                <a:solidFill>
                  <a:srgbClr val="FF0000"/>
                </a:solidFill>
                <a:latin typeface="Times New Roman" panose="02020603050405020304" pitchFamily="18" charset="0"/>
                <a:ea typeface="黑体" panose="02010609060101010101" pitchFamily="2" charset="-122"/>
              </a:rPr>
              <a:t>7</a:t>
            </a:r>
            <a:r>
              <a:rPr lang="en-US" altLang="zh-CN">
                <a:solidFill>
                  <a:schemeClr val="hlink"/>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计算</a:t>
            </a:r>
            <a:endParaRPr lang="zh-CN" altLang="en-US">
              <a:latin typeface="Times New Roman" panose="02020603050405020304" pitchFamily="18" charset="0"/>
            </a:endParaRPr>
          </a:p>
        </p:txBody>
      </p:sp>
      <p:graphicFrame>
        <p:nvGraphicFramePr>
          <p:cNvPr id="161795" name="对象 161794"/>
          <p:cNvGraphicFramePr/>
          <p:nvPr/>
        </p:nvGraphicFramePr>
        <p:xfrm>
          <a:off x="2952750" y="304800"/>
          <a:ext cx="3541713" cy="2006600"/>
        </p:xfrm>
        <a:graphic>
          <a:graphicData uri="http://schemas.openxmlformats.org/presentationml/2006/ole">
            <mc:AlternateContent xmlns:mc="http://schemas.openxmlformats.org/markup-compatibility/2006">
              <mc:Choice xmlns:v="urn:schemas-microsoft-com:vml" Requires="v">
                <p:oleObj spid="_x0000_s3491" name="" r:id="rId1" imgW="3543300" imgH="2006600" progId="Equation.3">
                  <p:embed/>
                </p:oleObj>
              </mc:Choice>
              <mc:Fallback>
                <p:oleObj name="" r:id="rId1" imgW="3543300" imgH="2006600" progId="Equation.3">
                  <p:embed/>
                  <p:pic>
                    <p:nvPicPr>
                      <p:cNvPr id="0" name="图片 3490"/>
                      <p:cNvPicPr/>
                      <p:nvPr/>
                    </p:nvPicPr>
                    <p:blipFill>
                      <a:blip r:embed="rId2"/>
                      <a:stretch>
                        <a:fillRect/>
                      </a:stretch>
                    </p:blipFill>
                    <p:spPr>
                      <a:xfrm>
                        <a:off x="2952750" y="304800"/>
                        <a:ext cx="3541713" cy="2006600"/>
                      </a:xfrm>
                      <a:prstGeom prst="rect">
                        <a:avLst/>
                      </a:prstGeom>
                      <a:noFill/>
                      <a:ln w="38100">
                        <a:noFill/>
                        <a:miter/>
                      </a:ln>
                    </p:spPr>
                  </p:pic>
                </p:oleObj>
              </mc:Fallback>
            </mc:AlternateContent>
          </a:graphicData>
        </a:graphic>
      </p:graphicFrame>
      <p:sp>
        <p:nvSpPr>
          <p:cNvPr id="161796" name="文本框 161795"/>
          <p:cNvSpPr txBox="1"/>
          <p:nvPr/>
        </p:nvSpPr>
        <p:spPr>
          <a:xfrm>
            <a:off x="358775" y="2286000"/>
            <a:ext cx="8456613" cy="1882775"/>
          </a:xfrm>
          <a:prstGeom prst="rect">
            <a:avLst/>
          </a:prstGeom>
          <a:noFill/>
          <a:ln w="9525">
            <a:noFill/>
          </a:ln>
        </p:spPr>
        <p:txBody>
          <a:bodyPr anchor="t" anchorCtr="0">
            <a:spAutoFit/>
          </a:bodyPr>
          <a:p>
            <a:pPr>
              <a:lnSpc>
                <a:spcPct val="105000"/>
              </a:lnSpc>
            </a:pPr>
            <a:r>
              <a:rPr lang="en-US" altLang="zh-CN" dirty="0">
                <a:solidFill>
                  <a:srgbClr val="FF0000"/>
                </a:solidFill>
                <a:latin typeface="Times New Roman" panose="02020603050405020304" pitchFamily="18" charset="0"/>
                <a:ea typeface="黑体" panose="02010609060101010101" pitchFamily="2" charset="-122"/>
              </a:rPr>
              <a:t>        </a:t>
            </a:r>
            <a:r>
              <a:rPr lang="zh-CN" altLang="en-US" dirty="0">
                <a:solidFill>
                  <a:schemeClr val="hlink"/>
                </a:solidFill>
                <a:latin typeface="Times New Roman" panose="02020603050405020304" pitchFamily="18" charset="0"/>
                <a:ea typeface="黑体" panose="02010609060101010101" pitchFamily="2" charset="-122"/>
              </a:rPr>
              <a:t>解</a:t>
            </a:r>
            <a:r>
              <a:rPr lang="en-US" altLang="zh-CN">
                <a:solidFill>
                  <a:schemeClr val="hlink"/>
                </a:solidFill>
                <a:latin typeface="Times New Roman" panose="02020603050405020304" pitchFamily="18" charset="0"/>
                <a:ea typeface="黑体" panose="02010609060101010101" pitchFamily="2" charset="-122"/>
              </a:rPr>
              <a:t>:</a:t>
            </a:r>
            <a:r>
              <a:rPr lang="en-US" altLang="zh-CN">
                <a:solidFill>
                  <a:srgbClr val="FF0000"/>
                </a:solidFill>
                <a:latin typeface="Times New Roman" panose="02020603050405020304" pitchFamily="18" charset="0"/>
                <a:ea typeface="黑体" panose="02010609060101010101" pitchFamily="2" charset="-122"/>
              </a:rPr>
              <a:t> </a:t>
            </a:r>
            <a:r>
              <a:rPr lang="en-US" altLang="zh-CN" i="1" err="1">
                <a:latin typeface="Times New Roman" panose="02020603050405020304" pitchFamily="18" charset="0"/>
              </a:rPr>
              <a:t>D</a:t>
            </a:r>
            <a:r>
              <a:rPr lang="en-US" altLang="zh-CN" i="1" baseline="-25000" err="1">
                <a:latin typeface="Times New Roman" panose="02020603050405020304" pitchFamily="18" charset="0"/>
              </a:rPr>
              <a:t>n</a:t>
            </a:r>
            <a:r>
              <a:rPr lang="zh-CN" altLang="en-US" dirty="0">
                <a:latin typeface="Times New Roman" panose="02020603050405020304" pitchFamily="18" charset="0"/>
              </a:rPr>
              <a:t>中各行元素分别是同一个数的不同方幂</a:t>
            </a:r>
            <a:r>
              <a:rPr lang="en-US" altLang="zh-CN">
                <a:latin typeface="Times New Roman" panose="02020603050405020304" pitchFamily="18" charset="0"/>
              </a:rPr>
              <a:t>, </a:t>
            </a:r>
            <a:r>
              <a:rPr lang="zh-CN" altLang="en-US" dirty="0">
                <a:latin typeface="Times New Roman" panose="02020603050405020304" pitchFamily="18" charset="0"/>
              </a:rPr>
              <a:t>方幂的次数自左至右按递升次序排列</a:t>
            </a:r>
            <a:r>
              <a:rPr lang="en-US" altLang="zh-CN">
                <a:latin typeface="Times New Roman" panose="02020603050405020304" pitchFamily="18" charset="0"/>
              </a:rPr>
              <a:t>, </a:t>
            </a:r>
            <a:r>
              <a:rPr lang="zh-CN" altLang="en-US" dirty="0">
                <a:latin typeface="Times New Roman" panose="02020603050405020304" pitchFamily="18" charset="0"/>
              </a:rPr>
              <a:t>但不是从</a:t>
            </a:r>
            <a:r>
              <a:rPr lang="en-US" altLang="zh-CN">
                <a:latin typeface="Times New Roman" panose="02020603050405020304" pitchFamily="18" charset="0"/>
              </a:rPr>
              <a:t>0</a:t>
            </a:r>
            <a:r>
              <a:rPr lang="zh-CN" altLang="en-US" dirty="0">
                <a:latin typeface="Times New Roman" panose="02020603050405020304" pitchFamily="18" charset="0"/>
              </a:rPr>
              <a:t>到 </a:t>
            </a:r>
            <a:r>
              <a:rPr lang="en-US" altLang="zh-CN" i="1">
                <a:latin typeface="Times New Roman" panose="02020603050405020304" pitchFamily="18" charset="0"/>
              </a:rPr>
              <a:t>n</a:t>
            </a:r>
            <a:r>
              <a:rPr lang="en-US" altLang="zh-CN">
                <a:latin typeface="Times New Roman" panose="02020603050405020304" pitchFamily="18" charset="0"/>
              </a:rPr>
              <a:t>–1, </a:t>
            </a:r>
            <a:r>
              <a:rPr lang="zh-CN" altLang="en-US" dirty="0">
                <a:latin typeface="Times New Roman" panose="02020603050405020304" pitchFamily="18" charset="0"/>
              </a:rPr>
              <a:t>而是从</a:t>
            </a:r>
            <a:r>
              <a:rPr lang="en-US" altLang="zh-CN">
                <a:latin typeface="Times New Roman" panose="02020603050405020304" pitchFamily="18" charset="0"/>
              </a:rPr>
              <a:t>1</a:t>
            </a:r>
            <a:r>
              <a:rPr lang="zh-CN" altLang="en-US" dirty="0">
                <a:latin typeface="Times New Roman" panose="02020603050405020304" pitchFamily="18" charset="0"/>
              </a:rPr>
              <a:t>递升至 </a:t>
            </a:r>
            <a:r>
              <a:rPr lang="en-US" altLang="zh-CN" i="1">
                <a:latin typeface="Times New Roman" panose="02020603050405020304" pitchFamily="18" charset="0"/>
              </a:rPr>
              <a:t>n</a:t>
            </a:r>
            <a:r>
              <a:rPr lang="en-US" altLang="zh-CN">
                <a:latin typeface="Times New Roman" panose="02020603050405020304" pitchFamily="18" charset="0"/>
              </a:rPr>
              <a:t>. </a:t>
            </a:r>
            <a:r>
              <a:rPr lang="zh-CN" altLang="en-US">
                <a:latin typeface="Times New Roman" panose="02020603050405020304" pitchFamily="18" charset="0"/>
              </a:rPr>
              <a:t>若</a:t>
            </a:r>
            <a:r>
              <a:rPr lang="zh-CN" altLang="en-US" dirty="0">
                <a:latin typeface="Times New Roman" panose="02020603050405020304" pitchFamily="18" charset="0"/>
              </a:rPr>
              <a:t>提出各行的公因子</a:t>
            </a:r>
            <a:r>
              <a:rPr lang="en-US" altLang="zh-CN">
                <a:latin typeface="Times New Roman" panose="02020603050405020304" pitchFamily="18" charset="0"/>
              </a:rPr>
              <a:t>, </a:t>
            </a:r>
            <a:r>
              <a:rPr lang="zh-CN" altLang="en-US" dirty="0">
                <a:latin typeface="Times New Roman" panose="02020603050405020304" pitchFamily="18" charset="0"/>
              </a:rPr>
              <a:t>则方幂的次数便是从</a:t>
            </a:r>
            <a:r>
              <a:rPr lang="en-US" altLang="zh-CN">
                <a:latin typeface="Times New Roman" panose="02020603050405020304" pitchFamily="18" charset="0"/>
              </a:rPr>
              <a:t>0</a:t>
            </a:r>
            <a:r>
              <a:rPr lang="zh-CN" altLang="en-US" dirty="0">
                <a:latin typeface="Times New Roman" panose="02020603050405020304" pitchFamily="18" charset="0"/>
              </a:rPr>
              <a:t>升到 </a:t>
            </a:r>
            <a:r>
              <a:rPr lang="en-US" altLang="zh-CN" i="1">
                <a:latin typeface="Times New Roman" panose="02020603050405020304" pitchFamily="18" charset="0"/>
              </a:rPr>
              <a:t>n</a:t>
            </a:r>
            <a:r>
              <a:rPr lang="en-US" altLang="zh-CN">
                <a:latin typeface="Times New Roman" panose="02020603050405020304" pitchFamily="18" charset="0"/>
              </a:rPr>
              <a:t>–1, </a:t>
            </a:r>
            <a:r>
              <a:rPr lang="zh-CN" altLang="en-US" dirty="0">
                <a:latin typeface="Times New Roman" panose="02020603050405020304" pitchFamily="18" charset="0"/>
              </a:rPr>
              <a:t>于是得</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61797" name="对象 161796"/>
          <p:cNvGraphicFramePr/>
          <p:nvPr/>
        </p:nvGraphicFramePr>
        <p:xfrm>
          <a:off x="1733550" y="4191000"/>
          <a:ext cx="4722813" cy="2006600"/>
        </p:xfrm>
        <a:graphic>
          <a:graphicData uri="http://schemas.openxmlformats.org/presentationml/2006/ole">
            <mc:AlternateContent xmlns:mc="http://schemas.openxmlformats.org/markup-compatibility/2006">
              <mc:Choice xmlns:v="urn:schemas-microsoft-com:vml" Requires="v">
                <p:oleObj spid="_x0000_s3483" name="" r:id="rId3" imgW="4724400" imgH="2006600" progId="Equation.3">
                  <p:embed/>
                </p:oleObj>
              </mc:Choice>
              <mc:Fallback>
                <p:oleObj name="" r:id="rId3" imgW="4724400" imgH="2006600" progId="Equation.3">
                  <p:embed/>
                  <p:pic>
                    <p:nvPicPr>
                      <p:cNvPr id="0" name="图片 3482"/>
                      <p:cNvPicPr/>
                      <p:nvPr/>
                    </p:nvPicPr>
                    <p:blipFill>
                      <a:blip r:embed="rId4"/>
                      <a:stretch>
                        <a:fillRect/>
                      </a:stretch>
                    </p:blipFill>
                    <p:spPr>
                      <a:xfrm>
                        <a:off x="1733550" y="4191000"/>
                        <a:ext cx="4722813" cy="20066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61794">
                                            <p:txEl>
                                              <p:charRg st="0" end="7"/>
                                            </p:txEl>
                                          </p:spTgt>
                                        </p:tgtEl>
                                        <p:attrNameLst>
                                          <p:attrName>style.visibility</p:attrName>
                                        </p:attrNameLst>
                                      </p:cBhvr>
                                      <p:to>
                                        <p:strVal val="visible"/>
                                      </p:to>
                                    </p:set>
                                    <p:animEffect transition="in" filter="box(out)">
                                      <p:cBhvr>
                                        <p:cTn id="7" dur="500"/>
                                        <p:tgtEl>
                                          <p:spTgt spid="161794">
                                            <p:txEl>
                                              <p:charRg st="0" end="7"/>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61795"/>
                                        </p:tgtEl>
                                        <p:attrNameLst>
                                          <p:attrName>style.visibility</p:attrName>
                                        </p:attrNameLst>
                                      </p:cBhvr>
                                      <p:to>
                                        <p:strVal val="visible"/>
                                      </p:to>
                                    </p:set>
                                    <p:animEffect transition="in" filter="box(out)">
                                      <p:cBhvr>
                                        <p:cTn id="11" dur="500"/>
                                        <p:tgtEl>
                                          <p:spTgt spid="161795"/>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61796">
                                            <p:txEl>
                                              <p:charRg st="0" end="107"/>
                                            </p:txEl>
                                          </p:spTgt>
                                        </p:tgtEl>
                                        <p:attrNameLst>
                                          <p:attrName>style.visibility</p:attrName>
                                        </p:attrNameLst>
                                      </p:cBhvr>
                                      <p:to>
                                        <p:strVal val="visible"/>
                                      </p:to>
                                    </p:set>
                                    <p:animEffect transition="in" filter="box(out)">
                                      <p:cBhvr>
                                        <p:cTn id="16" dur="500"/>
                                        <p:tgtEl>
                                          <p:spTgt spid="161796">
                                            <p:txEl>
                                              <p:charRg st="0" end="10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161797"/>
                                        </p:tgtEl>
                                        <p:attrNameLst>
                                          <p:attrName>style.visibility</p:attrName>
                                        </p:attrNameLst>
                                      </p:cBhvr>
                                      <p:to>
                                        <p:strVal val="visible"/>
                                      </p:to>
                                    </p:set>
                                    <p:animEffect transition="in" filter="box(out)">
                                      <p:cBhvr>
                                        <p:cTn id="21" dur="500"/>
                                        <p:tgtEl>
                                          <p:spTgt spid="161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advAuto="1000" build="p"/>
      <p:bldP spid="161796"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文本框 162817"/>
          <p:cNvSpPr txBox="1"/>
          <p:nvPr/>
        </p:nvSpPr>
        <p:spPr>
          <a:xfrm>
            <a:off x="358775" y="381000"/>
            <a:ext cx="8456613" cy="946150"/>
          </a:xfrm>
          <a:prstGeom prst="rect">
            <a:avLst/>
          </a:prstGeom>
          <a:noFill/>
          <a:ln w="9525">
            <a:noFill/>
          </a:ln>
        </p:spPr>
        <p:txBody>
          <a:bodyPr anchor="t" anchorCtr="0">
            <a:spAutoFit/>
          </a:bodyPr>
          <a:p>
            <a:r>
              <a:rPr lang="zh-CN" altLang="en-US">
                <a:latin typeface="Times New Roman" panose="02020603050405020304" pitchFamily="18" charset="0"/>
              </a:rPr>
              <a:t>　　</a:t>
            </a:r>
            <a:r>
              <a:rPr lang="zh-CN" altLang="en-US" dirty="0">
                <a:latin typeface="Times New Roman" panose="02020603050405020304" pitchFamily="18" charset="0"/>
              </a:rPr>
              <a:t>上面等式右端行列式为 </a:t>
            </a:r>
            <a:r>
              <a:rPr lang="en-US" altLang="zh-CN" i="1">
                <a:latin typeface="Times New Roman" panose="02020603050405020304" pitchFamily="18" charset="0"/>
              </a:rPr>
              <a:t>n </a:t>
            </a:r>
            <a:r>
              <a:rPr lang="zh-CN" altLang="en-US" dirty="0">
                <a:latin typeface="Times New Roman" panose="02020603050405020304" pitchFamily="18" charset="0"/>
              </a:rPr>
              <a:t>阶范德蒙行列式的转置</a:t>
            </a:r>
            <a:r>
              <a:rPr lang="en-US" altLang="zh-CN">
                <a:latin typeface="Times New Roman" panose="02020603050405020304" pitchFamily="18" charset="0"/>
              </a:rPr>
              <a:t>, </a:t>
            </a:r>
            <a:r>
              <a:rPr lang="zh-CN" altLang="en-US" dirty="0">
                <a:latin typeface="Times New Roman" panose="02020603050405020304" pitchFamily="18" charset="0"/>
              </a:rPr>
              <a:t>由范德蒙行列式知</a:t>
            </a:r>
            <a:endParaRPr lang="zh-CN" altLang="en-US" dirty="0">
              <a:latin typeface="Times New Roman" panose="02020603050405020304" pitchFamily="18" charset="0"/>
            </a:endParaRPr>
          </a:p>
        </p:txBody>
      </p:sp>
      <p:graphicFrame>
        <p:nvGraphicFramePr>
          <p:cNvPr id="162819" name="对象 162818"/>
          <p:cNvGraphicFramePr/>
          <p:nvPr/>
        </p:nvGraphicFramePr>
        <p:xfrm>
          <a:off x="1157288" y="1371600"/>
          <a:ext cx="3338512" cy="698500"/>
        </p:xfrm>
        <a:graphic>
          <a:graphicData uri="http://schemas.openxmlformats.org/presentationml/2006/ole">
            <mc:AlternateContent xmlns:mc="http://schemas.openxmlformats.org/markup-compatibility/2006">
              <mc:Choice xmlns:v="urn:schemas-microsoft-com:vml" Requires="v">
                <p:oleObj spid="_x0000_s3493" name="" r:id="rId1" imgW="3340100" imgH="698500" progId="Equation.3">
                  <p:embed/>
                </p:oleObj>
              </mc:Choice>
              <mc:Fallback>
                <p:oleObj name="" r:id="rId1" imgW="3340100" imgH="698500" progId="Equation.3">
                  <p:embed/>
                  <p:pic>
                    <p:nvPicPr>
                      <p:cNvPr id="0" name="图片 3492"/>
                      <p:cNvPicPr/>
                      <p:nvPr/>
                    </p:nvPicPr>
                    <p:blipFill>
                      <a:blip r:embed="rId2"/>
                      <a:stretch>
                        <a:fillRect/>
                      </a:stretch>
                    </p:blipFill>
                    <p:spPr>
                      <a:xfrm>
                        <a:off x="1157288" y="1371600"/>
                        <a:ext cx="3338512" cy="698500"/>
                      </a:xfrm>
                      <a:prstGeom prst="rect">
                        <a:avLst/>
                      </a:prstGeom>
                      <a:noFill/>
                      <a:ln w="38100">
                        <a:noFill/>
                        <a:miter/>
                      </a:ln>
                    </p:spPr>
                  </p:pic>
                </p:oleObj>
              </mc:Fallback>
            </mc:AlternateContent>
          </a:graphicData>
        </a:graphic>
      </p:graphicFrame>
      <p:sp>
        <p:nvSpPr>
          <p:cNvPr id="162820" name="文本框 162819"/>
          <p:cNvSpPr txBox="1"/>
          <p:nvPr/>
        </p:nvSpPr>
        <p:spPr>
          <a:xfrm>
            <a:off x="358775" y="3584575"/>
            <a:ext cx="8456613" cy="2054225"/>
          </a:xfrm>
          <a:prstGeom prst="rect">
            <a:avLst/>
          </a:prstGeom>
          <a:noFill/>
          <a:ln w="9525">
            <a:noFill/>
          </a:ln>
        </p:spPr>
        <p:txBody>
          <a:bodyPr anchor="t" anchorCtr="0">
            <a:spAutoFit/>
          </a:bodyPr>
          <a:p>
            <a:pPr>
              <a:lnSpc>
                <a:spcPct val="115000"/>
              </a:lnSpc>
            </a:pPr>
            <a:r>
              <a:rPr lang="zh-CN" altLang="en-US" dirty="0">
                <a:latin typeface="Times New Roman" panose="02020603050405020304" pitchFamily="18" charset="0"/>
              </a:rPr>
              <a:t>　　</a:t>
            </a:r>
            <a:r>
              <a:rPr lang="zh-CN" altLang="en-US" dirty="0">
                <a:solidFill>
                  <a:srgbClr val="FF0000"/>
                </a:solidFill>
                <a:latin typeface="Times New Roman" panose="02020603050405020304" pitchFamily="18" charset="0"/>
                <a:ea typeface="黑体" panose="02010609060101010101" pitchFamily="2" charset="-122"/>
              </a:rPr>
              <a:t>评注</a:t>
            </a:r>
            <a:r>
              <a:rPr lang="en-US" altLang="zh-CN">
                <a:solidFill>
                  <a:srgbClr val="FF0000"/>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本题所给行列式各行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都是某元素的不同方幂</a:t>
            </a:r>
            <a:r>
              <a:rPr lang="en-US" altLang="zh-CN">
                <a:latin typeface="Times New Roman" panose="02020603050405020304" pitchFamily="18" charset="0"/>
              </a:rPr>
              <a:t>, </a:t>
            </a:r>
            <a:r>
              <a:rPr lang="zh-CN" altLang="en-US" dirty="0">
                <a:latin typeface="Times New Roman" panose="02020603050405020304" pitchFamily="18" charset="0"/>
              </a:rPr>
              <a:t>而其方幂次数或其排列与范德蒙行列式不完全相同</a:t>
            </a:r>
            <a:r>
              <a:rPr lang="en-US" altLang="zh-CN">
                <a:latin typeface="Times New Roman" panose="02020603050405020304" pitchFamily="18" charset="0"/>
              </a:rPr>
              <a:t>, </a:t>
            </a:r>
            <a:r>
              <a:rPr lang="zh-CN" altLang="en-US" dirty="0">
                <a:latin typeface="Times New Roman" panose="02020603050405020304" pitchFamily="18" charset="0"/>
              </a:rPr>
              <a:t>需要利用行列式的性质</a:t>
            </a:r>
            <a:r>
              <a:rPr lang="en-US" altLang="zh-CN">
                <a:latin typeface="Times New Roman" panose="02020603050405020304" pitchFamily="18" charset="0"/>
              </a:rPr>
              <a:t>(</a:t>
            </a:r>
            <a:r>
              <a:rPr lang="zh-CN" altLang="en-US" dirty="0">
                <a:latin typeface="Times New Roman" panose="02020603050405020304" pitchFamily="18" charset="0"/>
              </a:rPr>
              <a:t>如提取公因子</a:t>
            </a:r>
            <a:r>
              <a:rPr lang="en-US" altLang="zh-CN">
                <a:latin typeface="Times New Roman" panose="02020603050405020304" pitchFamily="18" charset="0"/>
              </a:rPr>
              <a:t>, </a:t>
            </a:r>
            <a:r>
              <a:rPr lang="zh-CN" altLang="en-US" dirty="0">
                <a:latin typeface="Times New Roman" panose="02020603050405020304" pitchFamily="18" charset="0"/>
              </a:rPr>
              <a:t>调换各行</a:t>
            </a:r>
            <a:r>
              <a:rPr lang="en-US" altLang="zh-CN">
                <a:latin typeface="Times New Roman" panose="02020603050405020304" pitchFamily="18" charset="0"/>
              </a:rPr>
              <a:t>(</a:t>
            </a:r>
            <a:r>
              <a:rPr lang="zh-CN" altLang="en-US" dirty="0">
                <a:latin typeface="Times New Roman" panose="02020603050405020304" pitchFamily="18" charset="0"/>
              </a:rPr>
              <a:t>列</a:t>
            </a:r>
            <a:r>
              <a:rPr lang="en-US" altLang="zh-CN">
                <a:latin typeface="Times New Roman" panose="02020603050405020304" pitchFamily="18" charset="0"/>
              </a:rPr>
              <a:t>)</a:t>
            </a:r>
            <a:r>
              <a:rPr lang="zh-CN" altLang="en-US" dirty="0">
                <a:latin typeface="Times New Roman" panose="02020603050405020304" pitchFamily="18" charset="0"/>
              </a:rPr>
              <a:t>的次序等</a:t>
            </a:r>
            <a:r>
              <a:rPr lang="en-US" altLang="zh-CN">
                <a:latin typeface="Times New Roman" panose="02020603050405020304" pitchFamily="18" charset="0"/>
              </a:rPr>
              <a:t>)</a:t>
            </a:r>
            <a:r>
              <a:rPr lang="zh-CN" altLang="en-US" dirty="0">
                <a:latin typeface="Times New Roman" panose="02020603050405020304" pitchFamily="18" charset="0"/>
              </a:rPr>
              <a:t>将此行列式化成范德蒙行列式</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62821" name="对象 162820"/>
          <p:cNvGraphicFramePr/>
          <p:nvPr/>
        </p:nvGraphicFramePr>
        <p:xfrm>
          <a:off x="1577975" y="2159000"/>
          <a:ext cx="7185025" cy="812800"/>
        </p:xfrm>
        <a:graphic>
          <a:graphicData uri="http://schemas.openxmlformats.org/presentationml/2006/ole">
            <mc:AlternateContent xmlns:mc="http://schemas.openxmlformats.org/markup-compatibility/2006">
              <mc:Choice xmlns:v="urn:schemas-microsoft-com:vml" Requires="v">
                <p:oleObj spid="_x0000_s3488" name="" r:id="rId3" imgW="7185025" imgH="812165" progId="Equation.3">
                  <p:embed/>
                </p:oleObj>
              </mc:Choice>
              <mc:Fallback>
                <p:oleObj name="" r:id="rId3" imgW="7185025" imgH="812165" progId="Equation.3">
                  <p:embed/>
                  <p:pic>
                    <p:nvPicPr>
                      <p:cNvPr id="0" name="图片 3487"/>
                      <p:cNvPicPr/>
                      <p:nvPr/>
                    </p:nvPicPr>
                    <p:blipFill>
                      <a:blip r:embed="rId4"/>
                      <a:stretch>
                        <a:fillRect/>
                      </a:stretch>
                    </p:blipFill>
                    <p:spPr>
                      <a:xfrm>
                        <a:off x="1577975" y="2159000"/>
                        <a:ext cx="7185025" cy="812800"/>
                      </a:xfrm>
                      <a:prstGeom prst="rect">
                        <a:avLst/>
                      </a:prstGeom>
                      <a:noFill/>
                      <a:ln w="38100">
                        <a:noFill/>
                        <a:miter/>
                      </a:ln>
                    </p:spPr>
                  </p:pic>
                </p:oleObj>
              </mc:Fallback>
            </mc:AlternateContent>
          </a:graphicData>
        </a:graphic>
      </p:graphicFrame>
      <p:graphicFrame>
        <p:nvGraphicFramePr>
          <p:cNvPr id="162822" name="对象 162821"/>
          <p:cNvGraphicFramePr/>
          <p:nvPr/>
        </p:nvGraphicFramePr>
        <p:xfrm>
          <a:off x="1676400" y="3111500"/>
          <a:ext cx="3846513" cy="393700"/>
        </p:xfrm>
        <a:graphic>
          <a:graphicData uri="http://schemas.openxmlformats.org/presentationml/2006/ole">
            <mc:AlternateContent xmlns:mc="http://schemas.openxmlformats.org/markup-compatibility/2006">
              <mc:Choice xmlns:v="urn:schemas-microsoft-com:vml" Requires="v">
                <p:oleObj spid="_x0000_s3484" name="" r:id="rId5" imgW="3846195" imgH="393700" progId="Equation.3">
                  <p:embed/>
                </p:oleObj>
              </mc:Choice>
              <mc:Fallback>
                <p:oleObj name="" r:id="rId5" imgW="3846195" imgH="393700" progId="Equation.3">
                  <p:embed/>
                  <p:pic>
                    <p:nvPicPr>
                      <p:cNvPr id="0" name="图片 3483"/>
                      <p:cNvPicPr/>
                      <p:nvPr/>
                    </p:nvPicPr>
                    <p:blipFill>
                      <a:blip r:embed="rId6"/>
                      <a:stretch>
                        <a:fillRect/>
                      </a:stretch>
                    </p:blipFill>
                    <p:spPr>
                      <a:xfrm>
                        <a:off x="1676400" y="3111500"/>
                        <a:ext cx="3846513" cy="3937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62818">
                                            <p:txEl>
                                              <p:charRg st="0" end="36"/>
                                            </p:txEl>
                                          </p:spTgt>
                                        </p:tgtEl>
                                        <p:attrNameLst>
                                          <p:attrName>style.visibility</p:attrName>
                                        </p:attrNameLst>
                                      </p:cBhvr>
                                      <p:to>
                                        <p:strVal val="visible"/>
                                      </p:to>
                                    </p:set>
                                    <p:animEffect transition="in" filter="box(out)">
                                      <p:cBhvr>
                                        <p:cTn id="7" dur="500"/>
                                        <p:tgtEl>
                                          <p:spTgt spid="162818">
                                            <p:txEl>
                                              <p:charRg st="0" end="36"/>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62819"/>
                                        </p:tgtEl>
                                        <p:attrNameLst>
                                          <p:attrName>style.visibility</p:attrName>
                                        </p:attrNameLst>
                                      </p:cBhvr>
                                      <p:to>
                                        <p:strVal val="visible"/>
                                      </p:to>
                                    </p:set>
                                    <p:animEffect transition="in" filter="box(out)">
                                      <p:cBhvr>
                                        <p:cTn id="11" dur="500"/>
                                        <p:tgtEl>
                                          <p:spTgt spid="162819"/>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nodeType="clickEffect">
                                  <p:stCondLst>
                                    <p:cond delay="0"/>
                                  </p:stCondLst>
                                  <p:childTnLst>
                                    <p:set>
                                      <p:cBhvr>
                                        <p:cTn id="15" dur="1" fill="hold">
                                          <p:stCondLst>
                                            <p:cond delay="0"/>
                                          </p:stCondLst>
                                        </p:cTn>
                                        <p:tgtEl>
                                          <p:spTgt spid="162821"/>
                                        </p:tgtEl>
                                        <p:attrNameLst>
                                          <p:attrName>style.visibility</p:attrName>
                                        </p:attrNameLst>
                                      </p:cBhvr>
                                      <p:to>
                                        <p:strVal val="visible"/>
                                      </p:to>
                                    </p:set>
                                    <p:animEffect transition="in" filter="box(out)">
                                      <p:cBhvr>
                                        <p:cTn id="16" dur="500"/>
                                        <p:tgtEl>
                                          <p:spTgt spid="162821"/>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32" fill="hold" nodeType="clickEffect">
                                  <p:stCondLst>
                                    <p:cond delay="0"/>
                                  </p:stCondLst>
                                  <p:childTnLst>
                                    <p:set>
                                      <p:cBhvr>
                                        <p:cTn id="20" dur="1" fill="hold">
                                          <p:stCondLst>
                                            <p:cond delay="0"/>
                                          </p:stCondLst>
                                        </p:cTn>
                                        <p:tgtEl>
                                          <p:spTgt spid="162822"/>
                                        </p:tgtEl>
                                        <p:attrNameLst>
                                          <p:attrName>style.visibility</p:attrName>
                                        </p:attrNameLst>
                                      </p:cBhvr>
                                      <p:to>
                                        <p:strVal val="visible"/>
                                      </p:to>
                                    </p:set>
                                    <p:animEffect transition="in" filter="box(out)">
                                      <p:cBhvr>
                                        <p:cTn id="21" dur="500"/>
                                        <p:tgtEl>
                                          <p:spTgt spid="162822"/>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162820">
                                            <p:txEl>
                                              <p:charRg st="0" end="100"/>
                                            </p:txEl>
                                          </p:spTgt>
                                        </p:tgtEl>
                                        <p:attrNameLst>
                                          <p:attrName>style.visibility</p:attrName>
                                        </p:attrNameLst>
                                      </p:cBhvr>
                                      <p:to>
                                        <p:strVal val="visible"/>
                                      </p:to>
                                    </p:set>
                                    <p:animEffect transition="in" filter="box(out)">
                                      <p:cBhvr>
                                        <p:cTn id="26" dur="500"/>
                                        <p:tgtEl>
                                          <p:spTgt spid="162820">
                                            <p:txEl>
                                              <p:charRg st="0" end="10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advAuto="1000" build="p"/>
      <p:bldP spid="162820"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文本框 177153"/>
          <p:cNvSpPr txBox="1"/>
          <p:nvPr/>
        </p:nvSpPr>
        <p:spPr>
          <a:xfrm>
            <a:off x="1079500" y="304800"/>
            <a:ext cx="2197100" cy="579438"/>
          </a:xfrm>
          <a:prstGeom prst="rect">
            <a:avLst/>
          </a:prstGeom>
          <a:noFill/>
          <a:ln w="9525">
            <a:noFill/>
          </a:ln>
        </p:spPr>
        <p:txBody>
          <a:bodyPr>
            <a:spAutoFit/>
          </a:bodyPr>
          <a:p>
            <a:r>
              <a:rPr lang="zh-CN" altLang="en-US" sz="3200" dirty="0">
                <a:solidFill>
                  <a:srgbClr val="0000FF"/>
                </a:solidFill>
                <a:latin typeface="Times New Roman" panose="02020603050405020304" pitchFamily="18" charset="0"/>
                <a:ea typeface="黑体" panose="02010609060101010101" pitchFamily="2" charset="-122"/>
              </a:rPr>
              <a:t>思考题</a:t>
            </a:r>
            <a:endParaRPr lang="zh-CN" altLang="en-US" sz="3200">
              <a:solidFill>
                <a:srgbClr val="0000FF"/>
              </a:solidFill>
              <a:latin typeface="Times New Roman" panose="02020603050405020304" pitchFamily="18" charset="0"/>
              <a:ea typeface="黑体" panose="02010609060101010101" pitchFamily="2" charset="-122"/>
            </a:endParaRPr>
          </a:p>
        </p:txBody>
      </p:sp>
      <p:graphicFrame>
        <p:nvGraphicFramePr>
          <p:cNvPr id="177155" name="对象 177154"/>
          <p:cNvGraphicFramePr/>
          <p:nvPr/>
        </p:nvGraphicFramePr>
        <p:xfrm>
          <a:off x="3505200" y="457200"/>
          <a:ext cx="3529013" cy="2005013"/>
        </p:xfrm>
        <a:graphic>
          <a:graphicData uri="http://schemas.openxmlformats.org/presentationml/2006/ole">
            <mc:AlternateContent xmlns:mc="http://schemas.openxmlformats.org/markup-compatibility/2006">
              <mc:Choice xmlns:v="urn:schemas-microsoft-com:vml" Requires="v">
                <p:oleObj spid="_x0000_s3536" name="" r:id="rId1" imgW="3530600" imgH="2006600" progId="Equation.3">
                  <p:embed/>
                </p:oleObj>
              </mc:Choice>
              <mc:Fallback>
                <p:oleObj name="" r:id="rId1" imgW="3530600" imgH="2006600" progId="Equation.3">
                  <p:embed/>
                  <p:pic>
                    <p:nvPicPr>
                      <p:cNvPr id="0" name="图片 3535"/>
                      <p:cNvPicPr/>
                      <p:nvPr/>
                    </p:nvPicPr>
                    <p:blipFill>
                      <a:blip r:embed="rId2"/>
                      <a:stretch>
                        <a:fillRect/>
                      </a:stretch>
                    </p:blipFill>
                    <p:spPr>
                      <a:xfrm>
                        <a:off x="3505200" y="457200"/>
                        <a:ext cx="3529013" cy="2005013"/>
                      </a:xfrm>
                      <a:prstGeom prst="rect">
                        <a:avLst/>
                      </a:prstGeom>
                      <a:noFill/>
                      <a:ln w="38100">
                        <a:noFill/>
                        <a:miter/>
                      </a:ln>
                    </p:spPr>
                  </p:pic>
                </p:oleObj>
              </mc:Fallback>
            </mc:AlternateContent>
          </a:graphicData>
        </a:graphic>
      </p:graphicFrame>
      <p:sp>
        <p:nvSpPr>
          <p:cNvPr id="177156" name="文本框 177155"/>
          <p:cNvSpPr txBox="1"/>
          <p:nvPr/>
        </p:nvSpPr>
        <p:spPr>
          <a:xfrm>
            <a:off x="358775" y="2438400"/>
            <a:ext cx="8489950" cy="519113"/>
          </a:xfrm>
          <a:prstGeom prst="rect">
            <a:avLst/>
          </a:prstGeom>
          <a:noFill/>
          <a:ln w="9525">
            <a:noFill/>
          </a:ln>
        </p:spPr>
        <p:txBody>
          <a:bodyPr wrap="none" anchor="t" anchorCtr="0">
            <a:spAutoFit/>
          </a:bodyPr>
          <a:p>
            <a:r>
              <a:rPr lang="zh-CN" altLang="en-US" dirty="0">
                <a:latin typeface="Times New Roman" panose="02020603050405020304" pitchFamily="18" charset="0"/>
              </a:rPr>
              <a:t>求第一行各元素的代数余子式之和</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baseline="-25000">
                <a:latin typeface="Times New Roman" panose="02020603050405020304" pitchFamily="18" charset="0"/>
              </a:rPr>
              <a:t>11</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baseline="-25000">
                <a:latin typeface="Times New Roman" panose="02020603050405020304" pitchFamily="18" charset="0"/>
              </a:rPr>
              <a:t>12</a:t>
            </a:r>
            <a:r>
              <a:rPr lang="en-US" altLang="zh-CN">
                <a:latin typeface="Times New Roman" panose="02020603050405020304" pitchFamily="18" charset="0"/>
              </a:rPr>
              <a:t>+ ··· +</a:t>
            </a:r>
            <a:r>
              <a:rPr lang="en-US" altLang="zh-CN" i="1">
                <a:latin typeface="Times New Roman" panose="02020603050405020304" pitchFamily="18" charset="0"/>
              </a:rPr>
              <a:t>A</a:t>
            </a:r>
            <a:r>
              <a:rPr lang="en-US" altLang="zh-CN" baseline="-25000">
                <a:latin typeface="Times New Roman" panose="02020603050405020304" pitchFamily="18" charset="0"/>
              </a:rPr>
              <a:t>1</a:t>
            </a:r>
            <a:r>
              <a:rPr lang="en-US" altLang="zh-CN" i="1" baseline="-25000">
                <a:latin typeface="Times New Roman" panose="02020603050405020304" pitchFamily="18" charset="0"/>
              </a:rPr>
              <a:t>n </a:t>
            </a:r>
            <a:r>
              <a:rPr lang="en-US" altLang="zh-CN" i="1">
                <a:latin typeface="Times New Roman" panose="02020603050405020304" pitchFamily="18" charset="0"/>
              </a:rPr>
              <a:t>.</a:t>
            </a:r>
            <a:r>
              <a:rPr lang="en-US" altLang="zh-CN">
                <a:latin typeface="Times New Roman" panose="02020603050405020304" pitchFamily="18" charset="0"/>
              </a:rPr>
              <a:t> </a:t>
            </a:r>
            <a:endParaRPr lang="en-US" altLang="zh-CN">
              <a:latin typeface="Times New Roman" panose="02020603050405020304" pitchFamily="18" charset="0"/>
            </a:endParaRPr>
          </a:p>
        </p:txBody>
      </p:sp>
      <p:sp>
        <p:nvSpPr>
          <p:cNvPr id="177157" name="矩形 177156"/>
          <p:cNvSpPr/>
          <p:nvPr/>
        </p:nvSpPr>
        <p:spPr>
          <a:xfrm>
            <a:off x="1079500" y="1206500"/>
            <a:ext cx="2844800" cy="519113"/>
          </a:xfrm>
          <a:prstGeom prst="rect">
            <a:avLst/>
          </a:prstGeom>
          <a:noFill/>
          <a:ln w="9525">
            <a:noFill/>
          </a:ln>
        </p:spPr>
        <p:txBody>
          <a:bodyPr>
            <a:spAutoFit/>
          </a:bodyPr>
          <a:p>
            <a:r>
              <a:rPr lang="zh-CN" altLang="en-US" dirty="0">
                <a:latin typeface="Times New Roman" panose="02020603050405020304" pitchFamily="18" charset="0"/>
              </a:rPr>
              <a:t>设 </a:t>
            </a:r>
            <a:r>
              <a:rPr lang="en-US" altLang="zh-CN" i="1">
                <a:latin typeface="Times New Roman" panose="02020603050405020304" pitchFamily="18" charset="0"/>
              </a:rPr>
              <a:t>n </a:t>
            </a:r>
            <a:r>
              <a:rPr lang="zh-CN" altLang="en-US" dirty="0">
                <a:latin typeface="Times New Roman" panose="02020603050405020304" pitchFamily="18" charset="0"/>
              </a:rPr>
              <a:t>阶行列式</a:t>
            </a:r>
            <a:endParaRPr lang="zh-CN" altLang="en-US" dirty="0">
              <a:latin typeface="Times New Roman" panose="02020603050405020304" pitchFamily="18" charset="0"/>
            </a:endParaRPr>
          </a:p>
        </p:txBody>
      </p:sp>
      <p:sp>
        <p:nvSpPr>
          <p:cNvPr id="177158" name="文本框 177157"/>
          <p:cNvSpPr txBox="1"/>
          <p:nvPr/>
        </p:nvSpPr>
        <p:spPr>
          <a:xfrm>
            <a:off x="1079500" y="3243263"/>
            <a:ext cx="2224088" cy="579437"/>
          </a:xfrm>
          <a:prstGeom prst="rect">
            <a:avLst/>
          </a:prstGeom>
          <a:noFill/>
          <a:ln w="9525">
            <a:noFill/>
          </a:ln>
        </p:spPr>
        <p:txBody>
          <a:bodyPr wrap="none" anchor="t" anchorCtr="0">
            <a:spAutoFit/>
          </a:bodyPr>
          <a:p>
            <a:r>
              <a:rPr lang="zh-CN" altLang="en-US" sz="3200" dirty="0">
                <a:solidFill>
                  <a:srgbClr val="0000FF"/>
                </a:solidFill>
                <a:latin typeface="Times New Roman" panose="02020603050405020304" pitchFamily="18" charset="0"/>
                <a:ea typeface="黑体" panose="02010609060101010101" pitchFamily="2" charset="-122"/>
              </a:rPr>
              <a:t>思考题解答</a:t>
            </a:r>
            <a:endParaRPr lang="zh-CN" altLang="en-US" sz="3200">
              <a:solidFill>
                <a:srgbClr val="0000FF"/>
              </a:solidFill>
              <a:latin typeface="Times New Roman" panose="02020603050405020304" pitchFamily="18" charset="0"/>
              <a:ea typeface="黑体" panose="02010609060101010101" pitchFamily="2" charset="-122"/>
            </a:endParaRPr>
          </a:p>
        </p:txBody>
      </p:sp>
      <p:sp>
        <p:nvSpPr>
          <p:cNvPr id="177159" name="矩形 177158"/>
          <p:cNvSpPr/>
          <p:nvPr/>
        </p:nvSpPr>
        <p:spPr>
          <a:xfrm>
            <a:off x="1079500" y="3824288"/>
            <a:ext cx="7535863" cy="519112"/>
          </a:xfrm>
          <a:prstGeom prst="rect">
            <a:avLst/>
          </a:prstGeom>
          <a:noFill/>
          <a:ln w="9525">
            <a:noFill/>
          </a:ln>
        </p:spPr>
        <p:txBody>
          <a:bodyPr wrap="none" anchor="t" anchorCtr="0">
            <a:spAutoFit/>
          </a:bodyPr>
          <a:p>
            <a:r>
              <a:rPr lang="zh-CN" altLang="en-US" dirty="0">
                <a:solidFill>
                  <a:schemeClr val="hlink"/>
                </a:solidFill>
                <a:latin typeface="Times New Roman" panose="02020603050405020304" pitchFamily="18" charset="0"/>
                <a:ea typeface="黑体" panose="02010609060101010101" pitchFamily="2" charset="-122"/>
              </a:rPr>
              <a:t>解</a:t>
            </a:r>
            <a:r>
              <a:rPr lang="en-US" altLang="zh-CN">
                <a:solidFill>
                  <a:schemeClr val="hlink"/>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第一行各元素的代数余子式之和可以表示成</a:t>
            </a:r>
            <a:endParaRPr lang="zh-CN" altLang="en-US" dirty="0">
              <a:latin typeface="Times New Roman" panose="02020603050405020304" pitchFamily="18" charset="0"/>
            </a:endParaRPr>
          </a:p>
        </p:txBody>
      </p:sp>
      <p:graphicFrame>
        <p:nvGraphicFramePr>
          <p:cNvPr id="177160" name="对象 177159"/>
          <p:cNvGraphicFramePr/>
          <p:nvPr/>
        </p:nvGraphicFramePr>
        <p:xfrm>
          <a:off x="3581400" y="4394200"/>
          <a:ext cx="2755900" cy="2006600"/>
        </p:xfrm>
        <a:graphic>
          <a:graphicData uri="http://schemas.openxmlformats.org/presentationml/2006/ole">
            <mc:AlternateContent xmlns:mc="http://schemas.openxmlformats.org/markup-compatibility/2006">
              <mc:Choice xmlns:v="urn:schemas-microsoft-com:vml" Requires="v">
                <p:oleObj spid="_x0000_s3543" name="" r:id="rId3" imgW="2755900" imgH="2006600" progId="Equation.3">
                  <p:embed/>
                </p:oleObj>
              </mc:Choice>
              <mc:Fallback>
                <p:oleObj name="" r:id="rId3" imgW="2755900" imgH="2006600" progId="Equation.3">
                  <p:embed/>
                  <p:pic>
                    <p:nvPicPr>
                      <p:cNvPr id="0" name="图片 3542"/>
                      <p:cNvPicPr/>
                      <p:nvPr/>
                    </p:nvPicPr>
                    <p:blipFill>
                      <a:blip r:embed="rId4"/>
                      <a:stretch>
                        <a:fillRect/>
                      </a:stretch>
                    </p:blipFill>
                    <p:spPr>
                      <a:xfrm>
                        <a:off x="3581400" y="4394200"/>
                        <a:ext cx="2755900" cy="2006600"/>
                      </a:xfrm>
                      <a:prstGeom prst="rect">
                        <a:avLst/>
                      </a:prstGeom>
                      <a:noFill/>
                      <a:ln w="38100">
                        <a:noFill/>
                        <a:miter/>
                      </a:ln>
                    </p:spPr>
                  </p:pic>
                </p:oleObj>
              </mc:Fallback>
            </mc:AlternateContent>
          </a:graphicData>
        </a:graphic>
      </p:graphicFrame>
      <p:graphicFrame>
        <p:nvGraphicFramePr>
          <p:cNvPr id="177161" name="对象 177160"/>
          <p:cNvGraphicFramePr/>
          <p:nvPr/>
        </p:nvGraphicFramePr>
        <p:xfrm>
          <a:off x="6457950" y="4902200"/>
          <a:ext cx="2095500" cy="876300"/>
        </p:xfrm>
        <a:graphic>
          <a:graphicData uri="http://schemas.openxmlformats.org/presentationml/2006/ole">
            <mc:AlternateContent xmlns:mc="http://schemas.openxmlformats.org/markup-compatibility/2006">
              <mc:Choice xmlns:v="urn:schemas-microsoft-com:vml" Requires="v">
                <p:oleObj spid="_x0000_s3537" name="" r:id="rId5" imgW="2095500" imgH="876300" progId="Equation.3">
                  <p:embed/>
                </p:oleObj>
              </mc:Choice>
              <mc:Fallback>
                <p:oleObj name="" r:id="rId5" imgW="2095500" imgH="876300" progId="Equation.3">
                  <p:embed/>
                  <p:pic>
                    <p:nvPicPr>
                      <p:cNvPr id="0" name="图片 3536"/>
                      <p:cNvPicPr/>
                      <p:nvPr/>
                    </p:nvPicPr>
                    <p:blipFill>
                      <a:blip r:embed="rId6"/>
                      <a:stretch>
                        <a:fillRect/>
                      </a:stretch>
                    </p:blipFill>
                    <p:spPr>
                      <a:xfrm>
                        <a:off x="6457950" y="4902200"/>
                        <a:ext cx="2095500" cy="876300"/>
                      </a:xfrm>
                      <a:prstGeom prst="rect">
                        <a:avLst/>
                      </a:prstGeom>
                      <a:noFill/>
                      <a:ln w="38100">
                        <a:noFill/>
                        <a:miter/>
                      </a:ln>
                    </p:spPr>
                  </p:pic>
                </p:oleObj>
              </mc:Fallback>
            </mc:AlternateContent>
          </a:graphicData>
        </a:graphic>
      </p:graphicFrame>
      <p:sp>
        <p:nvSpPr>
          <p:cNvPr id="177162" name="矩形 177161"/>
          <p:cNvSpPr/>
          <p:nvPr/>
        </p:nvSpPr>
        <p:spPr>
          <a:xfrm>
            <a:off x="971550" y="5119688"/>
            <a:ext cx="2686050" cy="519112"/>
          </a:xfrm>
          <a:prstGeom prst="rect">
            <a:avLst/>
          </a:prstGeom>
          <a:noFill/>
          <a:ln w="9525">
            <a:noFill/>
          </a:ln>
        </p:spPr>
        <p:txBody>
          <a:bodyPr wrap="none" anchor="t" anchorCtr="0">
            <a:spAutoFit/>
          </a:bodyPr>
          <a:p>
            <a:r>
              <a:rPr lang="en-US" altLang="zh-CN" i="1">
                <a:latin typeface="Times New Roman" panose="02020603050405020304" pitchFamily="18" charset="0"/>
              </a:rPr>
              <a:t>A</a:t>
            </a:r>
            <a:r>
              <a:rPr lang="en-US" altLang="zh-CN" baseline="-25000">
                <a:latin typeface="Times New Roman" panose="02020603050405020304" pitchFamily="18" charset="0"/>
              </a:rPr>
              <a:t>11</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baseline="-25000">
                <a:latin typeface="Times New Roman" panose="02020603050405020304" pitchFamily="18" charset="0"/>
              </a:rPr>
              <a:t>12</a:t>
            </a:r>
            <a:r>
              <a:rPr lang="en-US" altLang="zh-CN">
                <a:latin typeface="Times New Roman" panose="02020603050405020304" pitchFamily="18" charset="0"/>
              </a:rPr>
              <a:t>+ ··· +</a:t>
            </a:r>
            <a:r>
              <a:rPr lang="en-US" altLang="zh-CN" i="1">
                <a:latin typeface="Times New Roman" panose="02020603050405020304" pitchFamily="18" charset="0"/>
              </a:rPr>
              <a:t>A</a:t>
            </a:r>
            <a:r>
              <a:rPr lang="en-US" altLang="zh-CN" baseline="-25000">
                <a:latin typeface="Times New Roman" panose="02020603050405020304" pitchFamily="18" charset="0"/>
              </a:rPr>
              <a:t>1</a:t>
            </a:r>
            <a:r>
              <a:rPr lang="en-US" altLang="zh-CN" i="1" baseline="-25000">
                <a:latin typeface="Times New Roman" panose="02020603050405020304" pitchFamily="18" charset="0"/>
              </a:rPr>
              <a:t>n</a:t>
            </a:r>
            <a:endParaRPr lang="en-US" altLang="zh-CN" i="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77154">
                                            <p:txEl>
                                              <p:charRg st="0" end="4"/>
                                            </p:txEl>
                                          </p:spTgt>
                                        </p:tgtEl>
                                        <p:attrNameLst>
                                          <p:attrName>style.visibility</p:attrName>
                                        </p:attrNameLst>
                                      </p:cBhvr>
                                      <p:to>
                                        <p:strVal val="visible"/>
                                      </p:to>
                                    </p:set>
                                    <p:animEffect transition="in" filter="box(out)">
                                      <p:cBhvr>
                                        <p:cTn id="7" dur="500"/>
                                        <p:tgtEl>
                                          <p:spTgt spid="177154">
                                            <p:txEl>
                                              <p:charRg st="0" end="4"/>
                                            </p:txEl>
                                          </p:spTgt>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77157">
                                            <p:txEl>
                                              <p:charRg st="0" end="9"/>
                                            </p:txEl>
                                          </p:spTgt>
                                        </p:tgtEl>
                                        <p:attrNameLst>
                                          <p:attrName>style.visibility</p:attrName>
                                        </p:attrNameLst>
                                      </p:cBhvr>
                                      <p:to>
                                        <p:strVal val="visible"/>
                                      </p:to>
                                    </p:set>
                                    <p:animEffect transition="in" filter="box(out)">
                                      <p:cBhvr>
                                        <p:cTn id="11" dur="500"/>
                                        <p:tgtEl>
                                          <p:spTgt spid="177157">
                                            <p:txEl>
                                              <p:charRg st="0" end="9"/>
                                            </p:txEl>
                                          </p:spTgt>
                                        </p:tgtEl>
                                      </p:cBhvr>
                                    </p:animEffect>
                                  </p:childTnLst>
                                </p:cTn>
                              </p:par>
                            </p:childTnLst>
                          </p:cTn>
                        </p:par>
                        <p:par>
                          <p:cTn id="12" fill="hold">
                            <p:stCondLst>
                              <p:cond delay="1000"/>
                            </p:stCondLst>
                            <p:childTnLst>
                              <p:par>
                                <p:cTn id="13" presetID="4" presetClass="entr" presetSubtype="32" fill="hold" nodeType="afterEffect">
                                  <p:stCondLst>
                                    <p:cond delay="0"/>
                                  </p:stCondLst>
                                  <p:childTnLst>
                                    <p:set>
                                      <p:cBhvr>
                                        <p:cTn id="14" dur="1" fill="hold">
                                          <p:stCondLst>
                                            <p:cond delay="0"/>
                                          </p:stCondLst>
                                        </p:cTn>
                                        <p:tgtEl>
                                          <p:spTgt spid="177155"/>
                                        </p:tgtEl>
                                        <p:attrNameLst>
                                          <p:attrName>style.visibility</p:attrName>
                                        </p:attrNameLst>
                                      </p:cBhvr>
                                      <p:to>
                                        <p:strVal val="visible"/>
                                      </p:to>
                                    </p:set>
                                    <p:animEffect transition="in" filter="box(out)">
                                      <p:cBhvr>
                                        <p:cTn id="15" dur="500"/>
                                        <p:tgtEl>
                                          <p:spTgt spid="177155"/>
                                        </p:tgtEl>
                                      </p:cBhvr>
                                    </p:animEffect>
                                  </p:childTnLst>
                                </p:cTn>
                              </p:par>
                            </p:childTnLst>
                          </p:cTn>
                        </p:par>
                        <p:par>
                          <p:cTn id="16" fill="hold">
                            <p:stCondLst>
                              <p:cond delay="1500"/>
                            </p:stCondLst>
                            <p:childTnLst>
                              <p:par>
                                <p:cTn id="17" presetID="4" presetClass="entr" presetSubtype="32" fill="hold" grpId="0" nodeType="afterEffect">
                                  <p:stCondLst>
                                    <p:cond delay="0"/>
                                  </p:stCondLst>
                                  <p:childTnLst>
                                    <p:set>
                                      <p:cBhvr>
                                        <p:cTn id="18" dur="1" fill="hold">
                                          <p:stCondLst>
                                            <p:cond delay="0"/>
                                          </p:stCondLst>
                                        </p:cTn>
                                        <p:tgtEl>
                                          <p:spTgt spid="177156">
                                            <p:txEl>
                                              <p:charRg st="0" end="38"/>
                                            </p:txEl>
                                          </p:spTgt>
                                        </p:tgtEl>
                                        <p:attrNameLst>
                                          <p:attrName>style.visibility</p:attrName>
                                        </p:attrNameLst>
                                      </p:cBhvr>
                                      <p:to>
                                        <p:strVal val="visible"/>
                                      </p:to>
                                    </p:set>
                                    <p:animEffect transition="in" filter="box(out)">
                                      <p:cBhvr>
                                        <p:cTn id="19" dur="500"/>
                                        <p:tgtEl>
                                          <p:spTgt spid="177156">
                                            <p:txEl>
                                              <p:charRg st="0" end="38"/>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77158">
                                            <p:txEl>
                                              <p:charRg st="0" end="6"/>
                                            </p:txEl>
                                          </p:spTgt>
                                        </p:tgtEl>
                                        <p:attrNameLst>
                                          <p:attrName>style.visibility</p:attrName>
                                        </p:attrNameLst>
                                      </p:cBhvr>
                                      <p:to>
                                        <p:strVal val="visible"/>
                                      </p:to>
                                    </p:set>
                                    <p:animEffect transition="in" filter="box(out)">
                                      <p:cBhvr>
                                        <p:cTn id="24" dur="500"/>
                                        <p:tgtEl>
                                          <p:spTgt spid="177158">
                                            <p:txEl>
                                              <p:charRg st="0"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77159">
                                            <p:txEl>
                                              <p:charRg st="0" end="23"/>
                                            </p:txEl>
                                          </p:spTgt>
                                        </p:tgtEl>
                                        <p:attrNameLst>
                                          <p:attrName>style.visibility</p:attrName>
                                        </p:attrNameLst>
                                      </p:cBhvr>
                                      <p:to>
                                        <p:strVal val="visible"/>
                                      </p:to>
                                    </p:set>
                                    <p:animEffect transition="in" filter="box(out)">
                                      <p:cBhvr>
                                        <p:cTn id="29" dur="500"/>
                                        <p:tgtEl>
                                          <p:spTgt spid="177159">
                                            <p:txEl>
                                              <p:charRg st="0" end="23"/>
                                            </p:txEl>
                                          </p:spTgt>
                                        </p:tgtEl>
                                      </p:cBhvr>
                                    </p:animEffect>
                                  </p:childTnLst>
                                </p:cTn>
                              </p:par>
                            </p:childTnLst>
                          </p:cTn>
                        </p:par>
                        <p:par>
                          <p:cTn id="30" fill="hold">
                            <p:stCondLst>
                              <p:cond delay="500"/>
                            </p:stCondLst>
                            <p:childTnLst>
                              <p:par>
                                <p:cTn id="31" presetID="4" presetClass="entr" presetSubtype="32" fill="hold" grpId="0" nodeType="afterEffect">
                                  <p:stCondLst>
                                    <p:cond delay="0"/>
                                  </p:stCondLst>
                                  <p:childTnLst>
                                    <p:set>
                                      <p:cBhvr>
                                        <p:cTn id="32" dur="1" fill="hold">
                                          <p:stCondLst>
                                            <p:cond delay="0"/>
                                          </p:stCondLst>
                                        </p:cTn>
                                        <p:tgtEl>
                                          <p:spTgt spid="177162">
                                            <p:txEl>
                                              <p:charRg st="0" end="18"/>
                                            </p:txEl>
                                          </p:spTgt>
                                        </p:tgtEl>
                                        <p:attrNameLst>
                                          <p:attrName>style.visibility</p:attrName>
                                        </p:attrNameLst>
                                      </p:cBhvr>
                                      <p:to>
                                        <p:strVal val="visible"/>
                                      </p:to>
                                    </p:set>
                                    <p:animEffect transition="in" filter="box(out)">
                                      <p:cBhvr>
                                        <p:cTn id="33" dur="500"/>
                                        <p:tgtEl>
                                          <p:spTgt spid="177162">
                                            <p:txEl>
                                              <p:charRg st="0" end="18"/>
                                            </p:txEl>
                                          </p:spTgt>
                                        </p:tgtEl>
                                      </p:cBhvr>
                                    </p:animEffect>
                                  </p:childTnLst>
                                </p:cTn>
                              </p:par>
                            </p:childTnLst>
                          </p:cTn>
                        </p:par>
                        <p:par>
                          <p:cTn id="34" fill="hold">
                            <p:stCondLst>
                              <p:cond delay="1000"/>
                            </p:stCondLst>
                            <p:childTnLst>
                              <p:par>
                                <p:cTn id="35" presetID="4" presetClass="entr" presetSubtype="32" fill="hold" nodeType="afterEffect">
                                  <p:stCondLst>
                                    <p:cond delay="0"/>
                                  </p:stCondLst>
                                  <p:childTnLst>
                                    <p:set>
                                      <p:cBhvr>
                                        <p:cTn id="36" dur="1" fill="hold">
                                          <p:stCondLst>
                                            <p:cond delay="0"/>
                                          </p:stCondLst>
                                        </p:cTn>
                                        <p:tgtEl>
                                          <p:spTgt spid="177160"/>
                                        </p:tgtEl>
                                        <p:attrNameLst>
                                          <p:attrName>style.visibility</p:attrName>
                                        </p:attrNameLst>
                                      </p:cBhvr>
                                      <p:to>
                                        <p:strVal val="visible"/>
                                      </p:to>
                                    </p:set>
                                    <p:animEffect transition="in" filter="box(out)">
                                      <p:cBhvr>
                                        <p:cTn id="37" dur="500"/>
                                        <p:tgtEl>
                                          <p:spTgt spid="177160"/>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177161"/>
                                        </p:tgtEl>
                                        <p:attrNameLst>
                                          <p:attrName>style.visibility</p:attrName>
                                        </p:attrNameLst>
                                      </p:cBhvr>
                                      <p:to>
                                        <p:strVal val="visible"/>
                                      </p:to>
                                    </p:set>
                                    <p:animEffect transition="in" filter="box(out)">
                                      <p:cBhvr>
                                        <p:cTn id="42" dur="500"/>
                                        <p:tgtEl>
                                          <p:spTgt spid="1771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advAuto="1000" build="p"/>
      <p:bldP spid="177156" grpId="0" advAuto="1000" build="p"/>
      <p:bldP spid="177157" grpId="0" advAuto="1000" build="p"/>
      <p:bldP spid="177158" grpId="0" build="p"/>
      <p:bldP spid="177159" grpId="0" build="p"/>
      <p:bldP spid="177162" grpId="0" advAuto="100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矩形 178177"/>
          <p:cNvSpPr/>
          <p:nvPr/>
        </p:nvSpPr>
        <p:spPr>
          <a:xfrm>
            <a:off x="1524000" y="228600"/>
            <a:ext cx="6320155" cy="706755"/>
          </a:xfrm>
          <a:prstGeom prst="rect">
            <a:avLst/>
          </a:prstGeom>
          <a:noFill/>
          <a:ln w="9525">
            <a:noFill/>
          </a:ln>
        </p:spPr>
        <p:txBody>
          <a:bodyPr wrap="none" anchor="t" anchorCtr="0">
            <a:spAutoFit/>
          </a:bodyPr>
          <a:p>
            <a:r>
              <a:rPr lang="zh-CN" altLang="en-US" sz="4000">
                <a:solidFill>
                  <a:srgbClr val="FF0000"/>
                </a:solidFill>
                <a:latin typeface="Times New Roman" panose="02020603050405020304" pitchFamily="18" charset="0"/>
                <a:ea typeface="黑体" panose="02010609060101010101" pitchFamily="2" charset="-122"/>
              </a:rPr>
              <a:t>§</a:t>
            </a:r>
            <a:r>
              <a:rPr lang="en-US" altLang="zh-CN" sz="4000">
                <a:solidFill>
                  <a:srgbClr val="FF0000"/>
                </a:solidFill>
                <a:latin typeface="Times New Roman" panose="02020603050405020304" pitchFamily="18" charset="0"/>
                <a:ea typeface="黑体" panose="02010609060101010101" pitchFamily="2" charset="-122"/>
              </a:rPr>
              <a:t>1.4  </a:t>
            </a:r>
            <a:r>
              <a:rPr lang="zh-CN" altLang="en-US" sz="4000" dirty="0">
                <a:solidFill>
                  <a:srgbClr val="FF0000"/>
                </a:solidFill>
                <a:latin typeface="Times New Roman" panose="02020603050405020304" pitchFamily="18" charset="0"/>
                <a:ea typeface="黑体" panose="02010609060101010101" pitchFamily="2" charset="-122"/>
              </a:rPr>
              <a:t>克拉默</a:t>
            </a:r>
            <a:r>
              <a:rPr lang="en-US" altLang="zh-CN" sz="4000">
                <a:solidFill>
                  <a:srgbClr val="FF0000"/>
                </a:solidFill>
                <a:latin typeface="Times New Roman" panose="02020603050405020304" pitchFamily="18" charset="0"/>
                <a:ea typeface="黑体" panose="02010609060101010101" pitchFamily="2" charset="-122"/>
              </a:rPr>
              <a:t>(Cramer)</a:t>
            </a:r>
            <a:r>
              <a:rPr lang="zh-CN" altLang="en-US" sz="4000" dirty="0">
                <a:solidFill>
                  <a:srgbClr val="FF0000"/>
                </a:solidFill>
                <a:latin typeface="Times New Roman" panose="02020603050405020304" pitchFamily="18" charset="0"/>
                <a:ea typeface="黑体" panose="02010609060101010101" pitchFamily="2" charset="-122"/>
              </a:rPr>
              <a:t>法则 </a:t>
            </a:r>
            <a:endParaRPr lang="zh-CN" altLang="en-US" sz="4000" dirty="0">
              <a:solidFill>
                <a:srgbClr val="FF0000"/>
              </a:solidFill>
              <a:latin typeface="Times New Roman" panose="02020603050405020304" pitchFamily="18" charset="0"/>
              <a:ea typeface="黑体" panose="02010609060101010101" pitchFamily="2" charset="-122"/>
            </a:endParaRPr>
          </a:p>
        </p:txBody>
      </p:sp>
      <p:graphicFrame>
        <p:nvGraphicFramePr>
          <p:cNvPr id="178179" name="对象 178178"/>
          <p:cNvGraphicFramePr/>
          <p:nvPr/>
        </p:nvGraphicFramePr>
        <p:xfrm>
          <a:off x="3203575" y="1125538"/>
          <a:ext cx="4616450" cy="1651000"/>
        </p:xfrm>
        <a:graphic>
          <a:graphicData uri="http://schemas.openxmlformats.org/presentationml/2006/ole">
            <mc:AlternateContent xmlns:mc="http://schemas.openxmlformats.org/markup-compatibility/2006">
              <mc:Choice xmlns:v="urn:schemas-microsoft-com:vml" Requires="v">
                <p:oleObj spid="_x0000_s3542" name="" r:id="rId1" imgW="4826000" imgH="1727200" progId="Equation.3">
                  <p:embed/>
                </p:oleObj>
              </mc:Choice>
              <mc:Fallback>
                <p:oleObj name="" r:id="rId1" imgW="4826000" imgH="1727200" progId="Equation.3">
                  <p:embed/>
                  <p:pic>
                    <p:nvPicPr>
                      <p:cNvPr id="0" name="图片 3541"/>
                      <p:cNvPicPr/>
                      <p:nvPr/>
                    </p:nvPicPr>
                    <p:blipFill>
                      <a:blip r:embed="rId2"/>
                      <a:stretch>
                        <a:fillRect/>
                      </a:stretch>
                    </p:blipFill>
                    <p:spPr>
                      <a:xfrm>
                        <a:off x="3203575" y="1125538"/>
                        <a:ext cx="4616450" cy="1651000"/>
                      </a:xfrm>
                      <a:prstGeom prst="rect">
                        <a:avLst/>
                      </a:prstGeom>
                      <a:noFill/>
                      <a:ln w="38100">
                        <a:noFill/>
                        <a:miter/>
                      </a:ln>
                    </p:spPr>
                  </p:pic>
                </p:oleObj>
              </mc:Fallback>
            </mc:AlternateContent>
          </a:graphicData>
        </a:graphic>
      </p:graphicFrame>
      <p:sp>
        <p:nvSpPr>
          <p:cNvPr id="178180" name="矩形 178179"/>
          <p:cNvSpPr/>
          <p:nvPr/>
        </p:nvSpPr>
        <p:spPr>
          <a:xfrm>
            <a:off x="755333" y="1340168"/>
            <a:ext cx="2327910" cy="953135"/>
          </a:xfrm>
          <a:prstGeom prst="rect">
            <a:avLst/>
          </a:prstGeom>
          <a:noFill/>
          <a:ln w="9525">
            <a:noFill/>
          </a:ln>
        </p:spPr>
        <p:txBody>
          <a:bodyPr wrap="none" anchor="t" anchorCtr="0">
            <a:spAutoFit/>
          </a:bodyPr>
          <a:p>
            <a:r>
              <a:rPr lang="zh-CN" altLang="en-US" dirty="0">
                <a:solidFill>
                  <a:srgbClr val="FF3300"/>
                </a:solidFill>
                <a:latin typeface="Times New Roman" panose="02020603050405020304" pitchFamily="18" charset="0"/>
              </a:rPr>
              <a:t>定义</a:t>
            </a:r>
            <a:r>
              <a:rPr lang="en-US" altLang="zh-CN" dirty="0">
                <a:solidFill>
                  <a:srgbClr val="FF3300"/>
                </a:solidFill>
                <a:latin typeface="Times New Roman" panose="02020603050405020304" pitchFamily="18" charset="0"/>
              </a:rPr>
              <a:t>1.4.1</a:t>
            </a:r>
            <a:endParaRPr lang="en-US" altLang="zh-CN" dirty="0">
              <a:solidFill>
                <a:srgbClr val="FF3300"/>
              </a:solidFill>
              <a:latin typeface="Times New Roman" panose="02020603050405020304" pitchFamily="18" charset="0"/>
            </a:endParaRPr>
          </a:p>
          <a:p>
            <a:r>
              <a:rPr lang="zh-CN" altLang="en-US" dirty="0">
                <a:latin typeface="Times New Roman" panose="02020603050405020304" pitchFamily="18" charset="0"/>
              </a:rPr>
              <a:t>设线性方程组</a:t>
            </a:r>
            <a:endParaRPr lang="zh-CN" altLang="en-US" dirty="0">
              <a:latin typeface="Times New Roman" panose="02020603050405020304" pitchFamily="18" charset="0"/>
            </a:endParaRPr>
          </a:p>
        </p:txBody>
      </p:sp>
      <p:sp>
        <p:nvSpPr>
          <p:cNvPr id="178181" name="矩形 178180"/>
          <p:cNvSpPr/>
          <p:nvPr/>
        </p:nvSpPr>
        <p:spPr>
          <a:xfrm>
            <a:off x="250825" y="2873375"/>
            <a:ext cx="8456930" cy="2625725"/>
          </a:xfrm>
          <a:prstGeom prst="rect">
            <a:avLst/>
          </a:prstGeom>
          <a:noFill/>
          <a:ln w="9525">
            <a:noFill/>
          </a:ln>
        </p:spPr>
        <p:txBody>
          <a:bodyPr anchor="t" anchorCtr="0">
            <a:noAutofit/>
          </a:bodyPr>
          <a:p>
            <a:pPr>
              <a:lnSpc>
                <a:spcPct val="150000"/>
              </a:lnSpc>
            </a:pPr>
            <a:r>
              <a:rPr lang="en-US" altLang="zh-CN" dirty="0">
                <a:latin typeface="Times New Roman" panose="02020603050405020304" pitchFamily="18" charset="0"/>
              </a:rPr>
              <a:t>      </a:t>
            </a:r>
            <a:r>
              <a:rPr lang="zh-CN" altLang="en-US" dirty="0">
                <a:latin typeface="Times New Roman" panose="02020603050405020304" pitchFamily="18" charset="0"/>
              </a:rPr>
              <a:t>若常数项</a:t>
            </a:r>
            <a:r>
              <a:rPr lang="en-US" altLang="zh-CN" i="1">
                <a:latin typeface="Times New Roman" panose="02020603050405020304" pitchFamily="18" charset="0"/>
              </a:rPr>
              <a:t>b</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baseline="-25000">
                <a:latin typeface="Times New Roman" panose="02020603050405020304" pitchFamily="18" charset="0"/>
              </a:rPr>
              <a:t>2</a:t>
            </a:r>
            <a:r>
              <a:rPr lang="en-US" altLang="zh-CN">
                <a:latin typeface="Times New Roman" panose="02020603050405020304" pitchFamily="18" charset="0"/>
              </a:rPr>
              <a:t>, ···, </a:t>
            </a:r>
            <a:r>
              <a:rPr lang="en-US" altLang="zh-CN" i="1" err="1">
                <a:latin typeface="Times New Roman" panose="02020603050405020304" pitchFamily="18" charset="0"/>
              </a:rPr>
              <a:t>b</a:t>
            </a:r>
            <a:r>
              <a:rPr lang="en-US" altLang="zh-CN" i="1" baseline="-25000" err="1">
                <a:latin typeface="Times New Roman" panose="02020603050405020304" pitchFamily="18" charset="0"/>
              </a:rPr>
              <a:t>n</a:t>
            </a:r>
            <a:r>
              <a:rPr lang="zh-CN" altLang="en-US" dirty="0">
                <a:latin typeface="Times New Roman" panose="02020603050405020304" pitchFamily="18" charset="0"/>
              </a:rPr>
              <a:t>不全为零</a:t>
            </a:r>
            <a:r>
              <a:rPr lang="en-US" altLang="zh-CN">
                <a:latin typeface="Times New Roman" panose="02020603050405020304" pitchFamily="18" charset="0"/>
              </a:rPr>
              <a:t>, </a:t>
            </a:r>
            <a:r>
              <a:rPr lang="zh-CN" altLang="en-US" dirty="0">
                <a:latin typeface="Times New Roman" panose="02020603050405020304" pitchFamily="18" charset="0"/>
              </a:rPr>
              <a:t>称此方程组为</a:t>
            </a:r>
            <a:r>
              <a:rPr lang="zh-CN" altLang="en-US" dirty="0">
                <a:solidFill>
                  <a:srgbClr val="FF3300"/>
                </a:solidFill>
                <a:latin typeface="Times New Roman" panose="02020603050405020304" pitchFamily="18" charset="0"/>
                <a:ea typeface="黑体" panose="02010609060101010101" pitchFamily="2" charset="-122"/>
              </a:rPr>
              <a:t>非齐次线性方程组</a:t>
            </a:r>
            <a:r>
              <a:rPr lang="en-US" altLang="zh-CN">
                <a:latin typeface="Times New Roman" panose="02020603050405020304" pitchFamily="18" charset="0"/>
              </a:rPr>
              <a:t>; </a:t>
            </a:r>
            <a:endParaRPr lang="en-US" altLang="zh-CN">
              <a:latin typeface="Times New Roman" panose="02020603050405020304" pitchFamily="18" charset="0"/>
            </a:endParaRPr>
          </a:p>
          <a:p>
            <a:pPr>
              <a:lnSpc>
                <a:spcPct val="150000"/>
              </a:lnSpc>
            </a:pPr>
            <a:r>
              <a:rPr lang="en-US" altLang="zh-CN">
                <a:latin typeface="Times New Roman" panose="02020603050405020304" pitchFamily="18" charset="0"/>
              </a:rPr>
              <a:t>      </a:t>
            </a:r>
            <a:r>
              <a:rPr lang="zh-CN" altLang="en-US" dirty="0">
                <a:latin typeface="Times New Roman" panose="02020603050405020304" pitchFamily="18" charset="0"/>
              </a:rPr>
              <a:t>若常数项</a:t>
            </a:r>
            <a:r>
              <a:rPr lang="en-US" altLang="zh-CN" i="1">
                <a:latin typeface="Times New Roman" panose="02020603050405020304" pitchFamily="18" charset="0"/>
              </a:rPr>
              <a:t>b</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baseline="-25000">
                <a:latin typeface="Times New Roman" panose="02020603050405020304" pitchFamily="18" charset="0"/>
              </a:rPr>
              <a:t>2</a:t>
            </a:r>
            <a:r>
              <a:rPr lang="en-US" altLang="zh-CN">
                <a:latin typeface="Times New Roman" panose="02020603050405020304" pitchFamily="18" charset="0"/>
              </a:rPr>
              <a:t>, ···, </a:t>
            </a:r>
            <a:r>
              <a:rPr lang="en-US" altLang="zh-CN" i="1" err="1">
                <a:latin typeface="Times New Roman" panose="02020603050405020304" pitchFamily="18" charset="0"/>
              </a:rPr>
              <a:t>b</a:t>
            </a:r>
            <a:r>
              <a:rPr lang="en-US" altLang="zh-CN" i="1" baseline="-25000" err="1">
                <a:latin typeface="Times New Roman" panose="02020603050405020304" pitchFamily="18" charset="0"/>
              </a:rPr>
              <a:t>n</a:t>
            </a:r>
            <a:r>
              <a:rPr lang="zh-CN" altLang="en-US" dirty="0">
                <a:latin typeface="Times New Roman" panose="02020603050405020304" pitchFamily="18" charset="0"/>
              </a:rPr>
              <a:t>全为零</a:t>
            </a:r>
            <a:r>
              <a:rPr lang="en-US" altLang="zh-CN">
                <a:latin typeface="Times New Roman" panose="02020603050405020304" pitchFamily="18" charset="0"/>
              </a:rPr>
              <a:t>, </a:t>
            </a:r>
            <a:r>
              <a:rPr lang="zh-CN" altLang="en-US" dirty="0">
                <a:latin typeface="Times New Roman" panose="02020603050405020304" pitchFamily="18" charset="0"/>
              </a:rPr>
              <a:t>称此方程组为</a:t>
            </a:r>
            <a:r>
              <a:rPr lang="zh-CN" altLang="en-US" dirty="0">
                <a:solidFill>
                  <a:srgbClr val="FF3300"/>
                </a:solidFill>
                <a:latin typeface="Times New Roman" panose="02020603050405020304" pitchFamily="18" charset="0"/>
                <a:ea typeface="黑体" panose="02010609060101010101" pitchFamily="2" charset="-122"/>
              </a:rPr>
              <a:t>齐次线性方程组</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78182" name="文本框 178181"/>
          <p:cNvSpPr txBox="1"/>
          <p:nvPr/>
        </p:nvSpPr>
        <p:spPr>
          <a:xfrm>
            <a:off x="8162925" y="1447800"/>
            <a:ext cx="600075" cy="519113"/>
          </a:xfrm>
          <a:prstGeom prst="rect">
            <a:avLst/>
          </a:prstGeom>
          <a:noFill/>
          <a:ln w="9525">
            <a:noFill/>
          </a:ln>
        </p:spPr>
        <p:txBody>
          <a:bodyPr wrap="none" anchor="t" anchorCtr="0">
            <a:spAutoFit/>
          </a:bodyPr>
          <a:p>
            <a:r>
              <a:rPr lang="en-US" altLang="zh-CN">
                <a:latin typeface="Times New Roman" panose="02020603050405020304" pitchFamily="18" charset="0"/>
              </a:rPr>
              <a:t>(1)</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1" nodeType="clickEffect">
                                  <p:stCondLst>
                                    <p:cond delay="0"/>
                                  </p:stCondLst>
                                  <p:childTnLst>
                                    <p:set>
                                      <p:cBhvr>
                                        <p:cTn id="6" dur="1" fill="hold">
                                          <p:stCondLst>
                                            <p:cond delay="0"/>
                                          </p:stCondLst>
                                        </p:cTn>
                                        <p:tgtEl>
                                          <p:spTgt spid="178180">
                                            <p:txEl>
                                              <p:pRg st="0" end="0"/>
                                            </p:txEl>
                                          </p:spTgt>
                                        </p:tgtEl>
                                        <p:attrNameLst>
                                          <p:attrName>style.visibility</p:attrName>
                                        </p:attrNameLst>
                                      </p:cBhvr>
                                      <p:to>
                                        <p:strVal val="visible"/>
                                      </p:to>
                                    </p:set>
                                    <p:animEffect transition="in" filter="wipe(down)">
                                      <p:cBhvr>
                                        <p:cTn id="7" dur="500"/>
                                        <p:tgtEl>
                                          <p:spTgt spid="178180">
                                            <p:txEl>
                                              <p:pRg st="0" end="0"/>
                                            </p:txEl>
                                          </p:spTgt>
                                        </p:tgtEl>
                                      </p:cBhvr>
                                    </p:animEffect>
                                  </p:childTnLst>
                                </p:cTn>
                              </p:par>
                              <p:par>
                                <p:cTn id="8" presetID="22" presetClass="entr" presetSubtype="4" fill="hold" grpId="1" nodeType="withEffect">
                                  <p:stCondLst>
                                    <p:cond delay="0"/>
                                  </p:stCondLst>
                                  <p:childTnLst>
                                    <p:set>
                                      <p:cBhvr>
                                        <p:cTn id="9" dur="1" fill="hold">
                                          <p:stCondLst>
                                            <p:cond delay="0"/>
                                          </p:stCondLst>
                                        </p:cTn>
                                        <p:tgtEl>
                                          <p:spTgt spid="178180">
                                            <p:txEl>
                                              <p:pRg st="1" end="1"/>
                                            </p:txEl>
                                          </p:spTgt>
                                        </p:tgtEl>
                                        <p:attrNameLst>
                                          <p:attrName>style.visibility</p:attrName>
                                        </p:attrNameLst>
                                      </p:cBhvr>
                                      <p:to>
                                        <p:strVal val="visible"/>
                                      </p:to>
                                    </p:set>
                                    <p:animEffect transition="in" filter="wipe(down)">
                                      <p:cBhvr>
                                        <p:cTn id="10" dur="500"/>
                                        <p:tgtEl>
                                          <p:spTgt spid="178180">
                                            <p:txEl>
                                              <p:pRg st="1" end="1"/>
                                            </p:txEl>
                                          </p:spTgt>
                                        </p:tgtEl>
                                      </p:cBhvr>
                                    </p:animEffect>
                                  </p:childTnLst>
                                </p:cTn>
                              </p:par>
                            </p:childTnLst>
                          </p:cTn>
                        </p:par>
                        <p:par>
                          <p:cTn id="11" fill="hold">
                            <p:stCondLst>
                              <p:cond delay="500"/>
                            </p:stCondLst>
                            <p:childTnLst>
                              <p:par>
                                <p:cTn id="12" presetID="4" presetClass="entr" presetSubtype="32" fill="hold" nodeType="afterEffect">
                                  <p:stCondLst>
                                    <p:cond delay="0"/>
                                  </p:stCondLst>
                                  <p:childTnLst>
                                    <p:set>
                                      <p:cBhvr>
                                        <p:cTn id="13" dur="1" fill="hold">
                                          <p:stCondLst>
                                            <p:cond delay="0"/>
                                          </p:stCondLst>
                                        </p:cTn>
                                        <p:tgtEl>
                                          <p:spTgt spid="178179"/>
                                        </p:tgtEl>
                                        <p:attrNameLst>
                                          <p:attrName>style.visibility</p:attrName>
                                        </p:attrNameLst>
                                      </p:cBhvr>
                                      <p:to>
                                        <p:strVal val="visible"/>
                                      </p:to>
                                    </p:set>
                                    <p:animEffect transition="in" filter="box(out)">
                                      <p:cBhvr>
                                        <p:cTn id="14" dur="500"/>
                                        <p:tgtEl>
                                          <p:spTgt spid="178179"/>
                                        </p:tgtEl>
                                      </p:cBhvr>
                                    </p:animEffect>
                                  </p:childTnLst>
                                </p:cTn>
                              </p:par>
                            </p:childTnLst>
                          </p:cTn>
                        </p:par>
                        <p:par>
                          <p:cTn id="15" fill="hold">
                            <p:stCondLst>
                              <p:cond delay="1000"/>
                            </p:stCondLst>
                            <p:childTnLst>
                              <p:par>
                                <p:cTn id="16" presetID="4" presetClass="entr" presetSubtype="32" fill="hold" grpId="0" nodeType="afterEffect">
                                  <p:stCondLst>
                                    <p:cond delay="0"/>
                                  </p:stCondLst>
                                  <p:childTnLst>
                                    <p:set>
                                      <p:cBhvr>
                                        <p:cTn id="17" dur="1" fill="hold">
                                          <p:stCondLst>
                                            <p:cond delay="0"/>
                                          </p:stCondLst>
                                        </p:cTn>
                                        <p:tgtEl>
                                          <p:spTgt spid="178182">
                                            <p:txEl>
                                              <p:charRg st="0" end="4"/>
                                            </p:txEl>
                                          </p:spTgt>
                                        </p:tgtEl>
                                        <p:attrNameLst>
                                          <p:attrName>style.visibility</p:attrName>
                                        </p:attrNameLst>
                                      </p:cBhvr>
                                      <p:to>
                                        <p:strVal val="visible"/>
                                      </p:to>
                                    </p:set>
                                    <p:animEffect transition="in" filter="box(out)">
                                      <p:cBhvr>
                                        <p:cTn id="18" dur="500"/>
                                        <p:tgtEl>
                                          <p:spTgt spid="178182">
                                            <p:txEl>
                                              <p:charRg st="0"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178181">
                                            <p:txEl>
                                              <p:charRg st="0" end="90"/>
                                            </p:txEl>
                                          </p:spTgt>
                                        </p:tgtEl>
                                        <p:attrNameLst>
                                          <p:attrName>style.visibility</p:attrName>
                                        </p:attrNameLst>
                                      </p:cBhvr>
                                      <p:to>
                                        <p:strVal val="visible"/>
                                      </p:to>
                                    </p:set>
                                    <p:animEffect transition="in" filter="box(out)">
                                      <p:cBhvr>
                                        <p:cTn id="23" dur="500"/>
                                        <p:tgtEl>
                                          <p:spTgt spid="178181">
                                            <p:txEl>
                                              <p:charRg st="0" end="9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78181">
                                            <p:txEl>
                                              <p:charRg st="1" end="1"/>
                                            </p:txEl>
                                          </p:spTgt>
                                        </p:tgtEl>
                                        <p:attrNameLst>
                                          <p:attrName>style.visibility</p:attrName>
                                        </p:attrNameLst>
                                      </p:cBhvr>
                                      <p:to>
                                        <p:strVal val="visible"/>
                                      </p:to>
                                    </p:set>
                                    <p:animEffect transition="in" filter="box(out)">
                                      <p:cBhvr>
                                        <p:cTn id="28" dur="500"/>
                                        <p:tgtEl>
                                          <p:spTgt spid="178181">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1" grpId="0" build="p"/>
      <p:bldP spid="178182" grpId="0" advAuto="1000" build="p"/>
      <p:bldP spid="178180" grpId="1" bldLvl="0" build="allAtOnce"/>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9202" name="Object 2"/>
          <p:cNvGraphicFramePr/>
          <p:nvPr/>
        </p:nvGraphicFramePr>
        <p:xfrm>
          <a:off x="1116330" y="1101090"/>
          <a:ext cx="7214870" cy="2274570"/>
        </p:xfrm>
        <a:graphic>
          <a:graphicData uri="http://schemas.openxmlformats.org/presentationml/2006/ole">
            <mc:AlternateContent xmlns:mc="http://schemas.openxmlformats.org/markup-compatibility/2006">
              <mc:Choice xmlns:v="urn:schemas-microsoft-com:vml" Requires="v">
                <p:oleObj spid="_x0000_s3539" name="" r:id="rId1" imgW="3111500" imgH="939800" progId="Equation.DSMT4">
                  <p:embed/>
                </p:oleObj>
              </mc:Choice>
              <mc:Fallback>
                <p:oleObj name="" r:id="rId1" imgW="3111500" imgH="939800" progId="Equation.DSMT4">
                  <p:embed/>
                  <p:pic>
                    <p:nvPicPr>
                      <p:cNvPr id="0" name="图片 3538"/>
                      <p:cNvPicPr/>
                      <p:nvPr/>
                    </p:nvPicPr>
                    <p:blipFill>
                      <a:blip r:embed="rId2"/>
                      <a:stretch>
                        <a:fillRect/>
                      </a:stretch>
                    </p:blipFill>
                    <p:spPr>
                      <a:xfrm>
                        <a:off x="1116330" y="1101090"/>
                        <a:ext cx="7214870" cy="2274570"/>
                      </a:xfrm>
                      <a:prstGeom prst="rect">
                        <a:avLst/>
                      </a:prstGeom>
                      <a:noFill/>
                      <a:ln w="38100">
                        <a:noFill/>
                        <a:miter/>
                      </a:ln>
                    </p:spPr>
                  </p:pic>
                </p:oleObj>
              </mc:Fallback>
            </mc:AlternateContent>
          </a:graphicData>
        </a:graphic>
      </p:graphicFrame>
      <p:sp>
        <p:nvSpPr>
          <p:cNvPr id="47107" name="Text Box 3"/>
          <p:cNvSpPr txBox="1"/>
          <p:nvPr/>
        </p:nvSpPr>
        <p:spPr>
          <a:xfrm>
            <a:off x="412115" y="484505"/>
            <a:ext cx="2755900" cy="525145"/>
          </a:xfrm>
          <a:prstGeom prst="rect">
            <a:avLst/>
          </a:prstGeom>
          <a:noFill/>
          <a:ln w="9525">
            <a:noFill/>
          </a:ln>
        </p:spPr>
        <p:txBody>
          <a:bodyPr wrap="none">
            <a:noAutofit/>
          </a:bodyPr>
          <a:p>
            <a:pPr algn="ctr"/>
            <a:r>
              <a:rPr lang="zh-CN" altLang="en-US" dirty="0">
                <a:latin typeface="Times New Roman" panose="02020603050405020304" pitchFamily="18" charset="0"/>
              </a:rPr>
              <a:t>齐次线性方程组</a:t>
            </a:r>
            <a:endParaRPr lang="zh-CN" altLang="en-US" dirty="0">
              <a:latin typeface="Times New Roman" panose="02020603050405020304" pitchFamily="18" charset="0"/>
            </a:endParaRPr>
          </a:p>
        </p:txBody>
      </p:sp>
      <p:sp>
        <p:nvSpPr>
          <p:cNvPr id="47108" name="Text Box 4"/>
          <p:cNvSpPr txBox="1"/>
          <p:nvPr/>
        </p:nvSpPr>
        <p:spPr>
          <a:xfrm>
            <a:off x="269875" y="3695700"/>
            <a:ext cx="1250950" cy="519113"/>
          </a:xfrm>
          <a:prstGeom prst="rect">
            <a:avLst/>
          </a:prstGeom>
          <a:noFill/>
          <a:ln w="9525">
            <a:noFill/>
          </a:ln>
        </p:spPr>
        <p:txBody>
          <a:bodyPr wrap="none">
            <a:spAutoFit/>
          </a:bodyPr>
          <a:p>
            <a:pPr algn="ctr"/>
            <a:r>
              <a:rPr lang="zh-CN" altLang="en-US" dirty="0">
                <a:latin typeface="Times New Roman" panose="02020603050405020304" pitchFamily="18" charset="0"/>
              </a:rPr>
              <a:t>易知，</a:t>
            </a:r>
            <a:endParaRPr lang="zh-CN" altLang="en-US" dirty="0">
              <a:latin typeface="Times New Roman" panose="02020603050405020304" pitchFamily="18" charset="0"/>
            </a:endParaRPr>
          </a:p>
        </p:txBody>
      </p:sp>
      <p:graphicFrame>
        <p:nvGraphicFramePr>
          <p:cNvPr id="179205" name="Object 3"/>
          <p:cNvGraphicFramePr/>
          <p:nvPr/>
        </p:nvGraphicFramePr>
        <p:xfrm>
          <a:off x="1408113" y="3751263"/>
          <a:ext cx="3035300" cy="431800"/>
        </p:xfrm>
        <a:graphic>
          <a:graphicData uri="http://schemas.openxmlformats.org/presentationml/2006/ole">
            <mc:AlternateContent xmlns:mc="http://schemas.openxmlformats.org/markup-compatibility/2006">
              <mc:Choice xmlns:v="urn:schemas-microsoft-com:vml" Requires="v">
                <p:oleObj spid="_x0000_s3540" name="" r:id="rId3" imgW="3034030" imgH="431800" progId="Equation.3">
                  <p:embed/>
                </p:oleObj>
              </mc:Choice>
              <mc:Fallback>
                <p:oleObj name="" r:id="rId3" imgW="3034030" imgH="431800" progId="Equation.3">
                  <p:embed/>
                  <p:pic>
                    <p:nvPicPr>
                      <p:cNvPr id="0" name="图片 3539"/>
                      <p:cNvPicPr/>
                      <p:nvPr/>
                    </p:nvPicPr>
                    <p:blipFill>
                      <a:blip r:embed="rId4"/>
                      <a:stretch>
                        <a:fillRect/>
                      </a:stretch>
                    </p:blipFill>
                    <p:spPr>
                      <a:xfrm>
                        <a:off x="1408113" y="3751263"/>
                        <a:ext cx="3035300" cy="431800"/>
                      </a:xfrm>
                      <a:prstGeom prst="rect">
                        <a:avLst/>
                      </a:prstGeom>
                      <a:noFill/>
                      <a:ln w="38100">
                        <a:noFill/>
                        <a:miter/>
                      </a:ln>
                    </p:spPr>
                  </p:pic>
                </p:oleObj>
              </mc:Fallback>
            </mc:AlternateContent>
          </a:graphicData>
        </a:graphic>
      </p:graphicFrame>
      <p:sp>
        <p:nvSpPr>
          <p:cNvPr id="179206" name="Text Box 6"/>
          <p:cNvSpPr txBox="1"/>
          <p:nvPr/>
        </p:nvSpPr>
        <p:spPr>
          <a:xfrm>
            <a:off x="4498975" y="3716338"/>
            <a:ext cx="4645025" cy="521970"/>
          </a:xfrm>
          <a:prstGeom prst="rect">
            <a:avLst/>
          </a:prstGeom>
          <a:noFill/>
          <a:ln w="9525">
            <a:noFill/>
          </a:ln>
        </p:spPr>
        <p:txBody>
          <a:bodyPr>
            <a:spAutoFit/>
          </a:bodyPr>
          <a:p>
            <a:pPr algn="ctr"/>
            <a:r>
              <a:rPr lang="zh-CN" altLang="en-US" dirty="0">
                <a:latin typeface="Times New Roman" panose="02020603050405020304" pitchFamily="18" charset="0"/>
              </a:rPr>
              <a:t>一定是</a:t>
            </a:r>
            <a:r>
              <a:rPr lang="en-US" altLang="zh-CN">
                <a:latin typeface="Times New Roman" panose="02020603050405020304" pitchFamily="18" charset="0"/>
              </a:rPr>
              <a:t>(2)</a:t>
            </a:r>
            <a:r>
              <a:rPr lang="zh-CN" altLang="en-US" dirty="0">
                <a:latin typeface="Times New Roman" panose="02020603050405020304" pitchFamily="18" charset="0"/>
              </a:rPr>
              <a:t>的解，称为</a:t>
            </a:r>
            <a:r>
              <a:rPr lang="zh-CN" altLang="en-US" dirty="0">
                <a:solidFill>
                  <a:schemeClr val="accent2"/>
                </a:solidFill>
                <a:latin typeface="Times New Roman" panose="02020603050405020304" pitchFamily="18" charset="0"/>
              </a:rPr>
              <a:t>零解</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47111" name="Text Box 7"/>
          <p:cNvSpPr txBox="1"/>
          <p:nvPr/>
        </p:nvSpPr>
        <p:spPr>
          <a:xfrm>
            <a:off x="250825" y="4797425"/>
            <a:ext cx="7712075" cy="519113"/>
          </a:xfrm>
          <a:prstGeom prst="rect">
            <a:avLst/>
          </a:prstGeom>
          <a:noFill/>
          <a:ln w="9525">
            <a:noFill/>
          </a:ln>
        </p:spPr>
        <p:txBody>
          <a:bodyPr wrap="none">
            <a:spAutoFit/>
          </a:bodyPr>
          <a:p>
            <a:pPr algn="ctr"/>
            <a:r>
              <a:rPr lang="zh-CN" altLang="en-US" dirty="0">
                <a:latin typeface="Times New Roman" panose="02020603050405020304" pitchFamily="18" charset="0"/>
              </a:rPr>
              <a:t>若有一组不全为零的数是</a:t>
            </a:r>
            <a:r>
              <a:rPr lang="en-US" altLang="zh-CN">
                <a:latin typeface="Times New Roman" panose="02020603050405020304" pitchFamily="18" charset="0"/>
              </a:rPr>
              <a:t>(2)</a:t>
            </a:r>
            <a:r>
              <a:rPr lang="zh-CN" altLang="en-US" dirty="0">
                <a:latin typeface="Times New Roman" panose="02020603050405020304" pitchFamily="18" charset="0"/>
              </a:rPr>
              <a:t>的解，称为</a:t>
            </a:r>
            <a:r>
              <a:rPr lang="zh-CN" altLang="en-US" dirty="0">
                <a:solidFill>
                  <a:schemeClr val="accent2"/>
                </a:solidFill>
                <a:latin typeface="Times New Roman" panose="02020603050405020304" pitchFamily="18" charset="0"/>
              </a:rPr>
              <a:t>非零解</a:t>
            </a:r>
            <a:r>
              <a:rPr lang="zh-CN" altLang="en-US" dirty="0">
                <a:latin typeface="Times New Roman" panose="02020603050405020304" pitchFamily="18" charset="0"/>
              </a:rPr>
              <a:t>。</a:t>
            </a:r>
            <a:endParaRPr lang="zh-CN" altLang="en-US">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7">
                                            <p:txEl>
                                              <p:charRg st="0" end="8"/>
                                            </p:txEl>
                                          </p:spTgt>
                                        </p:tgtEl>
                                        <p:attrNameLst>
                                          <p:attrName>style.visibility</p:attrName>
                                        </p:attrNameLst>
                                      </p:cBhvr>
                                      <p:to>
                                        <p:strVal val="visible"/>
                                      </p:to>
                                    </p:set>
                                    <p:animEffect transition="in" filter="wipe(left)">
                                      <p:cBhvr>
                                        <p:cTn id="7" dur="500"/>
                                        <p:tgtEl>
                                          <p:spTgt spid="47107">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9202"/>
                                        </p:tgtEl>
                                        <p:attrNameLst>
                                          <p:attrName>style.visibility</p:attrName>
                                        </p:attrNameLst>
                                      </p:cBhvr>
                                      <p:to>
                                        <p:strVal val="visible"/>
                                      </p:to>
                                    </p:set>
                                    <p:animEffect transition="in" filter="wipe(left)">
                                      <p:cBhvr>
                                        <p:cTn id="12" dur="500"/>
                                        <p:tgtEl>
                                          <p:spTgt spid="1792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08">
                                            <p:txEl>
                                              <p:charRg st="0" end="4"/>
                                            </p:txEl>
                                          </p:spTgt>
                                        </p:tgtEl>
                                        <p:attrNameLst>
                                          <p:attrName>style.visibility</p:attrName>
                                        </p:attrNameLst>
                                      </p:cBhvr>
                                      <p:to>
                                        <p:strVal val="visible"/>
                                      </p:to>
                                    </p:set>
                                    <p:animEffect transition="in" filter="wipe(left)">
                                      <p:cBhvr>
                                        <p:cTn id="17" dur="500"/>
                                        <p:tgtEl>
                                          <p:spTgt spid="47108">
                                            <p:txEl>
                                              <p:charRg st="0"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9205"/>
                                        </p:tgtEl>
                                        <p:attrNameLst>
                                          <p:attrName>style.visibility</p:attrName>
                                        </p:attrNameLst>
                                      </p:cBhvr>
                                      <p:to>
                                        <p:strVal val="visible"/>
                                      </p:to>
                                    </p:set>
                                    <p:animEffect transition="in" filter="wipe(left)">
                                      <p:cBhvr>
                                        <p:cTn id="22" dur="500"/>
                                        <p:tgtEl>
                                          <p:spTgt spid="1792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9206">
                                            <p:txEl>
                                              <p:charRg st="0" end="16"/>
                                            </p:txEl>
                                          </p:spTgt>
                                        </p:tgtEl>
                                        <p:attrNameLst>
                                          <p:attrName>style.visibility</p:attrName>
                                        </p:attrNameLst>
                                      </p:cBhvr>
                                      <p:to>
                                        <p:strVal val="visible"/>
                                      </p:to>
                                    </p:set>
                                    <p:animEffect transition="in" filter="wipe(left)">
                                      <p:cBhvr>
                                        <p:cTn id="27" dur="500"/>
                                        <p:tgtEl>
                                          <p:spTgt spid="179206">
                                            <p:txEl>
                                              <p:charRg st="0" end="1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7111">
                                            <p:txEl>
                                              <p:charRg st="0" end="24"/>
                                            </p:txEl>
                                          </p:spTgt>
                                        </p:tgtEl>
                                        <p:attrNameLst>
                                          <p:attrName>style.visibility</p:attrName>
                                        </p:attrNameLst>
                                      </p:cBhvr>
                                      <p:to>
                                        <p:strVal val="visible"/>
                                      </p:to>
                                    </p:set>
                                    <p:animEffect transition="in" filter="wipe(left)">
                                      <p:cBhvr>
                                        <p:cTn id="32" dur="500"/>
                                        <p:tgtEl>
                                          <p:spTgt spid="47111">
                                            <p:txEl>
                                              <p:charRg st="0" end="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P spid="47108" grpId="0" build="p"/>
      <p:bldP spid="179206" grpId="0" build="p"/>
      <p:bldP spid="47111"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文本框 180225"/>
          <p:cNvSpPr txBox="1"/>
          <p:nvPr/>
        </p:nvSpPr>
        <p:spPr>
          <a:xfrm>
            <a:off x="622300" y="249555"/>
            <a:ext cx="7965440" cy="1383665"/>
          </a:xfrm>
          <a:prstGeom prst="rect">
            <a:avLst/>
          </a:prstGeom>
          <a:noFill/>
          <a:ln w="9525">
            <a:noFill/>
          </a:ln>
        </p:spPr>
        <p:txBody>
          <a:bodyPr wrap="square" anchor="t" anchorCtr="0">
            <a:spAutoFit/>
          </a:bodyPr>
          <a:p>
            <a:pPr>
              <a:lnSpc>
                <a:spcPct val="150000"/>
              </a:lnSpc>
            </a:pPr>
            <a:r>
              <a:rPr lang="en-US" altLang="zh-CN" dirty="0">
                <a:solidFill>
                  <a:srgbClr val="FF3300"/>
                </a:solidFill>
                <a:latin typeface="Times New Roman" panose="02020603050405020304" pitchFamily="18" charset="0"/>
                <a:ea typeface="黑体" panose="02010609060101010101" pitchFamily="2" charset="-122"/>
              </a:rPr>
              <a:t>       </a:t>
            </a:r>
            <a:r>
              <a:rPr lang="zh-CN" altLang="en-US" dirty="0">
                <a:solidFill>
                  <a:srgbClr val="FF3300"/>
                </a:solidFill>
                <a:latin typeface="Times New Roman" panose="02020603050405020304" pitchFamily="18" charset="0"/>
                <a:ea typeface="黑体" panose="02010609060101010101" pitchFamily="2" charset="-122"/>
              </a:rPr>
              <a:t>定理</a:t>
            </a:r>
            <a:r>
              <a:rPr lang="en-US" altLang="zh-CN" dirty="0">
                <a:solidFill>
                  <a:srgbClr val="FF3300"/>
                </a:solidFill>
                <a:latin typeface="Times New Roman" panose="02020603050405020304" pitchFamily="18" charset="0"/>
                <a:ea typeface="黑体" panose="02010609060101010101" pitchFamily="2" charset="-122"/>
              </a:rPr>
              <a:t>1.4.</a:t>
            </a:r>
            <a:r>
              <a:rPr lang="en-US" altLang="zh-CN">
                <a:solidFill>
                  <a:srgbClr val="FF3300"/>
                </a:solidFill>
                <a:latin typeface="Times New Roman" panose="02020603050405020304" pitchFamily="18" charset="0"/>
                <a:ea typeface="黑体" panose="02010609060101010101" pitchFamily="2" charset="-122"/>
              </a:rPr>
              <a:t>1: (</a:t>
            </a:r>
            <a:r>
              <a:rPr lang="zh-CN" altLang="en-US" dirty="0">
                <a:solidFill>
                  <a:srgbClr val="FF0000"/>
                </a:solidFill>
                <a:latin typeface="Times New Roman" panose="02020603050405020304" pitchFamily="18" charset="0"/>
              </a:rPr>
              <a:t>克拉默</a:t>
            </a:r>
            <a:r>
              <a:rPr lang="en-US" altLang="zh-CN">
                <a:solidFill>
                  <a:srgbClr val="FF0000"/>
                </a:solidFill>
                <a:latin typeface="Times New Roman" panose="02020603050405020304" pitchFamily="18" charset="0"/>
              </a:rPr>
              <a:t>(Cramer)</a:t>
            </a:r>
            <a:r>
              <a:rPr lang="zh-CN" altLang="en-US" dirty="0">
                <a:solidFill>
                  <a:srgbClr val="FF0000"/>
                </a:solidFill>
                <a:latin typeface="Times New Roman" panose="02020603050405020304" pitchFamily="18" charset="0"/>
              </a:rPr>
              <a:t>法则</a:t>
            </a:r>
            <a:r>
              <a:rPr lang="en-US" altLang="zh-CN">
                <a:solidFill>
                  <a:srgbClr val="FF0000"/>
                </a:solidFill>
                <a:latin typeface="Times New Roman" panose="02020603050405020304" pitchFamily="18" charset="0"/>
              </a:rPr>
              <a:t>)</a:t>
            </a:r>
            <a:r>
              <a:rPr lang="zh-CN" altLang="en-US" dirty="0">
                <a:latin typeface="Times New Roman" panose="02020603050405020304" pitchFamily="18" charset="0"/>
              </a:rPr>
              <a:t>如果线性方程组</a:t>
            </a:r>
            <a:r>
              <a:rPr lang="en-US" altLang="zh-CN">
                <a:latin typeface="Times New Roman" panose="02020603050405020304" pitchFamily="18" charset="0"/>
              </a:rPr>
              <a:t>(1)</a:t>
            </a:r>
            <a:r>
              <a:rPr lang="zh-CN" altLang="en-US" dirty="0">
                <a:latin typeface="Times New Roman" panose="02020603050405020304" pitchFamily="18" charset="0"/>
              </a:rPr>
              <a:t>的系数行列式不等于零</a:t>
            </a:r>
            <a:r>
              <a:rPr lang="en-US" altLang="zh-CN">
                <a:latin typeface="Times New Roman" panose="02020603050405020304" pitchFamily="18" charset="0"/>
              </a:rPr>
              <a:t>, </a:t>
            </a:r>
            <a:r>
              <a:rPr lang="zh-CN" altLang="en-US" dirty="0">
                <a:latin typeface="Times New Roman" panose="02020603050405020304" pitchFamily="18" charset="0"/>
              </a:rPr>
              <a:t>即</a:t>
            </a:r>
            <a:endParaRPr lang="zh-CN" altLang="en-US">
              <a:latin typeface="Times New Roman" panose="02020603050405020304" pitchFamily="18" charset="0"/>
            </a:endParaRPr>
          </a:p>
        </p:txBody>
      </p:sp>
      <p:graphicFrame>
        <p:nvGraphicFramePr>
          <p:cNvPr id="180227" name="对象 180226"/>
          <p:cNvGraphicFramePr/>
          <p:nvPr/>
        </p:nvGraphicFramePr>
        <p:xfrm>
          <a:off x="1692275" y="1773238"/>
          <a:ext cx="4340225" cy="1701800"/>
        </p:xfrm>
        <a:graphic>
          <a:graphicData uri="http://schemas.openxmlformats.org/presentationml/2006/ole">
            <mc:AlternateContent xmlns:mc="http://schemas.openxmlformats.org/markup-compatibility/2006">
              <mc:Choice xmlns:v="urn:schemas-microsoft-com:vml" Requires="v">
                <p:oleObj spid="_x0000_s3538" name="" r:id="rId1" imgW="4343400" imgH="1701800" progId="Equation.3">
                  <p:embed/>
                </p:oleObj>
              </mc:Choice>
              <mc:Fallback>
                <p:oleObj name="" r:id="rId1" imgW="4343400" imgH="1701800" progId="Equation.3">
                  <p:embed/>
                  <p:pic>
                    <p:nvPicPr>
                      <p:cNvPr id="0" name="图片 3537"/>
                      <p:cNvPicPr/>
                      <p:nvPr/>
                    </p:nvPicPr>
                    <p:blipFill>
                      <a:blip r:embed="rId2"/>
                      <a:stretch>
                        <a:fillRect/>
                      </a:stretch>
                    </p:blipFill>
                    <p:spPr>
                      <a:xfrm>
                        <a:off x="1692275" y="1773238"/>
                        <a:ext cx="4340225" cy="1701800"/>
                      </a:xfrm>
                      <a:prstGeom prst="rect">
                        <a:avLst/>
                      </a:prstGeom>
                      <a:noFill/>
                      <a:ln w="38100">
                        <a:noFill/>
                        <a:miter/>
                      </a:ln>
                    </p:spPr>
                  </p:pic>
                </p:oleObj>
              </mc:Fallback>
            </mc:AlternateContent>
          </a:graphicData>
        </a:graphic>
      </p:graphicFrame>
      <p:sp>
        <p:nvSpPr>
          <p:cNvPr id="180229" name="矩形 180228"/>
          <p:cNvSpPr/>
          <p:nvPr/>
        </p:nvSpPr>
        <p:spPr>
          <a:xfrm>
            <a:off x="474345" y="3753485"/>
            <a:ext cx="8450580" cy="578485"/>
          </a:xfrm>
          <a:prstGeom prst="rect">
            <a:avLst/>
          </a:prstGeom>
          <a:noFill/>
          <a:ln w="9525">
            <a:noFill/>
          </a:ln>
        </p:spPr>
        <p:txBody>
          <a:bodyPr>
            <a:noAutofit/>
          </a:bodyPr>
          <a:p>
            <a:r>
              <a:rPr lang="zh-CN" altLang="en-US" dirty="0">
                <a:latin typeface="Times New Roman" panose="02020603050405020304" pitchFamily="18" charset="0"/>
              </a:rPr>
              <a:t>那么</a:t>
            </a:r>
            <a:r>
              <a:rPr lang="en-US" altLang="zh-CN">
                <a:latin typeface="Times New Roman" panose="02020603050405020304" pitchFamily="18" charset="0"/>
              </a:rPr>
              <a:t>, </a:t>
            </a:r>
            <a:r>
              <a:rPr lang="zh-CN" altLang="en-US" dirty="0">
                <a:latin typeface="Times New Roman" panose="02020603050405020304" pitchFamily="18" charset="0"/>
              </a:rPr>
              <a:t>线性方程组</a:t>
            </a:r>
            <a:r>
              <a:rPr lang="en-US" altLang="zh-CN">
                <a:latin typeface="Times New Roman" panose="02020603050405020304" pitchFamily="18" charset="0"/>
              </a:rPr>
              <a:t>(1)</a:t>
            </a:r>
            <a:r>
              <a:rPr lang="zh-CN" altLang="en-US" dirty="0">
                <a:latin typeface="Times New Roman" panose="02020603050405020304" pitchFamily="18" charset="0"/>
              </a:rPr>
              <a:t>有解</a:t>
            </a:r>
            <a:r>
              <a:rPr lang="en-US" altLang="zh-CN">
                <a:latin typeface="Times New Roman" panose="02020603050405020304" pitchFamily="18" charset="0"/>
              </a:rPr>
              <a:t>, </a:t>
            </a:r>
            <a:r>
              <a:rPr lang="zh-CN" altLang="en-US" dirty="0">
                <a:latin typeface="Times New Roman" panose="02020603050405020304" pitchFamily="18" charset="0"/>
              </a:rPr>
              <a:t>且解是唯一的</a:t>
            </a:r>
            <a:r>
              <a:rPr lang="en-US" altLang="zh-CN">
                <a:latin typeface="Times New Roman" panose="02020603050405020304" pitchFamily="18" charset="0"/>
              </a:rPr>
              <a:t>, </a:t>
            </a:r>
            <a:r>
              <a:rPr lang="zh-CN" altLang="en-US" dirty="0">
                <a:latin typeface="Times New Roman" panose="02020603050405020304" pitchFamily="18" charset="0"/>
              </a:rPr>
              <a:t>解可以表为</a:t>
            </a:r>
            <a:endParaRPr lang="zh-CN" altLang="en-US" dirty="0">
              <a:latin typeface="Times New Roman" panose="02020603050405020304" pitchFamily="18" charset="0"/>
            </a:endParaRPr>
          </a:p>
        </p:txBody>
      </p:sp>
      <p:graphicFrame>
        <p:nvGraphicFramePr>
          <p:cNvPr id="2" name="对象 -2147482113"/>
          <p:cNvGraphicFramePr>
            <a:graphicFrameLocks noChangeAspect="1"/>
          </p:cNvGraphicFramePr>
          <p:nvPr/>
        </p:nvGraphicFramePr>
        <p:xfrm>
          <a:off x="1835785" y="4552315"/>
          <a:ext cx="3746500" cy="816610"/>
        </p:xfrm>
        <a:graphic>
          <a:graphicData uri="http://schemas.openxmlformats.org/presentationml/2006/ole">
            <mc:AlternateContent xmlns:mc="http://schemas.openxmlformats.org/markup-compatibility/2006">
              <mc:Choice xmlns:v="urn:schemas-microsoft-com:vml" Requires="v">
                <p:oleObj spid="_x0000_s3076" name="" r:id="rId3" imgW="1841500" imgH="393700" progId="Equation.DSMT4">
                  <p:embed/>
                </p:oleObj>
              </mc:Choice>
              <mc:Fallback>
                <p:oleObj name="" r:id="rId3" imgW="1841500" imgH="393700" progId="Equation.DSMT4">
                  <p:embed/>
                  <p:pic>
                    <p:nvPicPr>
                      <p:cNvPr id="0" name="图片 3075"/>
                      <p:cNvPicPr/>
                      <p:nvPr/>
                    </p:nvPicPr>
                    <p:blipFill>
                      <a:blip r:embed="rId4"/>
                      <a:stretch>
                        <a:fillRect/>
                      </a:stretch>
                    </p:blipFill>
                    <p:spPr>
                      <a:xfrm>
                        <a:off x="1835785" y="4552315"/>
                        <a:ext cx="3746500" cy="81661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0226">
                                            <p:txEl>
                                              <p:charRg st="0" end="52"/>
                                            </p:txEl>
                                          </p:spTgt>
                                        </p:tgtEl>
                                        <p:attrNameLst>
                                          <p:attrName>style.visibility</p:attrName>
                                        </p:attrNameLst>
                                      </p:cBhvr>
                                      <p:to>
                                        <p:strVal val="visible"/>
                                      </p:to>
                                    </p:set>
                                    <p:animEffect transition="in" filter="box(out)">
                                      <p:cBhvr>
                                        <p:cTn id="7" dur="500"/>
                                        <p:tgtEl>
                                          <p:spTgt spid="180226">
                                            <p:txEl>
                                              <p:charRg st="0" end="52"/>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80227"/>
                                        </p:tgtEl>
                                        <p:attrNameLst>
                                          <p:attrName>style.visibility</p:attrName>
                                        </p:attrNameLst>
                                      </p:cBhvr>
                                      <p:to>
                                        <p:strVal val="visible"/>
                                      </p:to>
                                    </p:set>
                                    <p:animEffect transition="in" filter="box(out)">
                                      <p:cBhvr>
                                        <p:cTn id="11" dur="500"/>
                                        <p:tgtEl>
                                          <p:spTgt spid="180227"/>
                                        </p:tgtEl>
                                      </p:cBhvr>
                                    </p:animEffect>
                                  </p:childTnLst>
                                </p:cTn>
                              </p:par>
                            </p:childTnLst>
                          </p:cTn>
                        </p:par>
                        <p:par>
                          <p:cTn id="12" fill="hold">
                            <p:stCondLst>
                              <p:cond delay="1000"/>
                            </p:stCondLst>
                            <p:childTnLst>
                              <p:par>
                                <p:cTn id="13" presetID="4" presetClass="entr" presetSubtype="32" fill="hold" grpId="0" nodeType="afterEffect">
                                  <p:stCondLst>
                                    <p:cond delay="0"/>
                                  </p:stCondLst>
                                  <p:childTnLst>
                                    <p:set>
                                      <p:cBhvr>
                                        <p:cTn id="14" dur="1" fill="hold">
                                          <p:stCondLst>
                                            <p:cond delay="0"/>
                                          </p:stCondLst>
                                        </p:cTn>
                                        <p:tgtEl>
                                          <p:spTgt spid="180229">
                                            <p:txEl>
                                              <p:charRg st="0" end="30"/>
                                            </p:txEl>
                                          </p:spTgt>
                                        </p:tgtEl>
                                        <p:attrNameLst>
                                          <p:attrName>style.visibility</p:attrName>
                                        </p:attrNameLst>
                                      </p:cBhvr>
                                      <p:to>
                                        <p:strVal val="visible"/>
                                      </p:to>
                                    </p:set>
                                    <p:animEffect transition="in" filter="box(out)">
                                      <p:cBhvr>
                                        <p:cTn id="15" dur="500"/>
                                        <p:tgtEl>
                                          <p:spTgt spid="180229">
                                            <p:txEl>
                                              <p:charRg st="0" end="3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build="p"/>
      <p:bldP spid="180229" grpId="0" advAuto="100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文本框 181249"/>
          <p:cNvSpPr txBox="1"/>
          <p:nvPr/>
        </p:nvSpPr>
        <p:spPr>
          <a:xfrm>
            <a:off x="323850" y="338138"/>
            <a:ext cx="8456613" cy="1374775"/>
          </a:xfrm>
          <a:prstGeom prst="rect">
            <a:avLst/>
          </a:prstGeom>
          <a:noFill/>
          <a:ln w="9525">
            <a:noFill/>
          </a:ln>
        </p:spPr>
        <p:txBody>
          <a:bodyPr anchor="t" anchorCtr="0">
            <a:spAutoFit/>
          </a:bodyPr>
          <a:p>
            <a:pPr>
              <a:lnSpc>
                <a:spcPct val="150000"/>
              </a:lnSpc>
            </a:pPr>
            <a:r>
              <a:rPr lang="zh-CN" altLang="en-US" dirty="0">
                <a:latin typeface="Times New Roman" panose="02020603050405020304" pitchFamily="18" charset="0"/>
              </a:rPr>
              <a:t>其中</a:t>
            </a:r>
            <a:r>
              <a:rPr lang="en-US" altLang="zh-CN" i="1" err="1">
                <a:latin typeface="Times New Roman" panose="02020603050405020304" pitchFamily="18" charset="0"/>
              </a:rPr>
              <a:t>D</a:t>
            </a:r>
            <a:r>
              <a:rPr lang="en-US" altLang="zh-CN" i="1" baseline="-25000" err="1">
                <a:latin typeface="Times New Roman" panose="02020603050405020304" pitchFamily="18" charset="0"/>
              </a:rPr>
              <a:t>j</a:t>
            </a:r>
            <a:r>
              <a:rPr lang="en-US" altLang="zh-CN">
                <a:latin typeface="Times New Roman" panose="02020603050405020304" pitchFamily="18" charset="0"/>
              </a:rPr>
              <a:t> </a:t>
            </a:r>
            <a:r>
              <a:rPr lang="zh-CN" altLang="en-US" dirty="0">
                <a:latin typeface="Times New Roman" panose="02020603050405020304" pitchFamily="18" charset="0"/>
              </a:rPr>
              <a:t>是把系数行列式</a:t>
            </a:r>
            <a:r>
              <a:rPr lang="en-US" altLang="zh-CN" i="1">
                <a:latin typeface="Times New Roman" panose="02020603050405020304" pitchFamily="18" charset="0"/>
              </a:rPr>
              <a:t>D</a:t>
            </a:r>
            <a:r>
              <a:rPr lang="zh-CN" altLang="en-US" dirty="0">
                <a:latin typeface="Times New Roman" panose="02020603050405020304" pitchFamily="18" charset="0"/>
              </a:rPr>
              <a:t>中第 </a:t>
            </a:r>
            <a:r>
              <a:rPr lang="en-US" altLang="zh-CN" i="1">
                <a:latin typeface="Times New Roman" panose="02020603050405020304" pitchFamily="18" charset="0"/>
              </a:rPr>
              <a:t>j</a:t>
            </a:r>
            <a:r>
              <a:rPr lang="en-US" altLang="zh-CN">
                <a:latin typeface="Times New Roman" panose="02020603050405020304" pitchFamily="18" charset="0"/>
              </a:rPr>
              <a:t> </a:t>
            </a:r>
            <a:r>
              <a:rPr lang="zh-CN" altLang="en-US" dirty="0">
                <a:latin typeface="Times New Roman" panose="02020603050405020304" pitchFamily="18" charset="0"/>
              </a:rPr>
              <a:t>列的元素用方程组右端的常数项代替后所得到的 </a:t>
            </a:r>
            <a:r>
              <a:rPr lang="en-US" altLang="zh-CN" i="1">
                <a:latin typeface="Times New Roman" panose="02020603050405020304" pitchFamily="18" charset="0"/>
              </a:rPr>
              <a:t>n</a:t>
            </a:r>
            <a:r>
              <a:rPr lang="en-US" altLang="zh-CN">
                <a:latin typeface="Times New Roman" panose="02020603050405020304" pitchFamily="18" charset="0"/>
              </a:rPr>
              <a:t> </a:t>
            </a:r>
            <a:r>
              <a:rPr lang="zh-CN" altLang="en-US" dirty="0">
                <a:latin typeface="Times New Roman" panose="02020603050405020304" pitchFamily="18" charset="0"/>
              </a:rPr>
              <a:t>阶行列式</a:t>
            </a:r>
            <a:r>
              <a:rPr lang="en-US" altLang="zh-CN">
                <a:latin typeface="Times New Roman" panose="02020603050405020304" pitchFamily="18" charset="0"/>
              </a:rPr>
              <a:t>, </a:t>
            </a:r>
            <a:r>
              <a:rPr lang="zh-CN" altLang="en-US" dirty="0">
                <a:latin typeface="Times New Roman" panose="02020603050405020304" pitchFamily="18" charset="0"/>
              </a:rPr>
              <a:t>即</a:t>
            </a:r>
            <a:endParaRPr lang="zh-CN" altLang="en-US">
              <a:latin typeface="Times New Roman" panose="02020603050405020304" pitchFamily="18" charset="0"/>
            </a:endParaRPr>
          </a:p>
        </p:txBody>
      </p:sp>
      <p:graphicFrame>
        <p:nvGraphicFramePr>
          <p:cNvPr id="181251" name="对象 181250"/>
          <p:cNvGraphicFramePr/>
          <p:nvPr/>
        </p:nvGraphicFramePr>
        <p:xfrm>
          <a:off x="1042988" y="2060575"/>
          <a:ext cx="6451600" cy="1422400"/>
        </p:xfrm>
        <a:graphic>
          <a:graphicData uri="http://schemas.openxmlformats.org/presentationml/2006/ole">
            <mc:AlternateContent xmlns:mc="http://schemas.openxmlformats.org/markup-compatibility/2006">
              <mc:Choice xmlns:v="urn:schemas-microsoft-com:vml" Requires="v">
                <p:oleObj spid="_x0000_s3548" name="" r:id="rId1" imgW="6451600" imgH="1422400" progId="Equation.3">
                  <p:embed/>
                </p:oleObj>
              </mc:Choice>
              <mc:Fallback>
                <p:oleObj name="" r:id="rId1" imgW="6451600" imgH="1422400" progId="Equation.3">
                  <p:embed/>
                  <p:pic>
                    <p:nvPicPr>
                      <p:cNvPr id="0" name="图片 3547"/>
                      <p:cNvPicPr/>
                      <p:nvPr/>
                    </p:nvPicPr>
                    <p:blipFill>
                      <a:blip r:embed="rId2"/>
                      <a:stretch>
                        <a:fillRect/>
                      </a:stretch>
                    </p:blipFill>
                    <p:spPr>
                      <a:xfrm>
                        <a:off x="1042988" y="2060575"/>
                        <a:ext cx="6451600" cy="14224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1250">
                                            <p:txEl>
                                              <p:charRg st="0" end="50"/>
                                            </p:txEl>
                                          </p:spTgt>
                                        </p:tgtEl>
                                        <p:attrNameLst>
                                          <p:attrName>style.visibility</p:attrName>
                                        </p:attrNameLst>
                                      </p:cBhvr>
                                      <p:to>
                                        <p:strVal val="visible"/>
                                      </p:to>
                                    </p:set>
                                    <p:animEffect transition="in" filter="box(out)">
                                      <p:cBhvr>
                                        <p:cTn id="7" dur="500"/>
                                        <p:tgtEl>
                                          <p:spTgt spid="181250">
                                            <p:txEl>
                                              <p:charRg st="0" end="50"/>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81251"/>
                                        </p:tgtEl>
                                        <p:attrNameLst>
                                          <p:attrName>style.visibility</p:attrName>
                                        </p:attrNameLst>
                                      </p:cBhvr>
                                      <p:to>
                                        <p:strVal val="visible"/>
                                      </p:to>
                                    </p:set>
                                    <p:animEffect transition="in" filter="box(out)">
                                      <p:cBhvr>
                                        <p:cTn id="11" dur="500"/>
                                        <p:tgtEl>
                                          <p:spTgt spid="181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0"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82274" name="对象 182273"/>
          <p:cNvGraphicFramePr/>
          <p:nvPr/>
        </p:nvGraphicFramePr>
        <p:xfrm>
          <a:off x="1476375" y="2066290"/>
          <a:ext cx="6186805" cy="1990725"/>
        </p:xfrm>
        <a:graphic>
          <a:graphicData uri="http://schemas.openxmlformats.org/presentationml/2006/ole">
            <mc:AlternateContent xmlns:mc="http://schemas.openxmlformats.org/markup-compatibility/2006">
              <mc:Choice xmlns:v="urn:schemas-microsoft-com:vml" Requires="v">
                <p:oleObj spid="_x0000_s3549" name="" r:id="rId1" imgW="6184900" imgH="1854200" progId="Equation.3">
                  <p:embed/>
                </p:oleObj>
              </mc:Choice>
              <mc:Fallback>
                <p:oleObj name="" r:id="rId1" imgW="6184900" imgH="1854200" progId="Equation.3">
                  <p:embed/>
                  <p:pic>
                    <p:nvPicPr>
                      <p:cNvPr id="0" name="图片 3548"/>
                      <p:cNvPicPr/>
                      <p:nvPr/>
                    </p:nvPicPr>
                    <p:blipFill>
                      <a:blip r:embed="rId2"/>
                      <a:stretch>
                        <a:fillRect/>
                      </a:stretch>
                    </p:blipFill>
                    <p:spPr>
                      <a:xfrm>
                        <a:off x="1476375" y="2066290"/>
                        <a:ext cx="6186805" cy="1990725"/>
                      </a:xfrm>
                      <a:prstGeom prst="rect">
                        <a:avLst/>
                      </a:prstGeom>
                      <a:noFill/>
                      <a:ln w="38100">
                        <a:noFill/>
                        <a:miter/>
                      </a:ln>
                    </p:spPr>
                  </p:pic>
                </p:oleObj>
              </mc:Fallback>
            </mc:AlternateContent>
          </a:graphicData>
        </a:graphic>
      </p:graphicFrame>
      <p:sp>
        <p:nvSpPr>
          <p:cNvPr id="182275" name="文本框 182274"/>
          <p:cNvSpPr txBox="1"/>
          <p:nvPr/>
        </p:nvSpPr>
        <p:spPr>
          <a:xfrm>
            <a:off x="395288" y="447675"/>
            <a:ext cx="8456612" cy="1374775"/>
          </a:xfrm>
          <a:prstGeom prst="rect">
            <a:avLst/>
          </a:prstGeom>
          <a:noFill/>
          <a:ln w="9525">
            <a:noFill/>
          </a:ln>
        </p:spPr>
        <p:txBody>
          <a:bodyPr anchor="t" anchorCtr="0">
            <a:spAutoFit/>
          </a:bodyPr>
          <a:p>
            <a:pPr>
              <a:lnSpc>
                <a:spcPct val="150000"/>
              </a:lnSpc>
            </a:pPr>
            <a:r>
              <a:rPr lang="en-US" altLang="zh-CN" dirty="0">
                <a:solidFill>
                  <a:srgbClr val="FF3300"/>
                </a:solidFill>
                <a:latin typeface="Times New Roman" panose="02020603050405020304" pitchFamily="18" charset="0"/>
                <a:ea typeface="黑体" panose="02010609060101010101" pitchFamily="2" charset="-122"/>
              </a:rPr>
              <a:t>        </a:t>
            </a:r>
            <a:r>
              <a:rPr lang="zh-CN" altLang="en-US" dirty="0">
                <a:solidFill>
                  <a:srgbClr val="FF3300"/>
                </a:solidFill>
                <a:latin typeface="Times New Roman" panose="02020603050405020304" pitchFamily="18" charset="0"/>
                <a:ea typeface="黑体" panose="02010609060101010101" pitchFamily="2" charset="-122"/>
              </a:rPr>
              <a:t>证明</a:t>
            </a:r>
            <a:r>
              <a:rPr lang="en-US" altLang="zh-CN">
                <a:solidFill>
                  <a:srgbClr val="FF3300"/>
                </a:solidFill>
                <a:latin typeface="Times New Roman" panose="02020603050405020304" pitchFamily="18" charset="0"/>
                <a:ea typeface="黑体" panose="02010609060101010101" pitchFamily="2" charset="-122"/>
              </a:rPr>
              <a:t>:</a:t>
            </a:r>
            <a:r>
              <a:rPr lang="en-US" altLang="zh-CN">
                <a:solidFill>
                  <a:srgbClr val="0000FF"/>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用系数行列式</a:t>
            </a:r>
            <a:r>
              <a:rPr lang="en-US" altLang="zh-CN" i="1">
                <a:latin typeface="Times New Roman" panose="02020603050405020304" pitchFamily="18" charset="0"/>
              </a:rPr>
              <a:t>D</a:t>
            </a:r>
            <a:r>
              <a:rPr lang="zh-CN" altLang="en-US" dirty="0">
                <a:latin typeface="Times New Roman" panose="02020603050405020304" pitchFamily="18" charset="0"/>
              </a:rPr>
              <a:t>的第 </a:t>
            </a:r>
            <a:r>
              <a:rPr lang="en-US" altLang="zh-CN" i="1">
                <a:latin typeface="Times New Roman" panose="02020603050405020304" pitchFamily="18" charset="0"/>
              </a:rPr>
              <a:t>j </a:t>
            </a:r>
            <a:r>
              <a:rPr lang="zh-CN" altLang="en-US" dirty="0">
                <a:latin typeface="Times New Roman" panose="02020603050405020304" pitchFamily="18" charset="0"/>
              </a:rPr>
              <a:t>列元素的代数余子式</a:t>
            </a:r>
            <a:r>
              <a:rPr lang="en-US" altLang="zh-CN" i="1">
                <a:latin typeface="Times New Roman" panose="02020603050405020304" pitchFamily="18" charset="0"/>
              </a:rPr>
              <a:t>A</a:t>
            </a:r>
            <a:r>
              <a:rPr lang="en-US" altLang="zh-CN" baseline="-25000">
                <a:latin typeface="Times New Roman" panose="02020603050405020304" pitchFamily="18" charset="0"/>
              </a:rPr>
              <a:t>1</a:t>
            </a:r>
            <a:r>
              <a:rPr lang="en-US" altLang="zh-CN" i="1" baseline="-25000">
                <a:latin typeface="Times New Roman" panose="02020603050405020304" pitchFamily="18" charset="0"/>
              </a:rPr>
              <a:t>j</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baseline="-25000">
                <a:latin typeface="Times New Roman" panose="02020603050405020304" pitchFamily="18" charset="0"/>
              </a:rPr>
              <a:t>2</a:t>
            </a:r>
            <a:r>
              <a:rPr lang="en-US" altLang="zh-CN" i="1" baseline="-25000">
                <a:latin typeface="Times New Roman" panose="02020603050405020304" pitchFamily="18" charset="0"/>
              </a:rPr>
              <a:t>j</a:t>
            </a:r>
            <a:r>
              <a:rPr lang="en-US" altLang="zh-CN">
                <a:latin typeface="Times New Roman" panose="02020603050405020304" pitchFamily="18" charset="0"/>
              </a:rPr>
              <a:t>,···, </a:t>
            </a:r>
            <a:r>
              <a:rPr lang="en-US" altLang="zh-CN" i="1" err="1">
                <a:latin typeface="Times New Roman" panose="02020603050405020304" pitchFamily="18" charset="0"/>
              </a:rPr>
              <a:t>A</a:t>
            </a:r>
            <a:r>
              <a:rPr lang="en-US" altLang="zh-CN" i="1" baseline="-25000" err="1">
                <a:latin typeface="Times New Roman" panose="02020603050405020304" pitchFamily="18" charset="0"/>
              </a:rPr>
              <a:t>nj</a:t>
            </a:r>
            <a:r>
              <a:rPr lang="zh-CN" altLang="en-US" dirty="0">
                <a:latin typeface="Times New Roman" panose="02020603050405020304" pitchFamily="18" charset="0"/>
              </a:rPr>
              <a:t>依次乘方程组</a:t>
            </a:r>
            <a:r>
              <a:rPr lang="en-US" altLang="zh-CN">
                <a:latin typeface="Times New Roman" panose="02020603050405020304" pitchFamily="18" charset="0"/>
              </a:rPr>
              <a:t>(1)</a:t>
            </a:r>
            <a:r>
              <a:rPr lang="zh-CN" altLang="en-US" dirty="0">
                <a:latin typeface="Times New Roman" panose="02020603050405020304" pitchFamily="18" charset="0"/>
              </a:rPr>
              <a:t>的</a:t>
            </a:r>
            <a:r>
              <a:rPr lang="en-US" altLang="zh-CN" i="1">
                <a:latin typeface="Times New Roman" panose="02020603050405020304" pitchFamily="18" charset="0"/>
              </a:rPr>
              <a:t>n</a:t>
            </a:r>
            <a:r>
              <a:rPr lang="zh-CN" altLang="en-US" dirty="0">
                <a:latin typeface="Times New Roman" panose="02020603050405020304" pitchFamily="18" charset="0"/>
              </a:rPr>
              <a:t>个方程</a:t>
            </a:r>
            <a:r>
              <a:rPr lang="en-US" altLang="zh-CN">
                <a:latin typeface="Times New Roman" panose="02020603050405020304" pitchFamily="18" charset="0"/>
              </a:rPr>
              <a:t>, </a:t>
            </a:r>
            <a:r>
              <a:rPr lang="zh-CN" altLang="en-US" dirty="0">
                <a:latin typeface="Times New Roman" panose="02020603050405020304" pitchFamily="18" charset="0"/>
              </a:rPr>
              <a:t>得</a:t>
            </a:r>
            <a:endParaRPr lang="zh-CN" altLang="en-US" dirty="0">
              <a:latin typeface="Times New Roman" panose="02020603050405020304" pitchFamily="18" charset="0"/>
            </a:endParaRPr>
          </a:p>
        </p:txBody>
      </p:sp>
      <p:sp>
        <p:nvSpPr>
          <p:cNvPr id="182276" name="文本框 182275"/>
          <p:cNvSpPr txBox="1"/>
          <p:nvPr/>
        </p:nvSpPr>
        <p:spPr>
          <a:xfrm>
            <a:off x="527685" y="4300855"/>
            <a:ext cx="3886200" cy="655320"/>
          </a:xfrm>
          <a:prstGeom prst="rect">
            <a:avLst/>
          </a:prstGeom>
          <a:noFill/>
          <a:ln w="9525">
            <a:noFill/>
          </a:ln>
        </p:spPr>
        <p:txBody>
          <a:bodyPr wrap="none" anchor="t" anchorCtr="0">
            <a:noAutofit/>
          </a:bodyPr>
          <a:p>
            <a:r>
              <a:rPr lang="en-US" altLang="zh-CN" dirty="0">
                <a:latin typeface="Times New Roman" panose="02020603050405020304" pitchFamily="18" charset="0"/>
              </a:rPr>
              <a:t> </a:t>
            </a:r>
            <a:r>
              <a:rPr lang="zh-CN" altLang="en-US" dirty="0">
                <a:latin typeface="Times New Roman" panose="02020603050405020304" pitchFamily="18" charset="0"/>
              </a:rPr>
              <a:t>再把 </a:t>
            </a:r>
            <a:r>
              <a:rPr lang="en-US" altLang="zh-CN" i="1">
                <a:latin typeface="Times New Roman" panose="02020603050405020304" pitchFamily="18" charset="0"/>
              </a:rPr>
              <a:t>n </a:t>
            </a:r>
            <a:r>
              <a:rPr lang="zh-CN" altLang="en-US" dirty="0">
                <a:latin typeface="Times New Roman" panose="02020603050405020304" pitchFamily="18" charset="0"/>
              </a:rPr>
              <a:t>个方程相加</a:t>
            </a:r>
            <a:r>
              <a:rPr lang="en-US" altLang="zh-CN">
                <a:latin typeface="Times New Roman" panose="02020603050405020304" pitchFamily="18" charset="0"/>
              </a:rPr>
              <a:t>, </a:t>
            </a:r>
            <a:r>
              <a:rPr lang="zh-CN" altLang="en-US" dirty="0">
                <a:latin typeface="Times New Roman" panose="02020603050405020304" pitchFamily="18" charset="0"/>
              </a:rPr>
              <a:t>得</a:t>
            </a:r>
            <a:endParaRPr lang="zh-CN" altLang="en-US">
              <a:latin typeface="Times New Roman" panose="02020603050405020304" pitchFamily="18" charset="0"/>
            </a:endParaRPr>
          </a:p>
        </p:txBody>
      </p:sp>
      <p:graphicFrame>
        <p:nvGraphicFramePr>
          <p:cNvPr id="182277" name="对象 182276"/>
          <p:cNvGraphicFramePr/>
          <p:nvPr/>
        </p:nvGraphicFramePr>
        <p:xfrm>
          <a:off x="223838" y="5095875"/>
          <a:ext cx="8656637" cy="868363"/>
        </p:xfrm>
        <a:graphic>
          <a:graphicData uri="http://schemas.openxmlformats.org/presentationml/2006/ole">
            <mc:AlternateContent xmlns:mc="http://schemas.openxmlformats.org/markup-compatibility/2006">
              <mc:Choice xmlns:v="urn:schemas-microsoft-com:vml" Requires="v">
                <p:oleObj spid="_x0000_s3544" name="" r:id="rId3" imgW="8924290" imgH="862965" progId="Equation.3">
                  <p:embed/>
                </p:oleObj>
              </mc:Choice>
              <mc:Fallback>
                <p:oleObj name="" r:id="rId3" imgW="8924290" imgH="862965" progId="Equation.3">
                  <p:embed/>
                  <p:pic>
                    <p:nvPicPr>
                      <p:cNvPr id="0" name="图片 3543"/>
                      <p:cNvPicPr/>
                      <p:nvPr/>
                    </p:nvPicPr>
                    <p:blipFill>
                      <a:blip r:embed="rId4"/>
                      <a:stretch>
                        <a:fillRect/>
                      </a:stretch>
                    </p:blipFill>
                    <p:spPr>
                      <a:xfrm>
                        <a:off x="223838" y="5095875"/>
                        <a:ext cx="8656637" cy="868363"/>
                      </a:xfrm>
                      <a:prstGeom prst="rect">
                        <a:avLst/>
                      </a:prstGeom>
                      <a:noFill/>
                      <a:ln w="38100">
                        <a:noFill/>
                        <a:miter/>
                      </a:ln>
                    </p:spPr>
                  </p:pic>
                </p:oleObj>
              </mc:Fallback>
            </mc:AlternateContent>
          </a:graphicData>
        </a:graphic>
      </p:graphicFrame>
      <p:sp>
        <p:nvSpPr>
          <p:cNvPr id="182278" name="直接连接符 182277"/>
          <p:cNvSpPr/>
          <p:nvPr/>
        </p:nvSpPr>
        <p:spPr>
          <a:xfrm>
            <a:off x="2843213" y="6165850"/>
            <a:ext cx="1873250" cy="0"/>
          </a:xfrm>
          <a:prstGeom prst="line">
            <a:avLst/>
          </a:prstGeom>
          <a:ln w="38100" cap="flat" cmpd="sng">
            <a:solidFill>
              <a:srgbClr val="FF3300"/>
            </a:solidFill>
            <a:prstDash val="solid"/>
            <a:headEnd type="none" w="med" len="med"/>
            <a:tailEnd type="none" w="med" len="med"/>
          </a:ln>
        </p:spPr>
      </p:sp>
      <p:sp>
        <p:nvSpPr>
          <p:cNvPr id="182279" name="文本框 182278"/>
          <p:cNvSpPr txBox="1"/>
          <p:nvPr/>
        </p:nvSpPr>
        <p:spPr>
          <a:xfrm>
            <a:off x="3492500" y="6165850"/>
            <a:ext cx="441325" cy="519113"/>
          </a:xfrm>
          <a:prstGeom prst="rect">
            <a:avLst/>
          </a:prstGeom>
          <a:noFill/>
          <a:ln w="9525">
            <a:noFill/>
          </a:ln>
        </p:spPr>
        <p:txBody>
          <a:bodyPr wrap="none" anchor="t" anchorCtr="0">
            <a:spAutoFit/>
          </a:bodyPr>
          <a:p>
            <a:r>
              <a:rPr lang="en-US" altLang="zh-CN" i="1">
                <a:solidFill>
                  <a:srgbClr val="FF3300"/>
                </a:solidFill>
                <a:latin typeface="Times New Roman" panose="02020603050405020304" pitchFamily="18" charset="0"/>
              </a:rPr>
              <a:t>D</a:t>
            </a:r>
            <a:endParaRPr lang="en-US" altLang="zh-CN" i="1">
              <a:solidFill>
                <a:srgbClr val="FF33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2275">
                                            <p:txEl>
                                              <p:charRg st="0" end="68"/>
                                            </p:txEl>
                                          </p:spTgt>
                                        </p:tgtEl>
                                        <p:attrNameLst>
                                          <p:attrName>style.visibility</p:attrName>
                                        </p:attrNameLst>
                                      </p:cBhvr>
                                      <p:to>
                                        <p:strVal val="visible"/>
                                      </p:to>
                                    </p:set>
                                    <p:animEffect transition="in" filter="box(out)">
                                      <p:cBhvr>
                                        <p:cTn id="7" dur="500"/>
                                        <p:tgtEl>
                                          <p:spTgt spid="182275">
                                            <p:txEl>
                                              <p:charRg st="0" end="68"/>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82274"/>
                                        </p:tgtEl>
                                        <p:attrNameLst>
                                          <p:attrName>style.visibility</p:attrName>
                                        </p:attrNameLst>
                                      </p:cBhvr>
                                      <p:to>
                                        <p:strVal val="visible"/>
                                      </p:to>
                                    </p:set>
                                    <p:animEffect transition="in" filter="box(out)">
                                      <p:cBhvr>
                                        <p:cTn id="12" dur="500"/>
                                        <p:tgtEl>
                                          <p:spTgt spid="18227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82276">
                                            <p:txEl>
                                              <p:charRg st="0" end="15"/>
                                            </p:txEl>
                                          </p:spTgt>
                                        </p:tgtEl>
                                        <p:attrNameLst>
                                          <p:attrName>style.visibility</p:attrName>
                                        </p:attrNameLst>
                                      </p:cBhvr>
                                      <p:to>
                                        <p:strVal val="visible"/>
                                      </p:to>
                                    </p:set>
                                    <p:animEffect transition="in" filter="box(out)">
                                      <p:cBhvr>
                                        <p:cTn id="17" dur="500"/>
                                        <p:tgtEl>
                                          <p:spTgt spid="182276">
                                            <p:txEl>
                                              <p:charRg st="0" end="1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82277"/>
                                        </p:tgtEl>
                                        <p:attrNameLst>
                                          <p:attrName>style.visibility</p:attrName>
                                        </p:attrNameLst>
                                      </p:cBhvr>
                                      <p:to>
                                        <p:strVal val="visible"/>
                                      </p:to>
                                    </p:set>
                                    <p:animEffect transition="in" filter="box(out)">
                                      <p:cBhvr>
                                        <p:cTn id="22" dur="500"/>
                                        <p:tgtEl>
                                          <p:spTgt spid="182277"/>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82278"/>
                                        </p:tgtEl>
                                        <p:attrNameLst>
                                          <p:attrName>style.visibility</p:attrName>
                                        </p:attrNameLst>
                                      </p:cBhvr>
                                      <p:to>
                                        <p:strVal val="visible"/>
                                      </p:to>
                                    </p:set>
                                    <p:anim calcmode="lin" valueType="num">
                                      <p:cBhvr additive="base">
                                        <p:cTn id="27" dur="500" fill="hold"/>
                                        <p:tgtEl>
                                          <p:spTgt spid="182278"/>
                                        </p:tgtEl>
                                        <p:attrNameLst>
                                          <p:attrName>ppt_x</p:attrName>
                                        </p:attrNameLst>
                                      </p:cBhvr>
                                      <p:tavLst>
                                        <p:tav tm="0">
                                          <p:val>
                                            <p:strVal val="#ppt_x"/>
                                          </p:val>
                                        </p:tav>
                                        <p:tav tm="100000">
                                          <p:val>
                                            <p:strVal val="#ppt_x"/>
                                          </p:val>
                                        </p:tav>
                                      </p:tavLst>
                                    </p:anim>
                                    <p:anim calcmode="lin" valueType="num">
                                      <p:cBhvr additive="base">
                                        <p:cTn id="28" dur="500" fill="hold"/>
                                        <p:tgtEl>
                                          <p:spTgt spid="18227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82279"/>
                                        </p:tgtEl>
                                        <p:attrNameLst>
                                          <p:attrName>style.visibility</p:attrName>
                                        </p:attrNameLst>
                                      </p:cBhvr>
                                      <p:to>
                                        <p:strVal val="visible"/>
                                      </p:to>
                                    </p:set>
                                    <p:anim calcmode="lin" valueType="num">
                                      <p:cBhvr additive="base">
                                        <p:cTn id="33" dur="500" fill="hold"/>
                                        <p:tgtEl>
                                          <p:spTgt spid="182279"/>
                                        </p:tgtEl>
                                        <p:attrNameLst>
                                          <p:attrName>ppt_x</p:attrName>
                                        </p:attrNameLst>
                                      </p:cBhvr>
                                      <p:tavLst>
                                        <p:tav tm="0">
                                          <p:val>
                                            <p:strVal val="0-#ppt_w/2"/>
                                          </p:val>
                                        </p:tav>
                                        <p:tav tm="100000">
                                          <p:val>
                                            <p:strVal val="#ppt_x"/>
                                          </p:val>
                                        </p:tav>
                                      </p:tavLst>
                                    </p:anim>
                                    <p:anim calcmode="lin" valueType="num">
                                      <p:cBhvr additive="base">
                                        <p:cTn id="34" dur="500" fill="hold"/>
                                        <p:tgtEl>
                                          <p:spTgt spid="1822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build="p"/>
      <p:bldP spid="182276" grpId="0" advAuto="1000" build="p"/>
      <p:bldP spid="182279"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文本框 183297"/>
          <p:cNvSpPr txBox="1"/>
          <p:nvPr/>
        </p:nvSpPr>
        <p:spPr>
          <a:xfrm>
            <a:off x="613410" y="266700"/>
            <a:ext cx="8167370" cy="1383665"/>
          </a:xfrm>
          <a:prstGeom prst="rect">
            <a:avLst/>
          </a:prstGeom>
          <a:noFill/>
          <a:ln w="9525">
            <a:noFill/>
          </a:ln>
        </p:spPr>
        <p:txBody>
          <a:bodyPr wrap="square" anchor="t" anchorCtr="0">
            <a:spAutoFit/>
          </a:bodyPr>
          <a:p>
            <a:pPr>
              <a:lnSpc>
                <a:spcPct val="150000"/>
              </a:lnSpc>
            </a:pPr>
            <a:r>
              <a:rPr lang="en-US" altLang="zh-CN" dirty="0">
                <a:latin typeface="Times New Roman" panose="02020603050405020304" pitchFamily="18" charset="0"/>
              </a:rPr>
              <a:t>      </a:t>
            </a:r>
            <a:r>
              <a:rPr lang="zh-CN" altLang="en-US" dirty="0">
                <a:latin typeface="Times New Roman" panose="02020603050405020304" pitchFamily="18" charset="0"/>
              </a:rPr>
              <a:t>由行列式代数余子式的性质可知</a:t>
            </a:r>
            <a:r>
              <a:rPr lang="en-US" altLang="zh-CN">
                <a:latin typeface="Times New Roman" panose="02020603050405020304" pitchFamily="18" charset="0"/>
              </a:rPr>
              <a:t>, </a:t>
            </a:r>
            <a:r>
              <a:rPr lang="zh-CN" altLang="en-US" dirty="0">
                <a:latin typeface="Times New Roman" panose="02020603050405020304" pitchFamily="18" charset="0"/>
              </a:rPr>
              <a:t>上式中</a:t>
            </a:r>
            <a:r>
              <a:rPr lang="en-US" altLang="zh-CN" i="1" err="1">
                <a:latin typeface="Times New Roman" panose="02020603050405020304" pitchFamily="18" charset="0"/>
              </a:rPr>
              <a:t>x</a:t>
            </a:r>
            <a:r>
              <a:rPr lang="en-US" altLang="zh-CN" i="1" baseline="-25000" err="1">
                <a:latin typeface="Times New Roman" panose="02020603050405020304" pitchFamily="18" charset="0"/>
              </a:rPr>
              <a:t>j</a:t>
            </a:r>
            <a:r>
              <a:rPr lang="en-US" altLang="zh-CN" i="1" baseline="-25000">
                <a:latin typeface="Times New Roman" panose="02020603050405020304" pitchFamily="18" charset="0"/>
              </a:rPr>
              <a:t> </a:t>
            </a:r>
            <a:r>
              <a:rPr lang="zh-CN" altLang="en-US" dirty="0">
                <a:latin typeface="Times New Roman" panose="02020603050405020304" pitchFamily="18" charset="0"/>
              </a:rPr>
              <a:t>的系数等于</a:t>
            </a:r>
            <a:r>
              <a:rPr lang="en-US" altLang="zh-CN" i="1">
                <a:latin typeface="Times New Roman" panose="02020603050405020304" pitchFamily="18" charset="0"/>
              </a:rPr>
              <a:t>D</a:t>
            </a:r>
            <a:r>
              <a:rPr lang="en-US" altLang="zh-CN">
                <a:latin typeface="Times New Roman" panose="02020603050405020304" pitchFamily="18" charset="0"/>
              </a:rPr>
              <a:t>, </a:t>
            </a:r>
            <a:r>
              <a:rPr lang="zh-CN" altLang="en-US" dirty="0">
                <a:latin typeface="Times New Roman" panose="02020603050405020304" pitchFamily="18" charset="0"/>
              </a:rPr>
              <a:t>而 </a:t>
            </a:r>
            <a:r>
              <a:rPr lang="en-US" altLang="zh-CN" i="1">
                <a:latin typeface="Times New Roman" panose="02020603050405020304" pitchFamily="18" charset="0"/>
              </a:rPr>
              <a:t>x</a:t>
            </a:r>
            <a:r>
              <a:rPr lang="en-US" altLang="zh-CN" i="1" baseline="-25000">
                <a:latin typeface="Times New Roman" panose="02020603050405020304" pitchFamily="18" charset="0"/>
              </a:rPr>
              <a:t>i </a:t>
            </a:r>
            <a:r>
              <a:rPr lang="en-US" altLang="zh-CN">
                <a:latin typeface="Times New Roman" panose="02020603050405020304" pitchFamily="18" charset="0"/>
              </a:rPr>
              <a:t>(</a:t>
            </a:r>
            <a:r>
              <a:rPr lang="en-US" altLang="zh-CN" i="1">
                <a:latin typeface="Times New Roman" panose="02020603050405020304" pitchFamily="18" charset="0"/>
              </a:rPr>
              <a:t>i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j</a:t>
            </a:r>
            <a:r>
              <a:rPr lang="en-US" altLang="zh-CN">
                <a:latin typeface="Times New Roman" panose="02020603050405020304" pitchFamily="18" charset="0"/>
              </a:rPr>
              <a:t>) </a:t>
            </a:r>
            <a:r>
              <a:rPr lang="zh-CN" altLang="en-US" dirty="0">
                <a:latin typeface="Times New Roman" panose="02020603050405020304" pitchFamily="18" charset="0"/>
              </a:rPr>
              <a:t>的系数均等于</a:t>
            </a:r>
            <a:r>
              <a:rPr lang="en-US" altLang="zh-CN">
                <a:latin typeface="Times New Roman" panose="02020603050405020304" pitchFamily="18" charset="0"/>
              </a:rPr>
              <a:t>0, </a:t>
            </a:r>
            <a:r>
              <a:rPr lang="zh-CN" altLang="en-US" dirty="0">
                <a:latin typeface="Times New Roman" panose="02020603050405020304" pitchFamily="18" charset="0"/>
              </a:rPr>
              <a:t>等式右端为</a:t>
            </a:r>
            <a:r>
              <a:rPr lang="en-US" altLang="zh-CN" i="1" err="1">
                <a:latin typeface="Times New Roman" panose="02020603050405020304" pitchFamily="18" charset="0"/>
              </a:rPr>
              <a:t>D</a:t>
            </a:r>
            <a:r>
              <a:rPr lang="en-US" altLang="zh-CN" i="1" baseline="-25000" err="1">
                <a:latin typeface="Times New Roman" panose="02020603050405020304" pitchFamily="18" charset="0"/>
              </a:rPr>
              <a:t>j</a:t>
            </a:r>
            <a:r>
              <a:rPr lang="en-US" altLang="zh-CN" i="1" baseline="-25000">
                <a:latin typeface="Times New Roman" panose="02020603050405020304" pitchFamily="18" charset="0"/>
              </a:rPr>
              <a:t> </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83299" name="文本框 183298"/>
          <p:cNvSpPr txBox="1"/>
          <p:nvPr/>
        </p:nvSpPr>
        <p:spPr>
          <a:xfrm>
            <a:off x="1167130" y="1978025"/>
            <a:ext cx="946150" cy="521970"/>
          </a:xfrm>
          <a:prstGeom prst="rect">
            <a:avLst/>
          </a:prstGeom>
          <a:noFill/>
          <a:ln w="9525">
            <a:noFill/>
          </a:ln>
        </p:spPr>
        <p:txBody>
          <a:bodyPr wrap="square" anchor="t" anchorCtr="0">
            <a:spAutoFit/>
          </a:bodyPr>
          <a:p>
            <a:r>
              <a:rPr lang="zh-CN" altLang="en-US" dirty="0">
                <a:latin typeface="Times New Roman" panose="02020603050405020304" pitchFamily="18" charset="0"/>
              </a:rPr>
              <a:t>于是</a:t>
            </a:r>
            <a:endParaRPr lang="zh-CN" altLang="en-US">
              <a:latin typeface="Times New Roman" panose="02020603050405020304" pitchFamily="18" charset="0"/>
            </a:endParaRPr>
          </a:p>
        </p:txBody>
      </p:sp>
      <p:sp>
        <p:nvSpPr>
          <p:cNvPr id="183300" name="矩形 183299"/>
          <p:cNvSpPr/>
          <p:nvPr/>
        </p:nvSpPr>
        <p:spPr>
          <a:xfrm>
            <a:off x="1130300" y="2511425"/>
            <a:ext cx="5794375" cy="519113"/>
          </a:xfrm>
          <a:prstGeom prst="rect">
            <a:avLst/>
          </a:prstGeom>
          <a:noFill/>
          <a:ln w="9525">
            <a:noFill/>
          </a:ln>
        </p:spPr>
        <p:txBody>
          <a:bodyPr wrap="none" anchor="t" anchorCtr="0">
            <a:spAutoFit/>
          </a:bodyPr>
          <a:p>
            <a:r>
              <a:rPr lang="zh-CN" altLang="en-US" dirty="0">
                <a:latin typeface="Times New Roman" panose="02020603050405020304" pitchFamily="18" charset="0"/>
              </a:rPr>
              <a:t>因此</a:t>
            </a:r>
            <a:r>
              <a:rPr lang="en-US" altLang="zh-CN">
                <a:latin typeface="Times New Roman" panose="02020603050405020304" pitchFamily="18" charset="0"/>
              </a:rPr>
              <a:t>, </a:t>
            </a:r>
            <a:r>
              <a:rPr lang="zh-CN" altLang="en-US" dirty="0">
                <a:latin typeface="Times New Roman" panose="02020603050405020304" pitchFamily="18" charset="0"/>
              </a:rPr>
              <a:t>当 </a:t>
            </a:r>
            <a:r>
              <a:rPr lang="en-US" altLang="zh-CN" i="1">
                <a:latin typeface="Times New Roman" panose="02020603050405020304" pitchFamily="18" charset="0"/>
              </a:rPr>
              <a:t>D</a:t>
            </a:r>
            <a:r>
              <a:rPr lang="en-US" altLang="zh-CN">
                <a:latin typeface="Times New Roman" panose="02020603050405020304" pitchFamily="18" charset="0"/>
                <a:sym typeface="Symbol" panose="05050102010706020507" pitchFamily="18" charset="2"/>
              </a:rPr>
              <a:t>0 </a:t>
            </a:r>
            <a:r>
              <a:rPr lang="zh-CN" altLang="en-US" dirty="0">
                <a:latin typeface="Times New Roman" panose="02020603050405020304" pitchFamily="18" charset="0"/>
              </a:rPr>
              <a:t>时</a:t>
            </a:r>
            <a:r>
              <a:rPr lang="en-US" altLang="zh-CN">
                <a:latin typeface="Times New Roman" panose="02020603050405020304" pitchFamily="18" charset="0"/>
              </a:rPr>
              <a:t>, </a:t>
            </a:r>
            <a:r>
              <a:rPr lang="zh-CN" altLang="en-US" dirty="0">
                <a:latin typeface="Times New Roman" panose="02020603050405020304" pitchFamily="18" charset="0"/>
              </a:rPr>
              <a:t>方程组</a:t>
            </a:r>
            <a:r>
              <a:rPr lang="en-US" altLang="zh-CN">
                <a:latin typeface="Times New Roman" panose="02020603050405020304" pitchFamily="18" charset="0"/>
              </a:rPr>
              <a:t>(2)</a:t>
            </a:r>
            <a:r>
              <a:rPr lang="zh-CN" altLang="en-US" dirty="0">
                <a:latin typeface="Times New Roman" panose="02020603050405020304" pitchFamily="18" charset="0"/>
              </a:rPr>
              <a:t>有唯一解</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83301" name="文本框 183300"/>
          <p:cNvSpPr txBox="1"/>
          <p:nvPr/>
        </p:nvSpPr>
        <p:spPr>
          <a:xfrm>
            <a:off x="2916238" y="1916113"/>
            <a:ext cx="4068762" cy="519112"/>
          </a:xfrm>
          <a:prstGeom prst="rect">
            <a:avLst/>
          </a:prstGeom>
          <a:noFill/>
          <a:ln w="9525">
            <a:noFill/>
          </a:ln>
        </p:spPr>
        <p:txBody>
          <a:bodyPr wrap="none" anchor="t" anchorCtr="0">
            <a:spAutoFit/>
          </a:bodyPr>
          <a:p>
            <a:r>
              <a:rPr lang="en-US" altLang="zh-CN" i="1" err="1">
                <a:latin typeface="Times New Roman" panose="02020603050405020304" pitchFamily="18" charset="0"/>
              </a:rPr>
              <a:t>Dx</a:t>
            </a:r>
            <a:r>
              <a:rPr lang="en-US" altLang="zh-CN" i="1" baseline="-25000" err="1">
                <a:latin typeface="Times New Roman" panose="02020603050405020304" pitchFamily="18" charset="0"/>
              </a:rPr>
              <a:t>j</a:t>
            </a:r>
            <a:r>
              <a:rPr lang="en-US" altLang="zh-CN">
                <a:latin typeface="Times New Roman" panose="02020603050405020304" pitchFamily="18" charset="0"/>
              </a:rPr>
              <a:t>=</a:t>
            </a:r>
            <a:r>
              <a:rPr lang="en-US" altLang="zh-CN" i="1" err="1">
                <a:latin typeface="Times New Roman" panose="02020603050405020304" pitchFamily="18" charset="0"/>
              </a:rPr>
              <a:t>D</a:t>
            </a:r>
            <a:r>
              <a:rPr lang="en-US" altLang="zh-CN" i="1" baseline="-25000" err="1">
                <a:latin typeface="Times New Roman" panose="02020603050405020304" pitchFamily="18" charset="0"/>
              </a:rPr>
              <a:t>j</a:t>
            </a:r>
            <a:r>
              <a:rPr lang="en-US" altLang="zh-CN" i="1" baseline="-25000">
                <a:latin typeface="Times New Roman" panose="02020603050405020304" pitchFamily="18" charset="0"/>
              </a:rPr>
              <a:t>             </a:t>
            </a:r>
            <a:r>
              <a:rPr lang="en-US" altLang="zh-CN">
                <a:latin typeface="Times New Roman" panose="02020603050405020304" pitchFamily="18" charset="0"/>
              </a:rPr>
              <a:t>( </a:t>
            </a:r>
            <a:r>
              <a:rPr lang="en-US" altLang="zh-CN" i="1">
                <a:latin typeface="Times New Roman" panose="02020603050405020304" pitchFamily="18" charset="0"/>
              </a:rPr>
              <a:t>j</a:t>
            </a:r>
            <a:r>
              <a:rPr lang="en-US" altLang="zh-CN">
                <a:latin typeface="Times New Roman" panose="02020603050405020304" pitchFamily="18" charset="0"/>
              </a:rPr>
              <a:t>=1, 2, ··· , </a:t>
            </a:r>
            <a:r>
              <a:rPr lang="en-US" altLang="zh-CN" i="1">
                <a:latin typeface="Times New Roman" panose="02020603050405020304" pitchFamily="18" charset="0"/>
              </a:rPr>
              <a:t>n</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83302" name="文本框 183301"/>
          <p:cNvSpPr txBox="1"/>
          <p:nvPr/>
        </p:nvSpPr>
        <p:spPr>
          <a:xfrm>
            <a:off x="7451725" y="1901825"/>
            <a:ext cx="600075" cy="519113"/>
          </a:xfrm>
          <a:prstGeom prst="rect">
            <a:avLst/>
          </a:prstGeom>
          <a:noFill/>
          <a:ln w="9525">
            <a:noFill/>
          </a:ln>
        </p:spPr>
        <p:txBody>
          <a:bodyPr wrap="none" anchor="t" anchorCtr="0">
            <a:spAutoFit/>
          </a:bodyPr>
          <a:p>
            <a:r>
              <a:rPr lang="en-US" altLang="zh-CN">
                <a:latin typeface="Times New Roman" panose="02020603050405020304" pitchFamily="18" charset="0"/>
              </a:rPr>
              <a:t>(2)</a:t>
            </a:r>
            <a:endParaRPr lang="en-US" altLang="zh-CN">
              <a:latin typeface="Times New Roman" panose="02020603050405020304" pitchFamily="18" charset="0"/>
            </a:endParaRPr>
          </a:p>
        </p:txBody>
      </p:sp>
      <p:sp>
        <p:nvSpPr>
          <p:cNvPr id="183304" name="矩形 183303"/>
          <p:cNvSpPr/>
          <p:nvPr/>
        </p:nvSpPr>
        <p:spPr>
          <a:xfrm>
            <a:off x="1130300" y="3897313"/>
            <a:ext cx="5016500" cy="519112"/>
          </a:xfrm>
          <a:prstGeom prst="rect">
            <a:avLst/>
          </a:prstGeom>
          <a:noFill/>
          <a:ln w="9525">
            <a:noFill/>
          </a:ln>
        </p:spPr>
        <p:txBody>
          <a:bodyPr wrap="none" anchor="t" anchorCtr="0">
            <a:spAutoFit/>
          </a:bodyPr>
          <a:p>
            <a:r>
              <a:rPr lang="zh-CN" altLang="en-US" dirty="0">
                <a:latin typeface="Times New Roman" panose="02020603050405020304" pitchFamily="18" charset="0"/>
              </a:rPr>
              <a:t>由于方程组</a:t>
            </a:r>
            <a:r>
              <a:rPr lang="en-US" altLang="zh-CN">
                <a:latin typeface="Times New Roman" panose="02020603050405020304" pitchFamily="18" charset="0"/>
              </a:rPr>
              <a:t>(2)</a:t>
            </a:r>
            <a:r>
              <a:rPr lang="zh-CN" altLang="en-US" dirty="0">
                <a:latin typeface="Times New Roman" panose="02020603050405020304" pitchFamily="18" charset="0"/>
              </a:rPr>
              <a:t>与方程组</a:t>
            </a:r>
            <a:r>
              <a:rPr lang="en-US" altLang="zh-CN">
                <a:latin typeface="Times New Roman" panose="02020603050405020304" pitchFamily="18" charset="0"/>
              </a:rPr>
              <a:t>(1)</a:t>
            </a:r>
            <a:r>
              <a:rPr lang="zh-CN" altLang="en-US" dirty="0">
                <a:latin typeface="Times New Roman" panose="02020603050405020304" pitchFamily="18" charset="0"/>
              </a:rPr>
              <a:t>等价</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83305" name="文本框 183304"/>
          <p:cNvSpPr txBox="1"/>
          <p:nvPr/>
        </p:nvSpPr>
        <p:spPr>
          <a:xfrm>
            <a:off x="756920" y="4582160"/>
            <a:ext cx="927100" cy="701040"/>
          </a:xfrm>
          <a:prstGeom prst="rect">
            <a:avLst/>
          </a:prstGeom>
          <a:noFill/>
          <a:ln w="9525">
            <a:noFill/>
          </a:ln>
        </p:spPr>
        <p:txBody>
          <a:bodyPr wrap="square" anchor="t" anchorCtr="0">
            <a:noAutofit/>
          </a:bodyPr>
          <a:p>
            <a:r>
              <a:rPr lang="zh-CN" altLang="en-US">
                <a:latin typeface="Times New Roman" panose="02020603050405020304" pitchFamily="18" charset="0"/>
              </a:rPr>
              <a:t>故</a:t>
            </a:r>
            <a:endParaRPr lang="zh-CN" altLang="en-US">
              <a:latin typeface="Times New Roman" panose="02020603050405020304" pitchFamily="18" charset="0"/>
            </a:endParaRPr>
          </a:p>
        </p:txBody>
      </p:sp>
      <p:sp>
        <p:nvSpPr>
          <p:cNvPr id="183306" name="矩形 183305"/>
          <p:cNvSpPr/>
          <p:nvPr/>
        </p:nvSpPr>
        <p:spPr>
          <a:xfrm>
            <a:off x="1861185" y="5283200"/>
            <a:ext cx="4545330" cy="521970"/>
          </a:xfrm>
          <a:prstGeom prst="rect">
            <a:avLst/>
          </a:prstGeom>
          <a:noFill/>
          <a:ln w="9525">
            <a:noFill/>
          </a:ln>
        </p:spPr>
        <p:txBody>
          <a:bodyPr wrap="square" anchor="t" anchorCtr="0">
            <a:spAutoFit/>
          </a:bodyPr>
          <a:p>
            <a:r>
              <a:rPr lang="zh-CN" altLang="en-US" dirty="0">
                <a:latin typeface="Times New Roman" panose="02020603050405020304" pitchFamily="18" charset="0"/>
              </a:rPr>
              <a:t>也是方程组</a:t>
            </a:r>
            <a:r>
              <a:rPr lang="en-US" altLang="zh-CN">
                <a:latin typeface="Times New Roman" panose="02020603050405020304" pitchFamily="18" charset="0"/>
              </a:rPr>
              <a:t>(1)</a:t>
            </a:r>
            <a:r>
              <a:rPr lang="zh-CN" altLang="en-US" dirty="0">
                <a:latin typeface="Times New Roman" panose="02020603050405020304" pitchFamily="18" charset="0"/>
              </a:rPr>
              <a:t>的唯一解</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2" name="对象 -2147482113"/>
          <p:cNvGraphicFramePr>
            <a:graphicFrameLocks noChangeAspect="1"/>
          </p:cNvGraphicFramePr>
          <p:nvPr/>
        </p:nvGraphicFramePr>
        <p:xfrm>
          <a:off x="1836420" y="4378325"/>
          <a:ext cx="4197350" cy="890905"/>
        </p:xfrm>
        <a:graphic>
          <a:graphicData uri="http://schemas.openxmlformats.org/presentationml/2006/ole">
            <mc:AlternateContent xmlns:mc="http://schemas.openxmlformats.org/markup-compatibility/2006">
              <mc:Choice xmlns:v="urn:schemas-microsoft-com:vml" Requires="v">
                <p:oleObj spid="_x0000_s3076" name="" r:id="rId1" imgW="1841500" imgH="393700" progId="Equation.DSMT4">
                  <p:embed/>
                </p:oleObj>
              </mc:Choice>
              <mc:Fallback>
                <p:oleObj name="" r:id="rId1" imgW="1841500" imgH="393700" progId="Equation.DSMT4">
                  <p:embed/>
                  <p:pic>
                    <p:nvPicPr>
                      <p:cNvPr id="0" name="图片 3075"/>
                      <p:cNvPicPr/>
                      <p:nvPr/>
                    </p:nvPicPr>
                    <p:blipFill>
                      <a:blip r:embed="rId2"/>
                      <a:stretch>
                        <a:fillRect/>
                      </a:stretch>
                    </p:blipFill>
                    <p:spPr>
                      <a:xfrm>
                        <a:off x="1836420" y="4378325"/>
                        <a:ext cx="4197350" cy="890905"/>
                      </a:xfrm>
                      <a:prstGeom prst="rect">
                        <a:avLst/>
                      </a:prstGeom>
                      <a:noFill/>
                      <a:ln w="38100">
                        <a:noFill/>
                        <a:miter/>
                      </a:ln>
                    </p:spPr>
                  </p:pic>
                </p:oleObj>
              </mc:Fallback>
            </mc:AlternateContent>
          </a:graphicData>
        </a:graphic>
      </p:graphicFrame>
      <p:graphicFrame>
        <p:nvGraphicFramePr>
          <p:cNvPr id="3" name="对象 -2147482113"/>
          <p:cNvGraphicFramePr>
            <a:graphicFrameLocks noChangeAspect="1"/>
          </p:cNvGraphicFramePr>
          <p:nvPr/>
        </p:nvGraphicFramePr>
        <p:xfrm>
          <a:off x="1835785" y="3063875"/>
          <a:ext cx="3963670" cy="847090"/>
        </p:xfrm>
        <a:graphic>
          <a:graphicData uri="http://schemas.openxmlformats.org/presentationml/2006/ole">
            <mc:AlternateContent xmlns:mc="http://schemas.openxmlformats.org/markup-compatibility/2006">
              <mc:Choice xmlns:v="urn:schemas-microsoft-com:vml" Requires="v">
                <p:oleObj spid="_x0000_s4" name="" r:id="rId3" imgW="1841500" imgH="393700" progId="Equation.DSMT4">
                  <p:embed/>
                </p:oleObj>
              </mc:Choice>
              <mc:Fallback>
                <p:oleObj name="" r:id="rId3" imgW="1841500" imgH="393700" progId="Equation.DSMT4">
                  <p:embed/>
                  <p:pic>
                    <p:nvPicPr>
                      <p:cNvPr id="0" name="图片 3075"/>
                      <p:cNvPicPr/>
                      <p:nvPr/>
                    </p:nvPicPr>
                    <p:blipFill>
                      <a:blip r:embed="rId2"/>
                      <a:stretch>
                        <a:fillRect/>
                      </a:stretch>
                    </p:blipFill>
                    <p:spPr>
                      <a:xfrm>
                        <a:off x="1835785" y="3063875"/>
                        <a:ext cx="3963670" cy="84709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3298">
                                            <p:txEl>
                                              <p:charRg st="0" end="70"/>
                                            </p:txEl>
                                          </p:spTgt>
                                        </p:tgtEl>
                                        <p:attrNameLst>
                                          <p:attrName>style.visibility</p:attrName>
                                        </p:attrNameLst>
                                      </p:cBhvr>
                                      <p:to>
                                        <p:strVal val="visible"/>
                                      </p:to>
                                    </p:set>
                                    <p:animEffect transition="in" filter="box(out)">
                                      <p:cBhvr>
                                        <p:cTn id="7" dur="500"/>
                                        <p:tgtEl>
                                          <p:spTgt spid="183298">
                                            <p:txEl>
                                              <p:charRg st="0" end="7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83299">
                                            <p:txEl>
                                              <p:charRg st="0" end="3"/>
                                            </p:txEl>
                                          </p:spTgt>
                                        </p:tgtEl>
                                        <p:attrNameLst>
                                          <p:attrName>style.visibility</p:attrName>
                                        </p:attrNameLst>
                                      </p:cBhvr>
                                      <p:to>
                                        <p:strVal val="visible"/>
                                      </p:to>
                                    </p:set>
                                    <p:animEffect transition="in" filter="box(out)">
                                      <p:cBhvr>
                                        <p:cTn id="12" dur="500"/>
                                        <p:tgtEl>
                                          <p:spTgt spid="183299">
                                            <p:txEl>
                                              <p:charRg st="0" end="3"/>
                                            </p:txEl>
                                          </p:spTgt>
                                        </p:tgtEl>
                                      </p:cBhvr>
                                    </p:animEffect>
                                  </p:childTnLst>
                                </p:cTn>
                              </p:par>
                            </p:childTnLst>
                          </p:cTn>
                        </p:par>
                        <p:par>
                          <p:cTn id="13" fill="hold">
                            <p:stCondLst>
                              <p:cond delay="500"/>
                            </p:stCondLst>
                            <p:childTnLst>
                              <p:par>
                                <p:cTn id="14" presetID="4" presetClass="entr" presetSubtype="32" fill="hold" grpId="0" nodeType="afterEffect">
                                  <p:stCondLst>
                                    <p:cond delay="0"/>
                                  </p:stCondLst>
                                  <p:childTnLst>
                                    <p:set>
                                      <p:cBhvr>
                                        <p:cTn id="15" dur="1" fill="hold">
                                          <p:stCondLst>
                                            <p:cond delay="0"/>
                                          </p:stCondLst>
                                        </p:cTn>
                                        <p:tgtEl>
                                          <p:spTgt spid="183301">
                                            <p:txEl>
                                              <p:charRg st="0" end="38"/>
                                            </p:txEl>
                                          </p:spTgt>
                                        </p:tgtEl>
                                        <p:attrNameLst>
                                          <p:attrName>style.visibility</p:attrName>
                                        </p:attrNameLst>
                                      </p:cBhvr>
                                      <p:to>
                                        <p:strVal val="visible"/>
                                      </p:to>
                                    </p:set>
                                    <p:animEffect transition="in" filter="box(out)">
                                      <p:cBhvr>
                                        <p:cTn id="16" dur="500"/>
                                        <p:tgtEl>
                                          <p:spTgt spid="183301">
                                            <p:txEl>
                                              <p:charRg st="0" end="38"/>
                                            </p:txEl>
                                          </p:spTgt>
                                        </p:tgtEl>
                                      </p:cBhvr>
                                    </p:animEffect>
                                  </p:childTnLst>
                                </p:cTn>
                              </p:par>
                            </p:childTnLst>
                          </p:cTn>
                        </p:par>
                        <p:par>
                          <p:cTn id="17" fill="hold">
                            <p:stCondLst>
                              <p:cond delay="1000"/>
                            </p:stCondLst>
                            <p:childTnLst>
                              <p:par>
                                <p:cTn id="18" presetID="4" presetClass="entr" presetSubtype="32" fill="hold" grpId="0" nodeType="afterEffect">
                                  <p:stCondLst>
                                    <p:cond delay="0"/>
                                  </p:stCondLst>
                                  <p:childTnLst>
                                    <p:set>
                                      <p:cBhvr>
                                        <p:cTn id="19" dur="1" fill="hold">
                                          <p:stCondLst>
                                            <p:cond delay="0"/>
                                          </p:stCondLst>
                                        </p:cTn>
                                        <p:tgtEl>
                                          <p:spTgt spid="183302">
                                            <p:txEl>
                                              <p:charRg st="0" end="4"/>
                                            </p:txEl>
                                          </p:spTgt>
                                        </p:tgtEl>
                                        <p:attrNameLst>
                                          <p:attrName>style.visibility</p:attrName>
                                        </p:attrNameLst>
                                      </p:cBhvr>
                                      <p:to>
                                        <p:strVal val="visible"/>
                                      </p:to>
                                    </p:set>
                                    <p:animEffect transition="in" filter="box(out)">
                                      <p:cBhvr>
                                        <p:cTn id="20" dur="500"/>
                                        <p:tgtEl>
                                          <p:spTgt spid="183302">
                                            <p:txEl>
                                              <p:charRg st="0"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83300">
                                            <p:txEl>
                                              <p:charRg st="0" end="25"/>
                                            </p:txEl>
                                          </p:spTgt>
                                        </p:tgtEl>
                                        <p:attrNameLst>
                                          <p:attrName>style.visibility</p:attrName>
                                        </p:attrNameLst>
                                      </p:cBhvr>
                                      <p:to>
                                        <p:strVal val="visible"/>
                                      </p:to>
                                    </p:set>
                                    <p:animEffect transition="in" filter="box(out)">
                                      <p:cBhvr>
                                        <p:cTn id="25" dur="500"/>
                                        <p:tgtEl>
                                          <p:spTgt spid="183300">
                                            <p:txEl>
                                              <p:charRg st="0" end="2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down)">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83304">
                                            <p:txEl>
                                              <p:charRg st="0" end="19"/>
                                            </p:txEl>
                                          </p:spTgt>
                                        </p:tgtEl>
                                        <p:attrNameLst>
                                          <p:attrName>style.visibility</p:attrName>
                                        </p:attrNameLst>
                                      </p:cBhvr>
                                      <p:to>
                                        <p:strVal val="visible"/>
                                      </p:to>
                                    </p:set>
                                    <p:animEffect transition="in" filter="box(out)">
                                      <p:cBhvr>
                                        <p:cTn id="35" dur="500"/>
                                        <p:tgtEl>
                                          <p:spTgt spid="183304">
                                            <p:txEl>
                                              <p:charRg st="0" end="1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83305">
                                            <p:txEl>
                                              <p:charRg st="0" end="2"/>
                                            </p:txEl>
                                          </p:spTgt>
                                        </p:tgtEl>
                                        <p:attrNameLst>
                                          <p:attrName>style.visibility</p:attrName>
                                        </p:attrNameLst>
                                      </p:cBhvr>
                                      <p:to>
                                        <p:strVal val="visible"/>
                                      </p:to>
                                    </p:set>
                                    <p:animEffect transition="in" filter="box(out)">
                                      <p:cBhvr>
                                        <p:cTn id="40" dur="500"/>
                                        <p:tgtEl>
                                          <p:spTgt spid="183305">
                                            <p:txEl>
                                              <p:charRg st="0"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down)">
                                      <p:cBhvr>
                                        <p:cTn id="45" dur="500"/>
                                        <p:tgtEl>
                                          <p:spTgt spid="2"/>
                                        </p:tgtEl>
                                      </p:cBhvr>
                                    </p:animEffect>
                                  </p:childTnLst>
                                </p:cTn>
                              </p:par>
                            </p:childTnLst>
                          </p:cTn>
                        </p:par>
                        <p:par>
                          <p:cTn id="46" fill="hold">
                            <p:stCondLst>
                              <p:cond delay="500"/>
                            </p:stCondLst>
                            <p:childTnLst>
                              <p:par>
                                <p:cTn id="47" presetID="4" presetClass="entr" presetSubtype="32" fill="hold" grpId="0" nodeType="afterEffect">
                                  <p:stCondLst>
                                    <p:cond delay="0"/>
                                  </p:stCondLst>
                                  <p:childTnLst>
                                    <p:set>
                                      <p:cBhvr>
                                        <p:cTn id="48" dur="1" fill="hold">
                                          <p:stCondLst>
                                            <p:cond delay="0"/>
                                          </p:stCondLst>
                                        </p:cTn>
                                        <p:tgtEl>
                                          <p:spTgt spid="183306">
                                            <p:txEl>
                                              <p:charRg st="0" end="14"/>
                                            </p:txEl>
                                          </p:spTgt>
                                        </p:tgtEl>
                                        <p:attrNameLst>
                                          <p:attrName>style.visibility</p:attrName>
                                        </p:attrNameLst>
                                      </p:cBhvr>
                                      <p:to>
                                        <p:strVal val="visible"/>
                                      </p:to>
                                    </p:set>
                                    <p:animEffect transition="in" filter="box(out)">
                                      <p:cBhvr>
                                        <p:cTn id="49" dur="500"/>
                                        <p:tgtEl>
                                          <p:spTgt spid="183306">
                                            <p:txEl>
                                              <p:charRg st="0"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build="p"/>
      <p:bldP spid="183299" grpId="0" build="p"/>
      <p:bldP spid="183300" grpId="0" build="p"/>
      <p:bldP spid="183301" grpId="0" advAuto="1000" build="p"/>
      <p:bldP spid="183302" grpId="0" advAuto="1000" build="p"/>
      <p:bldP spid="183304" grpId="0" build="p"/>
      <p:bldP spid="183305" grpId="0" build="p"/>
      <p:bldP spid="183306" grpId="0" advAuto="100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矩形 184321"/>
          <p:cNvSpPr/>
          <p:nvPr/>
        </p:nvSpPr>
        <p:spPr>
          <a:xfrm>
            <a:off x="395605" y="3382645"/>
            <a:ext cx="8456930" cy="995045"/>
          </a:xfrm>
          <a:prstGeom prst="rect">
            <a:avLst/>
          </a:prstGeom>
          <a:noFill/>
          <a:ln w="9525">
            <a:noFill/>
          </a:ln>
        </p:spPr>
        <p:txBody>
          <a:bodyPr anchor="t" anchorCtr="0">
            <a:noAutofit/>
          </a:bodyPr>
          <a:p>
            <a:pPr>
              <a:lnSpc>
                <a:spcPct val="105000"/>
              </a:lnSpc>
            </a:pPr>
            <a:r>
              <a:rPr lang="en-US" altLang="zh-CN" dirty="0">
                <a:solidFill>
                  <a:srgbClr val="0000FF"/>
                </a:solidFill>
                <a:latin typeface="Times New Roman" panose="02020603050405020304" pitchFamily="18" charset="0"/>
                <a:ea typeface="黑体" panose="02010609060101010101" pitchFamily="2" charset="-122"/>
              </a:rPr>
              <a:t> </a:t>
            </a:r>
            <a:r>
              <a:rPr lang="zh-CN" altLang="en-US" dirty="0">
                <a:solidFill>
                  <a:srgbClr val="FF3300"/>
                </a:solidFill>
                <a:latin typeface="Times New Roman" panose="02020603050405020304" pitchFamily="18" charset="0"/>
                <a:ea typeface="黑体" panose="02010609060101010101" pitchFamily="2" charset="-122"/>
              </a:rPr>
              <a:t>定理</a:t>
            </a:r>
            <a:r>
              <a:rPr lang="en-US" altLang="zh-CN" dirty="0">
                <a:solidFill>
                  <a:srgbClr val="FF3300"/>
                </a:solidFill>
                <a:latin typeface="Times New Roman" panose="02020603050405020304" pitchFamily="18" charset="0"/>
                <a:ea typeface="黑体" panose="02010609060101010101" pitchFamily="2" charset="-122"/>
              </a:rPr>
              <a:t>1.4.3</a:t>
            </a:r>
            <a:r>
              <a:rPr lang="en-US" altLang="zh-CN">
                <a:solidFill>
                  <a:srgbClr val="FF3300"/>
                </a:solidFill>
                <a:latin typeface="Times New Roman" panose="02020603050405020304" pitchFamily="18" charset="0"/>
                <a:ea typeface="黑体" panose="02010609060101010101" pitchFamily="2" charset="-122"/>
              </a:rPr>
              <a:t>:</a:t>
            </a:r>
            <a:r>
              <a:rPr lang="en-US" altLang="zh-CN">
                <a:solidFill>
                  <a:srgbClr val="0000FF"/>
                </a:solidFill>
                <a:latin typeface="Times New Roman" panose="02020603050405020304" pitchFamily="18" charset="0"/>
              </a:rPr>
              <a:t> </a:t>
            </a:r>
            <a:r>
              <a:rPr lang="zh-CN" altLang="en-US" dirty="0">
                <a:latin typeface="Times New Roman" panose="02020603050405020304" pitchFamily="18" charset="0"/>
              </a:rPr>
              <a:t>如果线性方程组</a:t>
            </a:r>
            <a:r>
              <a:rPr lang="en-US" altLang="zh-CN">
                <a:latin typeface="Times New Roman" panose="02020603050405020304" pitchFamily="18" charset="0"/>
              </a:rPr>
              <a:t>(1)</a:t>
            </a:r>
            <a:r>
              <a:rPr lang="zh-CN" altLang="en-US" dirty="0">
                <a:latin typeface="Times New Roman" panose="02020603050405020304" pitchFamily="18" charset="0"/>
              </a:rPr>
              <a:t>无解或有解但不唯一</a:t>
            </a:r>
            <a:r>
              <a:rPr lang="en-US" altLang="zh-CN">
                <a:latin typeface="Times New Roman" panose="02020603050405020304" pitchFamily="18" charset="0"/>
              </a:rPr>
              <a:t>, </a:t>
            </a:r>
            <a:r>
              <a:rPr lang="zh-CN" altLang="en-US" dirty="0">
                <a:latin typeface="Times New Roman" panose="02020603050405020304" pitchFamily="18" charset="0"/>
              </a:rPr>
              <a:t>则它的系数行列式必为零</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184323" name="对象 184322"/>
          <p:cNvGraphicFramePr/>
          <p:nvPr/>
        </p:nvGraphicFramePr>
        <p:xfrm>
          <a:off x="1619250" y="764540"/>
          <a:ext cx="4662488" cy="1727200"/>
        </p:xfrm>
        <a:graphic>
          <a:graphicData uri="http://schemas.openxmlformats.org/presentationml/2006/ole">
            <mc:AlternateContent xmlns:mc="http://schemas.openxmlformats.org/markup-compatibility/2006">
              <mc:Choice xmlns:v="urn:schemas-microsoft-com:vml" Requires="v">
                <p:oleObj spid="_x0000_s3546" name="" r:id="rId1" imgW="4660900" imgH="1727200" progId="Equation.3">
                  <p:embed/>
                </p:oleObj>
              </mc:Choice>
              <mc:Fallback>
                <p:oleObj name="" r:id="rId1" imgW="4660900" imgH="1727200" progId="Equation.3">
                  <p:embed/>
                  <p:pic>
                    <p:nvPicPr>
                      <p:cNvPr id="0" name="图片 3545"/>
                      <p:cNvPicPr/>
                      <p:nvPr/>
                    </p:nvPicPr>
                    <p:blipFill>
                      <a:blip r:embed="rId2"/>
                      <a:stretch>
                        <a:fillRect/>
                      </a:stretch>
                    </p:blipFill>
                    <p:spPr>
                      <a:xfrm>
                        <a:off x="1619250" y="764540"/>
                        <a:ext cx="4662488" cy="1727200"/>
                      </a:xfrm>
                      <a:prstGeom prst="rect">
                        <a:avLst/>
                      </a:prstGeom>
                      <a:noFill/>
                      <a:ln w="38100">
                        <a:noFill/>
                        <a:miter/>
                      </a:ln>
                    </p:spPr>
                  </p:pic>
                </p:oleObj>
              </mc:Fallback>
            </mc:AlternateContent>
          </a:graphicData>
        </a:graphic>
      </p:graphicFrame>
      <p:sp>
        <p:nvSpPr>
          <p:cNvPr id="184324" name="矩形 184323"/>
          <p:cNvSpPr/>
          <p:nvPr/>
        </p:nvSpPr>
        <p:spPr>
          <a:xfrm>
            <a:off x="611505" y="116205"/>
            <a:ext cx="5536565" cy="521970"/>
          </a:xfrm>
          <a:prstGeom prst="rect">
            <a:avLst/>
          </a:prstGeom>
          <a:noFill/>
          <a:ln w="9525">
            <a:noFill/>
          </a:ln>
        </p:spPr>
        <p:txBody>
          <a:bodyPr wrap="none" anchor="t" anchorCtr="0">
            <a:spAutoFit/>
          </a:bodyPr>
          <a:p>
            <a:r>
              <a:rPr lang="zh-CN" altLang="en-US" dirty="0">
                <a:solidFill>
                  <a:srgbClr val="FF3300"/>
                </a:solidFill>
                <a:latin typeface="Times New Roman" panose="02020603050405020304" pitchFamily="18" charset="0"/>
                <a:ea typeface="黑体" panose="02010609060101010101" pitchFamily="2" charset="-122"/>
              </a:rPr>
              <a:t>定理</a:t>
            </a:r>
            <a:r>
              <a:rPr lang="en-US" altLang="zh-CN" dirty="0">
                <a:solidFill>
                  <a:srgbClr val="FF3300"/>
                </a:solidFill>
                <a:latin typeface="Times New Roman" panose="02020603050405020304" pitchFamily="18" charset="0"/>
                <a:ea typeface="黑体" panose="02010609060101010101" pitchFamily="2" charset="-122"/>
              </a:rPr>
              <a:t>1.4.2</a:t>
            </a:r>
            <a:r>
              <a:rPr lang="en-US" altLang="zh-CN">
                <a:solidFill>
                  <a:srgbClr val="FF3300"/>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如果齐次线性方程组</a:t>
            </a:r>
            <a:r>
              <a:rPr lang="en-US" altLang="zh-CN">
                <a:latin typeface="Times New Roman" panose="02020603050405020304" pitchFamily="18" charset="0"/>
              </a:rPr>
              <a:t>(3)</a:t>
            </a:r>
            <a:endParaRPr lang="en-US" altLang="zh-CN">
              <a:latin typeface="Times New Roman" panose="02020603050405020304" pitchFamily="18" charset="0"/>
            </a:endParaRPr>
          </a:p>
        </p:txBody>
      </p:sp>
      <p:sp>
        <p:nvSpPr>
          <p:cNvPr id="184325" name="矩形 184324"/>
          <p:cNvSpPr/>
          <p:nvPr/>
        </p:nvSpPr>
        <p:spPr>
          <a:xfrm>
            <a:off x="323215" y="2708910"/>
            <a:ext cx="8017510" cy="521970"/>
          </a:xfrm>
          <a:prstGeom prst="rect">
            <a:avLst/>
          </a:prstGeom>
          <a:noFill/>
          <a:ln w="9525">
            <a:noFill/>
          </a:ln>
        </p:spPr>
        <p:txBody>
          <a:bodyPr wrap="none" anchor="t" anchorCtr="0">
            <a:spAutoFit/>
          </a:bodyPr>
          <a:p>
            <a:r>
              <a:rPr lang="zh-CN" altLang="en-US" dirty="0">
                <a:latin typeface="Times New Roman" panose="02020603050405020304" pitchFamily="18" charset="0"/>
              </a:rPr>
              <a:t>的系数行列式 </a:t>
            </a:r>
            <a:r>
              <a:rPr lang="en-US" altLang="zh-CN" i="1">
                <a:latin typeface="Times New Roman" panose="02020603050405020304" pitchFamily="18" charset="0"/>
              </a:rPr>
              <a:t>D</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0, </a:t>
            </a:r>
            <a:r>
              <a:rPr lang="zh-CN" altLang="en-US" dirty="0">
                <a:latin typeface="Times New Roman" panose="02020603050405020304" pitchFamily="18" charset="0"/>
              </a:rPr>
              <a:t>则齐次线性方程组</a:t>
            </a:r>
            <a:r>
              <a:rPr lang="en-US" altLang="zh-CN">
                <a:latin typeface="Times New Roman" panose="02020603050405020304" pitchFamily="18" charset="0"/>
              </a:rPr>
              <a:t>(3)</a:t>
            </a:r>
            <a:r>
              <a:rPr lang="zh-CN" altLang="en-US" dirty="0">
                <a:latin typeface="Times New Roman" panose="02020603050405020304" pitchFamily="18" charset="0"/>
              </a:rPr>
              <a:t>只有</a:t>
            </a:r>
            <a:r>
              <a:rPr lang="zh-CN" altLang="en-US" dirty="0">
                <a:latin typeface="Times New Roman" panose="02020603050405020304" pitchFamily="18" charset="0"/>
              </a:rPr>
              <a:t>零解</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84326" name="矩形 184325"/>
          <p:cNvSpPr/>
          <p:nvPr/>
        </p:nvSpPr>
        <p:spPr>
          <a:xfrm>
            <a:off x="7019925" y="1268730"/>
            <a:ext cx="600075" cy="519113"/>
          </a:xfrm>
          <a:prstGeom prst="rect">
            <a:avLst/>
          </a:prstGeom>
          <a:noFill/>
          <a:ln w="9525">
            <a:noFill/>
          </a:ln>
        </p:spPr>
        <p:txBody>
          <a:bodyPr wrap="none" anchor="t" anchorCtr="0">
            <a:spAutoFit/>
          </a:bodyPr>
          <a:p>
            <a:r>
              <a:rPr lang="en-US" altLang="zh-CN">
                <a:latin typeface="Times New Roman" panose="02020603050405020304" pitchFamily="18" charset="0"/>
              </a:rPr>
              <a:t>(3)</a:t>
            </a:r>
            <a:endParaRPr lang="en-US" altLang="zh-CN">
              <a:latin typeface="Times New Roman" panose="02020603050405020304" pitchFamily="18" charset="0"/>
            </a:endParaRPr>
          </a:p>
        </p:txBody>
      </p:sp>
      <p:sp>
        <p:nvSpPr>
          <p:cNvPr id="184327" name="矩形 184326"/>
          <p:cNvSpPr/>
          <p:nvPr/>
        </p:nvSpPr>
        <p:spPr>
          <a:xfrm>
            <a:off x="395605" y="4528820"/>
            <a:ext cx="8456930" cy="997585"/>
          </a:xfrm>
          <a:prstGeom prst="rect">
            <a:avLst/>
          </a:prstGeom>
          <a:noFill/>
          <a:ln w="9525">
            <a:noFill/>
          </a:ln>
        </p:spPr>
        <p:txBody>
          <a:bodyPr anchor="t" anchorCtr="0">
            <a:noAutofit/>
          </a:bodyPr>
          <a:p>
            <a:pPr>
              <a:lnSpc>
                <a:spcPct val="105000"/>
              </a:lnSpc>
            </a:pPr>
            <a:r>
              <a:rPr lang="en-US" altLang="zh-CN" dirty="0">
                <a:solidFill>
                  <a:srgbClr val="FF3300"/>
                </a:solidFill>
                <a:latin typeface="Times New Roman" panose="02020603050405020304" pitchFamily="18" charset="0"/>
                <a:ea typeface="黑体" panose="02010609060101010101" pitchFamily="2" charset="-122"/>
              </a:rPr>
              <a:t> </a:t>
            </a:r>
            <a:r>
              <a:rPr lang="zh-CN" altLang="en-US" dirty="0">
                <a:solidFill>
                  <a:srgbClr val="FF3300"/>
                </a:solidFill>
                <a:latin typeface="Times New Roman" panose="02020603050405020304" pitchFamily="18" charset="0"/>
                <a:ea typeface="黑体" panose="02010609060101010101" pitchFamily="2" charset="-122"/>
              </a:rPr>
              <a:t>定理</a:t>
            </a:r>
            <a:r>
              <a:rPr lang="en-US" altLang="zh-CN" dirty="0">
                <a:solidFill>
                  <a:srgbClr val="FF3300"/>
                </a:solidFill>
                <a:latin typeface="Times New Roman" panose="02020603050405020304" pitchFamily="18" charset="0"/>
                <a:ea typeface="黑体" panose="02010609060101010101" pitchFamily="2" charset="-122"/>
              </a:rPr>
              <a:t>1.4.</a:t>
            </a:r>
            <a:r>
              <a:rPr lang="en-US" altLang="zh-CN">
                <a:solidFill>
                  <a:srgbClr val="FF3300"/>
                </a:solidFill>
                <a:latin typeface="Times New Roman" panose="02020603050405020304" pitchFamily="18" charset="0"/>
                <a:ea typeface="黑体" panose="02010609060101010101" pitchFamily="2" charset="-122"/>
              </a:rPr>
              <a:t>4:</a:t>
            </a:r>
            <a:r>
              <a:rPr lang="en-US" altLang="zh-CN">
                <a:solidFill>
                  <a:srgbClr val="0000FF"/>
                </a:solidFill>
                <a:latin typeface="Times New Roman" panose="02020603050405020304" pitchFamily="18" charset="0"/>
                <a:ea typeface="黑体" panose="02010609060101010101" pitchFamily="2" charset="-122"/>
              </a:rPr>
              <a:t> </a:t>
            </a:r>
            <a:r>
              <a:rPr lang="zh-CN" altLang="en-US" dirty="0">
                <a:latin typeface="Times New Roman" panose="02020603050405020304" pitchFamily="18" charset="0"/>
              </a:rPr>
              <a:t>如果齐次线性方程组</a:t>
            </a:r>
            <a:r>
              <a:rPr lang="en-US" altLang="zh-CN">
                <a:latin typeface="Times New Roman" panose="02020603050405020304" pitchFamily="18" charset="0"/>
              </a:rPr>
              <a:t>(3)</a:t>
            </a:r>
            <a:r>
              <a:rPr lang="zh-CN" altLang="en-US" dirty="0">
                <a:latin typeface="Times New Roman" panose="02020603050405020304" pitchFamily="18" charset="0"/>
              </a:rPr>
              <a:t>有非零解</a:t>
            </a:r>
            <a:r>
              <a:rPr lang="en-US" altLang="zh-CN">
                <a:latin typeface="Times New Roman" panose="02020603050405020304" pitchFamily="18" charset="0"/>
              </a:rPr>
              <a:t>, </a:t>
            </a:r>
            <a:r>
              <a:rPr lang="zh-CN" altLang="en-US" dirty="0">
                <a:latin typeface="Times New Roman" panose="02020603050405020304" pitchFamily="18" charset="0"/>
              </a:rPr>
              <a:t>则它的系数行列式 </a:t>
            </a:r>
            <a:r>
              <a:rPr lang="en-US" altLang="zh-CN" i="1">
                <a:latin typeface="Times New Roman" panose="02020603050405020304" pitchFamily="18" charset="0"/>
              </a:rPr>
              <a:t>D </a:t>
            </a:r>
            <a:r>
              <a:rPr lang="zh-CN" altLang="en-US" dirty="0">
                <a:latin typeface="Times New Roman" panose="02020603050405020304" pitchFamily="18" charset="0"/>
              </a:rPr>
              <a:t>必为零</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84328" name="文本框 184327"/>
          <p:cNvSpPr txBox="1"/>
          <p:nvPr/>
        </p:nvSpPr>
        <p:spPr>
          <a:xfrm>
            <a:off x="395605" y="5512435"/>
            <a:ext cx="8456930" cy="970280"/>
          </a:xfrm>
          <a:prstGeom prst="rect">
            <a:avLst/>
          </a:prstGeom>
          <a:noFill/>
          <a:ln w="9525">
            <a:noFill/>
          </a:ln>
        </p:spPr>
        <p:txBody>
          <a:bodyPr anchor="t" anchorCtr="0">
            <a:noAutofit/>
          </a:bodyPr>
          <a:p>
            <a:pPr>
              <a:lnSpc>
                <a:spcPct val="105000"/>
              </a:lnSpc>
            </a:pPr>
            <a:r>
              <a:rPr lang="en-US" altLang="zh-CN" dirty="0">
                <a:latin typeface="Times New Roman" panose="02020603050405020304" pitchFamily="18" charset="0"/>
              </a:rPr>
              <a:t>        </a:t>
            </a:r>
            <a:r>
              <a:rPr lang="zh-CN" altLang="en-US" dirty="0">
                <a:latin typeface="Times New Roman" panose="02020603050405020304" pitchFamily="18" charset="0"/>
              </a:rPr>
              <a:t>在后面我们将证明</a:t>
            </a:r>
            <a:r>
              <a:rPr lang="en-US" altLang="zh-CN">
                <a:latin typeface="Times New Roman" panose="02020603050405020304" pitchFamily="18" charset="0"/>
              </a:rPr>
              <a:t>: </a:t>
            </a:r>
            <a:r>
              <a:rPr lang="zh-CN" altLang="en-US" dirty="0">
                <a:solidFill>
                  <a:schemeClr val="hlink"/>
                </a:solidFill>
                <a:latin typeface="Times New Roman" panose="02020603050405020304" pitchFamily="18" charset="0"/>
              </a:rPr>
              <a:t>齐次线性方程组</a:t>
            </a:r>
            <a:r>
              <a:rPr lang="en-US" altLang="zh-CN">
                <a:solidFill>
                  <a:schemeClr val="hlink"/>
                </a:solidFill>
                <a:latin typeface="Times New Roman" panose="02020603050405020304" pitchFamily="18" charset="0"/>
              </a:rPr>
              <a:t>(3)</a:t>
            </a:r>
            <a:r>
              <a:rPr lang="zh-CN" altLang="en-US" dirty="0">
                <a:solidFill>
                  <a:schemeClr val="hlink"/>
                </a:solidFill>
                <a:latin typeface="Times New Roman" panose="02020603050405020304" pitchFamily="18" charset="0"/>
              </a:rPr>
              <a:t>有非零解的充分必要条件为</a:t>
            </a:r>
            <a:r>
              <a:rPr lang="en-US" altLang="zh-CN">
                <a:solidFill>
                  <a:schemeClr val="hlink"/>
                </a:solidFill>
                <a:latin typeface="Times New Roman" panose="02020603050405020304" pitchFamily="18" charset="0"/>
              </a:rPr>
              <a:t>(3)</a:t>
            </a:r>
            <a:r>
              <a:rPr lang="zh-CN" altLang="en-US" dirty="0">
                <a:solidFill>
                  <a:schemeClr val="hlink"/>
                </a:solidFill>
                <a:latin typeface="Times New Roman" panose="02020603050405020304" pitchFamily="18" charset="0"/>
              </a:rPr>
              <a:t>的系数行列式 </a:t>
            </a:r>
            <a:r>
              <a:rPr lang="en-US" altLang="zh-CN" i="1">
                <a:solidFill>
                  <a:schemeClr val="hlink"/>
                </a:solidFill>
                <a:latin typeface="Times New Roman" panose="02020603050405020304" pitchFamily="18" charset="0"/>
              </a:rPr>
              <a:t>D </a:t>
            </a:r>
            <a:r>
              <a:rPr lang="zh-CN" altLang="en-US" dirty="0">
                <a:solidFill>
                  <a:schemeClr val="hlink"/>
                </a:solidFill>
                <a:latin typeface="Times New Roman" panose="02020603050405020304" pitchFamily="18" charset="0"/>
              </a:rPr>
              <a:t>必为零</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84324">
                                            <p:txEl>
                                              <p:charRg st="0" end="19"/>
                                            </p:txEl>
                                          </p:spTgt>
                                        </p:tgtEl>
                                        <p:attrNameLst>
                                          <p:attrName>style.visibility</p:attrName>
                                        </p:attrNameLst>
                                      </p:cBhvr>
                                      <p:to>
                                        <p:strVal val="visible"/>
                                      </p:to>
                                    </p:set>
                                    <p:animEffect transition="in" filter="box(out)">
                                      <p:cBhvr>
                                        <p:cTn id="7" dur="500"/>
                                        <p:tgtEl>
                                          <p:spTgt spid="184324">
                                            <p:txEl>
                                              <p:charRg st="0" end="19"/>
                                            </p:txEl>
                                          </p:spTgt>
                                        </p:tgtEl>
                                      </p:cBhvr>
                                    </p:animEffect>
                                  </p:childTnLst>
                                </p:cTn>
                              </p:par>
                            </p:childTnLst>
                          </p:cTn>
                        </p:par>
                        <p:par>
                          <p:cTn id="8" fill="hold">
                            <p:stCondLst>
                              <p:cond delay="500"/>
                            </p:stCondLst>
                            <p:childTnLst>
                              <p:par>
                                <p:cTn id="9" presetID="4" presetClass="entr" presetSubtype="32" fill="hold" nodeType="afterEffect">
                                  <p:stCondLst>
                                    <p:cond delay="0"/>
                                  </p:stCondLst>
                                  <p:childTnLst>
                                    <p:set>
                                      <p:cBhvr>
                                        <p:cTn id="10" dur="1" fill="hold">
                                          <p:stCondLst>
                                            <p:cond delay="0"/>
                                          </p:stCondLst>
                                        </p:cTn>
                                        <p:tgtEl>
                                          <p:spTgt spid="184323"/>
                                        </p:tgtEl>
                                        <p:attrNameLst>
                                          <p:attrName>style.visibility</p:attrName>
                                        </p:attrNameLst>
                                      </p:cBhvr>
                                      <p:to>
                                        <p:strVal val="visible"/>
                                      </p:to>
                                    </p:set>
                                    <p:animEffect transition="in" filter="box(out)">
                                      <p:cBhvr>
                                        <p:cTn id="11" dur="500"/>
                                        <p:tgtEl>
                                          <p:spTgt spid="184323"/>
                                        </p:tgtEl>
                                      </p:cBhvr>
                                    </p:animEffect>
                                  </p:childTnLst>
                                </p:cTn>
                              </p:par>
                            </p:childTnLst>
                          </p:cTn>
                        </p:par>
                        <p:par>
                          <p:cTn id="12" fill="hold">
                            <p:stCondLst>
                              <p:cond delay="1000"/>
                            </p:stCondLst>
                            <p:childTnLst>
                              <p:par>
                                <p:cTn id="13" presetID="4" presetClass="entr" presetSubtype="32" fill="hold" grpId="0" nodeType="afterEffect">
                                  <p:stCondLst>
                                    <p:cond delay="0"/>
                                  </p:stCondLst>
                                  <p:childTnLst>
                                    <p:set>
                                      <p:cBhvr>
                                        <p:cTn id="14" dur="1" fill="hold">
                                          <p:stCondLst>
                                            <p:cond delay="0"/>
                                          </p:stCondLst>
                                        </p:cTn>
                                        <p:tgtEl>
                                          <p:spTgt spid="184326">
                                            <p:txEl>
                                              <p:charRg st="0" end="4"/>
                                            </p:txEl>
                                          </p:spTgt>
                                        </p:tgtEl>
                                        <p:attrNameLst>
                                          <p:attrName>style.visibility</p:attrName>
                                        </p:attrNameLst>
                                      </p:cBhvr>
                                      <p:to>
                                        <p:strVal val="visible"/>
                                      </p:to>
                                    </p:set>
                                    <p:animEffect transition="in" filter="box(out)">
                                      <p:cBhvr>
                                        <p:cTn id="15" dur="500"/>
                                        <p:tgtEl>
                                          <p:spTgt spid="184326">
                                            <p:txEl>
                                              <p:charRg st="0" end="4"/>
                                            </p:txEl>
                                          </p:spTgt>
                                        </p:tgtEl>
                                      </p:cBhvr>
                                    </p:animEffect>
                                  </p:childTnLst>
                                </p:cTn>
                              </p:par>
                            </p:childTnLst>
                          </p:cTn>
                        </p:par>
                        <p:par>
                          <p:cTn id="16" fill="hold">
                            <p:stCondLst>
                              <p:cond delay="1500"/>
                            </p:stCondLst>
                            <p:childTnLst>
                              <p:par>
                                <p:cTn id="17" presetID="4" presetClass="entr" presetSubtype="32" fill="hold" grpId="0" nodeType="afterEffect">
                                  <p:stCondLst>
                                    <p:cond delay="0"/>
                                  </p:stCondLst>
                                  <p:childTnLst>
                                    <p:set>
                                      <p:cBhvr>
                                        <p:cTn id="18" dur="1" fill="hold">
                                          <p:stCondLst>
                                            <p:cond delay="0"/>
                                          </p:stCondLst>
                                        </p:cTn>
                                        <p:tgtEl>
                                          <p:spTgt spid="184325">
                                            <p:txEl>
                                              <p:charRg st="0" end="30"/>
                                            </p:txEl>
                                          </p:spTgt>
                                        </p:tgtEl>
                                        <p:attrNameLst>
                                          <p:attrName>style.visibility</p:attrName>
                                        </p:attrNameLst>
                                      </p:cBhvr>
                                      <p:to>
                                        <p:strVal val="visible"/>
                                      </p:to>
                                    </p:set>
                                    <p:animEffect transition="in" filter="box(out)">
                                      <p:cBhvr>
                                        <p:cTn id="19" dur="500"/>
                                        <p:tgtEl>
                                          <p:spTgt spid="184325">
                                            <p:txEl>
                                              <p:charRg st="0" end="30"/>
                                            </p:txEl>
                                          </p:spTgt>
                                        </p:tgtEl>
                                      </p:cBhvr>
                                    </p:animEffect>
                                  </p:childTnLst>
                                </p:cTn>
                              </p:par>
                            </p:childTnLst>
                          </p:cTn>
                        </p:par>
                        <p:par>
                          <p:cTn id="20" fill="hold">
                            <p:stCondLst>
                              <p:cond delay="2000"/>
                            </p:stCondLst>
                            <p:childTnLst>
                              <p:par>
                                <p:cTn id="21" presetID="4" presetClass="entr" presetSubtype="32" fill="hold" grpId="0" nodeType="afterEffect">
                                  <p:stCondLst>
                                    <p:cond delay="0"/>
                                  </p:stCondLst>
                                  <p:childTnLst>
                                    <p:set>
                                      <p:cBhvr>
                                        <p:cTn id="22" dur="1" fill="hold">
                                          <p:stCondLst>
                                            <p:cond delay="0"/>
                                          </p:stCondLst>
                                        </p:cTn>
                                        <p:tgtEl>
                                          <p:spTgt spid="184322">
                                            <p:txEl>
                                              <p:charRg st="0" end="47"/>
                                            </p:txEl>
                                          </p:spTgt>
                                        </p:tgtEl>
                                        <p:attrNameLst>
                                          <p:attrName>style.visibility</p:attrName>
                                        </p:attrNameLst>
                                      </p:cBhvr>
                                      <p:to>
                                        <p:strVal val="visible"/>
                                      </p:to>
                                    </p:set>
                                    <p:animEffect transition="in" filter="box(out)">
                                      <p:cBhvr>
                                        <p:cTn id="23" dur="500"/>
                                        <p:tgtEl>
                                          <p:spTgt spid="184322">
                                            <p:txEl>
                                              <p:charRg st="0" end="4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184327">
                                            <p:txEl>
                                              <p:charRg st="0" end="47"/>
                                            </p:txEl>
                                          </p:spTgt>
                                        </p:tgtEl>
                                        <p:attrNameLst>
                                          <p:attrName>style.visibility</p:attrName>
                                        </p:attrNameLst>
                                      </p:cBhvr>
                                      <p:to>
                                        <p:strVal val="visible"/>
                                      </p:to>
                                    </p:set>
                                    <p:animEffect transition="in" filter="box(out)">
                                      <p:cBhvr>
                                        <p:cTn id="28" dur="500"/>
                                        <p:tgtEl>
                                          <p:spTgt spid="184327">
                                            <p:txEl>
                                              <p:charRg st="0" end="4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184328">
                                            <p:txEl>
                                              <p:charRg st="0" end="57"/>
                                            </p:txEl>
                                          </p:spTgt>
                                        </p:tgtEl>
                                        <p:attrNameLst>
                                          <p:attrName>style.visibility</p:attrName>
                                        </p:attrNameLst>
                                      </p:cBhvr>
                                      <p:to>
                                        <p:strVal val="visible"/>
                                      </p:to>
                                    </p:set>
                                    <p:animEffect transition="in" filter="box(out)">
                                      <p:cBhvr>
                                        <p:cTn id="33" dur="500"/>
                                        <p:tgtEl>
                                          <p:spTgt spid="184328">
                                            <p:txEl>
                                              <p:charRg st="0" end="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2" grpId="0" advAuto="1000" build="p"/>
      <p:bldP spid="184324" grpId="0" build="p"/>
      <p:bldP spid="184325" grpId="0" advAuto="1000" build="p"/>
      <p:bldP spid="184326" grpId="0" advAuto="1000" build="p"/>
      <p:bldP spid="184327" grpId="0" build="p"/>
      <p:bldP spid="184328"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矩形 185345"/>
          <p:cNvSpPr/>
          <p:nvPr/>
        </p:nvSpPr>
        <p:spPr>
          <a:xfrm>
            <a:off x="1079500" y="304800"/>
            <a:ext cx="5122545" cy="521970"/>
          </a:xfrm>
          <a:prstGeom prst="rect">
            <a:avLst/>
          </a:prstGeom>
          <a:noFill/>
          <a:ln w="9525">
            <a:noFill/>
          </a:ln>
        </p:spPr>
        <p:txBody>
          <a:bodyPr wrap="none" anchor="t" anchorCtr="0">
            <a:spAutoFit/>
          </a:bodyPr>
          <a:p>
            <a:r>
              <a:rPr lang="zh-CN" altLang="en-US" dirty="0">
                <a:solidFill>
                  <a:srgbClr val="FF3300"/>
                </a:solidFill>
                <a:latin typeface="Times New Roman" panose="02020603050405020304" pitchFamily="18" charset="0"/>
                <a:ea typeface="黑体" panose="02010609060101010101" pitchFamily="2" charset="-122"/>
              </a:rPr>
              <a:t>例</a:t>
            </a:r>
            <a:r>
              <a:rPr lang="en-US" altLang="zh-CN" dirty="0">
                <a:solidFill>
                  <a:srgbClr val="FF3300"/>
                </a:solidFill>
                <a:latin typeface="Times New Roman" panose="02020603050405020304" pitchFamily="18" charset="0"/>
                <a:ea typeface="黑体" panose="02010609060101010101" pitchFamily="2" charset="-122"/>
              </a:rPr>
              <a:t>1.4.</a:t>
            </a:r>
            <a:r>
              <a:rPr lang="en-US" altLang="zh-CN">
                <a:solidFill>
                  <a:srgbClr val="FF3300"/>
                </a:solidFill>
                <a:latin typeface="Times New Roman" panose="02020603050405020304" pitchFamily="18" charset="0"/>
                <a:ea typeface="黑体" panose="02010609060101010101" pitchFamily="2" charset="-122"/>
              </a:rPr>
              <a:t>1</a:t>
            </a:r>
            <a:r>
              <a:rPr lang="en-US" altLang="zh-CN">
                <a:solidFill>
                  <a:schemeClr val="hlink"/>
                </a:solidFill>
                <a:latin typeface="Times New Roman" panose="02020603050405020304" pitchFamily="18" charset="0"/>
                <a:ea typeface="黑体" panose="02010609060101010101" pitchFamily="2" charset="-122"/>
              </a:rPr>
              <a:t>:</a:t>
            </a:r>
            <a:r>
              <a:rPr lang="en-US" altLang="zh-CN">
                <a:latin typeface="Times New Roman" panose="02020603050405020304" pitchFamily="18" charset="0"/>
              </a:rPr>
              <a:t>  </a:t>
            </a:r>
            <a:r>
              <a:rPr lang="zh-CN" altLang="en-US" dirty="0">
                <a:latin typeface="Times New Roman" panose="02020603050405020304" pitchFamily="18" charset="0"/>
              </a:rPr>
              <a:t>用克拉默法则解方程组</a:t>
            </a:r>
            <a:endParaRPr lang="zh-CN" altLang="en-US" dirty="0">
              <a:latin typeface="Times New Roman" panose="02020603050405020304" pitchFamily="18" charset="0"/>
            </a:endParaRPr>
          </a:p>
        </p:txBody>
      </p:sp>
      <p:sp>
        <p:nvSpPr>
          <p:cNvPr id="185348" name="矩形 185347"/>
          <p:cNvSpPr/>
          <p:nvPr/>
        </p:nvSpPr>
        <p:spPr>
          <a:xfrm>
            <a:off x="1079500" y="2362200"/>
            <a:ext cx="3858895" cy="521970"/>
          </a:xfrm>
          <a:prstGeom prst="rect">
            <a:avLst/>
          </a:prstGeom>
          <a:noFill/>
          <a:ln w="9525">
            <a:noFill/>
          </a:ln>
        </p:spPr>
        <p:txBody>
          <a:bodyPr wrap="none" anchor="t" anchorCtr="0">
            <a:spAutoFit/>
          </a:bodyPr>
          <a:p>
            <a:pPr algn="l"/>
            <a:r>
              <a:rPr lang="zh-CN" altLang="en-US" dirty="0">
                <a:solidFill>
                  <a:schemeClr val="hlink"/>
                </a:solidFill>
                <a:latin typeface="Times New Roman" panose="02020603050405020304" pitchFamily="18" charset="0"/>
                <a:ea typeface="黑体" panose="02010609060101010101" pitchFamily="2" charset="-122"/>
              </a:rPr>
              <a:t>解</a:t>
            </a:r>
            <a:r>
              <a:rPr lang="en-US" altLang="zh-CN">
                <a:solidFill>
                  <a:schemeClr val="hlink"/>
                </a:solidFill>
                <a:latin typeface="Times New Roman" panose="02020603050405020304" pitchFamily="18" charset="0"/>
                <a:ea typeface="黑体" panose="02010609060101010101" pitchFamily="2" charset="-122"/>
              </a:rPr>
              <a:t>:</a:t>
            </a:r>
            <a:r>
              <a:rPr lang="zh-CN" altLang="en-US" b="0">
                <a:solidFill>
                  <a:schemeClr val="tx1"/>
                </a:solidFill>
                <a:latin typeface="Times New Roman" panose="02020603050405020304" pitchFamily="18" charset="0"/>
                <a:ea typeface="黑体" panose="02010609060101010101" pitchFamily="2" charset="-122"/>
              </a:rPr>
              <a:t>方程组的系数行列式</a:t>
            </a:r>
            <a:endParaRPr lang="zh-CN" altLang="en-US" b="0">
              <a:solidFill>
                <a:schemeClr val="tx1"/>
              </a:solidFill>
              <a:latin typeface="Times New Roman" panose="02020603050405020304" pitchFamily="18" charset="0"/>
              <a:ea typeface="黑体" panose="02010609060101010101" pitchFamily="2" charset="-122"/>
            </a:endParaRPr>
          </a:p>
        </p:txBody>
      </p:sp>
      <p:graphicFrame>
        <p:nvGraphicFramePr>
          <p:cNvPr id="2" name="对象 -2147482107"/>
          <p:cNvGraphicFramePr>
            <a:graphicFrameLocks noChangeAspect="1"/>
          </p:cNvGraphicFramePr>
          <p:nvPr/>
        </p:nvGraphicFramePr>
        <p:xfrm>
          <a:off x="2123440" y="692785"/>
          <a:ext cx="3037840" cy="1736090"/>
        </p:xfrm>
        <a:graphic>
          <a:graphicData uri="http://schemas.openxmlformats.org/presentationml/2006/ole">
            <mc:AlternateContent xmlns:mc="http://schemas.openxmlformats.org/markup-compatibility/2006">
              <mc:Choice xmlns:v="urn:schemas-microsoft-com:vml" Requires="v">
                <p:oleObj spid="_x0000_s3076" name="" r:id="rId1" imgW="1244600" imgH="711200" progId="Equation.3">
                  <p:embed/>
                </p:oleObj>
              </mc:Choice>
              <mc:Fallback>
                <p:oleObj name="" r:id="rId1" imgW="1244600" imgH="711200" progId="Equation.3">
                  <p:embed/>
                  <p:pic>
                    <p:nvPicPr>
                      <p:cNvPr id="0" name="图片 3075"/>
                      <p:cNvPicPr/>
                      <p:nvPr/>
                    </p:nvPicPr>
                    <p:blipFill>
                      <a:blip r:embed="rId2"/>
                      <a:stretch>
                        <a:fillRect/>
                      </a:stretch>
                    </p:blipFill>
                    <p:spPr>
                      <a:xfrm>
                        <a:off x="2123440" y="692785"/>
                        <a:ext cx="3037840" cy="1736090"/>
                      </a:xfrm>
                      <a:prstGeom prst="rect">
                        <a:avLst/>
                      </a:prstGeom>
                      <a:noFill/>
                      <a:ln w="38100">
                        <a:noFill/>
                        <a:miter/>
                      </a:ln>
                    </p:spPr>
                  </p:pic>
                </p:oleObj>
              </mc:Fallback>
            </mc:AlternateContent>
          </a:graphicData>
        </a:graphic>
      </p:graphicFrame>
      <p:graphicFrame>
        <p:nvGraphicFramePr>
          <p:cNvPr id="3" name="对象 -2147482106"/>
          <p:cNvGraphicFramePr>
            <a:graphicFrameLocks noChangeAspect="1"/>
          </p:cNvGraphicFramePr>
          <p:nvPr/>
        </p:nvGraphicFramePr>
        <p:xfrm>
          <a:off x="1115060" y="2997200"/>
          <a:ext cx="7303135" cy="1482090"/>
        </p:xfrm>
        <a:graphic>
          <a:graphicData uri="http://schemas.openxmlformats.org/presentationml/2006/ole">
            <mc:AlternateContent xmlns:mc="http://schemas.openxmlformats.org/markup-compatibility/2006">
              <mc:Choice xmlns:v="urn:schemas-microsoft-com:vml" Requires="v">
                <p:oleObj spid="_x0000_s4" name="" r:id="rId3" imgW="3505200" imgH="711200" progId="Equation.DSMT4">
                  <p:embed/>
                </p:oleObj>
              </mc:Choice>
              <mc:Fallback>
                <p:oleObj name="" r:id="rId3" imgW="3505200" imgH="711200" progId="Equation.DSMT4">
                  <p:embed/>
                  <p:pic>
                    <p:nvPicPr>
                      <p:cNvPr id="0" name="图片 1"/>
                      <p:cNvPicPr/>
                      <p:nvPr/>
                    </p:nvPicPr>
                    <p:blipFill>
                      <a:blip r:embed="rId4"/>
                      <a:stretch>
                        <a:fillRect/>
                      </a:stretch>
                    </p:blipFill>
                    <p:spPr>
                      <a:xfrm>
                        <a:off x="1115060" y="2997200"/>
                        <a:ext cx="7303135" cy="1482090"/>
                      </a:xfrm>
                      <a:prstGeom prst="rect">
                        <a:avLst/>
                      </a:prstGeom>
                      <a:noFill/>
                      <a:ln w="38100">
                        <a:noFill/>
                        <a:miter/>
                      </a:ln>
                    </p:spPr>
                  </p:pic>
                </p:oleObj>
              </mc:Fallback>
            </mc:AlternateContent>
          </a:graphicData>
        </a:graphic>
      </p:graphicFrame>
      <p:sp>
        <p:nvSpPr>
          <p:cNvPr id="5" name="文本框 4"/>
          <p:cNvSpPr txBox="1"/>
          <p:nvPr/>
        </p:nvSpPr>
        <p:spPr>
          <a:xfrm>
            <a:off x="1079500" y="4868545"/>
            <a:ext cx="4572000" cy="521970"/>
          </a:xfrm>
          <a:prstGeom prst="rect">
            <a:avLst/>
          </a:prstGeom>
          <a:noFill/>
        </p:spPr>
        <p:txBody>
          <a:bodyPr wrap="square" rtlCol="0" anchor="t">
            <a:spAutoFit/>
          </a:bodyPr>
          <a:p>
            <a:r>
              <a:rPr lang="zh-CN" altLang="en-US" b="0">
                <a:ea typeface="黑体" panose="02010609060101010101" pitchFamily="2" charset="-122"/>
                <a:sym typeface="+mn-ea"/>
              </a:rPr>
              <a:t>故方程组有唯一解．</a:t>
            </a:r>
            <a:endParaRPr lang="zh-CN" altLang="en-US" b="0">
              <a:ea typeface="黑体" panose="0201060906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85346">
                                            <p:txEl>
                                              <p:charRg st="0" end="16"/>
                                            </p:txEl>
                                          </p:spTgt>
                                        </p:tgtEl>
                                        <p:attrNameLst>
                                          <p:attrName>style.visibility</p:attrName>
                                        </p:attrNameLst>
                                      </p:cBhvr>
                                      <p:to>
                                        <p:strVal val="visible"/>
                                      </p:to>
                                    </p:set>
                                    <p:animEffect transition="in" filter="box(out)">
                                      <p:cBhvr>
                                        <p:cTn id="7" dur="500"/>
                                        <p:tgtEl>
                                          <p:spTgt spid="185346">
                                            <p:txEl>
                                              <p:charRg st="0" end="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85348">
                                            <p:txEl>
                                              <p:charRg st="0" end="3"/>
                                            </p:txEl>
                                          </p:spTgt>
                                        </p:tgtEl>
                                        <p:attrNameLst>
                                          <p:attrName>style.visibility</p:attrName>
                                        </p:attrNameLst>
                                      </p:cBhvr>
                                      <p:to>
                                        <p:strVal val="visible"/>
                                      </p:to>
                                    </p:set>
                                    <p:animEffect transition="in" filter="box(out)">
                                      <p:cBhvr>
                                        <p:cTn id="12" dur="500"/>
                                        <p:tgtEl>
                                          <p:spTgt spid="185348">
                                            <p:txEl>
                                              <p:charRg st="0"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6" grpId="0" advAuto="1000" build="p"/>
      <p:bldP spid="185348" grpId="0" build="p"/>
      <p:bldP spid="5"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82" name="文本框 186381"/>
          <p:cNvSpPr txBox="1"/>
          <p:nvPr/>
        </p:nvSpPr>
        <p:spPr>
          <a:xfrm>
            <a:off x="358775" y="4662488"/>
            <a:ext cx="898525" cy="519112"/>
          </a:xfrm>
          <a:prstGeom prst="rect">
            <a:avLst/>
          </a:prstGeom>
          <a:noFill/>
          <a:ln w="9525">
            <a:noFill/>
          </a:ln>
        </p:spPr>
        <p:txBody>
          <a:bodyPr wrap="none" anchor="t" anchorCtr="0">
            <a:spAutoFit/>
          </a:bodyPr>
          <a:p>
            <a:r>
              <a:rPr lang="zh-CN" altLang="en-US" dirty="0">
                <a:latin typeface="Times New Roman" panose="02020603050405020304" pitchFamily="18" charset="0"/>
              </a:rPr>
              <a:t>所以</a:t>
            </a:r>
            <a:endParaRPr lang="zh-CN" altLang="en-US">
              <a:latin typeface="Times New Roman" panose="02020603050405020304" pitchFamily="18" charset="0"/>
            </a:endParaRPr>
          </a:p>
        </p:txBody>
      </p:sp>
      <p:pic>
        <p:nvPicPr>
          <p:cNvPr id="2" name="图片 1"/>
          <p:cNvPicPr/>
          <p:nvPr/>
        </p:nvPicPr>
        <p:blipFill>
          <a:blip r:embed="rId1"/>
          <a:stretch>
            <a:fillRect/>
          </a:stretch>
        </p:blipFill>
        <p:spPr>
          <a:xfrm>
            <a:off x="1519555" y="188595"/>
            <a:ext cx="5584190" cy="1348105"/>
          </a:xfrm>
          <a:prstGeom prst="rect">
            <a:avLst/>
          </a:prstGeom>
        </p:spPr>
      </p:pic>
      <p:pic>
        <p:nvPicPr>
          <p:cNvPr id="3" name="图片 2"/>
          <p:cNvPicPr/>
          <p:nvPr/>
        </p:nvPicPr>
        <p:blipFill>
          <a:blip r:embed="rId2"/>
          <a:stretch>
            <a:fillRect/>
          </a:stretch>
        </p:blipFill>
        <p:spPr>
          <a:xfrm>
            <a:off x="1475740" y="1536700"/>
            <a:ext cx="6111875" cy="1427480"/>
          </a:xfrm>
          <a:prstGeom prst="rect">
            <a:avLst/>
          </a:prstGeom>
        </p:spPr>
      </p:pic>
      <p:pic>
        <p:nvPicPr>
          <p:cNvPr id="4" name="图片 3"/>
          <p:cNvPicPr/>
          <p:nvPr/>
        </p:nvPicPr>
        <p:blipFill>
          <a:blip r:embed="rId3"/>
          <a:stretch>
            <a:fillRect/>
          </a:stretch>
        </p:blipFill>
        <p:spPr>
          <a:xfrm>
            <a:off x="1404620" y="2964180"/>
            <a:ext cx="6182995" cy="1327785"/>
          </a:xfrm>
          <a:prstGeom prst="rect">
            <a:avLst/>
          </a:prstGeom>
        </p:spPr>
      </p:pic>
      <p:graphicFrame>
        <p:nvGraphicFramePr>
          <p:cNvPr id="5" name="对象 -2147482102"/>
          <p:cNvGraphicFramePr>
            <a:graphicFrameLocks noChangeAspect="1"/>
          </p:cNvGraphicFramePr>
          <p:nvPr/>
        </p:nvGraphicFramePr>
        <p:xfrm>
          <a:off x="1519555" y="4438650"/>
          <a:ext cx="4594225" cy="965835"/>
        </p:xfrm>
        <a:graphic>
          <a:graphicData uri="http://schemas.openxmlformats.org/presentationml/2006/ole">
            <mc:AlternateContent xmlns:mc="http://schemas.openxmlformats.org/markup-compatibility/2006">
              <mc:Choice xmlns:v="urn:schemas-microsoft-com:vml" Requires="v">
                <p:oleObj spid="_x0000_s3076" name="" r:id="rId4" imgW="2311400" imgH="393700" progId="Equation.DSMT4">
                  <p:embed/>
                </p:oleObj>
              </mc:Choice>
              <mc:Fallback>
                <p:oleObj name="" r:id="rId4" imgW="2311400" imgH="393700" progId="Equation.DSMT4">
                  <p:embed/>
                  <p:pic>
                    <p:nvPicPr>
                      <p:cNvPr id="0" name="图片 3075"/>
                      <p:cNvPicPr/>
                      <p:nvPr/>
                    </p:nvPicPr>
                    <p:blipFill>
                      <a:blip r:embed="rId5"/>
                      <a:stretch>
                        <a:fillRect/>
                      </a:stretch>
                    </p:blipFill>
                    <p:spPr>
                      <a:xfrm>
                        <a:off x="1519555" y="4438650"/>
                        <a:ext cx="4594225" cy="96583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86382">
                                            <p:txEl>
                                              <p:charRg st="0" end="3"/>
                                            </p:txEl>
                                          </p:spTgt>
                                        </p:tgtEl>
                                        <p:attrNameLst>
                                          <p:attrName>style.visibility</p:attrName>
                                        </p:attrNameLst>
                                      </p:cBhvr>
                                      <p:to>
                                        <p:strVal val="visible"/>
                                      </p:to>
                                    </p:set>
                                    <p:animEffect transition="in" filter="box(out)">
                                      <p:cBhvr>
                                        <p:cTn id="22" dur="500"/>
                                        <p:tgtEl>
                                          <p:spTgt spid="186382">
                                            <p:txEl>
                                              <p:charRg st="0"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82"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文本框 189441"/>
          <p:cNvSpPr txBox="1"/>
          <p:nvPr/>
        </p:nvSpPr>
        <p:spPr>
          <a:xfrm>
            <a:off x="1079500" y="228600"/>
            <a:ext cx="5478145" cy="521970"/>
          </a:xfrm>
          <a:prstGeom prst="rect">
            <a:avLst/>
          </a:prstGeom>
          <a:noFill/>
          <a:ln w="9525">
            <a:noFill/>
          </a:ln>
        </p:spPr>
        <p:txBody>
          <a:bodyPr wrap="none" anchor="t" anchorCtr="0">
            <a:spAutoFit/>
          </a:bodyPr>
          <a:p>
            <a:r>
              <a:rPr lang="zh-CN" altLang="en-US" dirty="0">
                <a:solidFill>
                  <a:schemeClr val="hlink"/>
                </a:solidFill>
                <a:latin typeface="Times New Roman" panose="02020603050405020304" pitchFamily="18" charset="0"/>
                <a:ea typeface="黑体" panose="02010609060101010101" pitchFamily="2" charset="-122"/>
              </a:rPr>
              <a:t>例</a:t>
            </a:r>
            <a:r>
              <a:rPr lang="en-US" altLang="zh-CN" dirty="0">
                <a:solidFill>
                  <a:schemeClr val="hlink"/>
                </a:solidFill>
                <a:latin typeface="Times New Roman" panose="02020603050405020304" pitchFamily="18" charset="0"/>
                <a:ea typeface="黑体" panose="02010609060101010101" pitchFamily="2" charset="-122"/>
              </a:rPr>
              <a:t>1.4.</a:t>
            </a:r>
            <a:r>
              <a:rPr lang="en-US" altLang="zh-CN">
                <a:solidFill>
                  <a:schemeClr val="hlink"/>
                </a:solidFill>
                <a:latin typeface="Times New Roman" panose="02020603050405020304" pitchFamily="18" charset="0"/>
                <a:ea typeface="黑体" panose="02010609060101010101" pitchFamily="2" charset="-122"/>
              </a:rPr>
              <a:t>2:</a:t>
            </a:r>
            <a:r>
              <a:rPr lang="en-US" altLang="zh-CN">
                <a:latin typeface="Times New Roman" panose="02020603050405020304" pitchFamily="18" charset="0"/>
              </a:rPr>
              <a:t> </a:t>
            </a:r>
            <a:r>
              <a:rPr lang="zh-CN" altLang="en-US" dirty="0">
                <a:latin typeface="Times New Roman" panose="02020603050405020304" pitchFamily="18" charset="0"/>
              </a:rPr>
              <a:t>问</a:t>
            </a:r>
            <a:r>
              <a:rPr lang="en-US" altLang="zh-CN" i="1" dirty="0">
                <a:latin typeface="Times New Roman" panose="02020603050405020304" pitchFamily="18" charset="0"/>
                <a:sym typeface="Symbol" panose="05050102010706020507" pitchFamily="18" charset="2"/>
              </a:rPr>
              <a:t>k</a:t>
            </a:r>
            <a:r>
              <a:rPr lang="en-US" altLang="zh-CN" dirty="0">
                <a:latin typeface="Times New Roman" panose="02020603050405020304" pitchFamily="18" charset="0"/>
              </a:rPr>
              <a:t> </a:t>
            </a:r>
            <a:r>
              <a:rPr lang="zh-CN" altLang="en-US" dirty="0">
                <a:latin typeface="Times New Roman" panose="02020603050405020304" pitchFamily="18" charset="0"/>
              </a:rPr>
              <a:t>取何值时</a:t>
            </a:r>
            <a:r>
              <a:rPr lang="en-US" altLang="zh-CN">
                <a:latin typeface="Times New Roman" panose="02020603050405020304" pitchFamily="18" charset="0"/>
              </a:rPr>
              <a:t>, </a:t>
            </a:r>
            <a:r>
              <a:rPr lang="zh-CN" altLang="en-US" dirty="0">
                <a:latin typeface="Times New Roman" panose="02020603050405020304" pitchFamily="18" charset="0"/>
              </a:rPr>
              <a:t>齐次方程组</a:t>
            </a:r>
            <a:endParaRPr lang="zh-CN" altLang="en-US">
              <a:latin typeface="Times New Roman" panose="02020603050405020304" pitchFamily="18" charset="0"/>
            </a:endParaRPr>
          </a:p>
        </p:txBody>
      </p:sp>
      <p:sp>
        <p:nvSpPr>
          <p:cNvPr id="189444" name="矩形 189443"/>
          <p:cNvSpPr/>
          <p:nvPr/>
        </p:nvSpPr>
        <p:spPr>
          <a:xfrm>
            <a:off x="5634990" y="1167130"/>
            <a:ext cx="2943860" cy="784225"/>
          </a:xfrm>
          <a:prstGeom prst="rect">
            <a:avLst/>
          </a:prstGeom>
          <a:noFill/>
          <a:ln w="9525">
            <a:noFill/>
          </a:ln>
        </p:spPr>
        <p:txBody>
          <a:bodyPr wrap="square" anchor="t" anchorCtr="0">
            <a:noAutofit/>
          </a:bodyPr>
          <a:p>
            <a:r>
              <a:rPr lang="zh-CN" altLang="en-US" dirty="0">
                <a:latin typeface="Times New Roman" panose="02020603050405020304" pitchFamily="18" charset="0"/>
              </a:rPr>
              <a:t>有非零解</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89447" name="矩形 189446"/>
          <p:cNvSpPr/>
          <p:nvPr/>
        </p:nvSpPr>
        <p:spPr>
          <a:xfrm>
            <a:off x="1079500" y="5189220"/>
            <a:ext cx="7787005" cy="658495"/>
          </a:xfrm>
          <a:prstGeom prst="rect">
            <a:avLst/>
          </a:prstGeom>
          <a:noFill/>
          <a:ln w="9525">
            <a:noFill/>
          </a:ln>
        </p:spPr>
        <p:txBody>
          <a:bodyPr wrap="none" anchor="t" anchorCtr="0">
            <a:noAutofit/>
          </a:bodyPr>
          <a:p>
            <a:r>
              <a:rPr lang="zh-CN" altLang="en-US" dirty="0">
                <a:latin typeface="Times New Roman" panose="02020603050405020304" pitchFamily="18" charset="0"/>
              </a:rPr>
              <a:t>由于齐次方程组有非零解的充分必要条件为</a:t>
            </a:r>
            <a:r>
              <a:rPr lang="en-US" altLang="zh-CN" i="1">
                <a:latin typeface="Times New Roman" panose="02020603050405020304" pitchFamily="18" charset="0"/>
              </a:rPr>
              <a:t>D</a:t>
            </a:r>
            <a:r>
              <a:rPr lang="en-US" altLang="zh-CN">
                <a:latin typeface="Times New Roman" panose="02020603050405020304" pitchFamily="18" charset="0"/>
              </a:rPr>
              <a:t>=0, </a:t>
            </a:r>
            <a:endParaRPr lang="en-US" altLang="zh-CN">
              <a:latin typeface="Times New Roman" panose="02020603050405020304" pitchFamily="18" charset="0"/>
            </a:endParaRPr>
          </a:p>
        </p:txBody>
      </p:sp>
      <p:sp>
        <p:nvSpPr>
          <p:cNvPr id="189448" name="文本框 189447"/>
          <p:cNvSpPr txBox="1"/>
          <p:nvPr/>
        </p:nvSpPr>
        <p:spPr>
          <a:xfrm>
            <a:off x="1079500" y="2063115"/>
            <a:ext cx="660400" cy="488315"/>
          </a:xfrm>
          <a:prstGeom prst="rect">
            <a:avLst/>
          </a:prstGeom>
          <a:noFill/>
          <a:ln w="9525">
            <a:noFill/>
          </a:ln>
        </p:spPr>
        <p:txBody>
          <a:bodyPr wrap="none" anchor="t" anchorCtr="0">
            <a:noAutofit/>
          </a:bodyPr>
          <a:p>
            <a:r>
              <a:rPr lang="zh-CN" altLang="en-US" dirty="0">
                <a:solidFill>
                  <a:schemeClr val="hlink"/>
                </a:solidFill>
                <a:latin typeface="Times New Roman" panose="02020603050405020304" pitchFamily="18" charset="0"/>
                <a:ea typeface="黑体" panose="02010609060101010101" pitchFamily="2" charset="-122"/>
              </a:rPr>
              <a:t>解</a:t>
            </a:r>
            <a:r>
              <a:rPr lang="en-US" altLang="zh-CN">
                <a:solidFill>
                  <a:schemeClr val="hlink"/>
                </a:solidFill>
                <a:latin typeface="Times New Roman" panose="02020603050405020304" pitchFamily="18" charset="0"/>
                <a:ea typeface="黑体" panose="02010609060101010101" pitchFamily="2" charset="-122"/>
              </a:rPr>
              <a:t>:</a:t>
            </a:r>
            <a:endParaRPr lang="en-US" altLang="zh-CN" b="0">
              <a:solidFill>
                <a:schemeClr val="hlink"/>
              </a:solidFill>
              <a:latin typeface="Times New Roman" panose="02020603050405020304" pitchFamily="18" charset="0"/>
              <a:ea typeface="黑体" panose="02010609060101010101" pitchFamily="2" charset="-122"/>
            </a:endParaRPr>
          </a:p>
        </p:txBody>
      </p:sp>
      <p:sp>
        <p:nvSpPr>
          <p:cNvPr id="189449" name="矩形 189448"/>
          <p:cNvSpPr/>
          <p:nvPr/>
        </p:nvSpPr>
        <p:spPr>
          <a:xfrm>
            <a:off x="1323340" y="5804535"/>
            <a:ext cx="6812280" cy="622300"/>
          </a:xfrm>
          <a:prstGeom prst="rect">
            <a:avLst/>
          </a:prstGeom>
          <a:noFill/>
          <a:ln w="9525">
            <a:noFill/>
          </a:ln>
        </p:spPr>
        <p:txBody>
          <a:bodyPr wrap="none" anchor="t" anchorCtr="0">
            <a:noAutofit/>
          </a:bodyPr>
          <a:p>
            <a:r>
              <a:rPr lang="zh-CN" altLang="en-US" dirty="0">
                <a:latin typeface="Times New Roman" panose="02020603050405020304" pitchFamily="18" charset="0"/>
              </a:rPr>
              <a:t>则 </a:t>
            </a:r>
            <a:r>
              <a:rPr lang="en-US" altLang="zh-CN" i="1" dirty="0">
                <a:latin typeface="Times New Roman" panose="02020603050405020304" pitchFamily="18" charset="0"/>
                <a:sym typeface="Symbol" panose="05050102010706020507" pitchFamily="18" charset="2"/>
              </a:rPr>
              <a:t>k</a:t>
            </a:r>
            <a:r>
              <a:rPr lang="en-US" altLang="zh-CN">
                <a:latin typeface="Times New Roman" panose="02020603050405020304" pitchFamily="18" charset="0"/>
              </a:rPr>
              <a:t>=-1, </a:t>
            </a:r>
            <a:r>
              <a:rPr lang="zh-CN" altLang="en-US" dirty="0">
                <a:latin typeface="Times New Roman" panose="02020603050405020304" pitchFamily="18" charset="0"/>
              </a:rPr>
              <a:t>或</a:t>
            </a:r>
            <a:r>
              <a:rPr lang="en-US" altLang="zh-CN" i="1" dirty="0">
                <a:latin typeface="Times New Roman" panose="02020603050405020304" pitchFamily="18" charset="0"/>
                <a:sym typeface="Symbol" panose="05050102010706020507" pitchFamily="18" charset="2"/>
              </a:rPr>
              <a:t>k</a:t>
            </a:r>
            <a:r>
              <a:rPr lang="en-US" altLang="zh-CN">
                <a:latin typeface="Times New Roman" panose="02020603050405020304" pitchFamily="18" charset="0"/>
              </a:rPr>
              <a:t>=2</a:t>
            </a:r>
            <a:r>
              <a:rPr lang="zh-CN" altLang="en-US" dirty="0">
                <a:latin typeface="Times New Roman" panose="02020603050405020304" pitchFamily="18" charset="0"/>
              </a:rPr>
              <a:t>时</a:t>
            </a:r>
            <a:r>
              <a:rPr lang="en-US" altLang="zh-CN">
                <a:latin typeface="Times New Roman" panose="02020603050405020304" pitchFamily="18" charset="0"/>
              </a:rPr>
              <a:t>, </a:t>
            </a:r>
            <a:r>
              <a:rPr lang="zh-CN" altLang="en-US" dirty="0">
                <a:latin typeface="Times New Roman" panose="02020603050405020304" pitchFamily="18" charset="0"/>
              </a:rPr>
              <a:t>齐次方程组有非零解</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2" name="对象 -2147482100"/>
          <p:cNvGraphicFramePr>
            <a:graphicFrameLocks noChangeAspect="1"/>
          </p:cNvGraphicFramePr>
          <p:nvPr/>
        </p:nvGraphicFramePr>
        <p:xfrm>
          <a:off x="2994025" y="724535"/>
          <a:ext cx="2498090" cy="1503045"/>
        </p:xfrm>
        <a:graphic>
          <a:graphicData uri="http://schemas.openxmlformats.org/presentationml/2006/ole">
            <mc:AlternateContent xmlns:mc="http://schemas.openxmlformats.org/markup-compatibility/2006">
              <mc:Choice xmlns:v="urn:schemas-microsoft-com:vml" Requires="v">
                <p:oleObj spid="_x0000_s3076" name="" r:id="rId1" imgW="1181100" imgH="711200" progId="Equation.DSMT4">
                  <p:embed/>
                </p:oleObj>
              </mc:Choice>
              <mc:Fallback>
                <p:oleObj name="" r:id="rId1" imgW="1181100" imgH="711200" progId="Equation.DSMT4">
                  <p:embed/>
                  <p:pic>
                    <p:nvPicPr>
                      <p:cNvPr id="0" name="图片 3075"/>
                      <p:cNvPicPr/>
                      <p:nvPr/>
                    </p:nvPicPr>
                    <p:blipFill>
                      <a:blip r:embed="rId2"/>
                      <a:stretch>
                        <a:fillRect/>
                      </a:stretch>
                    </p:blipFill>
                    <p:spPr>
                      <a:xfrm>
                        <a:off x="2994025" y="724535"/>
                        <a:ext cx="2498090" cy="1503045"/>
                      </a:xfrm>
                      <a:prstGeom prst="rect">
                        <a:avLst/>
                      </a:prstGeom>
                      <a:noFill/>
                      <a:ln w="38100">
                        <a:noFill/>
                        <a:miter/>
                      </a:ln>
                    </p:spPr>
                  </p:pic>
                </p:oleObj>
              </mc:Fallback>
            </mc:AlternateContent>
          </a:graphicData>
        </a:graphic>
      </p:graphicFrame>
      <p:graphicFrame>
        <p:nvGraphicFramePr>
          <p:cNvPr id="3" name="对象 -2147482099"/>
          <p:cNvGraphicFramePr>
            <a:graphicFrameLocks noChangeAspect="1"/>
          </p:cNvGraphicFramePr>
          <p:nvPr/>
        </p:nvGraphicFramePr>
        <p:xfrm>
          <a:off x="1115695" y="2529205"/>
          <a:ext cx="6934835" cy="2555240"/>
        </p:xfrm>
        <a:graphic>
          <a:graphicData uri="http://schemas.openxmlformats.org/presentationml/2006/ole">
            <mc:AlternateContent xmlns:mc="http://schemas.openxmlformats.org/markup-compatibility/2006">
              <mc:Choice xmlns:v="urn:schemas-microsoft-com:vml" Requires="v">
                <p:oleObj spid="_x0000_s4" name="" r:id="rId3" imgW="3695700" imgH="1397000" progId="Equation.DSMT4">
                  <p:embed/>
                </p:oleObj>
              </mc:Choice>
              <mc:Fallback>
                <p:oleObj name="" r:id="rId3" imgW="3695700" imgH="1397000" progId="Equation.DSMT4">
                  <p:embed/>
                  <p:pic>
                    <p:nvPicPr>
                      <p:cNvPr id="0" name="图片 1"/>
                      <p:cNvPicPr/>
                      <p:nvPr/>
                    </p:nvPicPr>
                    <p:blipFill>
                      <a:blip r:embed="rId4"/>
                      <a:stretch>
                        <a:fillRect/>
                      </a:stretch>
                    </p:blipFill>
                    <p:spPr>
                      <a:xfrm>
                        <a:off x="1115695" y="2529205"/>
                        <a:ext cx="6934835" cy="255524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89442">
                                            <p:txEl>
                                              <p:charRg st="0" end="19"/>
                                            </p:txEl>
                                          </p:spTgt>
                                        </p:tgtEl>
                                        <p:attrNameLst>
                                          <p:attrName>style.visibility</p:attrName>
                                        </p:attrNameLst>
                                      </p:cBhvr>
                                      <p:to>
                                        <p:strVal val="visible"/>
                                      </p:to>
                                    </p:set>
                                    <p:animEffect transition="in" filter="box(out)">
                                      <p:cBhvr>
                                        <p:cTn id="7" dur="500"/>
                                        <p:tgtEl>
                                          <p:spTgt spid="189442">
                                            <p:txEl>
                                              <p:charRg st="0" end="19"/>
                                            </p:txEl>
                                          </p:spTgt>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89444">
                                            <p:txEl>
                                              <p:charRg st="0" end="6"/>
                                            </p:txEl>
                                          </p:spTgt>
                                        </p:tgtEl>
                                        <p:attrNameLst>
                                          <p:attrName>style.visibility</p:attrName>
                                        </p:attrNameLst>
                                      </p:cBhvr>
                                      <p:to>
                                        <p:strVal val="visible"/>
                                      </p:to>
                                    </p:set>
                                    <p:animEffect transition="in" filter="box(out)">
                                      <p:cBhvr>
                                        <p:cTn id="11" dur="500"/>
                                        <p:tgtEl>
                                          <p:spTgt spid="189444">
                                            <p:txEl>
                                              <p:charRg st="0" end="6"/>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189448">
                                            <p:txEl>
                                              <p:charRg st="0" end="3"/>
                                            </p:txEl>
                                          </p:spTgt>
                                        </p:tgtEl>
                                        <p:attrNameLst>
                                          <p:attrName>style.visibility</p:attrName>
                                        </p:attrNameLst>
                                      </p:cBhvr>
                                      <p:to>
                                        <p:strVal val="visible"/>
                                      </p:to>
                                    </p:set>
                                    <p:animEffect transition="in" filter="box(out)">
                                      <p:cBhvr>
                                        <p:cTn id="16" dur="500"/>
                                        <p:tgtEl>
                                          <p:spTgt spid="189448">
                                            <p:txEl>
                                              <p:charRg st="0"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189447">
                                            <p:txEl>
                                              <p:charRg st="0" end="25"/>
                                            </p:txEl>
                                          </p:spTgt>
                                        </p:tgtEl>
                                        <p:attrNameLst>
                                          <p:attrName>style.visibility</p:attrName>
                                        </p:attrNameLst>
                                      </p:cBhvr>
                                      <p:to>
                                        <p:strVal val="visible"/>
                                      </p:to>
                                    </p:set>
                                    <p:animEffect transition="in" filter="box(out)">
                                      <p:cBhvr>
                                        <p:cTn id="26" dur="500"/>
                                        <p:tgtEl>
                                          <p:spTgt spid="189447">
                                            <p:txEl>
                                              <p:charRg st="0" end="2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32" fill="hold" grpId="0" nodeType="clickEffect">
                                  <p:stCondLst>
                                    <p:cond delay="0"/>
                                  </p:stCondLst>
                                  <p:childTnLst>
                                    <p:set>
                                      <p:cBhvr>
                                        <p:cTn id="30" dur="1" fill="hold">
                                          <p:stCondLst>
                                            <p:cond delay="0"/>
                                          </p:stCondLst>
                                        </p:cTn>
                                        <p:tgtEl>
                                          <p:spTgt spid="189449">
                                            <p:txEl>
                                              <p:charRg st="0" end="28"/>
                                            </p:txEl>
                                          </p:spTgt>
                                        </p:tgtEl>
                                        <p:attrNameLst>
                                          <p:attrName>style.visibility</p:attrName>
                                        </p:attrNameLst>
                                      </p:cBhvr>
                                      <p:to>
                                        <p:strVal val="visible"/>
                                      </p:to>
                                    </p:set>
                                    <p:animEffect transition="in" filter="box(out)">
                                      <p:cBhvr>
                                        <p:cTn id="31" dur="500"/>
                                        <p:tgtEl>
                                          <p:spTgt spid="189449">
                                            <p:txEl>
                                              <p:charRg st="0" end="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2" grpId="0" advAuto="1000" build="p"/>
      <p:bldP spid="189444" grpId="0" advAuto="1000" build="p"/>
      <p:bldP spid="189447" grpId="0" build="p"/>
      <p:bldP spid="189448" grpId="0" build="p"/>
      <p:bldP spid="189449"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矩形 60417"/>
          <p:cNvSpPr/>
          <p:nvPr/>
        </p:nvSpPr>
        <p:spPr>
          <a:xfrm>
            <a:off x="914400" y="762000"/>
            <a:ext cx="3402330" cy="521970"/>
          </a:xfrm>
          <a:prstGeom prst="rect">
            <a:avLst/>
          </a:prstGeom>
          <a:noFill/>
          <a:ln w="9525">
            <a:noFill/>
          </a:ln>
        </p:spPr>
        <p:txBody>
          <a:bodyPr wrap="none" anchor="t" anchorCtr="0">
            <a:spAutoFit/>
          </a:bodyPr>
          <a:p>
            <a:r>
              <a:rPr lang="zh-CN" dirty="0">
                <a:solidFill>
                  <a:srgbClr val="3333FF"/>
                </a:solidFill>
                <a:latin typeface="黑体" panose="02010609060101010101" pitchFamily="2" charset="-122"/>
                <a:ea typeface="黑体" panose="02010609060101010101" pitchFamily="2" charset="-122"/>
              </a:rPr>
              <a:t>练习</a:t>
            </a:r>
            <a:r>
              <a:rPr lang="en-US" altLang="zh-CN">
                <a:solidFill>
                  <a:srgbClr val="0000FF"/>
                </a:solidFill>
                <a:latin typeface="黑体" panose="02010609060101010101" pitchFamily="2" charset="-122"/>
                <a:ea typeface="黑体" panose="02010609060101010101" pitchFamily="2" charset="-122"/>
              </a:rPr>
              <a:t>  </a:t>
            </a:r>
            <a:r>
              <a:rPr lang="zh-CN" altLang="en-US" dirty="0">
                <a:latin typeface="宋体" panose="02010600030101010101" pitchFamily="2" charset="-122"/>
              </a:rPr>
              <a:t>解线性方程组</a:t>
            </a:r>
            <a:endParaRPr lang="zh-CN" altLang="en-US" dirty="0">
              <a:latin typeface="宋体" panose="02010600030101010101" pitchFamily="2" charset="-122"/>
            </a:endParaRPr>
          </a:p>
        </p:txBody>
      </p:sp>
      <p:graphicFrame>
        <p:nvGraphicFramePr>
          <p:cNvPr id="60419" name="对象 60418"/>
          <p:cNvGraphicFramePr/>
          <p:nvPr/>
        </p:nvGraphicFramePr>
        <p:xfrm>
          <a:off x="3028950" y="1484630"/>
          <a:ext cx="3099600" cy="1537200"/>
        </p:xfrm>
        <a:graphic>
          <a:graphicData uri="http://schemas.openxmlformats.org/presentationml/2006/ole">
            <mc:AlternateContent xmlns:mc="http://schemas.openxmlformats.org/markup-compatibility/2006">
              <mc:Choice xmlns:v="urn:schemas-microsoft-com:vml" Requires="v">
                <p:oleObj spid="_x0000_s3127" name="" r:id="rId1" imgW="1257300" imgH="711200" progId="Equation.3">
                  <p:embed/>
                </p:oleObj>
              </mc:Choice>
              <mc:Fallback>
                <p:oleObj name="" r:id="rId1" imgW="1257300" imgH="711200" progId="Equation.3">
                  <p:embed/>
                  <p:pic>
                    <p:nvPicPr>
                      <p:cNvPr id="0" name="图片 3126"/>
                      <p:cNvPicPr/>
                      <p:nvPr/>
                    </p:nvPicPr>
                    <p:blipFill>
                      <a:blip r:embed="rId2"/>
                      <a:stretch>
                        <a:fillRect/>
                      </a:stretch>
                    </p:blipFill>
                    <p:spPr>
                      <a:xfrm>
                        <a:off x="3028950" y="1484630"/>
                        <a:ext cx="3099600" cy="1537200"/>
                      </a:xfrm>
                      <a:prstGeom prst="rect">
                        <a:avLst/>
                      </a:prstGeom>
                      <a:noFill/>
                      <a:ln w="38100">
                        <a:noFill/>
                        <a:miter/>
                      </a:ln>
                    </p:spPr>
                  </p:pic>
                </p:oleObj>
              </mc:Fallback>
            </mc:AlternateContent>
          </a:graphicData>
        </a:graphic>
      </p:graphicFrame>
      <p:sp>
        <p:nvSpPr>
          <p:cNvPr id="60420" name="矩形 60419"/>
          <p:cNvSpPr/>
          <p:nvPr/>
        </p:nvSpPr>
        <p:spPr>
          <a:xfrm>
            <a:off x="914400" y="2971800"/>
            <a:ext cx="542925" cy="519113"/>
          </a:xfrm>
          <a:prstGeom prst="rect">
            <a:avLst/>
          </a:prstGeom>
          <a:noFill/>
          <a:ln w="9525">
            <a:noFill/>
          </a:ln>
        </p:spPr>
        <p:txBody>
          <a:bodyPr wrap="none" anchor="t" anchorCtr="0">
            <a:spAutoFit/>
          </a:bodyPr>
          <a:p>
            <a:r>
              <a:rPr lang="zh-CN" altLang="en-US" dirty="0">
                <a:effectLst>
                  <a:outerShdw blurRad="38100" dist="38100" dir="2700000">
                    <a:srgbClr val="FFFFFF"/>
                  </a:outerShdw>
                </a:effectLst>
                <a:latin typeface="Times New Roman" panose="02020603050405020304" pitchFamily="18" charset="0"/>
                <a:ea typeface="黑体" panose="02010609060101010101" pitchFamily="2" charset="-122"/>
              </a:rPr>
              <a:t>解</a:t>
            </a:r>
            <a:endParaRPr lang="zh-CN" altLang="en-US" dirty="0">
              <a:effectLst>
                <a:outerShdw blurRad="38100" dist="38100" dir="2700000">
                  <a:srgbClr val="FFFFFF"/>
                </a:outerShdw>
              </a:effectLst>
              <a:latin typeface="Times New Roman" panose="02020603050405020304" pitchFamily="18" charset="0"/>
              <a:ea typeface="黑体" panose="02010609060101010101" pitchFamily="2" charset="-122"/>
            </a:endParaRPr>
          </a:p>
        </p:txBody>
      </p:sp>
      <p:sp>
        <p:nvSpPr>
          <p:cNvPr id="60421" name="矩形 60420"/>
          <p:cNvSpPr/>
          <p:nvPr/>
        </p:nvSpPr>
        <p:spPr>
          <a:xfrm>
            <a:off x="1828800" y="2971800"/>
            <a:ext cx="4130675" cy="519113"/>
          </a:xfrm>
          <a:prstGeom prst="rect">
            <a:avLst/>
          </a:prstGeom>
          <a:noFill/>
          <a:ln w="9525">
            <a:noFill/>
          </a:ln>
        </p:spPr>
        <p:txBody>
          <a:bodyPr wrap="none" anchor="t" anchorCtr="0">
            <a:spAutoFit/>
          </a:bodyPr>
          <a:p>
            <a:r>
              <a:rPr lang="zh-CN" altLang="en-US" dirty="0">
                <a:latin typeface="Times New Roman" panose="02020603050405020304" pitchFamily="18" charset="0"/>
              </a:rPr>
              <a:t>由于方程组的系数行列式</a:t>
            </a:r>
            <a:endParaRPr lang="zh-CN" altLang="en-US" dirty="0">
              <a:latin typeface="Times New Roman" panose="02020603050405020304" pitchFamily="18" charset="0"/>
            </a:endParaRPr>
          </a:p>
        </p:txBody>
      </p:sp>
      <p:graphicFrame>
        <p:nvGraphicFramePr>
          <p:cNvPr id="60422" name="对象 60421"/>
          <p:cNvGraphicFramePr/>
          <p:nvPr/>
        </p:nvGraphicFramePr>
        <p:xfrm>
          <a:off x="914400" y="3581400"/>
          <a:ext cx="2730500" cy="1511300"/>
        </p:xfrm>
        <a:graphic>
          <a:graphicData uri="http://schemas.openxmlformats.org/presentationml/2006/ole">
            <mc:AlternateContent xmlns:mc="http://schemas.openxmlformats.org/markup-compatibility/2006">
              <mc:Choice xmlns:v="urn:schemas-microsoft-com:vml" Requires="v">
                <p:oleObj spid="_x0000_s3129" name="" r:id="rId3" imgW="2730500" imgH="1511300" progId="Equation.3">
                  <p:embed/>
                </p:oleObj>
              </mc:Choice>
              <mc:Fallback>
                <p:oleObj name="" r:id="rId3" imgW="2730500" imgH="1511300" progId="Equation.3">
                  <p:embed/>
                  <p:pic>
                    <p:nvPicPr>
                      <p:cNvPr id="0" name="图片 3128"/>
                      <p:cNvPicPr/>
                      <p:nvPr/>
                    </p:nvPicPr>
                    <p:blipFill>
                      <a:blip r:embed="rId4"/>
                      <a:stretch>
                        <a:fillRect/>
                      </a:stretch>
                    </p:blipFill>
                    <p:spPr>
                      <a:xfrm>
                        <a:off x="914400" y="3581400"/>
                        <a:ext cx="2730500" cy="1511300"/>
                      </a:xfrm>
                      <a:prstGeom prst="rect">
                        <a:avLst/>
                      </a:prstGeom>
                      <a:noFill/>
                      <a:ln w="38100">
                        <a:noFill/>
                        <a:miter/>
                      </a:ln>
                    </p:spPr>
                  </p:pic>
                </p:oleObj>
              </mc:Fallback>
            </mc:AlternateContent>
          </a:graphicData>
        </a:graphic>
      </p:graphicFrame>
      <p:sp>
        <p:nvSpPr>
          <p:cNvPr id="60423" name="直接连接符 60422"/>
          <p:cNvSpPr/>
          <p:nvPr/>
        </p:nvSpPr>
        <p:spPr>
          <a:xfrm>
            <a:off x="1905000" y="3810000"/>
            <a:ext cx="1524000" cy="1066800"/>
          </a:xfrm>
          <a:prstGeom prst="line">
            <a:avLst/>
          </a:prstGeom>
          <a:ln w="28575" cap="rnd" cmpd="sng">
            <a:solidFill>
              <a:srgbClr val="FF0000"/>
            </a:solidFill>
            <a:prstDash val="sysDot"/>
            <a:headEnd type="none" w="med" len="med"/>
            <a:tailEnd type="none" w="med" len="med"/>
          </a:ln>
        </p:spPr>
      </p:sp>
      <p:graphicFrame>
        <p:nvGraphicFramePr>
          <p:cNvPr id="60424" name="对象 60423"/>
          <p:cNvGraphicFramePr/>
          <p:nvPr/>
        </p:nvGraphicFramePr>
        <p:xfrm>
          <a:off x="3657600" y="4114800"/>
          <a:ext cx="1841500" cy="406400"/>
        </p:xfrm>
        <a:graphic>
          <a:graphicData uri="http://schemas.openxmlformats.org/presentationml/2006/ole">
            <mc:AlternateContent xmlns:mc="http://schemas.openxmlformats.org/markup-compatibility/2006">
              <mc:Choice xmlns:v="urn:schemas-microsoft-com:vml" Requires="v">
                <p:oleObj spid="_x0000_s3130" name="" r:id="rId5" imgW="1839595" imgH="405765" progId="Equation.3">
                  <p:embed/>
                </p:oleObj>
              </mc:Choice>
              <mc:Fallback>
                <p:oleObj name="" r:id="rId5" imgW="1839595" imgH="405765" progId="Equation.3">
                  <p:embed/>
                  <p:pic>
                    <p:nvPicPr>
                      <p:cNvPr id="0" name="图片 3129"/>
                      <p:cNvPicPr/>
                      <p:nvPr/>
                    </p:nvPicPr>
                    <p:blipFill>
                      <a:blip r:embed="rId6"/>
                      <a:stretch>
                        <a:fillRect/>
                      </a:stretch>
                    </p:blipFill>
                    <p:spPr>
                      <a:xfrm>
                        <a:off x="3657600" y="4114800"/>
                        <a:ext cx="1841500" cy="406400"/>
                      </a:xfrm>
                      <a:prstGeom prst="rect">
                        <a:avLst/>
                      </a:prstGeom>
                      <a:noFill/>
                      <a:ln w="38100">
                        <a:noFill/>
                        <a:miter/>
                      </a:ln>
                    </p:spPr>
                  </p:pic>
                </p:oleObj>
              </mc:Fallback>
            </mc:AlternateContent>
          </a:graphicData>
        </a:graphic>
      </p:graphicFrame>
      <p:sp>
        <p:nvSpPr>
          <p:cNvPr id="60425" name="任意多边形 60424"/>
          <p:cNvSpPr/>
          <p:nvPr/>
        </p:nvSpPr>
        <p:spPr>
          <a:xfrm>
            <a:off x="1905000" y="3886200"/>
            <a:ext cx="1587500" cy="1066800"/>
          </a:xfrm>
          <a:custGeom>
            <a:avLst/>
            <a:gdLst/>
            <a:ahLst/>
            <a:cxnLst/>
            <a:pathLst>
              <a:path w="1000" h="672">
                <a:moveTo>
                  <a:pt x="528" y="0"/>
                </a:moveTo>
                <a:cubicBezTo>
                  <a:pt x="764" y="88"/>
                  <a:pt x="1000" y="176"/>
                  <a:pt x="912" y="288"/>
                </a:cubicBezTo>
                <a:cubicBezTo>
                  <a:pt x="824" y="400"/>
                  <a:pt x="152" y="608"/>
                  <a:pt x="0" y="672"/>
                </a:cubicBezTo>
              </a:path>
            </a:pathLst>
          </a:custGeom>
          <a:noFill/>
          <a:ln w="28575" cap="rnd" cmpd="sng">
            <a:solidFill>
              <a:srgbClr val="FF0000">
                <a:alpha val="100000"/>
              </a:srgbClr>
            </a:solidFill>
            <a:prstDash val="sysDot"/>
            <a:headEnd type="none" w="med" len="med"/>
            <a:tailEnd type="none" w="med" len="med"/>
          </a:ln>
        </p:spPr>
        <p:txBody>
          <a:bodyPr/>
          <a:p>
            <a:endParaRPr lang="zh-CN" altLang="en-US"/>
          </a:p>
        </p:txBody>
      </p:sp>
      <p:graphicFrame>
        <p:nvGraphicFramePr>
          <p:cNvPr id="60426" name="对象 60425"/>
          <p:cNvGraphicFramePr/>
          <p:nvPr/>
        </p:nvGraphicFramePr>
        <p:xfrm>
          <a:off x="5562600" y="4114800"/>
          <a:ext cx="2908300" cy="406400"/>
        </p:xfrm>
        <a:graphic>
          <a:graphicData uri="http://schemas.openxmlformats.org/presentationml/2006/ole">
            <mc:AlternateContent xmlns:mc="http://schemas.openxmlformats.org/markup-compatibility/2006">
              <mc:Choice xmlns:v="urn:schemas-microsoft-com:vml" Requires="v">
                <p:oleObj spid="_x0000_s3122" name="" r:id="rId7" imgW="2905760" imgH="405765" progId="Equation.3">
                  <p:embed/>
                </p:oleObj>
              </mc:Choice>
              <mc:Fallback>
                <p:oleObj name="" r:id="rId7" imgW="2905760" imgH="405765" progId="Equation.3">
                  <p:embed/>
                  <p:pic>
                    <p:nvPicPr>
                      <p:cNvPr id="0" name="图片 3121"/>
                      <p:cNvPicPr/>
                      <p:nvPr/>
                    </p:nvPicPr>
                    <p:blipFill>
                      <a:blip r:embed="rId8"/>
                      <a:stretch>
                        <a:fillRect/>
                      </a:stretch>
                    </p:blipFill>
                    <p:spPr>
                      <a:xfrm>
                        <a:off x="5562600" y="4114800"/>
                        <a:ext cx="2908300" cy="406400"/>
                      </a:xfrm>
                      <a:prstGeom prst="rect">
                        <a:avLst/>
                      </a:prstGeom>
                      <a:noFill/>
                      <a:ln w="38100">
                        <a:noFill/>
                        <a:miter/>
                      </a:ln>
                    </p:spPr>
                  </p:pic>
                </p:oleObj>
              </mc:Fallback>
            </mc:AlternateContent>
          </a:graphicData>
        </a:graphic>
      </p:graphicFrame>
      <p:sp>
        <p:nvSpPr>
          <p:cNvPr id="60427" name="任意多边形 60426"/>
          <p:cNvSpPr/>
          <p:nvPr/>
        </p:nvSpPr>
        <p:spPr>
          <a:xfrm>
            <a:off x="1714500" y="3810000"/>
            <a:ext cx="1562100" cy="1066800"/>
          </a:xfrm>
          <a:custGeom>
            <a:avLst/>
            <a:gdLst/>
            <a:ahLst/>
            <a:cxnLst/>
            <a:pathLst>
              <a:path w="984" h="672">
                <a:moveTo>
                  <a:pt x="984" y="0"/>
                </a:moveTo>
                <a:cubicBezTo>
                  <a:pt x="564" y="112"/>
                  <a:pt x="144" y="224"/>
                  <a:pt x="72" y="336"/>
                </a:cubicBezTo>
                <a:cubicBezTo>
                  <a:pt x="0" y="448"/>
                  <a:pt x="472" y="616"/>
                  <a:pt x="552" y="672"/>
                </a:cubicBezTo>
              </a:path>
            </a:pathLst>
          </a:custGeom>
          <a:noFill/>
          <a:ln w="28575" cap="rnd" cmpd="sng">
            <a:solidFill>
              <a:srgbClr val="FF0000">
                <a:alpha val="100000"/>
              </a:srgbClr>
            </a:solidFill>
            <a:prstDash val="sysDot"/>
            <a:headEnd type="none" w="med" len="med"/>
            <a:tailEnd type="none" w="med" len="med"/>
          </a:ln>
        </p:spPr>
        <p:txBody>
          <a:bodyPr/>
          <a:p>
            <a:endParaRPr lang="zh-CN" altLang="en-US"/>
          </a:p>
        </p:txBody>
      </p:sp>
      <p:graphicFrame>
        <p:nvGraphicFramePr>
          <p:cNvPr id="60428" name="对象 60427"/>
          <p:cNvGraphicFramePr/>
          <p:nvPr/>
        </p:nvGraphicFramePr>
        <p:xfrm>
          <a:off x="914400" y="5257800"/>
          <a:ext cx="1358900" cy="304800"/>
        </p:xfrm>
        <a:graphic>
          <a:graphicData uri="http://schemas.openxmlformats.org/presentationml/2006/ole">
            <mc:AlternateContent xmlns:mc="http://schemas.openxmlformats.org/markup-compatibility/2006">
              <mc:Choice xmlns:v="urn:schemas-microsoft-com:vml" Requires="v">
                <p:oleObj spid="_x0000_s3116" name="" r:id="rId9" imgW="1357630" imgH="304800" progId="Equation.3">
                  <p:embed/>
                </p:oleObj>
              </mc:Choice>
              <mc:Fallback>
                <p:oleObj name="" r:id="rId9" imgW="1357630" imgH="304800" progId="Equation.3">
                  <p:embed/>
                  <p:pic>
                    <p:nvPicPr>
                      <p:cNvPr id="0" name="图片 3115"/>
                      <p:cNvPicPr/>
                      <p:nvPr/>
                    </p:nvPicPr>
                    <p:blipFill>
                      <a:blip r:embed="rId10"/>
                      <a:stretch>
                        <a:fillRect/>
                      </a:stretch>
                    </p:blipFill>
                    <p:spPr>
                      <a:xfrm>
                        <a:off x="914400" y="5257800"/>
                        <a:ext cx="1358900" cy="304800"/>
                      </a:xfrm>
                      <a:prstGeom prst="rect">
                        <a:avLst/>
                      </a:prstGeom>
                      <a:noFill/>
                      <a:ln w="38100">
                        <a:noFill/>
                        <a:miter/>
                      </a:ln>
                    </p:spPr>
                  </p:pic>
                </p:oleObj>
              </mc:Fallback>
            </mc:AlternateContent>
          </a:graphicData>
        </a:graphic>
      </p:graphicFrame>
      <p:sp>
        <p:nvSpPr>
          <p:cNvPr id="60429" name="直接连接符 60428"/>
          <p:cNvSpPr/>
          <p:nvPr/>
        </p:nvSpPr>
        <p:spPr>
          <a:xfrm flipH="1">
            <a:off x="1828800" y="3886200"/>
            <a:ext cx="1447800" cy="990600"/>
          </a:xfrm>
          <a:prstGeom prst="line">
            <a:avLst/>
          </a:prstGeom>
          <a:ln w="28575" cap="rnd" cmpd="sng">
            <a:solidFill>
              <a:srgbClr val="0000FF"/>
            </a:solidFill>
            <a:prstDash val="sysDot"/>
            <a:headEnd type="none" w="med" len="med"/>
            <a:tailEnd type="none" w="med" len="med"/>
          </a:ln>
        </p:spPr>
      </p:sp>
      <p:graphicFrame>
        <p:nvGraphicFramePr>
          <p:cNvPr id="60430" name="对象 60429"/>
          <p:cNvGraphicFramePr/>
          <p:nvPr/>
        </p:nvGraphicFramePr>
        <p:xfrm>
          <a:off x="2362200" y="5257800"/>
          <a:ext cx="1828800" cy="406400"/>
        </p:xfrm>
        <a:graphic>
          <a:graphicData uri="http://schemas.openxmlformats.org/presentationml/2006/ole">
            <mc:AlternateContent xmlns:mc="http://schemas.openxmlformats.org/markup-compatibility/2006">
              <mc:Choice xmlns:v="urn:schemas-microsoft-com:vml" Requires="v">
                <p:oleObj spid="_x0000_s3121" name="" r:id="rId11" imgW="1827530" imgH="405765" progId="Equation.3">
                  <p:embed/>
                </p:oleObj>
              </mc:Choice>
              <mc:Fallback>
                <p:oleObj name="" r:id="rId11" imgW="1827530" imgH="405765" progId="Equation.3">
                  <p:embed/>
                  <p:pic>
                    <p:nvPicPr>
                      <p:cNvPr id="0" name="图片 3120"/>
                      <p:cNvPicPr/>
                      <p:nvPr/>
                    </p:nvPicPr>
                    <p:blipFill>
                      <a:blip r:embed="rId12"/>
                      <a:stretch>
                        <a:fillRect/>
                      </a:stretch>
                    </p:blipFill>
                    <p:spPr>
                      <a:xfrm>
                        <a:off x="2362200" y="5257800"/>
                        <a:ext cx="1828800" cy="406400"/>
                      </a:xfrm>
                      <a:prstGeom prst="rect">
                        <a:avLst/>
                      </a:prstGeom>
                      <a:noFill/>
                      <a:ln w="38100">
                        <a:noFill/>
                        <a:miter/>
                      </a:ln>
                    </p:spPr>
                  </p:pic>
                </p:oleObj>
              </mc:Fallback>
            </mc:AlternateContent>
          </a:graphicData>
        </a:graphic>
      </p:graphicFrame>
      <p:sp>
        <p:nvSpPr>
          <p:cNvPr id="60431" name="任意多边形 60430"/>
          <p:cNvSpPr/>
          <p:nvPr/>
        </p:nvSpPr>
        <p:spPr>
          <a:xfrm>
            <a:off x="1689100" y="3810000"/>
            <a:ext cx="1663700" cy="1066800"/>
          </a:xfrm>
          <a:custGeom>
            <a:avLst/>
            <a:gdLst/>
            <a:ahLst/>
            <a:cxnLst/>
            <a:pathLst>
              <a:path w="1048" h="672">
                <a:moveTo>
                  <a:pt x="520" y="0"/>
                </a:moveTo>
                <a:cubicBezTo>
                  <a:pt x="260" y="112"/>
                  <a:pt x="0" y="224"/>
                  <a:pt x="88" y="336"/>
                </a:cubicBezTo>
                <a:cubicBezTo>
                  <a:pt x="176" y="448"/>
                  <a:pt x="888" y="616"/>
                  <a:pt x="1048" y="672"/>
                </a:cubicBezTo>
              </a:path>
            </a:pathLst>
          </a:custGeom>
          <a:noFill/>
          <a:ln w="28575" cap="rnd" cmpd="sng">
            <a:solidFill>
              <a:srgbClr val="0000FF">
                <a:alpha val="100000"/>
              </a:srgbClr>
            </a:solidFill>
            <a:prstDash val="sysDot"/>
            <a:headEnd type="none" w="med" len="med"/>
            <a:tailEnd type="none" w="med" len="med"/>
          </a:ln>
        </p:spPr>
        <p:txBody>
          <a:bodyPr/>
          <a:p>
            <a:endParaRPr lang="zh-CN" altLang="en-US"/>
          </a:p>
        </p:txBody>
      </p:sp>
      <p:graphicFrame>
        <p:nvGraphicFramePr>
          <p:cNvPr id="60432" name="对象 60431"/>
          <p:cNvGraphicFramePr/>
          <p:nvPr/>
        </p:nvGraphicFramePr>
        <p:xfrm>
          <a:off x="4191000" y="5257800"/>
          <a:ext cx="2400300" cy="406400"/>
        </p:xfrm>
        <a:graphic>
          <a:graphicData uri="http://schemas.openxmlformats.org/presentationml/2006/ole">
            <mc:AlternateContent xmlns:mc="http://schemas.openxmlformats.org/markup-compatibility/2006">
              <mc:Choice xmlns:v="urn:schemas-microsoft-com:vml" Requires="v">
                <p:oleObj spid="_x0000_s3123" name="" r:id="rId13" imgW="2398395" imgH="405765" progId="Equation.3">
                  <p:embed/>
                </p:oleObj>
              </mc:Choice>
              <mc:Fallback>
                <p:oleObj name="" r:id="rId13" imgW="2398395" imgH="405765" progId="Equation.3">
                  <p:embed/>
                  <p:pic>
                    <p:nvPicPr>
                      <p:cNvPr id="0" name="图片 3122"/>
                      <p:cNvPicPr/>
                      <p:nvPr/>
                    </p:nvPicPr>
                    <p:blipFill>
                      <a:blip r:embed="rId14"/>
                      <a:stretch>
                        <a:fillRect/>
                      </a:stretch>
                    </p:blipFill>
                    <p:spPr>
                      <a:xfrm>
                        <a:off x="4191000" y="5257800"/>
                        <a:ext cx="2400300" cy="406400"/>
                      </a:xfrm>
                      <a:prstGeom prst="rect">
                        <a:avLst/>
                      </a:prstGeom>
                      <a:noFill/>
                      <a:ln w="38100">
                        <a:noFill/>
                        <a:miter/>
                      </a:ln>
                    </p:spPr>
                  </p:pic>
                </p:oleObj>
              </mc:Fallback>
            </mc:AlternateContent>
          </a:graphicData>
        </a:graphic>
      </p:graphicFrame>
      <p:sp>
        <p:nvSpPr>
          <p:cNvPr id="60433" name="任意多边形 60432"/>
          <p:cNvSpPr/>
          <p:nvPr/>
        </p:nvSpPr>
        <p:spPr>
          <a:xfrm>
            <a:off x="1905000" y="3810000"/>
            <a:ext cx="1600200" cy="1066800"/>
          </a:xfrm>
          <a:custGeom>
            <a:avLst/>
            <a:gdLst/>
            <a:ahLst/>
            <a:cxnLst/>
            <a:pathLst>
              <a:path w="888" h="624">
                <a:moveTo>
                  <a:pt x="0" y="0"/>
                </a:moveTo>
                <a:cubicBezTo>
                  <a:pt x="372" y="92"/>
                  <a:pt x="744" y="184"/>
                  <a:pt x="816" y="288"/>
                </a:cubicBezTo>
                <a:cubicBezTo>
                  <a:pt x="888" y="392"/>
                  <a:pt x="496" y="568"/>
                  <a:pt x="432" y="624"/>
                </a:cubicBezTo>
              </a:path>
            </a:pathLst>
          </a:custGeom>
          <a:noFill/>
          <a:ln w="28575" cap="rnd" cmpd="sng">
            <a:solidFill>
              <a:srgbClr val="0000FF">
                <a:alpha val="100000"/>
              </a:srgbClr>
            </a:solidFill>
            <a:prstDash val="sysDot"/>
            <a:headEnd type="none" w="med" len="med"/>
            <a:tailEnd type="none" w="med" len="med"/>
          </a:ln>
        </p:spPr>
        <p:txBody>
          <a:bodyPr/>
          <a:p>
            <a:endParaRPr lang="zh-CN" altLang="en-US"/>
          </a:p>
        </p:txBody>
      </p:sp>
      <p:graphicFrame>
        <p:nvGraphicFramePr>
          <p:cNvPr id="60434" name="对象 60433"/>
          <p:cNvGraphicFramePr/>
          <p:nvPr/>
        </p:nvGraphicFramePr>
        <p:xfrm>
          <a:off x="6629400" y="5257800"/>
          <a:ext cx="1854200" cy="406400"/>
        </p:xfrm>
        <a:graphic>
          <a:graphicData uri="http://schemas.openxmlformats.org/presentationml/2006/ole">
            <mc:AlternateContent xmlns:mc="http://schemas.openxmlformats.org/markup-compatibility/2006">
              <mc:Choice xmlns:v="urn:schemas-microsoft-com:vml" Requires="v">
                <p:oleObj spid="_x0000_s3117" name="" r:id="rId15" imgW="1852295" imgH="405765" progId="Equation.3">
                  <p:embed/>
                </p:oleObj>
              </mc:Choice>
              <mc:Fallback>
                <p:oleObj name="" r:id="rId15" imgW="1852295" imgH="405765" progId="Equation.3">
                  <p:embed/>
                  <p:pic>
                    <p:nvPicPr>
                      <p:cNvPr id="0" name="图片 3116"/>
                      <p:cNvPicPr/>
                      <p:nvPr/>
                    </p:nvPicPr>
                    <p:blipFill>
                      <a:blip r:embed="rId16"/>
                      <a:stretch>
                        <a:fillRect/>
                      </a:stretch>
                    </p:blipFill>
                    <p:spPr>
                      <a:xfrm>
                        <a:off x="6629400" y="5257800"/>
                        <a:ext cx="1854200" cy="406400"/>
                      </a:xfrm>
                      <a:prstGeom prst="rect">
                        <a:avLst/>
                      </a:prstGeom>
                      <a:noFill/>
                      <a:ln w="38100">
                        <a:noFill/>
                        <a:miter/>
                      </a:ln>
                    </p:spPr>
                  </p:pic>
                </p:oleObj>
              </mc:Fallback>
            </mc:AlternateContent>
          </a:graphicData>
        </a:graphic>
      </p:graphicFrame>
      <p:graphicFrame>
        <p:nvGraphicFramePr>
          <p:cNvPr id="60435" name="对象 60434"/>
          <p:cNvGraphicFramePr/>
          <p:nvPr/>
        </p:nvGraphicFramePr>
        <p:xfrm>
          <a:off x="914400" y="5791200"/>
          <a:ext cx="698500" cy="304800"/>
        </p:xfrm>
        <a:graphic>
          <a:graphicData uri="http://schemas.openxmlformats.org/presentationml/2006/ole">
            <mc:AlternateContent xmlns:mc="http://schemas.openxmlformats.org/markup-compatibility/2006">
              <mc:Choice xmlns:v="urn:schemas-microsoft-com:vml" Requires="v">
                <p:oleObj spid="_x0000_s3124" name="" r:id="rId17" imgW="697865" imgH="304800" progId="Equation.3">
                  <p:embed/>
                </p:oleObj>
              </mc:Choice>
              <mc:Fallback>
                <p:oleObj name="" r:id="rId17" imgW="697865" imgH="304800" progId="Equation.3">
                  <p:embed/>
                  <p:pic>
                    <p:nvPicPr>
                      <p:cNvPr id="0" name="图片 3123"/>
                      <p:cNvPicPr/>
                      <p:nvPr/>
                    </p:nvPicPr>
                    <p:blipFill>
                      <a:blip r:embed="rId18"/>
                      <a:stretch>
                        <a:fillRect/>
                      </a:stretch>
                    </p:blipFill>
                    <p:spPr>
                      <a:xfrm>
                        <a:off x="914400" y="5791200"/>
                        <a:ext cx="698500" cy="304800"/>
                      </a:xfrm>
                      <a:prstGeom prst="rect">
                        <a:avLst/>
                      </a:prstGeom>
                      <a:noFill/>
                      <a:ln w="38100">
                        <a:noFill/>
                        <a:miter/>
                      </a:ln>
                    </p:spPr>
                  </p:pic>
                </p:oleObj>
              </mc:Fallback>
            </mc:AlternateContent>
          </a:graphicData>
        </a:graphic>
      </p:graphicFrame>
      <p:graphicFrame>
        <p:nvGraphicFramePr>
          <p:cNvPr id="60436" name="对象 60435"/>
          <p:cNvGraphicFramePr/>
          <p:nvPr/>
        </p:nvGraphicFramePr>
        <p:xfrm>
          <a:off x="1676400" y="5791200"/>
          <a:ext cx="584200" cy="368300"/>
        </p:xfrm>
        <a:graphic>
          <a:graphicData uri="http://schemas.openxmlformats.org/presentationml/2006/ole">
            <mc:AlternateContent xmlns:mc="http://schemas.openxmlformats.org/markup-compatibility/2006">
              <mc:Choice xmlns:v="urn:schemas-microsoft-com:vml" Requires="v">
                <p:oleObj spid="_x0000_s3128" name="" r:id="rId19" imgW="584200" imgH="368300" progId="Equation.3">
                  <p:embed/>
                </p:oleObj>
              </mc:Choice>
              <mc:Fallback>
                <p:oleObj name="" r:id="rId19" imgW="584200" imgH="368300" progId="Equation.3">
                  <p:embed/>
                  <p:pic>
                    <p:nvPicPr>
                      <p:cNvPr id="0" name="图片 3127"/>
                      <p:cNvPicPr/>
                      <p:nvPr/>
                    </p:nvPicPr>
                    <p:blipFill>
                      <a:blip r:embed="rId20"/>
                      <a:stretch>
                        <a:fillRect/>
                      </a:stretch>
                    </p:blipFill>
                    <p:spPr>
                      <a:xfrm>
                        <a:off x="1676400" y="5791200"/>
                        <a:ext cx="584200" cy="3683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Effect transition="in" filter="wipe(left)">
                                      <p:cBhvr>
                                        <p:cTn id="7" dur="500"/>
                                        <p:tgtEl>
                                          <p:spTgt spid="604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21"/>
                                        </p:tgtEl>
                                        <p:attrNameLst>
                                          <p:attrName>style.visibility</p:attrName>
                                        </p:attrNameLst>
                                      </p:cBhvr>
                                      <p:to>
                                        <p:strVal val="visible"/>
                                      </p:to>
                                    </p:set>
                                    <p:animEffect transition="in" filter="wipe(left)">
                                      <p:cBhvr>
                                        <p:cTn id="12" dur="500"/>
                                        <p:tgtEl>
                                          <p:spTgt spid="604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0422"/>
                                        </p:tgtEl>
                                        <p:attrNameLst>
                                          <p:attrName>style.visibility</p:attrName>
                                        </p:attrNameLst>
                                      </p:cBhvr>
                                      <p:to>
                                        <p:strVal val="visible"/>
                                      </p:to>
                                    </p:set>
                                    <p:animEffect transition="in" filter="wipe(left)">
                                      <p:cBhvr>
                                        <p:cTn id="17" dur="500"/>
                                        <p:tgtEl>
                                          <p:spTgt spid="604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0423"/>
                                        </p:tgtEl>
                                        <p:attrNameLst>
                                          <p:attrName>style.visibility</p:attrName>
                                        </p:attrNameLst>
                                      </p:cBhvr>
                                      <p:to>
                                        <p:strVal val="visible"/>
                                      </p:to>
                                    </p:set>
                                    <p:animEffect transition="in" filter="wipe(left)">
                                      <p:cBhvr>
                                        <p:cTn id="22" dur="500"/>
                                        <p:tgtEl>
                                          <p:spTgt spid="604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0424"/>
                                        </p:tgtEl>
                                        <p:attrNameLst>
                                          <p:attrName>style.visibility</p:attrName>
                                        </p:attrNameLst>
                                      </p:cBhvr>
                                      <p:to>
                                        <p:strVal val="visible"/>
                                      </p:to>
                                    </p:set>
                                    <p:animEffect transition="in" filter="wipe(left)">
                                      <p:cBhvr>
                                        <p:cTn id="27" dur="500"/>
                                        <p:tgtEl>
                                          <p:spTgt spid="604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0425"/>
                                        </p:tgtEl>
                                        <p:attrNameLst>
                                          <p:attrName>style.visibility</p:attrName>
                                        </p:attrNameLst>
                                      </p:cBhvr>
                                      <p:to>
                                        <p:strVal val="visible"/>
                                      </p:to>
                                    </p:set>
                                    <p:animEffect transition="in" filter="wipe(left)">
                                      <p:cBhvr>
                                        <p:cTn id="32" dur="500"/>
                                        <p:tgtEl>
                                          <p:spTgt spid="604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0426"/>
                                        </p:tgtEl>
                                        <p:attrNameLst>
                                          <p:attrName>style.visibility</p:attrName>
                                        </p:attrNameLst>
                                      </p:cBhvr>
                                      <p:to>
                                        <p:strVal val="visible"/>
                                      </p:to>
                                    </p:set>
                                    <p:animEffect transition="in" filter="wipe(left)">
                                      <p:cBhvr>
                                        <p:cTn id="37" dur="500"/>
                                        <p:tgtEl>
                                          <p:spTgt spid="604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0427"/>
                                        </p:tgtEl>
                                        <p:attrNameLst>
                                          <p:attrName>style.visibility</p:attrName>
                                        </p:attrNameLst>
                                      </p:cBhvr>
                                      <p:to>
                                        <p:strVal val="visible"/>
                                      </p:to>
                                    </p:set>
                                    <p:animEffect transition="in" filter="wipe(left)">
                                      <p:cBhvr>
                                        <p:cTn id="42" dur="500"/>
                                        <p:tgtEl>
                                          <p:spTgt spid="604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0428"/>
                                        </p:tgtEl>
                                        <p:attrNameLst>
                                          <p:attrName>style.visibility</p:attrName>
                                        </p:attrNameLst>
                                      </p:cBhvr>
                                      <p:to>
                                        <p:strVal val="visible"/>
                                      </p:to>
                                    </p:set>
                                    <p:animEffect transition="in" filter="wipe(left)">
                                      <p:cBhvr>
                                        <p:cTn id="47" dur="500"/>
                                        <p:tgtEl>
                                          <p:spTgt spid="6042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0429"/>
                                        </p:tgtEl>
                                        <p:attrNameLst>
                                          <p:attrName>style.visibility</p:attrName>
                                        </p:attrNameLst>
                                      </p:cBhvr>
                                      <p:to>
                                        <p:strVal val="visible"/>
                                      </p:to>
                                    </p:set>
                                    <p:animEffect transition="in" filter="wipe(left)">
                                      <p:cBhvr>
                                        <p:cTn id="52" dur="500"/>
                                        <p:tgtEl>
                                          <p:spTgt spid="6042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0430"/>
                                        </p:tgtEl>
                                        <p:attrNameLst>
                                          <p:attrName>style.visibility</p:attrName>
                                        </p:attrNameLst>
                                      </p:cBhvr>
                                      <p:to>
                                        <p:strVal val="visible"/>
                                      </p:to>
                                    </p:set>
                                    <p:animEffect transition="in" filter="wipe(left)">
                                      <p:cBhvr>
                                        <p:cTn id="57" dur="500"/>
                                        <p:tgtEl>
                                          <p:spTgt spid="6043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0431"/>
                                        </p:tgtEl>
                                        <p:attrNameLst>
                                          <p:attrName>style.visibility</p:attrName>
                                        </p:attrNameLst>
                                      </p:cBhvr>
                                      <p:to>
                                        <p:strVal val="visible"/>
                                      </p:to>
                                    </p:set>
                                    <p:animEffect transition="in" filter="wipe(left)">
                                      <p:cBhvr>
                                        <p:cTn id="62" dur="500"/>
                                        <p:tgtEl>
                                          <p:spTgt spid="6043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60432"/>
                                        </p:tgtEl>
                                        <p:attrNameLst>
                                          <p:attrName>style.visibility</p:attrName>
                                        </p:attrNameLst>
                                      </p:cBhvr>
                                      <p:to>
                                        <p:strVal val="visible"/>
                                      </p:to>
                                    </p:set>
                                    <p:animEffect transition="in" filter="wipe(left)">
                                      <p:cBhvr>
                                        <p:cTn id="67" dur="500"/>
                                        <p:tgtEl>
                                          <p:spTgt spid="6043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0433"/>
                                        </p:tgtEl>
                                        <p:attrNameLst>
                                          <p:attrName>style.visibility</p:attrName>
                                        </p:attrNameLst>
                                      </p:cBhvr>
                                      <p:to>
                                        <p:strVal val="visible"/>
                                      </p:to>
                                    </p:set>
                                    <p:animEffect transition="in" filter="wipe(left)">
                                      <p:cBhvr>
                                        <p:cTn id="72" dur="500"/>
                                        <p:tgtEl>
                                          <p:spTgt spid="6043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60434"/>
                                        </p:tgtEl>
                                        <p:attrNameLst>
                                          <p:attrName>style.visibility</p:attrName>
                                        </p:attrNameLst>
                                      </p:cBhvr>
                                      <p:to>
                                        <p:strVal val="visible"/>
                                      </p:to>
                                    </p:set>
                                    <p:animEffect transition="in" filter="wipe(left)">
                                      <p:cBhvr>
                                        <p:cTn id="77" dur="500"/>
                                        <p:tgtEl>
                                          <p:spTgt spid="6043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60435"/>
                                        </p:tgtEl>
                                        <p:attrNameLst>
                                          <p:attrName>style.visibility</p:attrName>
                                        </p:attrNameLst>
                                      </p:cBhvr>
                                      <p:to>
                                        <p:strVal val="visible"/>
                                      </p:to>
                                    </p:set>
                                    <p:animEffect transition="in" filter="wipe(left)">
                                      <p:cBhvr>
                                        <p:cTn id="82" dur="500"/>
                                        <p:tgtEl>
                                          <p:spTgt spid="6043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60436"/>
                                        </p:tgtEl>
                                        <p:attrNameLst>
                                          <p:attrName>style.visibility</p:attrName>
                                        </p:attrNameLst>
                                      </p:cBhvr>
                                      <p:to>
                                        <p:strVal val="visible"/>
                                      </p:to>
                                    </p:set>
                                    <p:animEffect transition="in" filter="wipe(left)">
                                      <p:cBhvr>
                                        <p:cTn id="87" dur="500"/>
                                        <p:tgtEl>
                                          <p:spTgt spid="60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p:bldP spid="60421"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文本框 61441"/>
          <p:cNvSpPr txBox="1"/>
          <p:nvPr/>
        </p:nvSpPr>
        <p:spPr>
          <a:xfrm>
            <a:off x="822325" y="730250"/>
            <a:ext cx="1619250" cy="519113"/>
          </a:xfrm>
          <a:prstGeom prst="rect">
            <a:avLst/>
          </a:prstGeom>
          <a:noFill/>
          <a:ln w="9525">
            <a:noFill/>
          </a:ln>
        </p:spPr>
        <p:txBody>
          <a:bodyPr wrap="none" anchor="t" anchorCtr="0">
            <a:spAutoFit/>
          </a:bodyPr>
          <a:p>
            <a:r>
              <a:rPr lang="zh-CN" altLang="en-US">
                <a:latin typeface="Times New Roman" panose="02020603050405020304" pitchFamily="18" charset="0"/>
              </a:rPr>
              <a:t>同理可得</a:t>
            </a:r>
            <a:endParaRPr lang="zh-CN" altLang="en-US">
              <a:latin typeface="Times New Roman" panose="02020603050405020304" pitchFamily="18" charset="0"/>
            </a:endParaRPr>
          </a:p>
        </p:txBody>
      </p:sp>
      <p:graphicFrame>
        <p:nvGraphicFramePr>
          <p:cNvPr id="61443" name="对象 61442"/>
          <p:cNvGraphicFramePr/>
          <p:nvPr/>
        </p:nvGraphicFramePr>
        <p:xfrm>
          <a:off x="914400" y="1371600"/>
          <a:ext cx="2870200" cy="1511300"/>
        </p:xfrm>
        <a:graphic>
          <a:graphicData uri="http://schemas.openxmlformats.org/presentationml/2006/ole">
            <mc:AlternateContent xmlns:mc="http://schemas.openxmlformats.org/markup-compatibility/2006">
              <mc:Choice xmlns:v="urn:schemas-microsoft-com:vml" Requires="v">
                <p:oleObj spid="_x0000_s3119" name="" r:id="rId1" imgW="2870200" imgH="1511300" progId="Equation.3">
                  <p:embed/>
                </p:oleObj>
              </mc:Choice>
              <mc:Fallback>
                <p:oleObj name="" r:id="rId1" imgW="2870200" imgH="1511300" progId="Equation.3">
                  <p:embed/>
                  <p:pic>
                    <p:nvPicPr>
                      <p:cNvPr id="0" name="图片 3118"/>
                      <p:cNvPicPr/>
                      <p:nvPr/>
                    </p:nvPicPr>
                    <p:blipFill>
                      <a:blip r:embed="rId2"/>
                      <a:stretch>
                        <a:fillRect/>
                      </a:stretch>
                    </p:blipFill>
                    <p:spPr>
                      <a:xfrm>
                        <a:off x="914400" y="1371600"/>
                        <a:ext cx="2870200" cy="1511300"/>
                      </a:xfrm>
                      <a:prstGeom prst="rect">
                        <a:avLst/>
                      </a:prstGeom>
                      <a:noFill/>
                      <a:ln w="38100">
                        <a:noFill/>
                        <a:miter/>
                      </a:ln>
                    </p:spPr>
                  </p:pic>
                </p:oleObj>
              </mc:Fallback>
            </mc:AlternateContent>
          </a:graphicData>
        </a:graphic>
      </p:graphicFrame>
      <p:graphicFrame>
        <p:nvGraphicFramePr>
          <p:cNvPr id="61444" name="对象 61443"/>
          <p:cNvGraphicFramePr/>
          <p:nvPr/>
        </p:nvGraphicFramePr>
        <p:xfrm>
          <a:off x="3810000" y="1981200"/>
          <a:ext cx="787400" cy="355600"/>
        </p:xfrm>
        <a:graphic>
          <a:graphicData uri="http://schemas.openxmlformats.org/presentationml/2006/ole">
            <mc:AlternateContent xmlns:mc="http://schemas.openxmlformats.org/markup-compatibility/2006">
              <mc:Choice xmlns:v="urn:schemas-microsoft-com:vml" Requires="v">
                <p:oleObj spid="_x0000_s3114" name="" r:id="rId3" imgW="786765" imgH="355600" progId="Equation.3">
                  <p:embed/>
                </p:oleObj>
              </mc:Choice>
              <mc:Fallback>
                <p:oleObj name="" r:id="rId3" imgW="786765" imgH="355600" progId="Equation.3">
                  <p:embed/>
                  <p:pic>
                    <p:nvPicPr>
                      <p:cNvPr id="0" name="图片 3113"/>
                      <p:cNvPicPr/>
                      <p:nvPr/>
                    </p:nvPicPr>
                    <p:blipFill>
                      <a:blip r:embed="rId4"/>
                      <a:stretch>
                        <a:fillRect/>
                      </a:stretch>
                    </p:blipFill>
                    <p:spPr>
                      <a:xfrm>
                        <a:off x="3810000" y="1981200"/>
                        <a:ext cx="787400" cy="355600"/>
                      </a:xfrm>
                      <a:prstGeom prst="rect">
                        <a:avLst/>
                      </a:prstGeom>
                      <a:noFill/>
                      <a:ln w="38100">
                        <a:noFill/>
                        <a:miter/>
                      </a:ln>
                    </p:spPr>
                  </p:pic>
                </p:oleObj>
              </mc:Fallback>
            </mc:AlternateContent>
          </a:graphicData>
        </a:graphic>
      </p:graphicFrame>
      <p:graphicFrame>
        <p:nvGraphicFramePr>
          <p:cNvPr id="61445" name="对象 61444"/>
          <p:cNvGraphicFramePr/>
          <p:nvPr/>
        </p:nvGraphicFramePr>
        <p:xfrm>
          <a:off x="4660900" y="1371600"/>
          <a:ext cx="2857500" cy="1511300"/>
        </p:xfrm>
        <a:graphic>
          <a:graphicData uri="http://schemas.openxmlformats.org/presentationml/2006/ole">
            <mc:AlternateContent xmlns:mc="http://schemas.openxmlformats.org/markup-compatibility/2006">
              <mc:Choice xmlns:v="urn:schemas-microsoft-com:vml" Requires="v">
                <p:oleObj spid="_x0000_s3115" name="" r:id="rId5" imgW="2857500" imgH="1511300" progId="Equation.3">
                  <p:embed/>
                </p:oleObj>
              </mc:Choice>
              <mc:Fallback>
                <p:oleObj name="" r:id="rId5" imgW="2857500" imgH="1511300" progId="Equation.3">
                  <p:embed/>
                  <p:pic>
                    <p:nvPicPr>
                      <p:cNvPr id="0" name="图片 3114"/>
                      <p:cNvPicPr/>
                      <p:nvPr/>
                    </p:nvPicPr>
                    <p:blipFill>
                      <a:blip r:embed="rId6"/>
                      <a:stretch>
                        <a:fillRect/>
                      </a:stretch>
                    </p:blipFill>
                    <p:spPr>
                      <a:xfrm>
                        <a:off x="4660900" y="1371600"/>
                        <a:ext cx="2857500" cy="1511300"/>
                      </a:xfrm>
                      <a:prstGeom prst="rect">
                        <a:avLst/>
                      </a:prstGeom>
                      <a:noFill/>
                      <a:ln w="38100">
                        <a:noFill/>
                        <a:miter/>
                      </a:ln>
                    </p:spPr>
                  </p:pic>
                </p:oleObj>
              </mc:Fallback>
            </mc:AlternateContent>
          </a:graphicData>
        </a:graphic>
      </p:graphicFrame>
      <p:graphicFrame>
        <p:nvGraphicFramePr>
          <p:cNvPr id="61446" name="对象 61445"/>
          <p:cNvGraphicFramePr/>
          <p:nvPr/>
        </p:nvGraphicFramePr>
        <p:xfrm>
          <a:off x="7543800" y="1905000"/>
          <a:ext cx="965200" cy="368300"/>
        </p:xfrm>
        <a:graphic>
          <a:graphicData uri="http://schemas.openxmlformats.org/presentationml/2006/ole">
            <mc:AlternateContent xmlns:mc="http://schemas.openxmlformats.org/markup-compatibility/2006">
              <mc:Choice xmlns:v="urn:schemas-microsoft-com:vml" Requires="v">
                <p:oleObj spid="_x0000_s3118" name="" r:id="rId7" imgW="965200" imgH="368300" progId="Equation.3">
                  <p:embed/>
                </p:oleObj>
              </mc:Choice>
              <mc:Fallback>
                <p:oleObj name="" r:id="rId7" imgW="965200" imgH="368300" progId="Equation.3">
                  <p:embed/>
                  <p:pic>
                    <p:nvPicPr>
                      <p:cNvPr id="0" name="图片 3117"/>
                      <p:cNvPicPr/>
                      <p:nvPr/>
                    </p:nvPicPr>
                    <p:blipFill>
                      <a:blip r:embed="rId8"/>
                      <a:stretch>
                        <a:fillRect/>
                      </a:stretch>
                    </p:blipFill>
                    <p:spPr>
                      <a:xfrm>
                        <a:off x="7543800" y="1905000"/>
                        <a:ext cx="965200" cy="368300"/>
                      </a:xfrm>
                      <a:prstGeom prst="rect">
                        <a:avLst/>
                      </a:prstGeom>
                      <a:noFill/>
                      <a:ln w="38100">
                        <a:noFill/>
                        <a:miter/>
                      </a:ln>
                    </p:spPr>
                  </p:pic>
                </p:oleObj>
              </mc:Fallback>
            </mc:AlternateContent>
          </a:graphicData>
        </a:graphic>
      </p:graphicFrame>
      <p:graphicFrame>
        <p:nvGraphicFramePr>
          <p:cNvPr id="61447" name="对象 61446"/>
          <p:cNvGraphicFramePr/>
          <p:nvPr/>
        </p:nvGraphicFramePr>
        <p:xfrm>
          <a:off x="914400" y="3124200"/>
          <a:ext cx="2857500" cy="1511300"/>
        </p:xfrm>
        <a:graphic>
          <a:graphicData uri="http://schemas.openxmlformats.org/presentationml/2006/ole">
            <mc:AlternateContent xmlns:mc="http://schemas.openxmlformats.org/markup-compatibility/2006">
              <mc:Choice xmlns:v="urn:schemas-microsoft-com:vml" Requires="v">
                <p:oleObj spid="_x0000_s3144" name="" r:id="rId9" imgW="2857500" imgH="1511300" progId="Equation.3">
                  <p:embed/>
                </p:oleObj>
              </mc:Choice>
              <mc:Fallback>
                <p:oleObj name="" r:id="rId9" imgW="2857500" imgH="1511300" progId="Equation.3">
                  <p:embed/>
                  <p:pic>
                    <p:nvPicPr>
                      <p:cNvPr id="0" name="图片 3143"/>
                      <p:cNvPicPr/>
                      <p:nvPr/>
                    </p:nvPicPr>
                    <p:blipFill>
                      <a:blip r:embed="rId10"/>
                      <a:stretch>
                        <a:fillRect/>
                      </a:stretch>
                    </p:blipFill>
                    <p:spPr>
                      <a:xfrm>
                        <a:off x="914400" y="3124200"/>
                        <a:ext cx="2857500" cy="1511300"/>
                      </a:xfrm>
                      <a:prstGeom prst="rect">
                        <a:avLst/>
                      </a:prstGeom>
                      <a:noFill/>
                      <a:ln w="38100">
                        <a:noFill/>
                        <a:miter/>
                      </a:ln>
                    </p:spPr>
                  </p:pic>
                </p:oleObj>
              </mc:Fallback>
            </mc:AlternateContent>
          </a:graphicData>
        </a:graphic>
      </p:graphicFrame>
      <p:graphicFrame>
        <p:nvGraphicFramePr>
          <p:cNvPr id="61448" name="对象 61447"/>
          <p:cNvGraphicFramePr/>
          <p:nvPr/>
        </p:nvGraphicFramePr>
        <p:xfrm>
          <a:off x="3810000" y="3708400"/>
          <a:ext cx="787400" cy="355600"/>
        </p:xfrm>
        <a:graphic>
          <a:graphicData uri="http://schemas.openxmlformats.org/presentationml/2006/ole">
            <mc:AlternateContent xmlns:mc="http://schemas.openxmlformats.org/markup-compatibility/2006">
              <mc:Choice xmlns:v="urn:schemas-microsoft-com:vml" Requires="v">
                <p:oleObj spid="_x0000_s3138" name="" r:id="rId11" imgW="786765" imgH="355600" progId="Equation.3">
                  <p:embed/>
                </p:oleObj>
              </mc:Choice>
              <mc:Fallback>
                <p:oleObj name="" r:id="rId11" imgW="786765" imgH="355600" progId="Equation.3">
                  <p:embed/>
                  <p:pic>
                    <p:nvPicPr>
                      <p:cNvPr id="0" name="图片 3137"/>
                      <p:cNvPicPr/>
                      <p:nvPr/>
                    </p:nvPicPr>
                    <p:blipFill>
                      <a:blip r:embed="rId12"/>
                      <a:stretch>
                        <a:fillRect/>
                      </a:stretch>
                    </p:blipFill>
                    <p:spPr>
                      <a:xfrm>
                        <a:off x="3810000" y="3708400"/>
                        <a:ext cx="787400" cy="355600"/>
                      </a:xfrm>
                      <a:prstGeom prst="rect">
                        <a:avLst/>
                      </a:prstGeom>
                      <a:noFill/>
                      <a:ln w="38100">
                        <a:noFill/>
                        <a:miter/>
                      </a:ln>
                    </p:spPr>
                  </p:pic>
                </p:oleObj>
              </mc:Fallback>
            </mc:AlternateContent>
          </a:graphicData>
        </a:graphic>
      </p:graphicFrame>
      <p:sp>
        <p:nvSpPr>
          <p:cNvPr id="61449" name="矩形 61448"/>
          <p:cNvSpPr/>
          <p:nvPr/>
        </p:nvSpPr>
        <p:spPr>
          <a:xfrm>
            <a:off x="838200" y="4724400"/>
            <a:ext cx="2814638" cy="519113"/>
          </a:xfrm>
          <a:prstGeom prst="rect">
            <a:avLst/>
          </a:prstGeom>
          <a:noFill/>
          <a:ln w="9525">
            <a:noFill/>
          </a:ln>
        </p:spPr>
        <p:txBody>
          <a:bodyPr wrap="none" anchor="t" anchorCtr="0">
            <a:spAutoFit/>
          </a:bodyPr>
          <a:p>
            <a:r>
              <a:rPr lang="zh-CN" altLang="en-US" dirty="0">
                <a:latin typeface="Times New Roman" panose="02020603050405020304" pitchFamily="18" charset="0"/>
              </a:rPr>
              <a:t>故方程组的解为</a:t>
            </a:r>
            <a:r>
              <a:rPr lang="en-US" altLang="zh-CN">
                <a:latin typeface="Times New Roman" panose="02020603050405020304" pitchFamily="18" charset="0"/>
              </a:rPr>
              <a:t>:</a:t>
            </a:r>
            <a:endParaRPr lang="en-US" altLang="zh-CN">
              <a:latin typeface="Times New Roman" panose="02020603050405020304" pitchFamily="18" charset="0"/>
            </a:endParaRPr>
          </a:p>
        </p:txBody>
      </p:sp>
      <p:graphicFrame>
        <p:nvGraphicFramePr>
          <p:cNvPr id="61450" name="对象 61449"/>
          <p:cNvGraphicFramePr/>
          <p:nvPr/>
        </p:nvGraphicFramePr>
        <p:xfrm>
          <a:off x="914400" y="5257800"/>
          <a:ext cx="1752600" cy="825500"/>
        </p:xfrm>
        <a:graphic>
          <a:graphicData uri="http://schemas.openxmlformats.org/presentationml/2006/ole">
            <mc:AlternateContent xmlns:mc="http://schemas.openxmlformats.org/markup-compatibility/2006">
              <mc:Choice xmlns:v="urn:schemas-microsoft-com:vml" Requires="v">
                <p:oleObj spid="_x0000_s3142" name="" r:id="rId13" imgW="1752600" imgH="825500" progId="Equation.3">
                  <p:embed/>
                </p:oleObj>
              </mc:Choice>
              <mc:Fallback>
                <p:oleObj name="" r:id="rId13" imgW="1752600" imgH="825500" progId="Equation.3">
                  <p:embed/>
                  <p:pic>
                    <p:nvPicPr>
                      <p:cNvPr id="0" name="图片 3141"/>
                      <p:cNvPicPr/>
                      <p:nvPr/>
                    </p:nvPicPr>
                    <p:blipFill>
                      <a:blip r:embed="rId14"/>
                      <a:stretch>
                        <a:fillRect/>
                      </a:stretch>
                    </p:blipFill>
                    <p:spPr>
                      <a:xfrm>
                        <a:off x="914400" y="5257800"/>
                        <a:ext cx="1752600" cy="825500"/>
                      </a:xfrm>
                      <a:prstGeom prst="rect">
                        <a:avLst/>
                      </a:prstGeom>
                      <a:noFill/>
                      <a:ln w="38100">
                        <a:noFill/>
                        <a:miter/>
                      </a:ln>
                    </p:spPr>
                  </p:pic>
                </p:oleObj>
              </mc:Fallback>
            </mc:AlternateContent>
          </a:graphicData>
        </a:graphic>
      </p:graphicFrame>
      <p:graphicFrame>
        <p:nvGraphicFramePr>
          <p:cNvPr id="61451" name="对象 61450"/>
          <p:cNvGraphicFramePr/>
          <p:nvPr/>
        </p:nvGraphicFramePr>
        <p:xfrm>
          <a:off x="3168650" y="5257800"/>
          <a:ext cx="1828800" cy="825500"/>
        </p:xfrm>
        <a:graphic>
          <a:graphicData uri="http://schemas.openxmlformats.org/presentationml/2006/ole">
            <mc:AlternateContent xmlns:mc="http://schemas.openxmlformats.org/markup-compatibility/2006">
              <mc:Choice xmlns:v="urn:schemas-microsoft-com:vml" Requires="v">
                <p:oleObj spid="_x0000_s3136" name="" r:id="rId15" imgW="1828800" imgH="825500" progId="Equation.3">
                  <p:embed/>
                </p:oleObj>
              </mc:Choice>
              <mc:Fallback>
                <p:oleObj name="" r:id="rId15" imgW="1828800" imgH="825500" progId="Equation.3">
                  <p:embed/>
                  <p:pic>
                    <p:nvPicPr>
                      <p:cNvPr id="0" name="图片 3135"/>
                      <p:cNvPicPr/>
                      <p:nvPr/>
                    </p:nvPicPr>
                    <p:blipFill>
                      <a:blip r:embed="rId16"/>
                      <a:stretch>
                        <a:fillRect/>
                      </a:stretch>
                    </p:blipFill>
                    <p:spPr>
                      <a:xfrm>
                        <a:off x="3168650" y="5257800"/>
                        <a:ext cx="1828800" cy="825500"/>
                      </a:xfrm>
                      <a:prstGeom prst="rect">
                        <a:avLst/>
                      </a:prstGeom>
                      <a:noFill/>
                      <a:ln w="38100">
                        <a:noFill/>
                        <a:miter/>
                      </a:ln>
                    </p:spPr>
                  </p:pic>
                </p:oleObj>
              </mc:Fallback>
            </mc:AlternateContent>
          </a:graphicData>
        </a:graphic>
      </p:graphicFrame>
      <p:graphicFrame>
        <p:nvGraphicFramePr>
          <p:cNvPr id="61452" name="对象 61451"/>
          <p:cNvGraphicFramePr/>
          <p:nvPr/>
        </p:nvGraphicFramePr>
        <p:xfrm>
          <a:off x="5619750" y="5257800"/>
          <a:ext cx="1790700" cy="825500"/>
        </p:xfrm>
        <a:graphic>
          <a:graphicData uri="http://schemas.openxmlformats.org/presentationml/2006/ole">
            <mc:AlternateContent xmlns:mc="http://schemas.openxmlformats.org/markup-compatibility/2006">
              <mc:Choice xmlns:v="urn:schemas-microsoft-com:vml" Requires="v">
                <p:oleObj spid="_x0000_s3141" name="" r:id="rId17" imgW="1790700" imgH="825500" progId="Equation.3">
                  <p:embed/>
                </p:oleObj>
              </mc:Choice>
              <mc:Fallback>
                <p:oleObj name="" r:id="rId17" imgW="1790700" imgH="825500" progId="Equation.3">
                  <p:embed/>
                  <p:pic>
                    <p:nvPicPr>
                      <p:cNvPr id="0" name="图片 3140"/>
                      <p:cNvPicPr/>
                      <p:nvPr/>
                    </p:nvPicPr>
                    <p:blipFill>
                      <a:blip r:embed="rId18"/>
                      <a:stretch>
                        <a:fillRect/>
                      </a:stretch>
                    </p:blipFill>
                    <p:spPr>
                      <a:xfrm>
                        <a:off x="5619750" y="5257800"/>
                        <a:ext cx="1790700" cy="8255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443"/>
                                        </p:tgtEl>
                                        <p:attrNameLst>
                                          <p:attrName>style.visibility</p:attrName>
                                        </p:attrNameLst>
                                      </p:cBhvr>
                                      <p:to>
                                        <p:strVal val="visible"/>
                                      </p:to>
                                    </p:set>
                                    <p:animEffect transition="in" filter="wipe(left)">
                                      <p:cBhvr>
                                        <p:cTn id="7" dur="500"/>
                                        <p:tgtEl>
                                          <p:spTgt spid="614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444"/>
                                        </p:tgtEl>
                                        <p:attrNameLst>
                                          <p:attrName>style.visibility</p:attrName>
                                        </p:attrNameLst>
                                      </p:cBhvr>
                                      <p:to>
                                        <p:strVal val="visible"/>
                                      </p:to>
                                    </p:set>
                                    <p:animEffect transition="in" filter="wipe(left)">
                                      <p:cBhvr>
                                        <p:cTn id="12" dur="500"/>
                                        <p:tgtEl>
                                          <p:spTgt spid="614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1445"/>
                                        </p:tgtEl>
                                        <p:attrNameLst>
                                          <p:attrName>style.visibility</p:attrName>
                                        </p:attrNameLst>
                                      </p:cBhvr>
                                      <p:to>
                                        <p:strVal val="visible"/>
                                      </p:to>
                                    </p:set>
                                    <p:animEffect transition="in" filter="wipe(left)">
                                      <p:cBhvr>
                                        <p:cTn id="17" dur="500"/>
                                        <p:tgtEl>
                                          <p:spTgt spid="614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1446"/>
                                        </p:tgtEl>
                                        <p:attrNameLst>
                                          <p:attrName>style.visibility</p:attrName>
                                        </p:attrNameLst>
                                      </p:cBhvr>
                                      <p:to>
                                        <p:strVal val="visible"/>
                                      </p:to>
                                    </p:set>
                                    <p:animEffect transition="in" filter="wipe(left)">
                                      <p:cBhvr>
                                        <p:cTn id="22" dur="500"/>
                                        <p:tgtEl>
                                          <p:spTgt spid="614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447"/>
                                        </p:tgtEl>
                                        <p:attrNameLst>
                                          <p:attrName>style.visibility</p:attrName>
                                        </p:attrNameLst>
                                      </p:cBhvr>
                                      <p:to>
                                        <p:strVal val="visible"/>
                                      </p:to>
                                    </p:set>
                                    <p:animEffect transition="in" filter="wipe(left)">
                                      <p:cBhvr>
                                        <p:cTn id="27" dur="500"/>
                                        <p:tgtEl>
                                          <p:spTgt spid="6144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1448"/>
                                        </p:tgtEl>
                                        <p:attrNameLst>
                                          <p:attrName>style.visibility</p:attrName>
                                        </p:attrNameLst>
                                      </p:cBhvr>
                                      <p:to>
                                        <p:strVal val="visible"/>
                                      </p:to>
                                    </p:set>
                                    <p:animEffect transition="in" filter="wipe(left)">
                                      <p:cBhvr>
                                        <p:cTn id="32" dur="500"/>
                                        <p:tgtEl>
                                          <p:spTgt spid="6144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61449"/>
                                        </p:tgtEl>
                                        <p:attrNameLst>
                                          <p:attrName>style.visibility</p:attrName>
                                        </p:attrNameLst>
                                      </p:cBhvr>
                                      <p:to>
                                        <p:strVal val="visible"/>
                                      </p:to>
                                    </p:set>
                                    <p:animEffect transition="in" filter="wipe(left)">
                                      <p:cBhvr>
                                        <p:cTn id="37" dur="75"/>
                                        <p:tgtEl>
                                          <p:spTgt spid="6144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1450"/>
                                        </p:tgtEl>
                                        <p:attrNameLst>
                                          <p:attrName>style.visibility</p:attrName>
                                        </p:attrNameLst>
                                      </p:cBhvr>
                                      <p:to>
                                        <p:strVal val="visible"/>
                                      </p:to>
                                    </p:set>
                                    <p:animEffect transition="in" filter="wipe(left)">
                                      <p:cBhvr>
                                        <p:cTn id="42" dur="500"/>
                                        <p:tgtEl>
                                          <p:spTgt spid="6145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1451"/>
                                        </p:tgtEl>
                                        <p:attrNameLst>
                                          <p:attrName>style.visibility</p:attrName>
                                        </p:attrNameLst>
                                      </p:cBhvr>
                                      <p:to>
                                        <p:strVal val="visible"/>
                                      </p:to>
                                    </p:set>
                                    <p:animEffect transition="in" filter="wipe(left)">
                                      <p:cBhvr>
                                        <p:cTn id="47" dur="500"/>
                                        <p:tgtEl>
                                          <p:spTgt spid="6145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1452"/>
                                        </p:tgtEl>
                                        <p:attrNameLst>
                                          <p:attrName>style.visibility</p:attrName>
                                        </p:attrNameLst>
                                      </p:cBhvr>
                                      <p:to>
                                        <p:strVal val="visible"/>
                                      </p:to>
                                    </p:set>
                                    <p:animEffect transition="in" filter="wipe(left)">
                                      <p:cBhvr>
                                        <p:cTn id="52" dur="500"/>
                                        <p:tgtEl>
                                          <p:spTgt spid="61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9"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矩形 193537"/>
          <p:cNvSpPr/>
          <p:nvPr/>
        </p:nvSpPr>
        <p:spPr>
          <a:xfrm>
            <a:off x="1079500" y="1066800"/>
            <a:ext cx="6118225" cy="1563688"/>
          </a:xfrm>
          <a:prstGeom prst="rect">
            <a:avLst/>
          </a:prstGeom>
          <a:noFill/>
          <a:ln w="9525">
            <a:noFill/>
          </a:ln>
        </p:spPr>
        <p:txBody>
          <a:bodyPr wrap="none" anchor="t" anchorCtr="0">
            <a:spAutoFit/>
          </a:bodyPr>
          <a:p>
            <a:pPr marL="457200" indent="-457200">
              <a:lnSpc>
                <a:spcPct val="115000"/>
              </a:lnSpc>
              <a:buAutoNum type="arabicPeriod"/>
            </a:pPr>
            <a:r>
              <a:rPr lang="zh-CN" altLang="en-US" dirty="0">
                <a:latin typeface="Times New Roman" panose="02020603050405020304" pitchFamily="18" charset="0"/>
              </a:rPr>
              <a:t>用克拉默法则解方程组的两个条件</a:t>
            </a:r>
            <a:r>
              <a:rPr lang="en-US" altLang="zh-CN">
                <a:latin typeface="Times New Roman" panose="02020603050405020304" pitchFamily="18" charset="0"/>
              </a:rPr>
              <a:t>:</a:t>
            </a:r>
            <a:endParaRPr lang="en-US" altLang="zh-CN">
              <a:latin typeface="Times New Roman" panose="02020603050405020304" pitchFamily="18" charset="0"/>
            </a:endParaRPr>
          </a:p>
          <a:p>
            <a:pPr marL="457200" indent="-457200">
              <a:lnSpc>
                <a:spcPct val="115000"/>
              </a:lnSpc>
              <a:buNone/>
            </a:pPr>
            <a:r>
              <a:rPr lang="en-US" altLang="zh-CN">
                <a:latin typeface="Times New Roman" panose="02020603050405020304" pitchFamily="18" charset="0"/>
              </a:rPr>
              <a:t>(1)</a:t>
            </a:r>
            <a:r>
              <a:rPr lang="zh-CN" altLang="en-US" dirty="0">
                <a:latin typeface="Times New Roman" panose="02020603050405020304" pitchFamily="18" charset="0"/>
              </a:rPr>
              <a:t>方程个数等于未知量个数</a:t>
            </a:r>
            <a:r>
              <a:rPr lang="en-US" altLang="zh-CN">
                <a:latin typeface="Times New Roman" panose="02020603050405020304" pitchFamily="18" charset="0"/>
              </a:rPr>
              <a:t>;</a:t>
            </a:r>
            <a:endParaRPr lang="en-US" altLang="zh-CN">
              <a:latin typeface="Times New Roman" panose="02020603050405020304" pitchFamily="18" charset="0"/>
            </a:endParaRPr>
          </a:p>
          <a:p>
            <a:pPr marL="457200" indent="-457200">
              <a:lnSpc>
                <a:spcPct val="115000"/>
              </a:lnSpc>
              <a:buNone/>
            </a:pPr>
            <a:r>
              <a:rPr lang="en-US" altLang="zh-CN">
                <a:latin typeface="Times New Roman" panose="02020603050405020304" pitchFamily="18" charset="0"/>
              </a:rPr>
              <a:t>(2)</a:t>
            </a:r>
            <a:r>
              <a:rPr lang="zh-CN" altLang="en-US" dirty="0">
                <a:latin typeface="Times New Roman" panose="02020603050405020304" pitchFamily="18" charset="0"/>
              </a:rPr>
              <a:t>系数行列式不等于零</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93539" name="矩形 193538"/>
          <p:cNvSpPr/>
          <p:nvPr/>
        </p:nvSpPr>
        <p:spPr>
          <a:xfrm>
            <a:off x="358775" y="2590800"/>
            <a:ext cx="8456613" cy="1501775"/>
          </a:xfrm>
          <a:prstGeom prst="rect">
            <a:avLst/>
          </a:prstGeom>
          <a:noFill/>
          <a:ln w="9525">
            <a:noFill/>
          </a:ln>
        </p:spPr>
        <p:txBody>
          <a:bodyPr anchor="t" anchorCtr="0">
            <a:spAutoFit/>
          </a:bodyPr>
          <a:p>
            <a:pPr>
              <a:lnSpc>
                <a:spcPct val="110000"/>
              </a:lnSpc>
            </a:pPr>
            <a:r>
              <a:rPr lang="en-US" altLang="zh-CN" dirty="0">
                <a:latin typeface="Times New Roman" panose="02020603050405020304" pitchFamily="18" charset="0"/>
              </a:rPr>
              <a:t>        </a:t>
            </a:r>
            <a:r>
              <a:rPr lang="en-US" altLang="zh-CN">
                <a:latin typeface="Times New Roman" panose="02020603050405020304" pitchFamily="18" charset="0"/>
              </a:rPr>
              <a:t>2. </a:t>
            </a:r>
            <a:r>
              <a:rPr lang="zh-CN" altLang="en-US" dirty="0">
                <a:latin typeface="Times New Roman" panose="02020603050405020304" pitchFamily="18" charset="0"/>
              </a:rPr>
              <a:t>克拉默法则建立了线性方程组的解和已知的系数与常数项之间的关系</a:t>
            </a:r>
            <a:r>
              <a:rPr lang="en-US" altLang="zh-CN">
                <a:latin typeface="Times New Roman" panose="02020603050405020304" pitchFamily="18" charset="0"/>
              </a:rPr>
              <a:t>. </a:t>
            </a:r>
            <a:r>
              <a:rPr lang="zh-CN" altLang="en-US" dirty="0">
                <a:solidFill>
                  <a:schemeClr val="hlink"/>
                </a:solidFill>
                <a:latin typeface="Times New Roman" panose="02020603050405020304" pitchFamily="18" charset="0"/>
              </a:rPr>
              <a:t>它主要适用于理论推导</a:t>
            </a:r>
            <a:r>
              <a:rPr lang="en-US" altLang="zh-CN">
                <a:solidFill>
                  <a:schemeClr val="hlink"/>
                </a:solidFill>
                <a:latin typeface="Times New Roman" panose="02020603050405020304" pitchFamily="18" charset="0"/>
              </a:rPr>
              <a:t>, </a:t>
            </a:r>
            <a:r>
              <a:rPr lang="zh-CN" altLang="en-US" dirty="0">
                <a:solidFill>
                  <a:schemeClr val="hlink"/>
                </a:solidFill>
                <a:latin typeface="Times New Roman" panose="02020603050405020304" pitchFamily="18" charset="0"/>
              </a:rPr>
              <a:t>并不适用于实际计算</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93540" name="矩形 193539"/>
          <p:cNvSpPr/>
          <p:nvPr/>
        </p:nvSpPr>
        <p:spPr>
          <a:xfrm>
            <a:off x="1438275" y="457200"/>
            <a:ext cx="1098550" cy="641350"/>
          </a:xfrm>
          <a:prstGeom prst="rect">
            <a:avLst/>
          </a:prstGeom>
          <a:noFill/>
          <a:ln w="9525">
            <a:noFill/>
          </a:ln>
        </p:spPr>
        <p:txBody>
          <a:bodyPr wrap="none" anchor="t" anchorCtr="0">
            <a:spAutoFit/>
          </a:bodyPr>
          <a:p>
            <a:r>
              <a:rPr lang="zh-CN" altLang="en-US" sz="3600" b="0" dirty="0">
                <a:solidFill>
                  <a:srgbClr val="0000FF"/>
                </a:solidFill>
                <a:latin typeface="Times New Roman" panose="02020603050405020304" pitchFamily="18" charset="0"/>
                <a:ea typeface="黑体" panose="02010609060101010101" pitchFamily="2" charset="-122"/>
              </a:rPr>
              <a:t>小结</a:t>
            </a:r>
            <a:endParaRPr lang="zh-CN" altLang="en-US" sz="3600" b="0" dirty="0">
              <a:solidFill>
                <a:srgbClr val="0000FF"/>
              </a:solidFill>
              <a:latin typeface="Times New Roman" panose="02020603050405020304" pitchFamily="18"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93540">
                                            <p:txEl>
                                              <p:charRg st="0" end="3"/>
                                            </p:txEl>
                                          </p:spTgt>
                                        </p:tgtEl>
                                        <p:attrNameLst>
                                          <p:attrName>style.visibility</p:attrName>
                                        </p:attrNameLst>
                                      </p:cBhvr>
                                      <p:to>
                                        <p:strVal val="visible"/>
                                      </p:to>
                                    </p:set>
                                    <p:animEffect transition="in" filter="box(out)">
                                      <p:cBhvr>
                                        <p:cTn id="7" dur="500"/>
                                        <p:tgtEl>
                                          <p:spTgt spid="193540">
                                            <p:txEl>
                                              <p:charRg st="0"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93538">
                                            <p:txEl>
                                              <p:charRg st="0" end="17"/>
                                            </p:txEl>
                                          </p:spTgt>
                                        </p:tgtEl>
                                        <p:attrNameLst>
                                          <p:attrName>style.visibility</p:attrName>
                                        </p:attrNameLst>
                                      </p:cBhvr>
                                      <p:to>
                                        <p:strVal val="visible"/>
                                      </p:to>
                                    </p:set>
                                    <p:animEffect transition="in" filter="box(out)">
                                      <p:cBhvr>
                                        <p:cTn id="12" dur="500"/>
                                        <p:tgtEl>
                                          <p:spTgt spid="193538">
                                            <p:txEl>
                                              <p:charRg st="0" end="1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93538">
                                            <p:txEl>
                                              <p:charRg st="17" end="33"/>
                                            </p:txEl>
                                          </p:spTgt>
                                        </p:tgtEl>
                                        <p:attrNameLst>
                                          <p:attrName>style.visibility</p:attrName>
                                        </p:attrNameLst>
                                      </p:cBhvr>
                                      <p:to>
                                        <p:strVal val="visible"/>
                                      </p:to>
                                    </p:set>
                                    <p:animEffect transition="in" filter="box(out)">
                                      <p:cBhvr>
                                        <p:cTn id="17" dur="500"/>
                                        <p:tgtEl>
                                          <p:spTgt spid="193538">
                                            <p:txEl>
                                              <p:charRg st="17" end="3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93538">
                                            <p:txEl>
                                              <p:charRg st="33" end="47"/>
                                            </p:txEl>
                                          </p:spTgt>
                                        </p:tgtEl>
                                        <p:attrNameLst>
                                          <p:attrName>style.visibility</p:attrName>
                                        </p:attrNameLst>
                                      </p:cBhvr>
                                      <p:to>
                                        <p:strVal val="visible"/>
                                      </p:to>
                                    </p:set>
                                    <p:animEffect transition="in" filter="box(out)">
                                      <p:cBhvr>
                                        <p:cTn id="22" dur="500"/>
                                        <p:tgtEl>
                                          <p:spTgt spid="193538">
                                            <p:txEl>
                                              <p:charRg st="33" end="4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93539">
                                            <p:txEl>
                                              <p:charRg st="0" end="66"/>
                                            </p:txEl>
                                          </p:spTgt>
                                        </p:tgtEl>
                                        <p:attrNameLst>
                                          <p:attrName>style.visibility</p:attrName>
                                        </p:attrNameLst>
                                      </p:cBhvr>
                                      <p:to>
                                        <p:strVal val="visible"/>
                                      </p:to>
                                    </p:set>
                                    <p:animEffect transition="in" filter="box(out)">
                                      <p:cBhvr>
                                        <p:cTn id="27" dur="500"/>
                                        <p:tgtEl>
                                          <p:spTgt spid="193539">
                                            <p:txEl>
                                              <p:charRg st="0" end="6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8" grpId="0" build="p"/>
      <p:bldP spid="193539" grpId="0" build="p"/>
      <p:bldP spid="193540" grpId="0" advAuto="100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文本框 194561"/>
          <p:cNvSpPr txBox="1"/>
          <p:nvPr/>
        </p:nvSpPr>
        <p:spPr>
          <a:xfrm>
            <a:off x="1079500" y="814388"/>
            <a:ext cx="1560513" cy="641350"/>
          </a:xfrm>
          <a:prstGeom prst="rect">
            <a:avLst/>
          </a:prstGeom>
          <a:noFill/>
          <a:ln w="9525">
            <a:noFill/>
          </a:ln>
        </p:spPr>
        <p:txBody>
          <a:bodyPr wrap="none" anchor="t" anchorCtr="0">
            <a:spAutoFit/>
          </a:bodyPr>
          <a:p>
            <a:r>
              <a:rPr lang="zh-CN" altLang="en-US" sz="3600" dirty="0">
                <a:solidFill>
                  <a:srgbClr val="0000FF"/>
                </a:solidFill>
                <a:latin typeface="Times New Roman" panose="02020603050405020304" pitchFamily="18" charset="0"/>
                <a:ea typeface="黑体" panose="02010609060101010101" pitchFamily="2" charset="-122"/>
              </a:rPr>
              <a:t>思考题</a:t>
            </a:r>
            <a:endParaRPr lang="zh-CN" altLang="en-US" sz="3600">
              <a:solidFill>
                <a:srgbClr val="0000FF"/>
              </a:solidFill>
              <a:latin typeface="Times New Roman" panose="02020603050405020304" pitchFamily="18" charset="0"/>
              <a:ea typeface="黑体" panose="02010609060101010101" pitchFamily="2" charset="-122"/>
            </a:endParaRPr>
          </a:p>
        </p:txBody>
      </p:sp>
      <p:sp>
        <p:nvSpPr>
          <p:cNvPr id="194563" name="矩形 194562"/>
          <p:cNvSpPr/>
          <p:nvPr/>
        </p:nvSpPr>
        <p:spPr>
          <a:xfrm>
            <a:off x="358775" y="1524000"/>
            <a:ext cx="8456613" cy="1031875"/>
          </a:xfrm>
          <a:prstGeom prst="rect">
            <a:avLst/>
          </a:prstGeom>
          <a:noFill/>
          <a:ln w="9525">
            <a:noFill/>
          </a:ln>
        </p:spPr>
        <p:txBody>
          <a:bodyPr anchor="t" anchorCtr="0">
            <a:spAutoFit/>
          </a:bodyPr>
          <a:p>
            <a:pPr>
              <a:lnSpc>
                <a:spcPct val="110000"/>
              </a:lnSpc>
            </a:pPr>
            <a:r>
              <a:rPr lang="en-US" altLang="zh-CN" dirty="0">
                <a:latin typeface="Times New Roman" panose="02020603050405020304" pitchFamily="18" charset="0"/>
              </a:rPr>
              <a:t>        </a:t>
            </a:r>
            <a:r>
              <a:rPr lang="zh-CN" altLang="en-US" dirty="0">
                <a:latin typeface="Times New Roman" panose="02020603050405020304" pitchFamily="18" charset="0"/>
              </a:rPr>
              <a:t>当线性方程组的系数行列式为零时</a:t>
            </a:r>
            <a:r>
              <a:rPr lang="en-US" altLang="zh-CN">
                <a:latin typeface="Times New Roman" panose="02020603050405020304" pitchFamily="18" charset="0"/>
              </a:rPr>
              <a:t>, </a:t>
            </a:r>
            <a:r>
              <a:rPr lang="zh-CN" altLang="en-US" dirty="0">
                <a:latin typeface="Times New Roman" panose="02020603050405020304" pitchFamily="18" charset="0"/>
              </a:rPr>
              <a:t>能否用克拉默法则解方程组</a:t>
            </a:r>
            <a:r>
              <a:rPr lang="en-US" altLang="zh-CN">
                <a:latin typeface="Times New Roman" panose="02020603050405020304" pitchFamily="18" charset="0"/>
              </a:rPr>
              <a:t>? </a:t>
            </a:r>
            <a:r>
              <a:rPr lang="zh-CN" altLang="en-US" dirty="0">
                <a:latin typeface="Times New Roman" panose="02020603050405020304" pitchFamily="18" charset="0"/>
              </a:rPr>
              <a:t>此时方程组的解为何</a:t>
            </a:r>
            <a:r>
              <a:rPr lang="en-US" altLang="zh-CN">
                <a:latin typeface="Times New Roman" panose="02020603050405020304" pitchFamily="18" charset="0"/>
              </a:rPr>
              <a:t>?</a:t>
            </a:r>
            <a:endParaRPr lang="en-US" altLang="zh-CN">
              <a:latin typeface="Times New Roman" panose="02020603050405020304" pitchFamily="18" charset="0"/>
            </a:endParaRPr>
          </a:p>
        </p:txBody>
      </p:sp>
      <p:sp>
        <p:nvSpPr>
          <p:cNvPr id="194564" name="文本框 194563"/>
          <p:cNvSpPr txBox="1"/>
          <p:nvPr/>
        </p:nvSpPr>
        <p:spPr>
          <a:xfrm>
            <a:off x="1079500" y="2667000"/>
            <a:ext cx="2478088" cy="641350"/>
          </a:xfrm>
          <a:prstGeom prst="rect">
            <a:avLst/>
          </a:prstGeom>
          <a:noFill/>
          <a:ln w="9525">
            <a:noFill/>
          </a:ln>
        </p:spPr>
        <p:txBody>
          <a:bodyPr wrap="none" anchor="t" anchorCtr="0">
            <a:spAutoFit/>
          </a:bodyPr>
          <a:p>
            <a:r>
              <a:rPr lang="zh-CN" altLang="en-US" sz="3600" dirty="0">
                <a:solidFill>
                  <a:srgbClr val="0000FF"/>
                </a:solidFill>
                <a:latin typeface="Times New Roman" panose="02020603050405020304" pitchFamily="18" charset="0"/>
                <a:ea typeface="黑体" panose="02010609060101010101" pitchFamily="2" charset="-122"/>
              </a:rPr>
              <a:t>思考题解答</a:t>
            </a:r>
            <a:endParaRPr lang="zh-CN" altLang="en-US" sz="3600">
              <a:solidFill>
                <a:srgbClr val="0000FF"/>
              </a:solidFill>
              <a:latin typeface="Times New Roman" panose="02020603050405020304" pitchFamily="18" charset="0"/>
              <a:ea typeface="黑体" panose="02010609060101010101" pitchFamily="2" charset="-122"/>
            </a:endParaRPr>
          </a:p>
        </p:txBody>
      </p:sp>
      <p:sp>
        <p:nvSpPr>
          <p:cNvPr id="194565" name="矩形 194564"/>
          <p:cNvSpPr/>
          <p:nvPr/>
        </p:nvSpPr>
        <p:spPr>
          <a:xfrm>
            <a:off x="1079500" y="3367088"/>
            <a:ext cx="7302500" cy="519112"/>
          </a:xfrm>
          <a:prstGeom prst="rect">
            <a:avLst/>
          </a:prstGeom>
          <a:noFill/>
          <a:ln w="9525">
            <a:noFill/>
          </a:ln>
        </p:spPr>
        <p:txBody>
          <a:bodyPr>
            <a:spAutoFit/>
          </a:bodyPr>
          <a:p>
            <a:r>
              <a:rPr lang="zh-CN" altLang="en-US" dirty="0">
                <a:latin typeface="Times New Roman" panose="02020603050405020304" pitchFamily="18" charset="0"/>
              </a:rPr>
              <a:t>不能</a:t>
            </a:r>
            <a:r>
              <a:rPr lang="en-US" altLang="zh-CN">
                <a:latin typeface="Times New Roman" panose="02020603050405020304" pitchFamily="18" charset="0"/>
              </a:rPr>
              <a:t>. </a:t>
            </a:r>
            <a:r>
              <a:rPr lang="zh-CN" altLang="en-US" dirty="0">
                <a:latin typeface="Times New Roman" panose="02020603050405020304" pitchFamily="18" charset="0"/>
              </a:rPr>
              <a:t>此时方程组可能为无解</a:t>
            </a:r>
            <a:r>
              <a:rPr lang="en-US" altLang="zh-CN">
                <a:latin typeface="Times New Roman" panose="02020603050405020304" pitchFamily="18" charset="0"/>
              </a:rPr>
              <a:t>, </a:t>
            </a:r>
            <a:r>
              <a:rPr lang="zh-CN" altLang="en-US" dirty="0">
                <a:latin typeface="Times New Roman" panose="02020603050405020304" pitchFamily="18" charset="0"/>
              </a:rPr>
              <a:t>或有无穷多解</a:t>
            </a:r>
            <a:r>
              <a:rPr lang="en-US" altLang="zh-CN">
                <a:latin typeface="Times New Roman" panose="02020603050405020304" pitchFamily="18" charset="0"/>
              </a:rPr>
              <a:t>.</a:t>
            </a:r>
            <a:endParaRPr lang="en-US" altLang="zh-CN">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94564">
                                            <p:txEl>
                                              <p:charRg st="0" end="6"/>
                                            </p:txEl>
                                          </p:spTgt>
                                        </p:tgtEl>
                                        <p:attrNameLst>
                                          <p:attrName>style.visibility</p:attrName>
                                        </p:attrNameLst>
                                      </p:cBhvr>
                                      <p:to>
                                        <p:strVal val="visible"/>
                                      </p:to>
                                    </p:set>
                                    <p:animEffect transition="in" filter="box(out)">
                                      <p:cBhvr>
                                        <p:cTn id="7" dur="500"/>
                                        <p:tgtEl>
                                          <p:spTgt spid="194564">
                                            <p:txEl>
                                              <p:charRg st="0" end="6"/>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94565">
                                            <p:txEl>
                                              <p:charRg st="0" end="24"/>
                                            </p:txEl>
                                          </p:spTgt>
                                        </p:tgtEl>
                                        <p:attrNameLst>
                                          <p:attrName>style.visibility</p:attrName>
                                        </p:attrNameLst>
                                      </p:cBhvr>
                                      <p:to>
                                        <p:strVal val="visible"/>
                                      </p:to>
                                    </p:set>
                                    <p:animEffect transition="in" filter="box(out)">
                                      <p:cBhvr>
                                        <p:cTn id="12" dur="500"/>
                                        <p:tgtEl>
                                          <p:spTgt spid="194565">
                                            <p:txEl>
                                              <p:charRg st="0" end="24"/>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4" grpId="0" build="p"/>
      <p:bldP spid="194565" grpId="0" build="p"/>
    </p:bldLst>
  </p:timing>
</p:sld>
</file>

<file path=ppt/tags/tag1.xml><?xml version="1.0" encoding="utf-8"?>
<p:tagLst xmlns:p="http://schemas.openxmlformats.org/presentationml/2006/main">
  <p:tag name="KSO_WM_DIAGRAM_VIRTUALLY_FRAME" val="{&quot;height&quot;:190.75,&quot;left&quot;:48.12503937007874,&quot;top&quot;:307.25,&quot;width&quot;:516.5}"/>
</p:tagLst>
</file>

<file path=ppt/tags/tag2.xml><?xml version="1.0" encoding="utf-8"?>
<p:tagLst xmlns:p="http://schemas.openxmlformats.org/presentationml/2006/main">
  <p:tag name="KSO_WM_DIAGRAM_VIRTUALLY_FRAME" val="{&quot;height&quot;:190.75,&quot;left&quot;:48.12503937007874,&quot;top&quot;:307.25,&quot;width&quot;:516.5}"/>
</p:tagLst>
</file>

<file path=ppt/tags/tag3.xml><?xml version="1.0" encoding="utf-8"?>
<p:tagLst xmlns:p="http://schemas.openxmlformats.org/presentationml/2006/main">
  <p:tag name="KSO_WM_DIAGRAM_VIRTUALLY_FRAME" val="{&quot;height&quot;:190.75,&quot;left&quot;:48.12503937007874,&quot;top&quot;:307.25,&quot;width&quot;:516.5}"/>
</p:tagLst>
</file>

<file path=ppt/tags/tag4.xml><?xml version="1.0" encoding="utf-8"?>
<p:tagLst xmlns:p="http://schemas.openxmlformats.org/presentationml/2006/main">
  <p:tag name="KSO_WM_DIAGRAM_VIRTUALLY_FRAME" val="{&quot;height&quot;:190.75,&quot;left&quot;:48.12503937007874,&quot;top&quot;:307.25,&quot;width&quot;:516.5}"/>
</p:tagLst>
</file>

<file path=ppt/tags/tag5.xml><?xml version="1.0" encoding="utf-8"?>
<p:tagLst xmlns:p="http://schemas.openxmlformats.org/presentationml/2006/main">
  <p:tag name="KSO_WM_DIAGRAM_VIRTUALLY_FRAME" val="{&quot;height&quot;:190.75,&quot;left&quot;:48.12503937007874,&quot;top&quot;:307.25,&quot;width&quot;:516.5}"/>
</p:tagLst>
</file>

<file path=ppt/tags/tag6.xml><?xml version="1.0" encoding="utf-8"?>
<p:tagLst xmlns:p="http://schemas.openxmlformats.org/presentationml/2006/main">
  <p:tag name="KSO_WM_DIAGRAM_VIRTUALLY_FRAME" val="{&quot;height&quot;:190.75,&quot;left&quot;:48.12503937007874,&quot;top&quot;:307.25,&quot;width&quot;:516.5}"/>
</p:tagLst>
</file>

<file path=ppt/tags/tag7.xml><?xml version="1.0" encoding="utf-8"?>
<p:tagLst xmlns:p="http://schemas.openxmlformats.org/presentationml/2006/main">
  <p:tag name="KSO_WM_DIAGRAM_VIRTUALLY_FRAME" val="{&quot;height&quot;:190.75,&quot;left&quot;:48.12503937007874,&quot;top&quot;:307.25,&quot;width&quot;:516.5}"/>
</p:tagLst>
</file>

<file path=ppt/tags/tag8.xml><?xml version="1.0" encoding="utf-8"?>
<p:tagLst xmlns:p="http://schemas.openxmlformats.org/presentationml/2006/main">
  <p:tag name="KSO_WM_DIAGRAM_VIRTUALLY_FRAME" val="{&quot;height&quot;:190.75,&quot;left&quot;:48.12503937007874,&quot;top&quot;:307.25,&quot;width&quot;:516.5}"/>
</p:tagLst>
</file>

<file path=ppt/tags/tag9.xml><?xml version="1.0" encoding="utf-8"?>
<p:tagLst xmlns:p="http://schemas.openxmlformats.org/presentationml/2006/main">
  <p:tag name="KSO_WM_DIAGRAM_VIRTUALLY_FRAME" val="{&quot;height&quot;:119,&quot;left&quot;:72,&quot;top&quot;:128.5,&quot;width&quot;:294}"/>
</p:tagLst>
</file>

<file path=ppt/tags/tag10.xml><?xml version="1.0" encoding="utf-8"?>
<p:tagLst xmlns:p="http://schemas.openxmlformats.org/presentationml/2006/main">
  <p:tag name="KSO_WM_DIAGRAM_VIRTUALLY_FRAME" val="{&quot;height&quot;:119,&quot;left&quot;:72,&quot;top&quot;:128.5,&quot;width&quot;:294}"/>
</p:tagLst>
</file>

<file path=ppt/tags/tag11.xml><?xml version="1.0" encoding="utf-8"?>
<p:tagLst xmlns:p="http://schemas.openxmlformats.org/presentationml/2006/main">
  <p:tag name="KSO_WM_DIAGRAM_VIRTUALLY_FRAME" val="{&quot;height&quot;:119,&quot;left&quot;:72,&quot;top&quot;:128.5,&quot;width&quot;:294}"/>
</p:tagLst>
</file>

<file path=ppt/tags/tag12.xml><?xml version="1.0" encoding="utf-8"?>
<p:tagLst xmlns:p="http://schemas.openxmlformats.org/presentationml/2006/main">
  <p:tag name="KSO_WM_DIAGRAM_VIRTUALLY_FRAME" val="{&quot;height&quot;:119,&quot;left&quot;:72,&quot;top&quot;:128.5,&quot;width&quot;:294}"/>
</p:tagLst>
</file>

<file path=ppt/tags/tag13.xml><?xml version="1.0" encoding="utf-8"?>
<p:tagLst xmlns:p="http://schemas.openxmlformats.org/presentationml/2006/main">
  <p:tag name="KSO_WM_DIAGRAM_VIRTUALLY_FRAME" val="{&quot;height&quot;:119,&quot;left&quot;:72,&quot;top&quot;:128.5,&quot;width&quot;:294}"/>
</p:tagLst>
</file>

<file path=ppt/tags/tag14.xml><?xml version="1.0" encoding="utf-8"?>
<p:tagLst xmlns:p="http://schemas.openxmlformats.org/presentationml/2006/main">
  <p:tag name="KSO_WM_DIAGRAM_VIRTUALLY_FRAME" val="{&quot;height&quot;:119,&quot;left&quot;:72,&quot;top&quot;:128.5,&quot;width&quot;:294}"/>
</p:tagLst>
</file>

<file path=ppt/tags/tag15.xml><?xml version="1.0" encoding="utf-8"?>
<p:tagLst xmlns:p="http://schemas.openxmlformats.org/presentationml/2006/main">
  <p:tag name="KSO_WM_DIAGRAM_VIRTUALLY_FRAME" val="{&quot;height&quot;:119,&quot;left&quot;:72,&quot;top&quot;:128.5,&quot;width&quot;:294}"/>
</p:tagLst>
</file>

<file path=ppt/tags/tag16.xml><?xml version="1.0" encoding="utf-8"?>
<p:tagLst xmlns:p="http://schemas.openxmlformats.org/presentationml/2006/main">
  <p:tag name="KSO_WM_DIAGRAM_VIRTUALLY_FRAME" val="{&quot;height&quot;:119,&quot;left&quot;:72,&quot;top&quot;:128.5,&quot;width&quot;:294}"/>
</p:tagLst>
</file>

<file path=ppt/tags/tag17.xml><?xml version="1.0" encoding="utf-8"?>
<p:tagLst xmlns:p="http://schemas.openxmlformats.org/presentationml/2006/main">
  <p:tag name="KSO_WM_DIAGRAM_VIRTUALLY_FRAME" val="{&quot;height&quot;:119,&quot;left&quot;:72,&quot;top&quot;:128.5,&quot;width&quot;:294}"/>
</p:tagLst>
</file>

<file path=ppt/tags/tag18.xml><?xml version="1.0" encoding="utf-8"?>
<p:tagLst xmlns:p="http://schemas.openxmlformats.org/presentationml/2006/main">
  <p:tag name="KSO_WM_DIAGRAM_VIRTUALLY_FRAME" val="{&quot;height&quot;:119,&quot;left&quot;:72,&quot;top&quot;:128.5,&quot;width&quot;:294}"/>
</p:tagLst>
</file>

<file path=ppt/tags/tag19.xml><?xml version="1.0" encoding="utf-8"?>
<p:tagLst xmlns:p="http://schemas.openxmlformats.org/presentationml/2006/main">
  <p:tag name="KSO_WM_DIAGRAM_VIRTUALLY_FRAME" val="{&quot;height&quot;:228.22503937007872,&quot;left&quot;:27.375039370078742,&quot;top&quot;:24,&quot;width&quot;:666.75}"/>
</p:tagLst>
</file>

<file path=ppt/tags/tag20.xml><?xml version="1.0" encoding="utf-8"?>
<p:tagLst xmlns:p="http://schemas.openxmlformats.org/presentationml/2006/main">
  <p:tag name="KSO_WM_DIAGRAM_VIRTUALLY_FRAME" val="{&quot;height&quot;:228.22503937007872,&quot;left&quot;:27.375039370078742,&quot;top&quot;:24,&quot;width&quot;:666.75}"/>
</p:tagLst>
</file>

<file path=ppt/tags/tag21.xml><?xml version="1.0" encoding="utf-8"?>
<p:tagLst xmlns:p="http://schemas.openxmlformats.org/presentationml/2006/main">
  <p:tag name="KSO_WM_DIAGRAM_VIRTUALLY_FRAME" val="{&quot;height&quot;:228.22503937007872,&quot;left&quot;:27.375039370078742,&quot;top&quot;:24,&quot;width&quot;:666.75}"/>
</p:tagLst>
</file>

<file path=ppt/tags/tag22.xml><?xml version="1.0" encoding="utf-8"?>
<p:tagLst xmlns:p="http://schemas.openxmlformats.org/presentationml/2006/main">
  <p:tag name="KSO_WM_DIAGRAM_VIRTUALLY_FRAME" val="{&quot;height&quot;:228.22503937007872,&quot;left&quot;:27.375039370078742,&quot;top&quot;:24,&quot;width&quot;:666.75}"/>
</p:tagLst>
</file>

<file path=ppt/tags/tag23.xml><?xml version="1.0" encoding="utf-8"?>
<p:tagLst xmlns:p="http://schemas.openxmlformats.org/presentationml/2006/main">
  <p:tag name="KSO_WM_DIAGRAM_VIRTUALLY_FRAME" val="{&quot;height&quot;:341,&quot;left&quot;:25.45,&quot;top&quot;:157,&quot;width&quot;:671.8}"/>
</p:tagLst>
</file>

<file path=ppt/tags/tag24.xml><?xml version="1.0" encoding="utf-8"?>
<p:tagLst xmlns:p="http://schemas.openxmlformats.org/presentationml/2006/main">
  <p:tag name="KSO_WM_DIAGRAM_VIRTUALLY_FRAME" val="{&quot;height&quot;:341,&quot;left&quot;:25.45,&quot;top&quot;:157,&quot;width&quot;:671.8}"/>
</p:tagLst>
</file>

<file path=ppt/tags/tag25.xml><?xml version="1.0" encoding="utf-8"?>
<p:tagLst xmlns:p="http://schemas.openxmlformats.org/presentationml/2006/main">
  <p:tag name="KSO_WM_DIAGRAM_VIRTUALLY_FRAME" val="{&quot;height&quot;:341,&quot;left&quot;:25.45,&quot;top&quot;:157,&quot;width&quot;:671.8}"/>
</p:tagLst>
</file>

<file path=ppt/tags/tag26.xml><?xml version="1.0" encoding="utf-8"?>
<p:tagLst xmlns:p="http://schemas.openxmlformats.org/presentationml/2006/main">
  <p:tag name="KSO_WM_DIAGRAM_VIRTUALLY_FRAME" val="{&quot;height&quot;:341,&quot;left&quot;:25.45,&quot;top&quot;:157,&quot;width&quot;:671.8}"/>
</p:tagLst>
</file>

<file path=ppt/tags/tag27.xml><?xml version="1.0" encoding="utf-8"?>
<p:tagLst xmlns:p="http://schemas.openxmlformats.org/presentationml/2006/main">
  <p:tag name="KSO_WM_DIAGRAM_VIRTUALLY_FRAME" val="{&quot;height&quot;:341,&quot;left&quot;:25.45,&quot;top&quot;:157,&quot;width&quot;:671.8}"/>
</p:tagLst>
</file>

<file path=ppt/tags/tag28.xml><?xml version="1.0" encoding="utf-8"?>
<p:tagLst xmlns:p="http://schemas.openxmlformats.org/presentationml/2006/main">
  <p:tag name="KSO_WM_DIAGRAM_VIRTUALLY_FRAME" val="{&quot;height&quot;:341,&quot;left&quot;:25.45,&quot;top&quot;:157,&quot;width&quot;:671.8}"/>
</p:tagLst>
</file>

<file path=ppt/tags/tag29.xml><?xml version="1.0" encoding="utf-8"?>
<p:tagLst xmlns:p="http://schemas.openxmlformats.org/presentationml/2006/main">
  <p:tag name="KSO_WM_DIAGRAM_VIRTUALLY_FRAME" val="{&quot;height&quot;:341,&quot;left&quot;:25.45,&quot;top&quot;:157,&quot;width&quot;:671.8}"/>
</p:tagLst>
</file>

<file path=ppt/tags/tag30.xml><?xml version="1.0" encoding="utf-8"?>
<p:tagLst xmlns:p="http://schemas.openxmlformats.org/presentationml/2006/main">
  <p:tag name="KSO_WM_DIAGRAM_VIRTUALLY_FRAME" val="{&quot;height&quot;:341,&quot;left&quot;:25.45,&quot;top&quot;:157,&quot;width&quot;:671.8}"/>
</p:tagLst>
</file>

<file path=ppt/tags/tag31.xml><?xml version="1.0" encoding="utf-8"?>
<p:tagLst xmlns:p="http://schemas.openxmlformats.org/presentationml/2006/main">
  <p:tag name="KSO_WM_DIAGRAM_VIRTUALLY_FRAME" val="{&quot;height&quot;:341,&quot;left&quot;:25.45,&quot;top&quot;:157,&quot;width&quot;:671.8}"/>
</p:tagLst>
</file>

<file path=ppt/tags/tag32.xml><?xml version="1.0" encoding="utf-8"?>
<p:tagLst xmlns:p="http://schemas.openxmlformats.org/presentationml/2006/main">
  <p:tag name="KSO_WM_DIAGRAM_VIRTUALLY_FRAME" val="{&quot;height&quot;:341,&quot;left&quot;:25.45,&quot;top&quot;:157,&quot;width&quot;:671.8}"/>
</p:tagLst>
</file>

<file path=ppt/tags/tag33.xml><?xml version="1.0" encoding="utf-8"?>
<p:tagLst xmlns:p="http://schemas.openxmlformats.org/presentationml/2006/main">
  <p:tag name="KSO_WM_DIAGRAM_VIRTUALLY_FRAME" val="{&quot;height&quot;:341,&quot;left&quot;:25.45,&quot;top&quot;:157,&quot;width&quot;:671.8}"/>
</p:tagLst>
</file>

<file path=ppt/tags/tag34.xml><?xml version="1.0" encoding="utf-8"?>
<p:tagLst xmlns:p="http://schemas.openxmlformats.org/presentationml/2006/main">
  <p:tag name="KSO_WM_DIAGRAM_VIRTUALLY_FRAME" val="{&quot;height&quot;:128.65,&quot;left&quot;:57.7,&quot;top&quot;:353.2,&quot;width&quot;:586.55}"/>
</p:tagLst>
</file>

<file path=ppt/tags/tag35.xml><?xml version="1.0" encoding="utf-8"?>
<p:tagLst xmlns:p="http://schemas.openxmlformats.org/presentationml/2006/main">
  <p:tag name="KSO_WM_DIAGRAM_VIRTUALLY_FRAME" val="{&quot;height&quot;:128.65,&quot;left&quot;:57.7,&quot;top&quot;:353.2,&quot;width&quot;:586.55}"/>
</p:tagLst>
</file>

<file path=ppt/tags/tag36.xml><?xml version="1.0" encoding="utf-8"?>
<p:tagLst xmlns:p="http://schemas.openxmlformats.org/presentationml/2006/main">
  <p:tag name="KSO_WM_DIAGRAM_VIRTUALLY_FRAME" val="{&quot;height&quot;:128.65,&quot;left&quot;:57.7,&quot;top&quot;:353.2,&quot;width&quot;:586.55}"/>
</p:tagLst>
</file>

<file path=ppt/tags/tag37.xml><?xml version="1.0" encoding="utf-8"?>
<p:tagLst xmlns:p="http://schemas.openxmlformats.org/presentationml/2006/main">
  <p:tag name="KSO_WM_DIAGRAM_VIRTUALLY_FRAME" val="{&quot;height&quot;:128.65,&quot;left&quot;:57.7,&quot;top&quot;:353.2,&quot;width&quot;:586.55}"/>
</p:tagLst>
</file>

<file path=ppt/tags/tag38.xml><?xml version="1.0" encoding="utf-8"?>
<p:tagLst xmlns:p="http://schemas.openxmlformats.org/presentationml/2006/main">
  <p:tag name="KSO_WM_DIAGRAM_VIRTUALLY_FRAME" val="{&quot;height&quot;:128.65,&quot;left&quot;:57.7,&quot;top&quot;:353.2,&quot;width&quot;:586.55}"/>
</p:tagLst>
</file>

<file path=ppt/tags/tag39.xml><?xml version="1.0" encoding="utf-8"?>
<p:tagLst xmlns:p="http://schemas.openxmlformats.org/presentationml/2006/main">
  <p:tag name="KSO_WM_DIAGRAM_VIRTUALLY_FRAME" val="{&quot;height&quot;:128.65,&quot;left&quot;:57.7,&quot;top&quot;:353.2,&quot;width&quot;:586.55}"/>
</p:tagLst>
</file>

<file path=ppt/tags/tag40.xml><?xml version="1.0" encoding="utf-8"?>
<p:tagLst xmlns:p="http://schemas.openxmlformats.org/presentationml/2006/main">
  <p:tag name="KSO_WM_DIAGRAM_VIRTUALLY_FRAME" val="{&quot;height&quot;:128.65,&quot;left&quot;:57.7,&quot;top&quot;:353.2,&quot;width&quot;:586.55}"/>
</p:tagLst>
</file>

<file path=ppt/tags/tag41.xml><?xml version="1.0" encoding="utf-8"?>
<p:tagLst xmlns:p="http://schemas.openxmlformats.org/presentationml/2006/main">
  <p:tag name="KSO_WM_DIAGRAM_VIRTUALLY_FRAME" val="{&quot;height&quot;:128.65,&quot;left&quot;:57.7,&quot;top&quot;:353.2,&quot;width&quot;:586.55}"/>
</p:tagLst>
</file>

<file path=ppt/tags/tag42.xml><?xml version="1.0" encoding="utf-8"?>
<p:tagLst xmlns:p="http://schemas.openxmlformats.org/presentationml/2006/main">
  <p:tag name="resource_record_key" val="{&quot;13&quot;:[4722044,4663468]}"/>
</p:tagLst>
</file>

<file path=ppt/theme/theme1.xml><?xml version="1.0" encoding="utf-8"?>
<a:theme xmlns:a="http://schemas.openxmlformats.org/drawingml/2006/main" name="默认设计模板">
  <a:themeElements>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10961</Words>
  <Application>WPS 演示</Application>
  <PresentationFormat>在屏幕上显示</PresentationFormat>
  <Paragraphs>892</Paragraphs>
  <Slides>115</Slides>
  <Notes>0</Notes>
  <HiddenSlides>19</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330</vt:i4>
      </vt:variant>
      <vt:variant>
        <vt:lpstr>幻灯片标题</vt:lpstr>
      </vt:variant>
      <vt:variant>
        <vt:i4>115</vt:i4>
      </vt:variant>
    </vt:vector>
  </HeadingPairs>
  <TitlesOfParts>
    <vt:vector size="462" baseType="lpstr">
      <vt:lpstr>Arial</vt:lpstr>
      <vt:lpstr>宋体</vt:lpstr>
      <vt:lpstr>Wingdings</vt:lpstr>
      <vt:lpstr>Times New Roman</vt:lpstr>
      <vt:lpstr>楷体_GB2312</vt:lpstr>
      <vt:lpstr>新宋体</vt:lpstr>
      <vt:lpstr>黑体</vt:lpstr>
      <vt:lpstr>Symbol</vt:lpstr>
      <vt:lpstr>微软雅黑</vt:lpstr>
      <vt:lpstr>Arial Unicode MS</vt:lpstr>
      <vt:lpstr>Calibri</vt:lpstr>
      <vt:lpstr>Times New Roman</vt:lpstr>
      <vt:lpstr>仿宋</vt:lpstr>
      <vt:lpstr>Calibri</vt:lpstr>
      <vt:lpstr>Cambria Math</vt:lpstr>
      <vt:lpstr>Arial Black</vt:lpstr>
      <vt:lpstr>默认设计模板</vt:lpstr>
      <vt:lpstr>Equation.3</vt:lpstr>
      <vt:lpstr>Equation.KSEE3</vt:lpstr>
      <vt:lpstr>Equation.3</vt:lpstr>
      <vt:lpstr>Equation.3</vt:lpstr>
      <vt:lpstr>Equation.3</vt:lpstr>
      <vt:lpstr>Equation.DSMT4</vt:lpstr>
      <vt:lpstr>Equation.3</vt:lpstr>
      <vt:lpstr>Equation.DSMT4</vt:lpstr>
      <vt:lpstr>Word.Document.8</vt:lpstr>
      <vt:lpstr>Equation.3</vt:lpstr>
      <vt:lpstr>Equation.3</vt:lpstr>
      <vt:lpstr>Equation.3</vt:lpstr>
      <vt:lpstr>Equation.KSEE3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Equation.DSMT4</vt:lpstr>
      <vt:lpstr>Equation.DSMT4</vt:lpstr>
      <vt:lpstr>Equation.DSMT4</vt:lpstr>
      <vt:lpstr>Equation.3</vt:lpstr>
      <vt:lpstr>Equation.3</vt:lpstr>
      <vt:lpstr>Equation.DSMT4</vt:lpstr>
      <vt:lpstr>Equation.DSMT4</vt:lpstr>
      <vt:lpstr>Equation.3</vt:lpstr>
      <vt:lpstr>Equation.3</vt:lpstr>
      <vt:lpstr>Equation.DSMT4</vt:lpstr>
      <vt:lpstr>Equation.3</vt:lpstr>
      <vt:lpstr>Equation.DSMT4</vt:lpstr>
      <vt:lpstr>Equation.3</vt:lpstr>
      <vt:lpstr>Equation.3</vt:lpstr>
      <vt:lpstr>Equation.3</vt:lpstr>
      <vt:lpstr>Equation.KSEE3</vt:lpstr>
      <vt:lpstr>Equation.KSEE3</vt:lpstr>
      <vt:lpstr>Equation.KSEE3</vt:lpstr>
      <vt:lpstr>Equation.KSEE3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Equation.DSMT4</vt:lpstr>
      <vt:lpstr>Equation.DSMT4</vt:lpstr>
      <vt:lpstr>Equation.3</vt:lpstr>
      <vt:lpstr>Equation.3</vt:lpstr>
      <vt:lpstr>Equation.3</vt:lpstr>
      <vt:lpstr>Equation.3</vt:lpstr>
      <vt:lpstr>Equation.DSMT4</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Equation.3</vt:lpstr>
      <vt:lpstr>Equation.3</vt:lpstr>
      <vt:lpstr>Equation.3</vt:lpstr>
      <vt:lpstr>Equation.DSMT4</vt:lpstr>
      <vt:lpstr>Equation.DSMT4</vt:lpstr>
      <vt:lpstr>Equation.3</vt:lpstr>
      <vt:lpstr>Equation.3</vt:lpstr>
      <vt:lpstr>Equation.DSMT4</vt:lpstr>
      <vt:lpstr>Equation.DSMT4</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Equation.KSEE3</vt:lpstr>
      <vt:lpstr>Equation.3</vt:lpstr>
      <vt:lpstr>Equation.3</vt:lpstr>
      <vt:lpstr>Equation.DSMT4</vt:lpstr>
      <vt:lpstr>Equation.DSMT4</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二、三阶行列式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 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west</cp:lastModifiedBy>
  <cp:revision>222</cp:revision>
  <dcterms:created xsi:type="dcterms:W3CDTF">2004-09-01T14:28:00Z</dcterms:created>
  <dcterms:modified xsi:type="dcterms:W3CDTF">2026-02-27T15:50:11Z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E0F52BA08892429A8FC3E4378DE31043_13</vt:lpwstr>
  </property>
  <property fmtid="{D5CDD505-2E9C-101B-9397-08002B2CF9AE}" pid="3" name="KSOProductBuildVer">
    <vt:lpwstr>2052-12.1.0.23542</vt:lpwstr>
  </property>
</Properties>
</file>