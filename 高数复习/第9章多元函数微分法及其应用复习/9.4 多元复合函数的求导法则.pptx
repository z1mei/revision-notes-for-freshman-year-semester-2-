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678" r:id="rId3"/>
    <p:sldId id="664" r:id="rId4"/>
    <p:sldId id="831" r:id="rId5"/>
    <p:sldId id="811" r:id="rId6"/>
    <p:sldId id="812" r:id="rId7"/>
    <p:sldId id="813" r:id="rId8"/>
    <p:sldId id="814" r:id="rId9"/>
    <p:sldId id="815" r:id="rId10"/>
    <p:sldId id="816" r:id="rId11"/>
    <p:sldId id="817" r:id="rId12"/>
    <p:sldId id="818" r:id="rId13"/>
    <p:sldId id="819" r:id="rId14"/>
    <p:sldId id="820" r:id="rId15"/>
    <p:sldId id="821" r:id="rId16"/>
    <p:sldId id="822" r:id="rId17"/>
    <p:sldId id="823" r:id="rId18"/>
    <p:sldId id="824" r:id="rId19"/>
    <p:sldId id="825" r:id="rId20"/>
    <p:sldId id="826" r:id="rId21"/>
    <p:sldId id="827" r:id="rId22"/>
    <p:sldId id="828" r:id="rId23"/>
    <p:sldId id="829" r:id="rId24"/>
    <p:sldId id="830" r:id="rId25"/>
    <p:sldId id="364" r:id="rId26"/>
  </p:sldIdLst>
  <p:sldSz cx="12192000" cy="6858000"/>
  <p:notesSz cx="9928225" cy="6797675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2" userDrawn="1">
          <p15:clr>
            <a:srgbClr val="A4A3A4"/>
          </p15:clr>
        </p15:guide>
        <p15:guide id="2" orient="horz" pos="13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7BA8"/>
    <a:srgbClr val="04926A"/>
    <a:srgbClr val="00926A"/>
    <a:srgbClr val="A9D18E"/>
    <a:srgbClr val="C5E0B4"/>
    <a:srgbClr val="019B4E"/>
    <a:srgbClr val="1D9D79"/>
    <a:srgbClr val="3333CC"/>
    <a:srgbClr val="335AE6"/>
    <a:srgbClr val="EE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33" autoAdjust="0"/>
    <p:restoredTop sz="97078" autoAdjust="0"/>
  </p:normalViewPr>
  <p:slideViewPr>
    <p:cSldViewPr snapToGrid="0" showGuides="1">
      <p:cViewPr varScale="1">
        <p:scale>
          <a:sx n="98" d="100"/>
          <a:sy n="98" d="100"/>
        </p:scale>
        <p:origin x="221" y="77"/>
      </p:cViewPr>
      <p:guideLst>
        <p:guide pos="3842"/>
        <p:guide orient="horz" pos="138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61C34-6C36-4319-A46B-BB551073C321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3AE40-E968-4202-8EA4-C293C1D84F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476828" y="6435405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3439486" y="6589556"/>
            <a:ext cx="87498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476828" y="6435405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3439486" y="6589556"/>
            <a:ext cx="87498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476828" y="6435405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3439486" y="6589556"/>
            <a:ext cx="87498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3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53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10" Type="http://schemas.openxmlformats.org/officeDocument/2006/relationships/image" Target="../media/image45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69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1.png"/><Relationship Id="rId2" Type="http://schemas.openxmlformats.org/officeDocument/2006/relationships/image" Target="../media/image88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23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45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6.png"/><Relationship Id="rId2" Type="http://schemas.openxmlformats.org/officeDocument/2006/relationships/image" Target="../media/image102.png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4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image" Target="../media/image118.png"/><Relationship Id="rId21" Type="http://schemas.openxmlformats.org/officeDocument/2006/relationships/image" Target="../media/image136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" Type="http://schemas.openxmlformats.org/officeDocument/2006/relationships/image" Target="../media/image117.png"/><Relationship Id="rId16" Type="http://schemas.openxmlformats.org/officeDocument/2006/relationships/image" Target="../media/image131.png"/><Relationship Id="rId20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Relationship Id="rId22" Type="http://schemas.openxmlformats.org/officeDocument/2006/relationships/image" Target="../media/image1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3" Type="http://schemas.openxmlformats.org/officeDocument/2006/relationships/image" Target="../media/image138.png"/><Relationship Id="rId21" Type="http://schemas.openxmlformats.org/officeDocument/2006/relationships/image" Target="../media/image156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" Type="http://schemas.openxmlformats.org/officeDocument/2006/relationships/image" Target="../media/image117.png"/><Relationship Id="rId16" Type="http://schemas.openxmlformats.org/officeDocument/2006/relationships/image" Target="../media/image151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10" Type="http://schemas.openxmlformats.org/officeDocument/2006/relationships/image" Target="../media/image145.png"/><Relationship Id="rId19" Type="http://schemas.openxmlformats.org/officeDocument/2006/relationships/image" Target="../media/image154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17" Type="http://schemas.openxmlformats.org/officeDocument/2006/relationships/image" Target="../media/image172.png"/><Relationship Id="rId2" Type="http://schemas.openxmlformats.org/officeDocument/2006/relationships/image" Target="../media/image157.png"/><Relationship Id="rId16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60.png"/><Relationship Id="rId15" Type="http://schemas.openxmlformats.org/officeDocument/2006/relationships/image" Target="../media/image170.png"/><Relationship Id="rId10" Type="http://schemas.openxmlformats.org/officeDocument/2006/relationships/image" Target="../media/image165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Relationship Id="rId14" Type="http://schemas.openxmlformats.org/officeDocument/2006/relationships/image" Target="../media/image16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89.png"/><Relationship Id="rId18" Type="http://schemas.openxmlformats.org/officeDocument/2006/relationships/image" Target="../media/image194.png"/><Relationship Id="rId26" Type="http://schemas.openxmlformats.org/officeDocument/2006/relationships/image" Target="../media/image202.png"/><Relationship Id="rId3" Type="http://schemas.openxmlformats.org/officeDocument/2006/relationships/image" Target="../media/image179.png"/><Relationship Id="rId21" Type="http://schemas.openxmlformats.org/officeDocument/2006/relationships/image" Target="../media/image197.pn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17" Type="http://schemas.openxmlformats.org/officeDocument/2006/relationships/image" Target="../media/image193.png"/><Relationship Id="rId25" Type="http://schemas.openxmlformats.org/officeDocument/2006/relationships/image" Target="../media/image201.png"/><Relationship Id="rId2" Type="http://schemas.openxmlformats.org/officeDocument/2006/relationships/image" Target="../media/image117.png"/><Relationship Id="rId16" Type="http://schemas.openxmlformats.org/officeDocument/2006/relationships/image" Target="../media/image192.png"/><Relationship Id="rId20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24" Type="http://schemas.openxmlformats.org/officeDocument/2006/relationships/image" Target="../media/image200.png"/><Relationship Id="rId5" Type="http://schemas.openxmlformats.org/officeDocument/2006/relationships/image" Target="../media/image181.png"/><Relationship Id="rId15" Type="http://schemas.openxmlformats.org/officeDocument/2006/relationships/image" Target="../media/image191.png"/><Relationship Id="rId23" Type="http://schemas.openxmlformats.org/officeDocument/2006/relationships/image" Target="../media/image199.png"/><Relationship Id="rId10" Type="http://schemas.openxmlformats.org/officeDocument/2006/relationships/image" Target="../media/image186.png"/><Relationship Id="rId19" Type="http://schemas.openxmlformats.org/officeDocument/2006/relationships/image" Target="../media/image195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Relationship Id="rId14" Type="http://schemas.openxmlformats.org/officeDocument/2006/relationships/image" Target="../media/image190.png"/><Relationship Id="rId22" Type="http://schemas.openxmlformats.org/officeDocument/2006/relationships/image" Target="../media/image19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3.png"/><Relationship Id="rId18" Type="http://schemas.openxmlformats.org/officeDocument/2006/relationships/image" Target="../media/image218.png"/><Relationship Id="rId3" Type="http://schemas.openxmlformats.org/officeDocument/2006/relationships/image" Target="../media/image203.png"/><Relationship Id="rId21" Type="http://schemas.openxmlformats.org/officeDocument/2006/relationships/image" Target="../media/image221.png"/><Relationship Id="rId7" Type="http://schemas.openxmlformats.org/officeDocument/2006/relationships/image" Target="../media/image207.png"/><Relationship Id="rId12" Type="http://schemas.openxmlformats.org/officeDocument/2006/relationships/image" Target="../media/image212.png"/><Relationship Id="rId17" Type="http://schemas.openxmlformats.org/officeDocument/2006/relationships/image" Target="../media/image217.png"/><Relationship Id="rId2" Type="http://schemas.openxmlformats.org/officeDocument/2006/relationships/image" Target="../media/image117.png"/><Relationship Id="rId16" Type="http://schemas.openxmlformats.org/officeDocument/2006/relationships/image" Target="../media/image216.png"/><Relationship Id="rId20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11" Type="http://schemas.openxmlformats.org/officeDocument/2006/relationships/image" Target="../media/image211.png"/><Relationship Id="rId5" Type="http://schemas.openxmlformats.org/officeDocument/2006/relationships/image" Target="../media/image205.png"/><Relationship Id="rId15" Type="http://schemas.openxmlformats.org/officeDocument/2006/relationships/image" Target="../media/image215.png"/><Relationship Id="rId10" Type="http://schemas.openxmlformats.org/officeDocument/2006/relationships/image" Target="../media/image210.png"/><Relationship Id="rId19" Type="http://schemas.openxmlformats.org/officeDocument/2006/relationships/image" Target="../media/image219.png"/><Relationship Id="rId4" Type="http://schemas.openxmlformats.org/officeDocument/2006/relationships/image" Target="../media/image204.png"/><Relationship Id="rId9" Type="http://schemas.openxmlformats.org/officeDocument/2006/relationships/image" Target="../media/image209.png"/><Relationship Id="rId14" Type="http://schemas.openxmlformats.org/officeDocument/2006/relationships/image" Target="../media/image214.png"/><Relationship Id="rId22" Type="http://schemas.openxmlformats.org/officeDocument/2006/relationships/image" Target="../media/image2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13" Type="http://schemas.openxmlformats.org/officeDocument/2006/relationships/image" Target="../media/image208.png"/><Relationship Id="rId3" Type="http://schemas.openxmlformats.org/officeDocument/2006/relationships/image" Target="../media/image223.png"/><Relationship Id="rId7" Type="http://schemas.openxmlformats.org/officeDocument/2006/relationships/image" Target="../media/image227.png"/><Relationship Id="rId12" Type="http://schemas.openxmlformats.org/officeDocument/2006/relationships/image" Target="../media/image207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6.png"/><Relationship Id="rId11" Type="http://schemas.openxmlformats.org/officeDocument/2006/relationships/image" Target="../media/image206.png"/><Relationship Id="rId5" Type="http://schemas.openxmlformats.org/officeDocument/2006/relationships/image" Target="../media/image225.png"/><Relationship Id="rId10" Type="http://schemas.openxmlformats.org/officeDocument/2006/relationships/image" Target="../media/image230.png"/><Relationship Id="rId4" Type="http://schemas.openxmlformats.org/officeDocument/2006/relationships/image" Target="../media/image224.png"/><Relationship Id="rId9" Type="http://schemas.openxmlformats.org/officeDocument/2006/relationships/image" Target="../media/image2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13" Type="http://schemas.openxmlformats.org/officeDocument/2006/relationships/image" Target="../media/image241.png"/><Relationship Id="rId18" Type="http://schemas.openxmlformats.org/officeDocument/2006/relationships/image" Target="../media/image246.png"/><Relationship Id="rId26" Type="http://schemas.openxmlformats.org/officeDocument/2006/relationships/image" Target="../media/image253.png"/><Relationship Id="rId3" Type="http://schemas.openxmlformats.org/officeDocument/2006/relationships/image" Target="../media/image231.png"/><Relationship Id="rId21" Type="http://schemas.openxmlformats.org/officeDocument/2006/relationships/image" Target="../media/image249.png"/><Relationship Id="rId7" Type="http://schemas.openxmlformats.org/officeDocument/2006/relationships/image" Target="../media/image235.png"/><Relationship Id="rId12" Type="http://schemas.openxmlformats.org/officeDocument/2006/relationships/image" Target="../media/image240.png"/><Relationship Id="rId17" Type="http://schemas.openxmlformats.org/officeDocument/2006/relationships/image" Target="../media/image245.png"/><Relationship Id="rId25" Type="http://schemas.openxmlformats.org/officeDocument/2006/relationships/image" Target="../media/image252.png"/><Relationship Id="rId2" Type="http://schemas.openxmlformats.org/officeDocument/2006/relationships/image" Target="../media/image117.png"/><Relationship Id="rId16" Type="http://schemas.openxmlformats.org/officeDocument/2006/relationships/image" Target="../media/image244.png"/><Relationship Id="rId20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.png"/><Relationship Id="rId11" Type="http://schemas.openxmlformats.org/officeDocument/2006/relationships/image" Target="../media/image239.png"/><Relationship Id="rId24" Type="http://schemas.openxmlformats.org/officeDocument/2006/relationships/image" Target="../media/image208.png"/><Relationship Id="rId5" Type="http://schemas.openxmlformats.org/officeDocument/2006/relationships/image" Target="../media/image233.png"/><Relationship Id="rId15" Type="http://schemas.openxmlformats.org/officeDocument/2006/relationships/image" Target="../media/image243.png"/><Relationship Id="rId23" Type="http://schemas.openxmlformats.org/officeDocument/2006/relationships/image" Target="../media/image251.png"/><Relationship Id="rId10" Type="http://schemas.openxmlformats.org/officeDocument/2006/relationships/image" Target="../media/image238.png"/><Relationship Id="rId19" Type="http://schemas.openxmlformats.org/officeDocument/2006/relationships/image" Target="../media/image247.png"/><Relationship Id="rId4" Type="http://schemas.openxmlformats.org/officeDocument/2006/relationships/image" Target="../media/image232.png"/><Relationship Id="rId9" Type="http://schemas.openxmlformats.org/officeDocument/2006/relationships/image" Target="../media/image237.png"/><Relationship Id="rId14" Type="http://schemas.openxmlformats.org/officeDocument/2006/relationships/image" Target="../media/image242.png"/><Relationship Id="rId22" Type="http://schemas.openxmlformats.org/officeDocument/2006/relationships/image" Target="../media/image25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13" Type="http://schemas.openxmlformats.org/officeDocument/2006/relationships/image" Target="../media/image264.png"/><Relationship Id="rId3" Type="http://schemas.openxmlformats.org/officeDocument/2006/relationships/image" Target="../media/image254.png"/><Relationship Id="rId7" Type="http://schemas.openxmlformats.org/officeDocument/2006/relationships/image" Target="../media/image258.png"/><Relationship Id="rId12" Type="http://schemas.openxmlformats.org/officeDocument/2006/relationships/image" Target="../media/image263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11" Type="http://schemas.openxmlformats.org/officeDocument/2006/relationships/image" Target="../media/image262.png"/><Relationship Id="rId5" Type="http://schemas.openxmlformats.org/officeDocument/2006/relationships/image" Target="../media/image256.png"/><Relationship Id="rId10" Type="http://schemas.openxmlformats.org/officeDocument/2006/relationships/image" Target="../media/image261.png"/><Relationship Id="rId4" Type="http://schemas.openxmlformats.org/officeDocument/2006/relationships/image" Target="../media/image255.png"/><Relationship Id="rId9" Type="http://schemas.openxmlformats.org/officeDocument/2006/relationships/image" Target="../media/image260.png"/><Relationship Id="rId14" Type="http://schemas.openxmlformats.org/officeDocument/2006/relationships/image" Target="../media/image26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png"/><Relationship Id="rId13" Type="http://schemas.openxmlformats.org/officeDocument/2006/relationships/image" Target="../media/image277.png"/><Relationship Id="rId3" Type="http://schemas.openxmlformats.org/officeDocument/2006/relationships/image" Target="../media/image267.png"/><Relationship Id="rId7" Type="http://schemas.openxmlformats.org/officeDocument/2006/relationships/image" Target="../media/image271.png"/><Relationship Id="rId12" Type="http://schemas.openxmlformats.org/officeDocument/2006/relationships/image" Target="../media/image276.png"/><Relationship Id="rId2" Type="http://schemas.openxmlformats.org/officeDocument/2006/relationships/image" Target="../media/image266.png"/><Relationship Id="rId16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275.png"/><Relationship Id="rId5" Type="http://schemas.openxmlformats.org/officeDocument/2006/relationships/image" Target="../media/image269.png"/><Relationship Id="rId15" Type="http://schemas.openxmlformats.org/officeDocument/2006/relationships/image" Target="../media/image279.png"/><Relationship Id="rId10" Type="http://schemas.openxmlformats.org/officeDocument/2006/relationships/image" Target="../media/image274.png"/><Relationship Id="rId4" Type="http://schemas.openxmlformats.org/officeDocument/2006/relationships/image" Target="../media/image268.png"/><Relationship Id="rId9" Type="http://schemas.openxmlformats.org/officeDocument/2006/relationships/image" Target="../media/image273.png"/><Relationship Id="rId14" Type="http://schemas.openxmlformats.org/officeDocument/2006/relationships/image" Target="../media/image27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13" Type="http://schemas.openxmlformats.org/officeDocument/2006/relationships/image" Target="../media/image291.png"/><Relationship Id="rId18" Type="http://schemas.openxmlformats.org/officeDocument/2006/relationships/image" Target="../media/image296.png"/><Relationship Id="rId3" Type="http://schemas.openxmlformats.org/officeDocument/2006/relationships/image" Target="../media/image281.png"/><Relationship Id="rId7" Type="http://schemas.openxmlformats.org/officeDocument/2006/relationships/image" Target="../media/image5.png"/><Relationship Id="rId12" Type="http://schemas.openxmlformats.org/officeDocument/2006/relationships/image" Target="../media/image290.png"/><Relationship Id="rId17" Type="http://schemas.openxmlformats.org/officeDocument/2006/relationships/image" Target="../media/image295.png"/><Relationship Id="rId2" Type="http://schemas.openxmlformats.org/officeDocument/2006/relationships/image" Target="../media/image117.png"/><Relationship Id="rId16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4.png"/><Relationship Id="rId11" Type="http://schemas.openxmlformats.org/officeDocument/2006/relationships/image" Target="../media/image288.png"/><Relationship Id="rId5" Type="http://schemas.openxmlformats.org/officeDocument/2006/relationships/image" Target="../media/image283.png"/><Relationship Id="rId15" Type="http://schemas.openxmlformats.org/officeDocument/2006/relationships/image" Target="../media/image293.png"/><Relationship Id="rId10" Type="http://schemas.openxmlformats.org/officeDocument/2006/relationships/image" Target="../media/image287.png"/><Relationship Id="rId4" Type="http://schemas.openxmlformats.org/officeDocument/2006/relationships/image" Target="../media/image282.png"/><Relationship Id="rId9" Type="http://schemas.openxmlformats.org/officeDocument/2006/relationships/image" Target="../media/image286.png"/><Relationship Id="rId14" Type="http://schemas.openxmlformats.org/officeDocument/2006/relationships/image" Target="../media/image29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765935" y="4450080"/>
            <a:ext cx="2087880" cy="1556385"/>
            <a:chOff x="3633" y="6990"/>
            <a:chExt cx="3288" cy="2451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131" y="8233"/>
              <a:ext cx="226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/>
                <a:t>微分学</a:t>
              </a:r>
            </a:p>
          </p:txBody>
        </p:sp>
      </p:grpSp>
      <p:sp>
        <p:nvSpPr>
          <p:cNvPr id="5" name="右箭头 4"/>
          <p:cNvSpPr/>
          <p:nvPr/>
        </p:nvSpPr>
        <p:spPr>
          <a:xfrm>
            <a:off x="382587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96214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第九章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多元函数微分法及其应用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4730442" y="4450080"/>
            <a:ext cx="2087880" cy="1556385"/>
            <a:chOff x="3633" y="6990"/>
            <a:chExt cx="3288" cy="2451"/>
          </a:xfrm>
        </p:grpSpPr>
        <p:sp>
          <p:nvSpPr>
            <p:cNvPr id="9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56" y="6990"/>
              <a:ext cx="2441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</a:rPr>
                <a:t>多元函数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4131" y="8233"/>
              <a:ext cx="2224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/>
                <a:t>微分学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938154" y="4469765"/>
            <a:ext cx="2087880" cy="1556385"/>
            <a:chOff x="3633" y="6990"/>
            <a:chExt cx="3288" cy="2451"/>
          </a:xfrm>
        </p:grpSpPr>
        <p:sp>
          <p:nvSpPr>
            <p:cNvPr id="17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</a:rPr>
                <a:t>注意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4157" y="7955"/>
              <a:ext cx="2240" cy="13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/>
                <a:t>善于类比</a:t>
              </a:r>
            </a:p>
            <a:p>
              <a:pPr algn="ctr"/>
              <a:r>
                <a:rPr lang="zh-CN" altLang="en-US" sz="2400" b="1" dirty="0"/>
                <a:t>区别异同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45202" y="2378656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多元函数的基本概念</a:t>
            </a:r>
          </a:p>
        </p:txBody>
      </p:sp>
      <p:sp>
        <p:nvSpPr>
          <p:cNvPr id="22" name="矩形 21"/>
          <p:cNvSpPr/>
          <p:nvPr/>
        </p:nvSpPr>
        <p:spPr>
          <a:xfrm>
            <a:off x="945202" y="3144845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全微分</a:t>
            </a:r>
          </a:p>
        </p:txBody>
      </p:sp>
      <p:sp>
        <p:nvSpPr>
          <p:cNvPr id="23" name="矩形 22"/>
          <p:cNvSpPr/>
          <p:nvPr/>
        </p:nvSpPr>
        <p:spPr>
          <a:xfrm>
            <a:off x="6146076" y="2378656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偏导数</a:t>
            </a:r>
          </a:p>
        </p:txBody>
      </p:sp>
      <p:sp>
        <p:nvSpPr>
          <p:cNvPr id="25" name="矩形 24"/>
          <p:cNvSpPr/>
          <p:nvPr/>
        </p:nvSpPr>
        <p:spPr>
          <a:xfrm>
            <a:off x="6146076" y="3144845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45202" y="391103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隐函数的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求导公式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45202" y="4675933"/>
            <a:ext cx="3691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方向导数与梯度</a:t>
            </a:r>
          </a:p>
        </p:txBody>
      </p:sp>
      <p:sp>
        <p:nvSpPr>
          <p:cNvPr id="34" name="矩形 33"/>
          <p:cNvSpPr/>
          <p:nvPr/>
        </p:nvSpPr>
        <p:spPr>
          <a:xfrm>
            <a:off x="6146076" y="3909744"/>
            <a:ext cx="5075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多元函数微分学的几何应用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146076" y="4675933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多元函数的极值及其求法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45202" y="5440831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二元函数的泰勒公式</a:t>
            </a:r>
          </a:p>
        </p:txBody>
      </p:sp>
      <p:sp>
        <p:nvSpPr>
          <p:cNvPr id="37" name="矩形 36"/>
          <p:cNvSpPr/>
          <p:nvPr/>
        </p:nvSpPr>
        <p:spPr>
          <a:xfrm>
            <a:off x="6146076" y="5440831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最小二乘法</a:t>
            </a:r>
          </a:p>
        </p:txBody>
      </p:sp>
      <p:sp>
        <p:nvSpPr>
          <p:cNvPr id="24" name="矩形 23"/>
          <p:cNvSpPr/>
          <p:nvPr/>
        </p:nvSpPr>
        <p:spPr>
          <a:xfrm>
            <a:off x="5157282" y="691154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</a:t>
            </a:r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九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/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/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/>
          <p:cNvSpPr/>
          <p:nvPr>
            <p:custDataLst>
              <p:tags r:id="rId1"/>
            </p:custDataLst>
          </p:nvPr>
        </p:nvSpPr>
        <p:spPr>
          <a:xfrm>
            <a:off x="369888" y="952750"/>
            <a:ext cx="11536045" cy="54614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009257" y="209690"/>
            <a:ext cx="6173486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22277" y="1377398"/>
            <a:ext cx="6547447" cy="901065"/>
            <a:chOff x="3977909" y="1027774"/>
            <a:chExt cx="6547447" cy="901065"/>
          </a:xfrm>
        </p:grpSpPr>
        <p:sp>
          <p:nvSpPr>
            <p:cNvPr id="4" name="矩形: 圆角 40"/>
            <p:cNvSpPr/>
            <p:nvPr/>
          </p:nvSpPr>
          <p:spPr>
            <a:xfrm flipV="1">
              <a:off x="3977909" y="1027774"/>
              <a:ext cx="6547447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304152" y="1217006"/>
              <a:ext cx="5929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kumimoji="1"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一元函数与多元函数复合的情形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822277" y="3840078"/>
            <a:ext cx="6547448" cy="901065"/>
            <a:chOff x="3977910" y="3248408"/>
            <a:chExt cx="6547448" cy="901065"/>
          </a:xfrm>
        </p:grpSpPr>
        <p:sp>
          <p:nvSpPr>
            <p:cNvPr id="12" name="矩形: 圆角 40"/>
            <p:cNvSpPr/>
            <p:nvPr/>
          </p:nvSpPr>
          <p:spPr>
            <a:xfrm flipV="1">
              <a:off x="3977910" y="3248408"/>
              <a:ext cx="654744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4218088" y="3437640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</a:t>
              </a:r>
              <a:r>
                <a:rPr kumimoji="1" lang="zh-CN" altLang="en-US" sz="2800" b="1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其他情形</a:t>
              </a:r>
              <a:endParaRPr lang="zh-CN" altLang="en-US" sz="28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822277" y="2608737"/>
            <a:ext cx="6547449" cy="901065"/>
            <a:chOff x="3977909" y="2138090"/>
            <a:chExt cx="6547449" cy="901065"/>
          </a:xfrm>
        </p:grpSpPr>
        <p:sp>
          <p:nvSpPr>
            <p:cNvPr id="22" name="矩形: 圆角 40"/>
            <p:cNvSpPr/>
            <p:nvPr/>
          </p:nvSpPr>
          <p:spPr>
            <a:xfrm flipV="1">
              <a:off x="3977909" y="2138090"/>
              <a:ext cx="6547449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218088" y="2327323"/>
              <a:ext cx="5929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kumimoji="1"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多元函数与多元函数复合的情形</a:t>
              </a:r>
              <a:endParaRPr lang="zh-CN" altLang="en-US" sz="28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822277" y="5071418"/>
            <a:ext cx="6547447" cy="901065"/>
            <a:chOff x="3977909" y="4358725"/>
            <a:chExt cx="6547447" cy="901065"/>
          </a:xfrm>
        </p:grpSpPr>
        <p:sp>
          <p:nvSpPr>
            <p:cNvPr id="25" name="矩形: 圆角 40"/>
            <p:cNvSpPr/>
            <p:nvPr/>
          </p:nvSpPr>
          <p:spPr>
            <a:xfrm flipV="1">
              <a:off x="3977909" y="4358725"/>
              <a:ext cx="6547447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218088" y="4547957"/>
              <a:ext cx="377539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四、全</a:t>
              </a:r>
              <a:r>
                <a:rPr kumimoji="1" lang="zh-CN" altLang="en-US" sz="2800" b="1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微分形式不变性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1111250" y="670560"/>
            <a:ext cx="9970770" cy="5509895"/>
            <a:chOff x="1649" y="2344"/>
            <a:chExt cx="16057" cy="7346"/>
          </a:xfrm>
        </p:grpSpPr>
        <p:sp>
          <p:nvSpPr>
            <p:cNvPr id="40" name="矩形 39"/>
            <p:cNvSpPr/>
            <p:nvPr/>
          </p:nvSpPr>
          <p:spPr>
            <a:xfrm>
              <a:off x="1821" y="2483"/>
              <a:ext cx="15885" cy="72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1649" y="2344"/>
              <a:ext cx="15885" cy="720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spcBef>
                  <a:spcPct val="50000"/>
                </a:spcBef>
              </a:pP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972824" y="1235238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一元复合函数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5319225" y="1205957"/>
                <a:ext cx="3404595" cy="4911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9225" y="1205957"/>
                <a:ext cx="3404595" cy="491124"/>
              </a:xfrm>
              <a:prstGeom prst="rect">
                <a:avLst/>
              </a:prstGeom>
              <a:blipFill rotWithShape="1">
                <a:blip r:embed="rId2"/>
                <a:stretch>
                  <a:fillRect l="-14" t="-19" r="6" b="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972824" y="2481477"/>
            <a:ext cx="23863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链式求导法则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 bwMode="auto">
              <a:xfrm>
                <a:off x="5304830" y="2234686"/>
                <a:ext cx="2151084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4830" y="2234686"/>
                <a:ext cx="2151084" cy="927100"/>
              </a:xfrm>
              <a:prstGeom prst="rect">
                <a:avLst/>
              </a:prstGeom>
              <a:blipFill rotWithShape="1">
                <a:blip r:embed="rId3"/>
                <a:stretch>
                  <a:fillRect l="-2" t="-13" r="18" b="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7"/>
          <p:cNvSpPr>
            <a:spLocks noChangeArrowheads="1"/>
          </p:cNvSpPr>
          <p:nvPr/>
        </p:nvSpPr>
        <p:spPr bwMode="auto">
          <a:xfrm>
            <a:off x="8943053" y="1383771"/>
            <a:ext cx="1371600" cy="2057400"/>
          </a:xfrm>
          <a:prstGeom prst="rect">
            <a:avLst/>
          </a:prstGeom>
          <a:solidFill>
            <a:srgbClr val="04926A">
              <a:alpha val="20000"/>
            </a:srgbClr>
          </a:solidFill>
          <a:ln w="9525">
            <a:solidFill>
              <a:srgbClr val="04926A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7"/>
              <p:cNvSpPr txBox="1"/>
              <p:nvPr/>
            </p:nvSpPr>
            <p:spPr bwMode="auto">
              <a:xfrm>
                <a:off x="9470420" y="1405514"/>
                <a:ext cx="360363" cy="5248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70420" y="1405514"/>
                <a:ext cx="360363" cy="524823"/>
              </a:xfrm>
              <a:prstGeom prst="rect">
                <a:avLst/>
              </a:prstGeom>
              <a:blipFill rotWithShape="1">
                <a:blip r:embed="rId4"/>
                <a:stretch>
                  <a:fillRect l="-8" t="-49" r="97" b="1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73"/>
          <p:cNvGrpSpPr/>
          <p:nvPr/>
        </p:nvGrpSpPr>
        <p:grpSpPr bwMode="auto">
          <a:xfrm>
            <a:off x="9457721" y="1940342"/>
            <a:ext cx="360363" cy="711635"/>
            <a:chOff x="5068" y="1098"/>
            <a:chExt cx="227" cy="398"/>
          </a:xfrm>
          <a:solidFill>
            <a:srgbClr val="FF0000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74"/>
                <p:cNvSpPr txBox="1"/>
                <p:nvPr/>
              </p:nvSpPr>
              <p:spPr bwMode="auto">
                <a:xfrm>
                  <a:off x="5068" y="1259"/>
                  <a:ext cx="227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𝑢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Object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68" y="1259"/>
                  <a:ext cx="227" cy="237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76"/>
            <p:cNvSpPr>
              <a:spLocks noChangeShapeType="1"/>
            </p:cNvSpPr>
            <p:nvPr/>
          </p:nvSpPr>
          <p:spPr bwMode="auto">
            <a:xfrm flipV="1">
              <a:off x="5188" y="1098"/>
              <a:ext cx="3" cy="23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12" name="Group 81"/>
          <p:cNvGrpSpPr/>
          <p:nvPr/>
        </p:nvGrpSpPr>
        <p:grpSpPr bwMode="auto">
          <a:xfrm>
            <a:off x="9470420" y="2726543"/>
            <a:ext cx="577850" cy="468313"/>
            <a:chOff x="4826" y="1578"/>
            <a:chExt cx="364" cy="295"/>
          </a:xfrm>
          <a:solidFill>
            <a:srgbClr val="FF0000"/>
          </a:solidFill>
        </p:grpSpPr>
        <p:sp>
          <p:nvSpPr>
            <p:cNvPr id="13" name="Line 82"/>
            <p:cNvSpPr>
              <a:spLocks noChangeShapeType="1"/>
            </p:cNvSpPr>
            <p:nvPr/>
          </p:nvSpPr>
          <p:spPr bwMode="auto">
            <a:xfrm>
              <a:off x="4944" y="1578"/>
              <a:ext cx="0" cy="216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83"/>
                <p:cNvSpPr txBox="1"/>
                <p:nvPr/>
              </p:nvSpPr>
              <p:spPr bwMode="auto">
                <a:xfrm>
                  <a:off x="4826" y="1692"/>
                  <a:ext cx="364" cy="1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Object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26" y="1692"/>
                  <a:ext cx="364" cy="181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直接箭头连接符 14"/>
          <p:cNvCxnSpPr/>
          <p:nvPr/>
        </p:nvCxnSpPr>
        <p:spPr>
          <a:xfrm flipH="1">
            <a:off x="9648221" y="1937411"/>
            <a:ext cx="3174" cy="475060"/>
          </a:xfrm>
          <a:prstGeom prst="straightConnector1">
            <a:avLst/>
          </a:prstGeom>
          <a:ln w="28575">
            <a:solidFill>
              <a:srgbClr val="0492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9657745" y="2691850"/>
            <a:ext cx="0" cy="405398"/>
          </a:xfrm>
          <a:prstGeom prst="straightConnector1">
            <a:avLst/>
          </a:prstGeom>
          <a:ln w="28575">
            <a:solidFill>
              <a:srgbClr val="0492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右箭头 3"/>
          <p:cNvSpPr/>
          <p:nvPr/>
        </p:nvSpPr>
        <p:spPr>
          <a:xfrm>
            <a:off x="2972824" y="4556778"/>
            <a:ext cx="4089580" cy="965220"/>
          </a:xfrm>
          <a:prstGeom prst="rightArrow">
            <a:avLst/>
          </a:prstGeom>
          <a:solidFill>
            <a:srgbClr val="04926A">
              <a:alpha val="20000"/>
            </a:srgbClr>
          </a:solidFill>
          <a:ln>
            <a:solidFill>
              <a:srgbClr val="0492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推广到多元复合函数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1"/>
              <p:cNvSpPr txBox="1"/>
              <p:nvPr/>
            </p:nvSpPr>
            <p:spPr bwMode="auto">
              <a:xfrm>
                <a:off x="5319226" y="3736622"/>
                <a:ext cx="4995428" cy="4911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9226" y="3736622"/>
                <a:ext cx="4995428" cy="491124"/>
              </a:xfrm>
              <a:prstGeom prst="rect">
                <a:avLst/>
              </a:prstGeom>
              <a:blipFill rotWithShape="1">
                <a:blip r:embed="rId7"/>
                <a:stretch>
                  <a:fillRect l="-9" t="-57" r="7" b="1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2972824" y="3762486"/>
            <a:ext cx="1773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微分法则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962819" y="1279169"/>
            <a:ext cx="1231265" cy="449580"/>
            <a:chOff x="1553" y="3802"/>
            <a:chExt cx="1939" cy="708"/>
          </a:xfrm>
        </p:grpSpPr>
        <p:sp>
          <p:nvSpPr>
            <p:cNvPr id="21" name="圆角矩形 21"/>
            <p:cNvSpPr/>
            <p:nvPr/>
          </p:nvSpPr>
          <p:spPr>
            <a:xfrm>
              <a:off x="1553" y="3803"/>
              <a:ext cx="1506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1650" y="3802"/>
              <a:ext cx="184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回顾：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17" grpId="0" animBg="1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6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6" name="Rectangle 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圆角矩形 2"/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228600" y="236182"/>
              <a:ext cx="11771970" cy="6421275"/>
              <a:chOff x="228600" y="236182"/>
              <a:chExt cx="11771970" cy="6421275"/>
            </a:xfrm>
          </p:grpSpPr>
          <p:sp>
            <p:nvSpPr>
              <p:cNvPr id="69" name="Rectangle 1"/>
              <p:cNvSpPr/>
              <p:nvPr/>
            </p:nvSpPr>
            <p:spPr>
              <a:xfrm>
                <a:off x="364173" y="6462830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Rectangle 1"/>
              <p:cNvSpPr/>
              <p:nvPr/>
            </p:nvSpPr>
            <p:spPr>
              <a:xfrm rot="2659048">
                <a:off x="8838055" y="320052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543503" y="6349680"/>
                <a:ext cx="285687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第四节 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多元复合函数的求导法则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9055533" y="236182"/>
                <a:ext cx="294503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第九章   多元函数微分法及其应用</a:t>
                </a:r>
              </a:p>
            </p:txBody>
          </p:sp>
          <p:cxnSp>
            <p:nvCxnSpPr>
              <p:cNvPr id="73" name="直接连接符 72"/>
              <p:cNvCxnSpPr/>
              <p:nvPr/>
            </p:nvCxnSpPr>
            <p:spPr>
              <a:xfrm>
                <a:off x="228600" y="390070"/>
                <a:ext cx="8388000" cy="0"/>
              </a:xfrm>
              <a:prstGeom prst="line">
                <a:avLst/>
              </a:prstGeom>
              <a:ln>
                <a:solidFill>
                  <a:srgbClr val="04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>
                <a:off x="3524250" y="6503568"/>
                <a:ext cx="841764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27"/>
          <p:cNvSpPr txBox="1">
            <a:spLocks noChangeArrowheads="1"/>
          </p:cNvSpPr>
          <p:nvPr/>
        </p:nvSpPr>
        <p:spPr>
          <a:xfrm>
            <a:off x="902745" y="810348"/>
            <a:ext cx="7124700" cy="55124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一、一元函数与</a:t>
            </a: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多元函数复合的情形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1"/>
              <p:cNvSpPr txBox="1"/>
              <p:nvPr/>
            </p:nvSpPr>
            <p:spPr bwMode="auto">
              <a:xfrm>
                <a:off x="8457426" y="1920151"/>
                <a:ext cx="2838576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57426" y="1920151"/>
                <a:ext cx="2838576" cy="495300"/>
              </a:xfrm>
              <a:prstGeom prst="rect">
                <a:avLst/>
              </a:prstGeom>
              <a:blipFill rotWithShape="1">
                <a:blip r:embed="rId2"/>
                <a:stretch>
                  <a:fillRect l="-17" t="-110" r="22" b="1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67"/>
          <p:cNvSpPr>
            <a:spLocks noChangeArrowheads="1"/>
          </p:cNvSpPr>
          <p:nvPr/>
        </p:nvSpPr>
        <p:spPr bwMode="auto">
          <a:xfrm>
            <a:off x="9706682" y="2842108"/>
            <a:ext cx="1371600" cy="2057400"/>
          </a:xfrm>
          <a:prstGeom prst="rect">
            <a:avLst/>
          </a:prstGeom>
          <a:solidFill>
            <a:srgbClr val="04926A">
              <a:alpha val="20000"/>
            </a:srgbClr>
          </a:solidFill>
          <a:ln w="9525">
            <a:solidFill>
              <a:srgbClr val="04926A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43294" y="1392566"/>
            <a:ext cx="14218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若函数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4249179" y="1349555"/>
                <a:ext cx="4975427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d>
                        <m:dPr>
                          <m:ctrlPr>
                            <a:rPr kumimoji="1" lang="zh-CN" altLang="en-US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可导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9179" y="1349555"/>
                <a:ext cx="4975427" cy="457200"/>
              </a:xfrm>
              <a:prstGeom prst="rect">
                <a:avLst/>
              </a:prstGeom>
              <a:blipFill rotWithShape="1">
                <a:blip r:embed="rId3"/>
                <a:stretch>
                  <a:fillRect l="-8" t="-39" r="12" b="-42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 bwMode="auto">
              <a:xfrm>
                <a:off x="9164769" y="1331118"/>
                <a:ext cx="1887132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64769" y="1331118"/>
                <a:ext cx="1887132" cy="495300"/>
              </a:xfrm>
              <a:prstGeom prst="rect">
                <a:avLst/>
              </a:prstGeom>
              <a:blipFill rotWithShape="1">
                <a:blip r:embed="rId4"/>
                <a:stretch>
                  <a:fillRect l="-24" t="-32" r="19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665379" y="1942582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处偏导连续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/>
              <p:cNvSpPr txBox="1"/>
              <p:nvPr/>
            </p:nvSpPr>
            <p:spPr bwMode="auto">
              <a:xfrm>
                <a:off x="3043294" y="1938931"/>
                <a:ext cx="1965935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3294" y="1938931"/>
                <a:ext cx="1965935" cy="457200"/>
              </a:xfrm>
              <a:prstGeom prst="rect">
                <a:avLst/>
              </a:prstGeom>
              <a:blipFill rotWithShape="1">
                <a:blip r:embed="rId5"/>
                <a:stretch>
                  <a:fillRect l="-19" t="-60" r="18" b="-7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3"/>
              <p:cNvSpPr txBox="1">
                <a:spLocks noChangeArrowheads="1"/>
              </p:cNvSpPr>
              <p:nvPr/>
            </p:nvSpPr>
            <p:spPr bwMode="auto">
              <a:xfrm>
                <a:off x="3043294" y="2551601"/>
                <a:ext cx="2271346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 可导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, </a:t>
                </a:r>
              </a:p>
            </p:txBody>
          </p:sp>
        </mc:Choice>
        <mc:Fallback xmlns="">
          <p:sp>
            <p:nvSpPr>
              <p:cNvPr id="10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3294" y="2551601"/>
                <a:ext cx="2271346" cy="519112"/>
              </a:xfrm>
              <a:prstGeom prst="rect">
                <a:avLst/>
              </a:prstGeom>
              <a:blipFill rotWithShape="1">
                <a:blip r:embed="rId6"/>
                <a:stretch>
                  <a:fillRect l="-16" t="-33" r="14" b="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4"/>
              <p:cNvSpPr txBox="1"/>
              <p:nvPr/>
            </p:nvSpPr>
            <p:spPr bwMode="auto">
              <a:xfrm>
                <a:off x="3043294" y="3176871"/>
                <a:ext cx="4453548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3294" y="3176871"/>
                <a:ext cx="4453548" cy="914400"/>
              </a:xfrm>
              <a:prstGeom prst="rect">
                <a:avLst/>
              </a:prstGeom>
              <a:blipFill rotWithShape="1">
                <a:blip r:embed="rId7"/>
                <a:stretch>
                  <a:fillRect l="-8" t="-66" r="1" b="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7"/>
              <p:cNvSpPr txBox="1"/>
              <p:nvPr/>
            </p:nvSpPr>
            <p:spPr bwMode="auto">
              <a:xfrm>
                <a:off x="10227983" y="2800279"/>
                <a:ext cx="288000" cy="3036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27983" y="2800279"/>
                <a:ext cx="288000" cy="303628"/>
              </a:xfrm>
              <a:prstGeom prst="rect">
                <a:avLst/>
              </a:prstGeom>
              <a:blipFill rotWithShape="1">
                <a:blip r:embed="rId8"/>
                <a:stretch>
                  <a:fillRect l="-13" t="-186" r="133" b="-554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6590514" y="1939027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则复合函数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56"/>
              <p:cNvSpPr txBox="1">
                <a:spLocks noChangeArrowheads="1"/>
              </p:cNvSpPr>
              <p:nvPr/>
            </p:nvSpPr>
            <p:spPr bwMode="auto">
              <a:xfrm>
                <a:off x="1715777" y="4274033"/>
                <a:ext cx="337692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证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           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设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 取增量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,</a:t>
                </a:r>
              </a:p>
            </p:txBody>
          </p:sp>
        </mc:Choice>
        <mc:Fallback xmlns="">
          <p:sp>
            <p:nvSpPr>
              <p:cNvPr id="14" name="Text 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5777" y="4274033"/>
                <a:ext cx="3376923" cy="523220"/>
              </a:xfrm>
              <a:prstGeom prst="rect">
                <a:avLst/>
              </a:prstGeom>
              <a:blipFill rotWithShape="1">
                <a:blip r:embed="rId9"/>
                <a:stretch>
                  <a:fillRect t="-92" b="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1"/>
              <p:cNvSpPr txBox="1"/>
              <p:nvPr/>
            </p:nvSpPr>
            <p:spPr bwMode="auto">
              <a:xfrm>
                <a:off x="3047830" y="5319936"/>
                <a:ext cx="2856872" cy="7391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en-US" altLang="zh-CN" sz="22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en-US" altLang="zh-CN" sz="22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7830" y="5319936"/>
                <a:ext cx="2856872" cy="739165"/>
              </a:xfrm>
              <a:prstGeom prst="rect">
                <a:avLst/>
              </a:prstGeom>
              <a:blipFill rotWithShape="1">
                <a:blip r:embed="rId10"/>
                <a:stretch>
                  <a:fillRect l="-16" t="-73" r="17" b="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63"/>
              <p:cNvSpPr txBox="1"/>
              <p:nvPr/>
            </p:nvSpPr>
            <p:spPr bwMode="auto">
              <a:xfrm>
                <a:off x="6411356" y="5435611"/>
                <a:ext cx="3879850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+(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 ).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1356" y="5435611"/>
                <a:ext cx="3879850" cy="571500"/>
              </a:xfrm>
              <a:prstGeom prst="rect">
                <a:avLst/>
              </a:prstGeom>
              <a:blipFill rotWithShape="1">
                <a:blip r:embed="rId11"/>
                <a:stretch>
                  <a:fillRect l="-10" t="-2" r="10"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66"/>
              <p:cNvSpPr txBox="1"/>
              <p:nvPr/>
            </p:nvSpPr>
            <p:spPr bwMode="auto">
              <a:xfrm>
                <a:off x="5575548" y="5492551"/>
                <a:ext cx="1018518" cy="4859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𝑜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75548" y="5492551"/>
                <a:ext cx="1018518" cy="485986"/>
              </a:xfrm>
              <a:prstGeom prst="rect">
                <a:avLst/>
              </a:prstGeom>
              <a:blipFill rotWithShape="1">
                <a:blip r:embed="rId12"/>
                <a:stretch>
                  <a:fillRect l="-24" t="-90" r="22"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68"/>
          <p:cNvSpPr txBox="1">
            <a:spLocks noChangeArrowheads="1"/>
          </p:cNvSpPr>
          <p:nvPr/>
        </p:nvSpPr>
        <p:spPr bwMode="auto">
          <a:xfrm>
            <a:off x="4820779" y="4338857"/>
            <a:ext cx="2743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则相应中间变量</a:t>
            </a:r>
          </a:p>
        </p:txBody>
      </p:sp>
      <p:sp>
        <p:nvSpPr>
          <p:cNvPr id="19" name="Text Box 69"/>
          <p:cNvSpPr txBox="1">
            <a:spLocks noChangeArrowheads="1"/>
          </p:cNvSpPr>
          <p:nvPr/>
        </p:nvSpPr>
        <p:spPr bwMode="auto">
          <a:xfrm>
            <a:off x="4927225" y="254628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且有</a:t>
            </a:r>
            <a:r>
              <a:rPr kumimoji="1" lang="zh-CN" altLang="en-US" sz="2800" dirty="0">
                <a:solidFill>
                  <a:srgbClr val="4A7BA8"/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链式法则</a:t>
            </a:r>
          </a:p>
        </p:txBody>
      </p:sp>
      <p:grpSp>
        <p:nvGrpSpPr>
          <p:cNvPr id="20" name="Group 73"/>
          <p:cNvGrpSpPr/>
          <p:nvPr/>
        </p:nvGrpSpPr>
        <p:grpSpPr bwMode="auto">
          <a:xfrm>
            <a:off x="9807869" y="3231771"/>
            <a:ext cx="1063625" cy="649288"/>
            <a:chOff x="4808" y="1098"/>
            <a:chExt cx="670" cy="409"/>
          </a:xfrm>
          <a:solidFill>
            <a:srgbClr val="FF0000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74"/>
                <p:cNvSpPr txBox="1"/>
                <p:nvPr/>
              </p:nvSpPr>
              <p:spPr bwMode="auto">
                <a:xfrm>
                  <a:off x="4808" y="1280"/>
                  <a:ext cx="670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   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" name="Object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8" y="1280"/>
                  <a:ext cx="670" cy="227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Group 75"/>
            <p:cNvGrpSpPr/>
            <p:nvPr/>
          </p:nvGrpSpPr>
          <p:grpSpPr bwMode="auto">
            <a:xfrm>
              <a:off x="4944" y="1098"/>
              <a:ext cx="480" cy="293"/>
              <a:chOff x="4800" y="2256"/>
              <a:chExt cx="480" cy="293"/>
            </a:xfrm>
            <a:grpFill/>
          </p:grpSpPr>
          <p:sp>
            <p:nvSpPr>
              <p:cNvPr id="23" name="Line 76"/>
              <p:cNvSpPr>
                <a:spLocks noChangeShapeType="1"/>
              </p:cNvSpPr>
              <p:nvPr/>
            </p:nvSpPr>
            <p:spPr bwMode="auto">
              <a:xfrm flipV="1">
                <a:off x="4800" y="2256"/>
                <a:ext cx="240" cy="28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Line 77"/>
              <p:cNvSpPr>
                <a:spLocks noChangeShapeType="1"/>
              </p:cNvSpPr>
              <p:nvPr/>
            </p:nvSpPr>
            <p:spPr bwMode="auto">
              <a:xfrm>
                <a:off x="5040" y="2256"/>
                <a:ext cx="240" cy="29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5" name="Group 78"/>
          <p:cNvGrpSpPr/>
          <p:nvPr/>
        </p:nvGrpSpPr>
        <p:grpSpPr bwMode="auto">
          <a:xfrm>
            <a:off x="10640512" y="4045266"/>
            <a:ext cx="404813" cy="611188"/>
            <a:chOff x="5351" y="1577"/>
            <a:chExt cx="255" cy="385"/>
          </a:xfrm>
          <a:solidFill>
            <a:srgbClr val="FF0000"/>
          </a:solidFill>
        </p:grpSpPr>
        <p:sp>
          <p:nvSpPr>
            <p:cNvPr id="26" name="Line 79"/>
            <p:cNvSpPr>
              <a:spLocks noChangeShapeType="1"/>
            </p:cNvSpPr>
            <p:nvPr/>
          </p:nvSpPr>
          <p:spPr bwMode="auto">
            <a:xfrm>
              <a:off x="5458" y="1577"/>
              <a:ext cx="0" cy="205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80"/>
                <p:cNvSpPr txBox="1"/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𝑡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" name="Object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blipFill rotWithShape="1">
                  <a:blip r:embed="rId1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92"/>
              <p:cNvSpPr txBox="1">
                <a:spLocks noChangeArrowheads="1"/>
              </p:cNvSpPr>
              <p:nvPr/>
            </p:nvSpPr>
            <p:spPr bwMode="auto">
              <a:xfrm>
                <a:off x="3024079" y="4847445"/>
                <a:ext cx="2068621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有增量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𝑢</m:t>
                    </m:r>
                    <m:r>
                      <m:rPr>
                        <m:nor/>
                      </m:rPr>
                      <a:rPr kumimoji="1" lang="en-US" altLang="zh-CN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sym typeface="+mn-lt"/>
                      </a:rPr>
                      <m:t>,</m:t>
                    </m:r>
                    <m:r>
                      <a:rPr kumimoji="1" lang="en-US" altLang="zh-CN" sz="2200" b="0" i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sym typeface="+mn-lt"/>
                      </a:rPr>
                      <m:t>   </m:t>
                    </m:r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𝑣</m:t>
                    </m:r>
                    <m:r>
                      <m:rPr>
                        <m:nor/>
                      </m:rPr>
                      <a:rPr kumimoji="1" lang="en-US" altLang="zh-CN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sym typeface="+mn-lt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 xmlns="">
          <p:sp>
            <p:nvSpPr>
              <p:cNvPr id="31" name="Text 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4079" y="4847445"/>
                <a:ext cx="2068621" cy="430887"/>
              </a:xfrm>
              <a:prstGeom prst="rect">
                <a:avLst/>
              </a:prstGeom>
              <a:blipFill rotWithShape="1">
                <a:blip r:embed="rId15"/>
                <a:stretch>
                  <a:fillRect l="-10" t="-114" b="4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78"/>
          <p:cNvGrpSpPr/>
          <p:nvPr/>
        </p:nvGrpSpPr>
        <p:grpSpPr bwMode="auto">
          <a:xfrm>
            <a:off x="9823170" y="4045266"/>
            <a:ext cx="404813" cy="611188"/>
            <a:chOff x="5351" y="1577"/>
            <a:chExt cx="255" cy="385"/>
          </a:xfrm>
          <a:solidFill>
            <a:srgbClr val="FF0000"/>
          </a:solidFill>
        </p:grpSpPr>
        <p:sp>
          <p:nvSpPr>
            <p:cNvPr id="57" name="Line 79"/>
            <p:cNvSpPr>
              <a:spLocks noChangeShapeType="1"/>
            </p:cNvSpPr>
            <p:nvPr/>
          </p:nvSpPr>
          <p:spPr bwMode="auto">
            <a:xfrm>
              <a:off x="5458" y="1577"/>
              <a:ext cx="0" cy="205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Object 80"/>
                <p:cNvSpPr txBox="1"/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𝑡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8" name="Object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blipFill rotWithShape="1">
                  <a:blip r:embed="rId1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组合 61"/>
          <p:cNvGrpSpPr/>
          <p:nvPr/>
        </p:nvGrpSpPr>
        <p:grpSpPr>
          <a:xfrm>
            <a:off x="1809744" y="1429386"/>
            <a:ext cx="1238885" cy="449580"/>
            <a:chOff x="1553" y="3802"/>
            <a:chExt cx="1951" cy="708"/>
          </a:xfrm>
        </p:grpSpPr>
        <p:sp>
          <p:nvSpPr>
            <p:cNvPr id="63" name="圆角矩形 3"/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 Box 28"/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图文框 81"/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83" name="矩形 82"/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9"/>
              <p:cNvSpPr txBox="1"/>
              <p:nvPr/>
            </p:nvSpPr>
            <p:spPr bwMode="auto">
              <a:xfrm>
                <a:off x="3259140" y="1756492"/>
                <a:ext cx="16891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令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9140" y="1756492"/>
                <a:ext cx="1689100" cy="444500"/>
              </a:xfrm>
              <a:prstGeom prst="rect">
                <a:avLst/>
              </a:prstGeom>
              <a:blipFill rotWithShape="1">
                <a:blip r:embed="rId2"/>
                <a:stretch>
                  <a:fillRect l="-19" t="-18" r="19" b="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0"/>
              <p:cNvSpPr txBox="1"/>
              <p:nvPr/>
            </p:nvSpPr>
            <p:spPr bwMode="auto">
              <a:xfrm>
                <a:off x="4615063" y="1750142"/>
                <a:ext cx="380365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则有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→0,  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5063" y="1750142"/>
                <a:ext cx="3803650" cy="457200"/>
              </a:xfrm>
              <a:prstGeom prst="rect">
                <a:avLst/>
              </a:prstGeom>
              <a:blipFill rotWithShape="1">
                <a:blip r:embed="rId3"/>
                <a:stretch>
                  <a:fillRect l="-14" t="-18" r="14" b="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41"/>
          <p:cNvSpPr>
            <a:spLocks noChangeShapeType="1"/>
          </p:cNvSpPr>
          <p:nvPr/>
        </p:nvSpPr>
        <p:spPr bwMode="auto">
          <a:xfrm>
            <a:off x="3080397" y="1853875"/>
            <a:ext cx="0" cy="3175325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4"/>
              <p:cNvSpPr txBox="1"/>
              <p:nvPr/>
            </p:nvSpPr>
            <p:spPr bwMode="auto">
              <a:xfrm>
                <a:off x="3257554" y="3305413"/>
                <a:ext cx="9017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𝑜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7554" y="3305413"/>
                <a:ext cx="901700" cy="927100"/>
              </a:xfrm>
              <a:prstGeom prst="rect">
                <a:avLst/>
              </a:prstGeom>
              <a:blipFill rotWithShape="1">
                <a:blip r:embed="rId4"/>
                <a:stretch>
                  <a:fillRect t="-26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5483226" y="5335747"/>
            <a:ext cx="1902901" cy="430887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(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全导数公式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4"/>
              <p:cNvSpPr txBox="1"/>
              <p:nvPr/>
            </p:nvSpPr>
            <p:spPr bwMode="auto">
              <a:xfrm>
                <a:off x="2231573" y="886279"/>
                <a:ext cx="3295648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1573" y="886279"/>
                <a:ext cx="3295648" cy="927100"/>
              </a:xfrm>
              <a:prstGeom prst="rect">
                <a:avLst/>
              </a:prstGeom>
              <a:blipFill rotWithShape="1">
                <a:blip r:embed="rId5"/>
                <a:stretch>
                  <a:fillRect l="-6" t="-49" r="5" b="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5"/>
              <p:cNvSpPr txBox="1"/>
              <p:nvPr/>
            </p:nvSpPr>
            <p:spPr bwMode="auto">
              <a:xfrm>
                <a:off x="4675381" y="887867"/>
                <a:ext cx="11049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𝑜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381" y="887867"/>
                <a:ext cx="1104900" cy="927100"/>
              </a:xfrm>
              <a:prstGeom prst="rect">
                <a:avLst/>
              </a:prstGeom>
              <a:blipFill rotWithShape="1">
                <a:blip r:embed="rId6"/>
                <a:stretch>
                  <a:fillRect l="-46" t="-15" r="46" b="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73"/>
              <p:cNvSpPr txBox="1"/>
              <p:nvPr/>
            </p:nvSpPr>
            <p:spPr bwMode="auto">
              <a:xfrm>
                <a:off x="5611089" y="999886"/>
                <a:ext cx="3803650" cy="708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+(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 ),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1089" y="999886"/>
                <a:ext cx="3803650" cy="708025"/>
              </a:xfrm>
              <a:prstGeom prst="rect">
                <a:avLst/>
              </a:prstGeom>
              <a:blipFill rotWithShape="1">
                <a:blip r:embed="rId7"/>
                <a:stretch>
                  <a:fillRect l="-6" t="-56" r="6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77"/>
              <p:cNvSpPr txBox="1"/>
              <p:nvPr/>
            </p:nvSpPr>
            <p:spPr bwMode="auto">
              <a:xfrm>
                <a:off x="3880735" y="3305413"/>
                <a:ext cx="12065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𝑜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0735" y="3305413"/>
                <a:ext cx="1206500" cy="927100"/>
              </a:xfrm>
              <a:prstGeom prst="rect">
                <a:avLst/>
              </a:prstGeom>
              <a:blipFill rotWithShape="1">
                <a:blip r:embed="rId8"/>
                <a:stretch>
                  <a:fillRect l="-21" t="-26" r="21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78"/>
              <p:cNvSpPr txBox="1"/>
              <p:nvPr/>
            </p:nvSpPr>
            <p:spPr bwMode="auto">
              <a:xfrm>
                <a:off x="4736872" y="3107869"/>
                <a:ext cx="2367585" cy="11234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den>
                          </m:f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+(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den>
                          </m:f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nor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 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6872" y="3107869"/>
                <a:ext cx="2367585" cy="1123457"/>
              </a:xfrm>
              <a:prstGeom prst="rect">
                <a:avLst/>
              </a:prstGeom>
              <a:blipFill rotWithShape="1">
                <a:blip r:embed="rId9"/>
                <a:stretch>
                  <a:fillRect l="-17" t="-16" r="3" b="-216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79"/>
              <p:cNvSpPr txBox="1"/>
              <p:nvPr/>
            </p:nvSpPr>
            <p:spPr bwMode="auto">
              <a:xfrm>
                <a:off x="6779976" y="3483609"/>
                <a:ext cx="852092" cy="528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9976" y="3483609"/>
                <a:ext cx="852092" cy="528638"/>
              </a:xfrm>
              <a:prstGeom prst="rect">
                <a:avLst/>
              </a:prstGeom>
              <a:blipFill rotWithShape="1">
                <a:blip r:embed="rId10"/>
                <a:stretch>
                  <a:fillRect l="-10" t="-120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80"/>
              <p:cNvSpPr txBox="1">
                <a:spLocks noChangeArrowheads="1"/>
              </p:cNvSpPr>
              <p:nvPr/>
            </p:nvSpPr>
            <p:spPr bwMode="auto">
              <a:xfrm>
                <a:off x="3352325" y="4385532"/>
                <a:ext cx="4041423" cy="430887"/>
              </a:xfrm>
              <a:prstGeom prst="rect">
                <a:avLst/>
              </a:prstGeom>
              <a:noFill/>
              <a:ln w="19050">
                <a:solidFill>
                  <a:srgbClr val="04926A"/>
                </a:solidFill>
                <a:miter lim="800000"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pPr lvl="0" algn="ctr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＜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0 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时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,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根式前加</a:t>
                </a:r>
                <a14:m>
                  <m:oMath xmlns:m="http://schemas.openxmlformats.org/officeDocument/2006/math">
                    <m:r>
                      <a:rPr kumimoji="1" lang="zh-CN" altLang="en-US" sz="22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m:t>“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–”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号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)</a:t>
                </a:r>
              </a:p>
            </p:txBody>
          </p:sp>
        </mc:Choice>
        <mc:Fallback xmlns="">
          <p:sp>
            <p:nvSpPr>
              <p:cNvPr id="28" name="Text 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325" y="4385532"/>
                <a:ext cx="4041423" cy="430887"/>
              </a:xfrm>
              <a:prstGeom prst="rect">
                <a:avLst/>
              </a:prstGeom>
              <a:blipFill rotWithShape="1">
                <a:blip r:embed="rId11"/>
                <a:stretch>
                  <a:fillRect l="-240" t="-2262" r="-225" b="-2076"/>
                </a:stretch>
              </a:blipFill>
              <a:ln w="19050">
                <a:solidFill>
                  <a:srgbClr val="04926A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83"/>
              <p:cNvSpPr txBox="1"/>
              <p:nvPr/>
            </p:nvSpPr>
            <p:spPr bwMode="auto">
              <a:xfrm>
                <a:off x="3263271" y="2275131"/>
                <a:ext cx="43688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,   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3271" y="2275131"/>
                <a:ext cx="4368800" cy="914400"/>
              </a:xfrm>
              <a:prstGeom prst="rect">
                <a:avLst/>
              </a:prstGeom>
              <a:blipFill rotWithShape="1">
                <a:blip r:embed="rId12"/>
                <a:stretch>
                  <a:fillRect t="-61" b="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87"/>
          <p:cNvSpPr>
            <a:spLocks noChangeArrowheads="1"/>
          </p:cNvSpPr>
          <p:nvPr/>
        </p:nvSpPr>
        <p:spPr bwMode="auto">
          <a:xfrm>
            <a:off x="2310945" y="5157591"/>
            <a:ext cx="3055881" cy="787201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03"/>
              <p:cNvSpPr txBox="1"/>
              <p:nvPr/>
            </p:nvSpPr>
            <p:spPr bwMode="auto">
              <a:xfrm>
                <a:off x="2355396" y="5173465"/>
                <a:ext cx="3083379" cy="7570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5396" y="5173465"/>
                <a:ext cx="3083379" cy="757038"/>
              </a:xfrm>
              <a:prstGeom prst="rect">
                <a:avLst/>
              </a:prstGeom>
              <a:blipFill rotWithShape="1">
                <a:blip r:embed="rId13"/>
                <a:stretch>
                  <a:fillRect l="-6" t="-16" b="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7"/>
          <p:cNvSpPr>
            <a:spLocks noChangeArrowheads="1"/>
          </p:cNvSpPr>
          <p:nvPr/>
        </p:nvSpPr>
        <p:spPr bwMode="auto">
          <a:xfrm>
            <a:off x="8452591" y="2275131"/>
            <a:ext cx="1371600" cy="2057400"/>
          </a:xfrm>
          <a:prstGeom prst="rect">
            <a:avLst/>
          </a:prstGeom>
          <a:solidFill>
            <a:srgbClr val="04926A">
              <a:alpha val="20000"/>
            </a:srgbClr>
          </a:solidFill>
          <a:ln w="9525">
            <a:solidFill>
              <a:srgbClr val="04926A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bject 17"/>
              <p:cNvSpPr txBox="1"/>
              <p:nvPr/>
            </p:nvSpPr>
            <p:spPr bwMode="auto">
              <a:xfrm>
                <a:off x="8973892" y="2233302"/>
                <a:ext cx="288000" cy="3036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3892" y="2233302"/>
                <a:ext cx="288000" cy="303628"/>
              </a:xfrm>
              <a:prstGeom prst="rect">
                <a:avLst/>
              </a:prstGeom>
              <a:blipFill rotWithShape="1">
                <a:blip r:embed="rId14"/>
                <a:stretch>
                  <a:fillRect l="-25" t="-2" r="145" b="-2548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73"/>
          <p:cNvGrpSpPr/>
          <p:nvPr/>
        </p:nvGrpSpPr>
        <p:grpSpPr bwMode="auto">
          <a:xfrm>
            <a:off x="8553778" y="2664794"/>
            <a:ext cx="1063625" cy="649288"/>
            <a:chOff x="4808" y="1098"/>
            <a:chExt cx="670" cy="409"/>
          </a:xfrm>
          <a:solidFill>
            <a:srgbClr val="FF0000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bject 74"/>
                <p:cNvSpPr txBox="1"/>
                <p:nvPr/>
              </p:nvSpPr>
              <p:spPr bwMode="auto">
                <a:xfrm>
                  <a:off x="4808" y="1280"/>
                  <a:ext cx="670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      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9" name="Object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8" y="1280"/>
                  <a:ext cx="670" cy="227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0" name="Group 75"/>
            <p:cNvGrpSpPr/>
            <p:nvPr/>
          </p:nvGrpSpPr>
          <p:grpSpPr bwMode="auto">
            <a:xfrm>
              <a:off x="4944" y="1098"/>
              <a:ext cx="480" cy="293"/>
              <a:chOff x="4800" y="2256"/>
              <a:chExt cx="480" cy="293"/>
            </a:xfrm>
            <a:grpFill/>
          </p:grpSpPr>
          <p:sp>
            <p:nvSpPr>
              <p:cNvPr id="71" name="Line 76"/>
              <p:cNvSpPr>
                <a:spLocks noChangeShapeType="1"/>
              </p:cNvSpPr>
              <p:nvPr/>
            </p:nvSpPr>
            <p:spPr bwMode="auto">
              <a:xfrm flipV="1">
                <a:off x="4800" y="2256"/>
                <a:ext cx="240" cy="28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72" name="Line 77"/>
              <p:cNvSpPr>
                <a:spLocks noChangeShapeType="1"/>
              </p:cNvSpPr>
              <p:nvPr/>
            </p:nvSpPr>
            <p:spPr bwMode="auto">
              <a:xfrm>
                <a:off x="5040" y="2256"/>
                <a:ext cx="240" cy="29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3" name="Group 78"/>
          <p:cNvGrpSpPr/>
          <p:nvPr/>
        </p:nvGrpSpPr>
        <p:grpSpPr bwMode="auto">
          <a:xfrm>
            <a:off x="9386421" y="3478289"/>
            <a:ext cx="404813" cy="611188"/>
            <a:chOff x="5351" y="1577"/>
            <a:chExt cx="255" cy="385"/>
          </a:xfrm>
          <a:solidFill>
            <a:srgbClr val="FF0000"/>
          </a:solidFill>
        </p:grpSpPr>
        <p:sp>
          <p:nvSpPr>
            <p:cNvPr id="74" name="Line 79"/>
            <p:cNvSpPr>
              <a:spLocks noChangeShapeType="1"/>
            </p:cNvSpPr>
            <p:nvPr/>
          </p:nvSpPr>
          <p:spPr bwMode="auto">
            <a:xfrm>
              <a:off x="5458" y="1577"/>
              <a:ext cx="0" cy="205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Object 80"/>
                <p:cNvSpPr txBox="1"/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𝑡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5" name="Object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blipFill rotWithShape="1">
                  <a:blip r:embed="rId1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8"/>
          <p:cNvGrpSpPr/>
          <p:nvPr/>
        </p:nvGrpSpPr>
        <p:grpSpPr bwMode="auto">
          <a:xfrm>
            <a:off x="8569079" y="3478289"/>
            <a:ext cx="404813" cy="611188"/>
            <a:chOff x="5351" y="1577"/>
            <a:chExt cx="255" cy="385"/>
          </a:xfrm>
          <a:solidFill>
            <a:srgbClr val="FF0000"/>
          </a:solidFill>
        </p:grpSpPr>
        <p:sp>
          <p:nvSpPr>
            <p:cNvPr id="77" name="Line 79"/>
            <p:cNvSpPr>
              <a:spLocks noChangeShapeType="1"/>
            </p:cNvSpPr>
            <p:nvPr/>
          </p:nvSpPr>
          <p:spPr bwMode="auto">
            <a:xfrm>
              <a:off x="5458" y="1577"/>
              <a:ext cx="0" cy="205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Object 80"/>
                <p:cNvSpPr txBox="1"/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𝑡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8" name="Object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51" y="1735"/>
                  <a:ext cx="255" cy="227"/>
                </a:xfrm>
                <a:prstGeom prst="rect">
                  <a:avLst/>
                </a:prstGeom>
                <a:blipFill rotWithShape="1">
                  <a:blip r:embed="rId1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/>
          <p:cNvGrpSpPr/>
          <p:nvPr/>
        </p:nvGrpSpPr>
        <p:grpSpPr>
          <a:xfrm>
            <a:off x="8752638" y="5339156"/>
            <a:ext cx="716209" cy="360271"/>
            <a:chOff x="1553" y="3803"/>
            <a:chExt cx="1165" cy="579"/>
          </a:xfrm>
        </p:grpSpPr>
        <p:sp>
          <p:nvSpPr>
            <p:cNvPr id="10" name="圆角矩形 21"/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28"/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 animBg="1"/>
      <p:bldP spid="7" grpId="0"/>
      <p:bldP spid="8" grpId="0"/>
      <p:bldP spid="24" grpId="0"/>
      <p:bldP spid="25" grpId="0"/>
      <p:bldP spid="26" grpId="0"/>
      <p:bldP spid="27" grpId="0"/>
      <p:bldP spid="28" grpId="0" animBg="1"/>
      <p:bldP spid="29" grpId="0"/>
      <p:bldP spid="30" grpId="0" animBg="1"/>
      <p:bldP spid="31" grpId="0"/>
      <p:bldP spid="66" grpId="0" animBg="1"/>
      <p:bldP spid="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图文框 55"/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57" name="矩形 56"/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Group 44"/>
          <p:cNvGrpSpPr/>
          <p:nvPr/>
        </p:nvGrpSpPr>
        <p:grpSpPr bwMode="auto">
          <a:xfrm>
            <a:off x="9367758" y="3477105"/>
            <a:ext cx="1150937" cy="360362"/>
            <a:chOff x="4416" y="1666"/>
            <a:chExt cx="672" cy="158"/>
          </a:xfrm>
        </p:grpSpPr>
        <p:sp>
          <p:nvSpPr>
            <p:cNvPr id="4" name="Line 20"/>
            <p:cNvSpPr>
              <a:spLocks noChangeShapeType="1"/>
            </p:cNvSpPr>
            <p:nvPr/>
          </p:nvSpPr>
          <p:spPr bwMode="auto">
            <a:xfrm>
              <a:off x="4752" y="166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" name="Line 22"/>
            <p:cNvSpPr>
              <a:spLocks noChangeShapeType="1"/>
            </p:cNvSpPr>
            <p:nvPr/>
          </p:nvSpPr>
          <p:spPr bwMode="auto">
            <a:xfrm>
              <a:off x="4416" y="168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6" name="Line 43"/>
            <p:cNvSpPr>
              <a:spLocks noChangeShapeType="1"/>
            </p:cNvSpPr>
            <p:nvPr/>
          </p:nvSpPr>
          <p:spPr bwMode="auto">
            <a:xfrm>
              <a:off x="5088" y="168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7" name="Line 62"/>
          <p:cNvSpPr>
            <a:spLocks noChangeShapeType="1"/>
          </p:cNvSpPr>
          <p:nvPr/>
        </p:nvSpPr>
        <p:spPr bwMode="auto">
          <a:xfrm>
            <a:off x="9936082" y="3456467"/>
            <a:ext cx="0" cy="38100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8" name="Rectangle 45"/>
          <p:cNvSpPr>
            <a:spLocks noChangeArrowheads="1"/>
          </p:cNvSpPr>
          <p:nvPr/>
        </p:nvSpPr>
        <p:spPr bwMode="auto">
          <a:xfrm>
            <a:off x="9082592" y="2289824"/>
            <a:ext cx="1702034" cy="2122977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3"/>
              <p:cNvSpPr txBox="1">
                <a:spLocks noChangeArrowheads="1"/>
              </p:cNvSpPr>
              <p:nvPr/>
            </p:nvSpPr>
            <p:spPr bwMode="auto">
              <a:xfrm>
                <a:off x="2018449" y="1769334"/>
                <a:ext cx="569309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1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 中间变量多于两个的情形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.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例如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,</a:t>
                </a:r>
              </a:p>
            </p:txBody>
          </p:sp>
        </mc:Choice>
        <mc:Fallback xmlns="">
          <p:sp>
            <p:nvSpPr>
              <p:cNvPr id="9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8449" y="1769334"/>
                <a:ext cx="5693097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7" t="-43" r="2" b="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/>
              <p:cNvSpPr txBox="1"/>
              <p:nvPr/>
            </p:nvSpPr>
            <p:spPr bwMode="auto">
              <a:xfrm>
                <a:off x="2064488" y="2488933"/>
                <a:ext cx="2717981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𝑤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4488" y="2488933"/>
                <a:ext cx="2717981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4" t="-70" r="10" b="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7"/>
              <p:cNvSpPr txBox="1"/>
              <p:nvPr/>
            </p:nvSpPr>
            <p:spPr bwMode="auto">
              <a:xfrm>
                <a:off x="2032220" y="3351313"/>
                <a:ext cx="1004895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2220" y="3351313"/>
                <a:ext cx="1004895" cy="900113"/>
              </a:xfrm>
              <a:prstGeom prst="rect">
                <a:avLst/>
              </a:prstGeom>
              <a:blipFill rotWithShape="1">
                <a:blip r:embed="rId4"/>
                <a:stretch>
                  <a:fillRect l="-22" t="-46" r="54" b="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8"/>
              <p:cNvSpPr txBox="1"/>
              <p:nvPr/>
            </p:nvSpPr>
            <p:spPr bwMode="auto">
              <a:xfrm>
                <a:off x="2509513" y="4519019"/>
                <a:ext cx="4513304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9513" y="4519019"/>
                <a:ext cx="4513304" cy="431800"/>
              </a:xfrm>
              <a:prstGeom prst="rect">
                <a:avLst/>
              </a:prstGeom>
              <a:blipFill rotWithShape="1">
                <a:blip r:embed="rId5"/>
                <a:stretch>
                  <a:fillRect l="-14" t="-83" r="8" b="-96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6"/>
              <p:cNvSpPr txBox="1"/>
              <p:nvPr/>
            </p:nvSpPr>
            <p:spPr bwMode="auto">
              <a:xfrm>
                <a:off x="9724148" y="224871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24148" y="2248715"/>
                <a:ext cx="381000" cy="381000"/>
              </a:xfrm>
              <a:prstGeom prst="rect">
                <a:avLst/>
              </a:prstGeom>
              <a:blipFill rotWithShape="1">
                <a:blip r:embed="rId6"/>
                <a:stretch>
                  <a:fillRect l="-103" t="-47" r="103" b="-239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8"/>
              <p:cNvSpPr txBox="1"/>
              <p:nvPr/>
            </p:nvSpPr>
            <p:spPr bwMode="auto">
              <a:xfrm>
                <a:off x="9169317" y="2926923"/>
                <a:ext cx="1460500" cy="53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𝑤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69317" y="2926923"/>
                <a:ext cx="1460500" cy="536300"/>
              </a:xfrm>
              <a:prstGeom prst="rect">
                <a:avLst/>
              </a:prstGeom>
              <a:blipFill rotWithShape="1">
                <a:blip r:embed="rId7"/>
                <a:stretch>
                  <a:fillRect l="-38" t="-39" r="-136" b="1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40"/>
          <p:cNvGrpSpPr/>
          <p:nvPr/>
        </p:nvGrpSpPr>
        <p:grpSpPr bwMode="auto">
          <a:xfrm>
            <a:off x="9461421" y="2667461"/>
            <a:ext cx="852488" cy="381000"/>
            <a:chOff x="4464" y="1200"/>
            <a:chExt cx="537" cy="240"/>
          </a:xfrm>
        </p:grpSpPr>
        <p:grpSp>
          <p:nvGrpSpPr>
            <p:cNvPr id="16" name="Group 39"/>
            <p:cNvGrpSpPr/>
            <p:nvPr/>
          </p:nvGrpSpPr>
          <p:grpSpPr bwMode="auto">
            <a:xfrm>
              <a:off x="4464" y="1200"/>
              <a:ext cx="288" cy="240"/>
              <a:chOff x="4464" y="1200"/>
              <a:chExt cx="288" cy="240"/>
            </a:xfrm>
          </p:grpSpPr>
          <p:sp>
            <p:nvSpPr>
              <p:cNvPr id="18" name="Line 19"/>
              <p:cNvSpPr>
                <a:spLocks noChangeShapeType="1"/>
              </p:cNvSpPr>
              <p:nvPr/>
            </p:nvSpPr>
            <p:spPr bwMode="auto">
              <a:xfrm>
                <a:off x="4752" y="12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Line 23"/>
              <p:cNvSpPr>
                <a:spLocks noChangeShapeType="1"/>
              </p:cNvSpPr>
              <p:nvPr/>
            </p:nvSpPr>
            <p:spPr bwMode="auto">
              <a:xfrm flipH="1">
                <a:off x="4464" y="1200"/>
                <a:ext cx="288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>
              <a:off x="4752" y="1200"/>
              <a:ext cx="249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42"/>
              <p:cNvSpPr txBox="1"/>
              <p:nvPr/>
            </p:nvSpPr>
            <p:spPr bwMode="auto">
              <a:xfrm>
                <a:off x="9201067" y="3736974"/>
                <a:ext cx="1397000" cy="442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01067" y="3736974"/>
                <a:ext cx="1397000" cy="442912"/>
              </a:xfrm>
              <a:prstGeom prst="rect">
                <a:avLst/>
              </a:prstGeom>
              <a:blipFill rotWithShape="1">
                <a:blip r:embed="rId8"/>
                <a:stretch>
                  <a:fillRect l="-40" t="-143" r="40" b="-65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47"/>
              <p:cNvSpPr txBox="1"/>
              <p:nvPr/>
            </p:nvSpPr>
            <p:spPr bwMode="auto">
              <a:xfrm>
                <a:off x="2847492" y="3356722"/>
                <a:ext cx="1340244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7492" y="3356722"/>
                <a:ext cx="1340244" cy="900113"/>
              </a:xfrm>
              <a:prstGeom prst="rect">
                <a:avLst/>
              </a:prstGeom>
              <a:blipFill rotWithShape="1">
                <a:blip r:embed="rId9"/>
                <a:stretch>
                  <a:fillRect l="-11" t="-12" r="41" b="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48"/>
              <p:cNvSpPr txBox="1"/>
              <p:nvPr/>
            </p:nvSpPr>
            <p:spPr bwMode="auto">
              <a:xfrm>
                <a:off x="3993905" y="3352594"/>
                <a:ext cx="1702034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3905" y="3352594"/>
                <a:ext cx="1702034" cy="900112"/>
              </a:xfrm>
              <a:prstGeom prst="rect">
                <a:avLst/>
              </a:prstGeom>
              <a:blipFill rotWithShape="1">
                <a:blip r:embed="rId10"/>
                <a:stretch>
                  <a:fillRect l="-23" t="-48" r="37" b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9"/>
              <p:cNvSpPr txBox="1"/>
              <p:nvPr/>
            </p:nvSpPr>
            <p:spPr bwMode="auto">
              <a:xfrm>
                <a:off x="5424978" y="3352594"/>
                <a:ext cx="1797050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4978" y="3352594"/>
                <a:ext cx="1797050" cy="900112"/>
              </a:xfrm>
              <a:prstGeom prst="rect">
                <a:avLst/>
              </a:prstGeom>
              <a:blipFill rotWithShape="1">
                <a:blip r:embed="rId11"/>
                <a:stretch>
                  <a:fillRect l="-10" t="-48" r="10" b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59"/>
          <p:cNvSpPr>
            <a:spLocks noChangeShapeType="1"/>
          </p:cNvSpPr>
          <p:nvPr/>
        </p:nvSpPr>
        <p:spPr bwMode="auto">
          <a:xfrm flipH="1">
            <a:off x="9339180" y="2667461"/>
            <a:ext cx="579437" cy="48257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5" name="Line 60"/>
          <p:cNvSpPr>
            <a:spLocks noChangeShapeType="1"/>
          </p:cNvSpPr>
          <p:nvPr/>
        </p:nvSpPr>
        <p:spPr bwMode="auto">
          <a:xfrm>
            <a:off x="9367757" y="3456467"/>
            <a:ext cx="0" cy="38100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6" name="Line 61"/>
          <p:cNvSpPr>
            <a:spLocks noChangeShapeType="1"/>
          </p:cNvSpPr>
          <p:nvPr/>
        </p:nvSpPr>
        <p:spPr bwMode="auto">
          <a:xfrm flipH="1">
            <a:off x="9918617" y="2667461"/>
            <a:ext cx="0" cy="503208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8" name="Line 64"/>
          <p:cNvSpPr>
            <a:spLocks noChangeShapeType="1"/>
          </p:cNvSpPr>
          <p:nvPr/>
        </p:nvSpPr>
        <p:spPr bwMode="auto">
          <a:xfrm>
            <a:off x="10518694" y="3470755"/>
            <a:ext cx="0" cy="38100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84"/>
              <p:cNvSpPr txBox="1"/>
              <p:nvPr/>
            </p:nvSpPr>
            <p:spPr bwMode="auto">
              <a:xfrm>
                <a:off x="4286551" y="2480994"/>
                <a:ext cx="4739180" cy="5541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𝑤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𝜔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6551" y="2480994"/>
                <a:ext cx="4739180" cy="554183"/>
              </a:xfrm>
              <a:prstGeom prst="rect">
                <a:avLst/>
              </a:prstGeom>
              <a:blipFill rotWithShape="1">
                <a:blip r:embed="rId12"/>
                <a:stretch>
                  <a:fillRect l="-6" t="-9" r="10" b="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46"/>
          <p:cNvSpPr txBox="1">
            <a:spLocks noChangeArrowheads="1"/>
          </p:cNvSpPr>
          <p:nvPr/>
        </p:nvSpPr>
        <p:spPr bwMode="auto">
          <a:xfrm>
            <a:off x="8780454" y="4586418"/>
            <a:ext cx="2325546" cy="519113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(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全导数公式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9"/>
              <p:cNvSpPr txBox="1">
                <a:spLocks noChangeArrowheads="1"/>
              </p:cNvSpPr>
              <p:nvPr/>
            </p:nvSpPr>
            <p:spPr bwMode="auto">
              <a:xfrm>
                <a:off x="2016590" y="5308747"/>
                <a:ext cx="668187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2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 中间变量是多元函数的情形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.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即如下</a:t>
                </a:r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 xmlns="">
          <p:sp>
            <p:nvSpPr>
              <p:cNvPr id="31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6590" y="5308747"/>
                <a:ext cx="6681874" cy="523220"/>
              </a:xfrm>
              <a:prstGeom prst="rect">
                <a:avLst/>
              </a:prstGeom>
              <a:blipFill rotWithShape="1">
                <a:blip r:embed="rId13"/>
                <a:stretch>
                  <a:fillRect l="-7" t="-28" r="4" b="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2033689" y="1091287"/>
            <a:ext cx="71546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设下面所涉及的函数与定理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1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有相类似的条件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</a:p>
        </p:txBody>
      </p:sp>
      <p:sp>
        <p:nvSpPr>
          <p:cNvPr id="55" name="Line 59"/>
          <p:cNvSpPr>
            <a:spLocks noChangeShapeType="1"/>
          </p:cNvSpPr>
          <p:nvPr/>
        </p:nvSpPr>
        <p:spPr bwMode="auto">
          <a:xfrm rot="-6060000" flipH="1">
            <a:off x="9886643" y="2703372"/>
            <a:ext cx="606075" cy="442551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152949" y="1135210"/>
            <a:ext cx="962025" cy="448945"/>
            <a:chOff x="1553" y="3803"/>
            <a:chExt cx="1515" cy="707"/>
          </a:xfrm>
        </p:grpSpPr>
        <p:sp>
          <p:nvSpPr>
            <p:cNvPr id="33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28"/>
            <p:cNvSpPr txBox="1">
              <a:spLocks noChangeArrowheads="1"/>
            </p:cNvSpPr>
            <p:nvPr/>
          </p:nvSpPr>
          <p:spPr bwMode="auto">
            <a:xfrm>
              <a:off x="1630" y="3914"/>
              <a:ext cx="1438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r>
                <a:rPr kumimoji="1"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推广</a:t>
              </a:r>
              <a:r>
                <a:rPr kumimoji="1"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/>
      <p:bldP spid="11" grpId="0"/>
      <p:bldP spid="12" grpId="0"/>
      <p:bldP spid="13" grpId="0"/>
      <p:bldP spid="14" grpId="0"/>
      <p:bldP spid="20" grpId="0"/>
      <p:bldP spid="21" grpId="0"/>
      <p:bldP spid="22" grpId="0"/>
      <p:bldP spid="23" grpId="0"/>
      <p:bldP spid="29" grpId="0"/>
      <p:bldP spid="30" grpId="0" animBg="1" autoUpdateAnimBg="0"/>
      <p:bldP spid="31" grpId="0" build="p" autoUpdateAnimBg="0"/>
      <p:bldP spid="3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7" name="Rectangle 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圆角矩形 2"/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228600" y="236182"/>
              <a:ext cx="11771970" cy="6421275"/>
              <a:chOff x="228600" y="236182"/>
              <a:chExt cx="11771970" cy="6421275"/>
            </a:xfrm>
          </p:grpSpPr>
          <p:sp>
            <p:nvSpPr>
              <p:cNvPr id="70" name="Rectangle 1"/>
              <p:cNvSpPr/>
              <p:nvPr/>
            </p:nvSpPr>
            <p:spPr>
              <a:xfrm>
                <a:off x="364173" y="6462830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Rectangle 1"/>
              <p:cNvSpPr/>
              <p:nvPr/>
            </p:nvSpPr>
            <p:spPr>
              <a:xfrm rot="2659048">
                <a:off x="8838055" y="320052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543503" y="6349680"/>
                <a:ext cx="285687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第四节 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多元复合函数的求导法则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9055533" y="236182"/>
                <a:ext cx="294503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第九章   多元函数微分法及其应用</a:t>
                </a:r>
              </a:p>
            </p:txBody>
          </p:sp>
          <p:cxnSp>
            <p:nvCxnSpPr>
              <p:cNvPr id="74" name="直接连接符 73"/>
              <p:cNvCxnSpPr/>
              <p:nvPr/>
            </p:nvCxnSpPr>
            <p:spPr>
              <a:xfrm>
                <a:off x="228600" y="390070"/>
                <a:ext cx="8388000" cy="0"/>
              </a:xfrm>
              <a:prstGeom prst="line">
                <a:avLst/>
              </a:prstGeom>
              <a:ln>
                <a:solidFill>
                  <a:srgbClr val="04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3524250" y="6503568"/>
                <a:ext cx="841764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27"/>
          <p:cNvSpPr txBox="1">
            <a:spLocks noChangeArrowheads="1"/>
          </p:cNvSpPr>
          <p:nvPr/>
        </p:nvSpPr>
        <p:spPr>
          <a:xfrm>
            <a:off x="791346" y="930035"/>
            <a:ext cx="6862763" cy="625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二、多元函数与</a:t>
            </a: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多元函数复合的情形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1"/>
              <p:cNvSpPr txBox="1"/>
              <p:nvPr/>
            </p:nvSpPr>
            <p:spPr bwMode="auto">
              <a:xfrm>
                <a:off x="2996961" y="2198056"/>
                <a:ext cx="8439389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函数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在对应点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d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具有连续偏导数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6961" y="2198056"/>
                <a:ext cx="8439389" cy="444500"/>
              </a:xfrm>
              <a:prstGeom prst="rect">
                <a:avLst/>
              </a:prstGeom>
              <a:blipFill rotWithShape="1">
                <a:blip r:embed="rId2"/>
                <a:stretch>
                  <a:fillRect l="-5" t="-72" b="-42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 bwMode="auto">
              <a:xfrm>
                <a:off x="2132488" y="1630553"/>
                <a:ext cx="9682251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具有对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及对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的偏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2488" y="1630553"/>
                <a:ext cx="9682251" cy="431800"/>
              </a:xfrm>
              <a:prstGeom prst="rect">
                <a:avLst/>
              </a:prstGeom>
              <a:blipFill rotWithShape="1">
                <a:blip r:embed="rId3"/>
                <a:stretch>
                  <a:fillRect l="-2" t="-118" r="6" b="-73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132488" y="2196645"/>
                <a:ext cx="2017670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导数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88" y="2196645"/>
                <a:ext cx="2017670" cy="444500"/>
              </a:xfrm>
              <a:prstGeom prst="rect">
                <a:avLst/>
              </a:prstGeom>
              <a:blipFill rotWithShape="1">
                <a:blip r:embed="rId4"/>
                <a:stretch>
                  <a:fillRect l="-8" t="-40" r="21" b="-9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2132488" y="2774042"/>
                <a:ext cx="9440387" cy="495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则复合函数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), 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的两个偏导数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88" y="2774042"/>
                <a:ext cx="9440387" cy="495300"/>
              </a:xfrm>
              <a:prstGeom prst="rect">
                <a:avLst/>
              </a:prstGeom>
              <a:blipFill rotWithShape="1">
                <a:blip r:embed="rId5"/>
                <a:stretch>
                  <a:fillRect l="-2" t="-73" b="-50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90"/>
          <p:cNvSpPr/>
          <p:nvPr/>
        </p:nvSpPr>
        <p:spPr bwMode="auto">
          <a:xfrm>
            <a:off x="9968647" y="4753613"/>
            <a:ext cx="730250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0" name="Freeform 89"/>
          <p:cNvSpPr/>
          <p:nvPr/>
        </p:nvSpPr>
        <p:spPr bwMode="auto">
          <a:xfrm>
            <a:off x="9054247" y="4774250"/>
            <a:ext cx="730250" cy="360362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1" name="Line 66"/>
          <p:cNvSpPr>
            <a:spLocks noChangeShapeType="1"/>
          </p:cNvSpPr>
          <p:nvPr/>
        </p:nvSpPr>
        <p:spPr bwMode="auto">
          <a:xfrm rot="1080000" flipH="1">
            <a:off x="9095332" y="4718687"/>
            <a:ext cx="255588" cy="48895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Line 70"/>
          <p:cNvSpPr>
            <a:spLocks noChangeShapeType="1"/>
          </p:cNvSpPr>
          <p:nvPr/>
        </p:nvSpPr>
        <p:spPr bwMode="auto">
          <a:xfrm>
            <a:off x="9414420" y="4767900"/>
            <a:ext cx="381000" cy="381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3" name="Freeform 88"/>
          <p:cNvSpPr/>
          <p:nvPr/>
        </p:nvSpPr>
        <p:spPr bwMode="auto">
          <a:xfrm>
            <a:off x="9479697" y="4067813"/>
            <a:ext cx="730250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4" name="Line 74"/>
          <p:cNvSpPr>
            <a:spLocks noChangeShapeType="1"/>
          </p:cNvSpPr>
          <p:nvPr/>
        </p:nvSpPr>
        <p:spPr bwMode="auto">
          <a:xfrm rot="1080000" flipH="1">
            <a:off x="9516505" y="3993201"/>
            <a:ext cx="269875" cy="517525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5" name="Line 69"/>
          <p:cNvSpPr>
            <a:spLocks noChangeShapeType="1"/>
          </p:cNvSpPr>
          <p:nvPr/>
        </p:nvSpPr>
        <p:spPr bwMode="auto">
          <a:xfrm rot="1076418" flipH="1">
            <a:off x="9508204" y="3999602"/>
            <a:ext cx="269875" cy="517525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6" name="Line 73"/>
          <p:cNvSpPr>
            <a:spLocks noChangeShapeType="1"/>
          </p:cNvSpPr>
          <p:nvPr/>
        </p:nvSpPr>
        <p:spPr bwMode="auto">
          <a:xfrm>
            <a:off x="9862579" y="4067812"/>
            <a:ext cx="381000" cy="3810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7" name="Line 71"/>
          <p:cNvSpPr>
            <a:spLocks noChangeShapeType="1"/>
          </p:cNvSpPr>
          <p:nvPr/>
        </p:nvSpPr>
        <p:spPr bwMode="auto">
          <a:xfrm>
            <a:off x="9856600" y="4067812"/>
            <a:ext cx="381000" cy="381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8" name="Rectangle 46"/>
          <p:cNvSpPr>
            <a:spLocks noChangeArrowheads="1"/>
          </p:cNvSpPr>
          <p:nvPr/>
        </p:nvSpPr>
        <p:spPr bwMode="auto">
          <a:xfrm>
            <a:off x="8870097" y="3610612"/>
            <a:ext cx="2044700" cy="205317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2"/>
              <p:cNvSpPr txBox="1"/>
              <p:nvPr/>
            </p:nvSpPr>
            <p:spPr bwMode="auto">
              <a:xfrm>
                <a:off x="2132488" y="3961526"/>
                <a:ext cx="1021793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2488" y="3961526"/>
                <a:ext cx="1021793" cy="900112"/>
              </a:xfrm>
              <a:prstGeom prst="rect">
                <a:avLst/>
              </a:prstGeom>
              <a:blipFill rotWithShape="1">
                <a:blip r:embed="rId6"/>
                <a:stretch>
                  <a:fillRect l="-15" t="-44" r="23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3"/>
              <p:cNvSpPr txBox="1"/>
              <p:nvPr/>
            </p:nvSpPr>
            <p:spPr bwMode="auto">
              <a:xfrm>
                <a:off x="5574568" y="4173421"/>
                <a:ext cx="2896424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74568" y="4173421"/>
                <a:ext cx="2896424" cy="431800"/>
              </a:xfrm>
              <a:prstGeom prst="rect">
                <a:avLst/>
              </a:prstGeom>
              <a:blipFill rotWithShape="1">
                <a:blip r:embed="rId7"/>
                <a:stretch>
                  <a:fillRect l="-19" t="-47" r="3" b="-93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4"/>
              <p:cNvSpPr txBox="1"/>
              <p:nvPr/>
            </p:nvSpPr>
            <p:spPr bwMode="auto">
              <a:xfrm>
                <a:off x="5631718" y="5150077"/>
                <a:ext cx="2615315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1718" y="5150077"/>
                <a:ext cx="2615315" cy="431800"/>
              </a:xfrm>
              <a:prstGeom prst="rect">
                <a:avLst/>
              </a:prstGeom>
              <a:blipFill rotWithShape="1">
                <a:blip r:embed="rId8"/>
                <a:stretch>
                  <a:fillRect l="-21" t="-53" r="11" b="-93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5"/>
              <p:cNvSpPr txBox="1"/>
              <p:nvPr/>
            </p:nvSpPr>
            <p:spPr bwMode="auto">
              <a:xfrm>
                <a:off x="2132488" y="4966753"/>
                <a:ext cx="976402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2488" y="4966753"/>
                <a:ext cx="976402" cy="900113"/>
              </a:xfrm>
              <a:prstGeom prst="rect">
                <a:avLst/>
              </a:prstGeom>
              <a:blipFill rotWithShape="1">
                <a:blip r:embed="rId9"/>
                <a:stretch>
                  <a:fillRect l="-16" t="-46" r="58" b="-25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7"/>
              <p:cNvSpPr txBox="1"/>
              <p:nvPr/>
            </p:nvSpPr>
            <p:spPr bwMode="auto">
              <a:xfrm>
                <a:off x="9689581" y="3586393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89581" y="3586393"/>
                <a:ext cx="381000" cy="381000"/>
              </a:xfrm>
              <a:prstGeom prst="rect">
                <a:avLst/>
              </a:prstGeom>
              <a:blipFill rotWithShape="1">
                <a:blip r:embed="rId10"/>
                <a:stretch>
                  <a:fillRect l="-30" t="-144" r="30" b="-238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5"/>
              <p:cNvSpPr txBox="1"/>
              <p:nvPr/>
            </p:nvSpPr>
            <p:spPr bwMode="auto">
              <a:xfrm>
                <a:off x="9273322" y="4280998"/>
                <a:ext cx="1191389" cy="5172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73322" y="4280998"/>
                <a:ext cx="1191389" cy="517268"/>
              </a:xfrm>
              <a:prstGeom prst="rect">
                <a:avLst/>
              </a:prstGeom>
              <a:blipFill rotWithShape="1">
                <a:blip r:embed="rId11"/>
                <a:stretch>
                  <a:fillRect l="-35" t="-90" r="46" b="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6"/>
              <p:cNvSpPr txBox="1"/>
              <p:nvPr/>
            </p:nvSpPr>
            <p:spPr bwMode="auto">
              <a:xfrm>
                <a:off x="8914547" y="4949668"/>
                <a:ext cx="2044700" cy="4111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14547" y="4949668"/>
                <a:ext cx="2044700" cy="411163"/>
              </a:xfrm>
              <a:prstGeom prst="rect">
                <a:avLst/>
              </a:prstGeom>
              <a:blipFill rotWithShape="1">
                <a:blip r:embed="rId12"/>
                <a:stretch>
                  <a:fillRect l="-20" t="-116" r="20" b="-160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50"/>
              <p:cNvSpPr txBox="1"/>
              <p:nvPr/>
            </p:nvSpPr>
            <p:spPr bwMode="auto">
              <a:xfrm>
                <a:off x="3010082" y="3961526"/>
                <a:ext cx="1308131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0082" y="3961526"/>
                <a:ext cx="1308131" cy="900112"/>
              </a:xfrm>
              <a:prstGeom prst="rect">
                <a:avLst/>
              </a:prstGeom>
              <a:blipFill rotWithShape="1">
                <a:blip r:embed="rId13"/>
                <a:stretch>
                  <a:fillRect l="-14" t="-44" r="16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51"/>
              <p:cNvSpPr txBox="1"/>
              <p:nvPr/>
            </p:nvSpPr>
            <p:spPr bwMode="auto">
              <a:xfrm>
                <a:off x="4150158" y="3961526"/>
                <a:ext cx="1634636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0158" y="3961526"/>
                <a:ext cx="1634636" cy="900112"/>
              </a:xfrm>
              <a:prstGeom prst="rect">
                <a:avLst/>
              </a:prstGeom>
              <a:blipFill rotWithShape="1">
                <a:blip r:embed="rId14"/>
                <a:stretch>
                  <a:fillRect l="-26" t="-44" r="35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52"/>
              <p:cNvSpPr txBox="1"/>
              <p:nvPr/>
            </p:nvSpPr>
            <p:spPr bwMode="auto">
              <a:xfrm>
                <a:off x="3065343" y="4963582"/>
                <a:ext cx="1281923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5343" y="4963582"/>
                <a:ext cx="1281923" cy="900113"/>
              </a:xfrm>
              <a:prstGeom prst="rect">
                <a:avLst/>
              </a:prstGeom>
              <a:blipFill rotWithShape="1">
                <a:blip r:embed="rId15"/>
                <a:stretch>
                  <a:fillRect l="-15" t="-47" r="4" b="-25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53"/>
              <p:cNvSpPr txBox="1"/>
              <p:nvPr/>
            </p:nvSpPr>
            <p:spPr bwMode="auto">
              <a:xfrm>
                <a:off x="4168657" y="4961994"/>
                <a:ext cx="1634636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8657" y="4961994"/>
                <a:ext cx="1634636" cy="900112"/>
              </a:xfrm>
              <a:prstGeom prst="rect">
                <a:avLst/>
              </a:prstGeom>
              <a:blipFill rotWithShape="1">
                <a:blip r:embed="rId16"/>
                <a:stretch>
                  <a:fillRect l="-32" t="-12" r="2" b="-25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ine 68"/>
          <p:cNvSpPr>
            <a:spLocks noChangeShapeType="1"/>
          </p:cNvSpPr>
          <p:nvPr/>
        </p:nvSpPr>
        <p:spPr bwMode="auto">
          <a:xfrm rot="1080000" flipH="1">
            <a:off x="9982746" y="4718687"/>
            <a:ext cx="255587" cy="48895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1" name="Line 72"/>
          <p:cNvSpPr>
            <a:spLocks noChangeShapeType="1"/>
          </p:cNvSpPr>
          <p:nvPr/>
        </p:nvSpPr>
        <p:spPr bwMode="auto">
          <a:xfrm>
            <a:off x="10351045" y="4767900"/>
            <a:ext cx="381000" cy="381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"/>
              <p:cNvSpPr txBox="1">
                <a:spLocks noChangeArrowheads="1"/>
              </p:cNvSpPr>
              <p:nvPr/>
            </p:nvSpPr>
            <p:spPr bwMode="auto">
              <a:xfrm>
                <a:off x="2138599" y="3333191"/>
                <a:ext cx="408248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都存在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且有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链式法则</a:t>
                </a:r>
              </a:p>
            </p:txBody>
          </p:sp>
        </mc:Choice>
        <mc:Fallback xmlns="">
          <p:sp>
            <p:nvSpPr>
              <p:cNvPr id="6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8599" y="3333191"/>
                <a:ext cx="4082486" cy="523220"/>
              </a:xfrm>
              <a:prstGeom prst="rect">
                <a:avLst/>
              </a:prstGeom>
              <a:blipFill rotWithShape="1">
                <a:blip r:embed="rId17"/>
                <a:stretch>
                  <a:fillRect l="-14" t="-15" r="15" b="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组合 62"/>
          <p:cNvGrpSpPr/>
          <p:nvPr/>
        </p:nvGrpSpPr>
        <p:grpSpPr>
          <a:xfrm>
            <a:off x="880215" y="1682362"/>
            <a:ext cx="1238885" cy="449580"/>
            <a:chOff x="1553" y="3802"/>
            <a:chExt cx="1951" cy="708"/>
          </a:xfrm>
        </p:grpSpPr>
        <p:sp>
          <p:nvSpPr>
            <p:cNvPr id="64" name="圆角矩形 3"/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 Box 28"/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图文框 81"/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83" name="矩形 82"/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1"/>
              <p:cNvSpPr txBox="1"/>
              <p:nvPr/>
            </p:nvSpPr>
            <p:spPr bwMode="auto">
              <a:xfrm>
                <a:off x="1854587" y="1906553"/>
                <a:ext cx="2649021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𝜔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4587" y="1906553"/>
                <a:ext cx="2649021" cy="393700"/>
              </a:xfrm>
              <a:prstGeom prst="rect">
                <a:avLst/>
              </a:prstGeom>
              <a:blipFill rotWithShape="1">
                <a:blip r:embed="rId2"/>
                <a:stretch>
                  <a:fillRect l="-15" t="-72" r="7" b="-2186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/>
              <p:cNvSpPr txBox="1"/>
              <p:nvPr/>
            </p:nvSpPr>
            <p:spPr bwMode="auto">
              <a:xfrm>
                <a:off x="1854587" y="2459692"/>
                <a:ext cx="6482324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𝑤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𝜔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4587" y="2459692"/>
                <a:ext cx="6482324" cy="393700"/>
              </a:xfrm>
              <a:prstGeom prst="rect">
                <a:avLst/>
              </a:prstGeom>
              <a:blipFill rotWithShape="1">
                <a:blip r:embed="rId3"/>
                <a:stretch>
                  <a:fillRect l="-6" t="-86" r="10" b="-218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1829860" y="3049123"/>
                <a:ext cx="7334140" cy="495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则复合函数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), 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𝜔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860" y="3049123"/>
                <a:ext cx="7334140" cy="495300"/>
              </a:xfrm>
              <a:prstGeom prst="rect">
                <a:avLst/>
              </a:prstGeom>
              <a:blipFill rotWithShape="1">
                <a:blip r:embed="rId4"/>
                <a:stretch>
                  <a:fillRect l="-6" t="-99" r="4" b="-5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2"/>
              <p:cNvSpPr txBox="1"/>
              <p:nvPr/>
            </p:nvSpPr>
            <p:spPr bwMode="auto">
              <a:xfrm>
                <a:off x="1850204" y="4194815"/>
                <a:ext cx="961548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0204" y="4194815"/>
                <a:ext cx="961548" cy="889000"/>
              </a:xfrm>
              <a:prstGeom prst="rect">
                <a:avLst/>
              </a:prstGeom>
              <a:blipFill rotWithShape="1">
                <a:blip r:embed="rId5"/>
                <a:stretch>
                  <a:fillRect l="-47" t="-1" r="63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3"/>
              <p:cNvSpPr txBox="1"/>
              <p:nvPr/>
            </p:nvSpPr>
            <p:spPr bwMode="auto">
              <a:xfrm>
                <a:off x="6898683" y="4416743"/>
                <a:ext cx="3820276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98683" y="4416743"/>
                <a:ext cx="3820276" cy="431800"/>
              </a:xfrm>
              <a:prstGeom prst="rect">
                <a:avLst/>
              </a:prstGeom>
              <a:blipFill rotWithShape="1">
                <a:blip r:embed="rId6"/>
                <a:stretch>
                  <a:fillRect l="-1" t="-74" r="4" b="-96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4"/>
              <p:cNvSpPr txBox="1"/>
              <p:nvPr/>
            </p:nvSpPr>
            <p:spPr bwMode="auto">
              <a:xfrm>
                <a:off x="6898683" y="5450523"/>
                <a:ext cx="3878586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98683" y="5450523"/>
                <a:ext cx="3878586" cy="431800"/>
              </a:xfrm>
              <a:prstGeom prst="rect">
                <a:avLst/>
              </a:prstGeom>
              <a:blipFill rotWithShape="1">
                <a:blip r:embed="rId7"/>
                <a:stretch>
                  <a:fillRect l="-1" t="-74" r="1" b="-96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5"/>
              <p:cNvSpPr txBox="1"/>
              <p:nvPr/>
            </p:nvSpPr>
            <p:spPr bwMode="auto">
              <a:xfrm>
                <a:off x="1829860" y="5225103"/>
                <a:ext cx="961548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9860" y="5225103"/>
                <a:ext cx="961548" cy="889000"/>
              </a:xfrm>
              <a:prstGeom prst="rect">
                <a:avLst/>
              </a:prstGeom>
              <a:blipFill rotWithShape="1">
                <a:blip r:embed="rId8"/>
                <a:stretch>
                  <a:fillRect l="-44" t="-36" r="61" b="-38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50"/>
              <p:cNvSpPr txBox="1"/>
              <p:nvPr/>
            </p:nvSpPr>
            <p:spPr bwMode="auto">
              <a:xfrm>
                <a:off x="2640012" y="4185290"/>
                <a:ext cx="1392368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0012" y="4185290"/>
                <a:ext cx="1392368" cy="889000"/>
              </a:xfrm>
              <a:prstGeom prst="rect">
                <a:avLst/>
              </a:prstGeom>
              <a:blipFill rotWithShape="1">
                <a:blip r:embed="rId9"/>
                <a:stretch>
                  <a:fillRect l="-23" t="-1" r="9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1"/>
              <p:cNvSpPr txBox="1"/>
              <p:nvPr/>
            </p:nvSpPr>
            <p:spPr bwMode="auto">
              <a:xfrm>
                <a:off x="3778146" y="4187200"/>
                <a:ext cx="1662162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8146" y="4187200"/>
                <a:ext cx="1662162" cy="889000"/>
              </a:xfrm>
              <a:prstGeom prst="rect">
                <a:avLst/>
              </a:prstGeom>
              <a:blipFill rotWithShape="1">
                <a:blip r:embed="rId10"/>
                <a:stretch>
                  <a:fillRect l="-32" t="-1" r="16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52"/>
              <p:cNvSpPr txBox="1"/>
              <p:nvPr/>
            </p:nvSpPr>
            <p:spPr bwMode="auto">
              <a:xfrm>
                <a:off x="2627312" y="5225103"/>
                <a:ext cx="1374234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312" y="5225103"/>
                <a:ext cx="1374234" cy="889000"/>
              </a:xfrm>
              <a:prstGeom prst="rect">
                <a:avLst/>
              </a:prstGeom>
              <a:blipFill rotWithShape="1">
                <a:blip r:embed="rId11"/>
                <a:stretch>
                  <a:fillRect l="-23" t="-36" r="30" b="-38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53"/>
              <p:cNvSpPr txBox="1"/>
              <p:nvPr/>
            </p:nvSpPr>
            <p:spPr bwMode="auto">
              <a:xfrm>
                <a:off x="3794167" y="5230818"/>
                <a:ext cx="1646141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4167" y="5230818"/>
                <a:ext cx="1646141" cy="889000"/>
              </a:xfrm>
              <a:prstGeom prst="rect">
                <a:avLst/>
              </a:prstGeom>
              <a:blipFill rotWithShape="1">
                <a:blip r:embed="rId12"/>
                <a:stretch>
                  <a:fillRect l="-3" t="-36" r="16" b="-38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51"/>
              <p:cNvSpPr txBox="1"/>
              <p:nvPr/>
            </p:nvSpPr>
            <p:spPr bwMode="auto">
              <a:xfrm>
                <a:off x="5218002" y="4186878"/>
                <a:ext cx="1908396" cy="8874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8002" y="4186878"/>
                <a:ext cx="1908396" cy="887412"/>
              </a:xfrm>
              <a:prstGeom prst="rect">
                <a:avLst/>
              </a:prstGeom>
              <a:blipFill rotWithShape="1">
                <a:blip r:embed="rId13"/>
                <a:stretch>
                  <a:fillRect l="-11" t="-36" r="22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51"/>
              <p:cNvSpPr txBox="1"/>
              <p:nvPr/>
            </p:nvSpPr>
            <p:spPr bwMode="auto">
              <a:xfrm>
                <a:off x="5252542" y="5228908"/>
                <a:ext cx="1908396" cy="8874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2542" y="5228908"/>
                <a:ext cx="1908396" cy="887412"/>
              </a:xfrm>
              <a:prstGeom prst="rect">
                <a:avLst/>
              </a:prstGeom>
              <a:blipFill rotWithShape="1">
                <a:blip r:embed="rId14"/>
                <a:stretch>
                  <a:fillRect l="-24" t="-36" r="2" b="-400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844228" y="655451"/>
            <a:ext cx="2303119" cy="6449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类似地推广</a:t>
            </a:r>
            <a:r>
              <a:rPr lang="en-US" altLang="zh-CN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6"/>
              <p:cNvSpPr txBox="1">
                <a:spLocks noChangeArrowheads="1"/>
              </p:cNvSpPr>
              <p:nvPr/>
            </p:nvSpPr>
            <p:spPr bwMode="auto">
              <a:xfrm>
                <a:off x="1829860" y="1400692"/>
                <a:ext cx="76053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设下面所涉及的函数与定理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2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有相类似的条件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 xmlns="">
          <p:sp>
            <p:nvSpPr>
              <p:cNvPr id="1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9860" y="1400692"/>
                <a:ext cx="7605342" cy="523220"/>
              </a:xfrm>
              <a:prstGeom prst="rect">
                <a:avLst/>
              </a:prstGeom>
              <a:blipFill rotWithShape="1">
                <a:blip r:embed="rId15"/>
                <a:stretch>
                  <a:fillRect l="-6" t="-99" r="5" b="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66"/>
          <p:cNvGrpSpPr/>
          <p:nvPr/>
        </p:nvGrpSpPr>
        <p:grpSpPr bwMode="auto">
          <a:xfrm>
            <a:off x="9035413" y="2121375"/>
            <a:ext cx="2312988" cy="1547813"/>
            <a:chOff x="3615" y="2328"/>
            <a:chExt cx="1457" cy="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bject 46"/>
                <p:cNvSpPr txBox="1"/>
                <p:nvPr/>
              </p:nvSpPr>
              <p:spPr bwMode="auto">
                <a:xfrm>
                  <a:off x="3615" y="2655"/>
                  <a:ext cx="225" cy="2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𝑧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Object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15" y="2655"/>
                  <a:ext cx="225" cy="266"/>
                </a:xfrm>
                <a:prstGeom prst="rect">
                  <a:avLst/>
                </a:prstGeom>
                <a:blipFill rotWithShape="1">
                  <a:blip r:embed="rId1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47"/>
                <p:cNvSpPr txBox="1"/>
                <p:nvPr/>
              </p:nvSpPr>
              <p:spPr bwMode="auto">
                <a:xfrm>
                  <a:off x="4207" y="3054"/>
                  <a:ext cx="293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𝑤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" name="Object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7" y="3054"/>
                  <a:ext cx="293" cy="249"/>
                </a:xfrm>
                <a:prstGeom prst="rect">
                  <a:avLst/>
                </a:prstGeom>
                <a:blipFill rotWithShape="1">
                  <a:blip r:embed="rId1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48"/>
                <p:cNvSpPr txBox="1"/>
                <p:nvPr/>
              </p:nvSpPr>
              <p:spPr bwMode="auto">
                <a:xfrm>
                  <a:off x="4217" y="2677"/>
                  <a:ext cx="207" cy="2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" name="Object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7" y="2677"/>
                  <a:ext cx="207" cy="275"/>
                </a:xfrm>
                <a:prstGeom prst="rect">
                  <a:avLst/>
                </a:prstGeom>
                <a:blipFill rotWithShape="1">
                  <a:blip r:embed="rId1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49"/>
                <p:cNvSpPr txBox="1"/>
                <p:nvPr/>
              </p:nvSpPr>
              <p:spPr bwMode="auto">
                <a:xfrm>
                  <a:off x="4219" y="2328"/>
                  <a:ext cx="207" cy="2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𝑢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3" name="Object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9" y="2328"/>
                  <a:ext cx="207" cy="296"/>
                </a:xfrm>
                <a:prstGeom prst="rect">
                  <a:avLst/>
                </a:prstGeom>
                <a:blipFill rotWithShape="1">
                  <a:blip r:embed="rId1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50"/>
                <p:cNvSpPr txBox="1"/>
                <p:nvPr/>
              </p:nvSpPr>
              <p:spPr bwMode="auto">
                <a:xfrm>
                  <a:off x="4834" y="2874"/>
                  <a:ext cx="221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4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34" y="2874"/>
                  <a:ext cx="221" cy="305"/>
                </a:xfrm>
                <a:prstGeom prst="rect">
                  <a:avLst/>
                </a:prstGeom>
                <a:blipFill rotWithShape="1">
                  <a:blip r:embed="rId20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51"/>
                <p:cNvSpPr txBox="1"/>
                <p:nvPr/>
              </p:nvSpPr>
              <p:spPr bwMode="auto">
                <a:xfrm>
                  <a:off x="4853" y="2460"/>
                  <a:ext cx="219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Object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3" y="2460"/>
                  <a:ext cx="219" cy="287"/>
                </a:xfrm>
                <a:prstGeom prst="rect">
                  <a:avLst/>
                </a:prstGeom>
                <a:blipFill rotWithShape="1">
                  <a:blip r:embed="rId2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52"/>
          <p:cNvGrpSpPr/>
          <p:nvPr/>
        </p:nvGrpSpPr>
        <p:grpSpPr bwMode="auto">
          <a:xfrm>
            <a:off x="9400538" y="2346800"/>
            <a:ext cx="1573212" cy="1189038"/>
            <a:chOff x="1755" y="1276"/>
            <a:chExt cx="2423" cy="1829"/>
          </a:xfrm>
        </p:grpSpPr>
        <p:sp>
          <p:nvSpPr>
            <p:cNvPr id="27" name="Line 53"/>
            <p:cNvSpPr>
              <a:spLocks noChangeShapeType="1"/>
            </p:cNvSpPr>
            <p:nvPr/>
          </p:nvSpPr>
          <p:spPr bwMode="auto">
            <a:xfrm flipV="1">
              <a:off x="1755" y="1390"/>
              <a:ext cx="969" cy="572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54"/>
            <p:cNvSpPr>
              <a:spLocks noChangeShapeType="1"/>
            </p:cNvSpPr>
            <p:nvPr/>
          </p:nvSpPr>
          <p:spPr bwMode="auto">
            <a:xfrm>
              <a:off x="3209" y="1276"/>
              <a:ext cx="908" cy="40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55"/>
            <p:cNvSpPr>
              <a:spLocks noChangeShapeType="1"/>
            </p:cNvSpPr>
            <p:nvPr/>
          </p:nvSpPr>
          <p:spPr bwMode="auto">
            <a:xfrm>
              <a:off x="1876" y="2133"/>
              <a:ext cx="788" cy="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56"/>
            <p:cNvSpPr>
              <a:spLocks noChangeShapeType="1"/>
            </p:cNvSpPr>
            <p:nvPr/>
          </p:nvSpPr>
          <p:spPr bwMode="auto">
            <a:xfrm flipV="1">
              <a:off x="3148" y="1790"/>
              <a:ext cx="908" cy="40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57"/>
            <p:cNvSpPr>
              <a:spLocks noChangeShapeType="1"/>
            </p:cNvSpPr>
            <p:nvPr/>
          </p:nvSpPr>
          <p:spPr bwMode="auto">
            <a:xfrm>
              <a:off x="1755" y="2247"/>
              <a:ext cx="909" cy="801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58"/>
            <p:cNvSpPr>
              <a:spLocks noChangeShapeType="1"/>
            </p:cNvSpPr>
            <p:nvPr/>
          </p:nvSpPr>
          <p:spPr bwMode="auto">
            <a:xfrm flipV="1">
              <a:off x="3269" y="1790"/>
              <a:ext cx="909" cy="1315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" name="Group 59"/>
          <p:cNvGrpSpPr/>
          <p:nvPr/>
        </p:nvGrpSpPr>
        <p:grpSpPr bwMode="auto">
          <a:xfrm>
            <a:off x="9413238" y="2453163"/>
            <a:ext cx="1560512" cy="1122362"/>
            <a:chOff x="1776" y="1440"/>
            <a:chExt cx="2402" cy="1728"/>
          </a:xfrm>
        </p:grpSpPr>
        <p:sp>
          <p:nvSpPr>
            <p:cNvPr id="34" name="Line 60"/>
            <p:cNvSpPr>
              <a:spLocks noChangeShapeType="1"/>
            </p:cNvSpPr>
            <p:nvPr/>
          </p:nvSpPr>
          <p:spPr bwMode="auto">
            <a:xfrm>
              <a:off x="3216" y="1440"/>
              <a:ext cx="962" cy="1265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61"/>
            <p:cNvSpPr>
              <a:spLocks noChangeShapeType="1"/>
            </p:cNvSpPr>
            <p:nvPr/>
          </p:nvSpPr>
          <p:spPr bwMode="auto">
            <a:xfrm>
              <a:off x="3148" y="2190"/>
              <a:ext cx="969" cy="515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62"/>
            <p:cNvSpPr>
              <a:spLocks noChangeShapeType="1"/>
            </p:cNvSpPr>
            <p:nvPr/>
          </p:nvSpPr>
          <p:spPr bwMode="auto">
            <a:xfrm flipV="1">
              <a:off x="3269" y="2762"/>
              <a:ext cx="848" cy="343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63"/>
            <p:cNvSpPr>
              <a:spLocks noChangeShapeType="1"/>
            </p:cNvSpPr>
            <p:nvPr/>
          </p:nvSpPr>
          <p:spPr bwMode="auto">
            <a:xfrm flipV="1">
              <a:off x="1920" y="1536"/>
              <a:ext cx="816" cy="480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64"/>
            <p:cNvSpPr>
              <a:spLocks noChangeShapeType="1"/>
            </p:cNvSpPr>
            <p:nvPr/>
          </p:nvSpPr>
          <p:spPr bwMode="auto">
            <a:xfrm>
              <a:off x="1920" y="2208"/>
              <a:ext cx="672" cy="0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65"/>
            <p:cNvSpPr>
              <a:spLocks noChangeShapeType="1"/>
            </p:cNvSpPr>
            <p:nvPr/>
          </p:nvSpPr>
          <p:spPr bwMode="auto">
            <a:xfrm>
              <a:off x="1776" y="2400"/>
              <a:ext cx="864" cy="768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8" name="Text Box 4"/>
          <p:cNvSpPr txBox="1">
            <a:spLocks noChangeArrowheads="1"/>
          </p:cNvSpPr>
          <p:nvPr/>
        </p:nvSpPr>
        <p:spPr bwMode="auto">
          <a:xfrm>
            <a:off x="1850204" y="3652545"/>
            <a:ext cx="34975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求偏导数的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链式法则</a:t>
            </a:r>
          </a:p>
        </p:txBody>
      </p:sp>
      <p:grpSp>
        <p:nvGrpSpPr>
          <p:cNvPr id="79" name="组合 78"/>
          <p:cNvGrpSpPr/>
          <p:nvPr/>
        </p:nvGrpSpPr>
        <p:grpSpPr>
          <a:xfrm>
            <a:off x="938487" y="1451258"/>
            <a:ext cx="962025" cy="448945"/>
            <a:chOff x="1553" y="3803"/>
            <a:chExt cx="1515" cy="707"/>
          </a:xfrm>
        </p:grpSpPr>
        <p:sp>
          <p:nvSpPr>
            <p:cNvPr id="80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Text Box 28"/>
            <p:cNvSpPr txBox="1">
              <a:spLocks noChangeArrowheads="1"/>
            </p:cNvSpPr>
            <p:nvPr/>
          </p:nvSpPr>
          <p:spPr bwMode="auto">
            <a:xfrm>
              <a:off x="1630" y="3911"/>
              <a:ext cx="1438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  <a:defRPr/>
              </a:pPr>
              <a:r>
                <a:rPr kumimoji="1" lang="zh-CN" altLang="en-US" sz="28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例如</a:t>
              </a:r>
              <a:r>
                <a:rPr kumimoji="1" lang="en-US" altLang="zh-CN" sz="28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,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7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0" name="Rectangle 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圆角矩形 2"/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228600" y="236182"/>
              <a:ext cx="11771970" cy="6421275"/>
              <a:chOff x="228600" y="236182"/>
              <a:chExt cx="11771970" cy="6421275"/>
            </a:xfrm>
          </p:grpSpPr>
          <p:sp>
            <p:nvSpPr>
              <p:cNvPr id="83" name="Rectangle 1"/>
              <p:cNvSpPr/>
              <p:nvPr/>
            </p:nvSpPr>
            <p:spPr>
              <a:xfrm>
                <a:off x="364173" y="6462830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Rectangle 1"/>
              <p:cNvSpPr/>
              <p:nvPr/>
            </p:nvSpPr>
            <p:spPr>
              <a:xfrm rot="2659048">
                <a:off x="8838055" y="320052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543503" y="6349680"/>
                <a:ext cx="285687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第四节 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多元复合函数的求导法则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9055533" y="236182"/>
                <a:ext cx="294503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第九章   多元函数微分法及其应用</a:t>
                </a:r>
              </a:p>
            </p:txBody>
          </p:sp>
          <p:cxnSp>
            <p:nvCxnSpPr>
              <p:cNvPr id="87" name="直接连接符 86"/>
              <p:cNvCxnSpPr/>
              <p:nvPr/>
            </p:nvCxnSpPr>
            <p:spPr>
              <a:xfrm>
                <a:off x="228600" y="390070"/>
                <a:ext cx="8388000" cy="0"/>
              </a:xfrm>
              <a:prstGeom prst="line">
                <a:avLst/>
              </a:prstGeom>
              <a:ln>
                <a:solidFill>
                  <a:srgbClr val="04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3524250" y="6503568"/>
                <a:ext cx="841764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" name="直接连接符 1"/>
          <p:cNvCxnSpPr/>
          <p:nvPr/>
        </p:nvCxnSpPr>
        <p:spPr>
          <a:xfrm>
            <a:off x="10656001" y="4668615"/>
            <a:ext cx="0" cy="3667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7"/>
          <p:cNvSpPr txBox="1">
            <a:spLocks noChangeArrowheads="1"/>
          </p:cNvSpPr>
          <p:nvPr/>
        </p:nvSpPr>
        <p:spPr>
          <a:xfrm>
            <a:off x="961413" y="800689"/>
            <a:ext cx="2752725" cy="6915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三、其他</a:t>
            </a: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情形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1"/>
              <p:cNvSpPr txBox="1"/>
              <p:nvPr/>
            </p:nvSpPr>
            <p:spPr bwMode="auto">
              <a:xfrm>
                <a:off x="5450798" y="2080781"/>
                <a:ext cx="5850911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在对应点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具有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0798" y="2080781"/>
                <a:ext cx="5850911" cy="431800"/>
              </a:xfrm>
              <a:prstGeom prst="rect">
                <a:avLst/>
              </a:prstGeom>
              <a:blipFill rotWithShape="1">
                <a:blip r:embed="rId2"/>
                <a:stretch>
                  <a:fillRect l="-10" t="-121" r="10" b="-110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2288609" y="1492503"/>
                <a:ext cx="9071072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若函数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具有对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及对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的偏导数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函数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8609" y="1492503"/>
                <a:ext cx="9071072" cy="444500"/>
              </a:xfrm>
              <a:prstGeom prst="rect">
                <a:avLst/>
              </a:prstGeom>
              <a:blipFill rotWithShape="1">
                <a:blip r:embed="rId3"/>
                <a:stretch>
                  <a:fillRect l="-1" t="-57" r="2" b="-43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4218717" y="2653334"/>
                <a:ext cx="7621587" cy="495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则复合函数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717" y="2653334"/>
                <a:ext cx="7621587" cy="495300"/>
              </a:xfrm>
              <a:prstGeom prst="rect">
                <a:avLst/>
              </a:prstGeom>
              <a:blipFill rotWithShape="1">
                <a:blip r:embed="rId4"/>
                <a:stretch>
                  <a:fillRect l="-5" t="-61" r="1" b="-5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2"/>
              <p:cNvSpPr txBox="1"/>
              <p:nvPr/>
            </p:nvSpPr>
            <p:spPr bwMode="auto">
              <a:xfrm>
                <a:off x="2290423" y="3875440"/>
                <a:ext cx="1015706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0423" y="3875440"/>
                <a:ext cx="1015706" cy="900112"/>
              </a:xfrm>
              <a:prstGeom prst="rect">
                <a:avLst/>
              </a:prstGeom>
              <a:blipFill rotWithShape="1">
                <a:blip r:embed="rId5"/>
                <a:stretch>
                  <a:fillRect l="-60" t="-4" r="31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3"/>
              <p:cNvSpPr txBox="1"/>
              <p:nvPr/>
            </p:nvSpPr>
            <p:spPr bwMode="auto">
              <a:xfrm>
                <a:off x="4335571" y="4106599"/>
                <a:ext cx="1496144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5571" y="4106599"/>
                <a:ext cx="1496144" cy="431800"/>
              </a:xfrm>
              <a:prstGeom prst="rect">
                <a:avLst/>
              </a:prstGeom>
              <a:blipFill rotWithShape="1">
                <a:blip r:embed="rId6"/>
                <a:stretch>
                  <a:fillRect l="-28" t="-13" r="34" b="-93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4"/>
              <p:cNvSpPr txBox="1"/>
              <p:nvPr/>
            </p:nvSpPr>
            <p:spPr bwMode="auto">
              <a:xfrm>
                <a:off x="5804891" y="5218624"/>
                <a:ext cx="2783139" cy="6084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4891" y="5218624"/>
                <a:ext cx="2783139" cy="608423"/>
              </a:xfrm>
              <a:prstGeom prst="rect">
                <a:avLst/>
              </a:prstGeom>
              <a:blipFill rotWithShape="1">
                <a:blip r:embed="rId7"/>
                <a:stretch>
                  <a:fillRect l="-13" t="-32" r="10" b="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5"/>
              <p:cNvSpPr txBox="1"/>
              <p:nvPr/>
            </p:nvSpPr>
            <p:spPr bwMode="auto">
              <a:xfrm>
                <a:off x="2285342" y="4989865"/>
                <a:ext cx="1015706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5342" y="4989865"/>
                <a:ext cx="1015706" cy="900113"/>
              </a:xfrm>
              <a:prstGeom prst="rect">
                <a:avLst/>
              </a:prstGeom>
              <a:blipFill rotWithShape="1">
                <a:blip r:embed="rId8"/>
                <a:stretch>
                  <a:fillRect l="-60" t="-4" r="31" b="-25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50"/>
              <p:cNvSpPr txBox="1"/>
              <p:nvPr/>
            </p:nvSpPr>
            <p:spPr bwMode="auto">
              <a:xfrm>
                <a:off x="3162514" y="3881790"/>
                <a:ext cx="1304924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2514" y="3881790"/>
                <a:ext cx="1304924" cy="900112"/>
              </a:xfrm>
              <a:prstGeom prst="rect">
                <a:avLst/>
              </a:prstGeom>
              <a:blipFill rotWithShape="1">
                <a:blip r:embed="rId9"/>
                <a:stretch>
                  <a:fillRect l="-16" t="-4" r="16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52"/>
              <p:cNvSpPr txBox="1"/>
              <p:nvPr/>
            </p:nvSpPr>
            <p:spPr bwMode="auto">
              <a:xfrm>
                <a:off x="3167936" y="4989426"/>
                <a:ext cx="1330325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7936" y="4989426"/>
                <a:ext cx="1330325" cy="900113"/>
              </a:xfrm>
              <a:prstGeom prst="rect">
                <a:avLst/>
              </a:prstGeom>
              <a:blipFill rotWithShape="1">
                <a:blip r:embed="rId10"/>
                <a:stretch>
                  <a:fillRect l="-42" t="-26" r="42" b="-25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53"/>
              <p:cNvSpPr txBox="1"/>
              <p:nvPr/>
            </p:nvSpPr>
            <p:spPr bwMode="auto">
              <a:xfrm>
                <a:off x="4323523" y="4991877"/>
                <a:ext cx="1654187" cy="8874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3523" y="4991877"/>
                <a:ext cx="1654187" cy="887412"/>
              </a:xfrm>
              <a:prstGeom prst="rect">
                <a:avLst/>
              </a:prstGeom>
              <a:blipFill rotWithShape="1">
                <a:blip r:embed="rId11"/>
                <a:stretch>
                  <a:fillRect l="-27" t="-16" r="28" b="-40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Line 68"/>
          <p:cNvSpPr>
            <a:spLocks noChangeShapeType="1"/>
          </p:cNvSpPr>
          <p:nvPr/>
        </p:nvSpPr>
        <p:spPr bwMode="auto">
          <a:xfrm rot="1080000">
            <a:off x="10586142" y="4681678"/>
            <a:ext cx="129733" cy="376923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25"/>
              <p:cNvSpPr txBox="1"/>
              <p:nvPr/>
            </p:nvSpPr>
            <p:spPr>
              <a:xfrm>
                <a:off x="2288609" y="2082711"/>
                <a:ext cx="4025901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可导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对象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609" y="2082711"/>
                <a:ext cx="4025901" cy="431800"/>
              </a:xfrm>
              <a:prstGeom prst="rect">
                <a:avLst/>
              </a:prstGeom>
              <a:blipFill rotWithShape="1">
                <a:blip r:embed="rId12"/>
                <a:stretch>
                  <a:fillRect l="-2" t="-126" r="2" b="-6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26"/>
              <p:cNvSpPr txBox="1"/>
              <p:nvPr/>
            </p:nvSpPr>
            <p:spPr>
              <a:xfrm>
                <a:off x="2288609" y="2660219"/>
                <a:ext cx="2104413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连续偏导数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对象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609" y="2660219"/>
                <a:ext cx="2104413" cy="406400"/>
              </a:xfrm>
              <a:prstGeom prst="rect">
                <a:avLst/>
              </a:prstGeom>
              <a:blipFill rotWithShape="1">
                <a:blip r:embed="rId13"/>
                <a:stretch>
                  <a:fillRect l="-3" t="-50" r="4" b="-19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组合 59"/>
          <p:cNvGrpSpPr/>
          <p:nvPr/>
        </p:nvGrpSpPr>
        <p:grpSpPr>
          <a:xfrm>
            <a:off x="1062332" y="1531873"/>
            <a:ext cx="1238885" cy="449580"/>
            <a:chOff x="1553" y="3802"/>
            <a:chExt cx="1951" cy="708"/>
          </a:xfrm>
        </p:grpSpPr>
        <p:sp>
          <p:nvSpPr>
            <p:cNvPr id="61" name="圆角矩形 3"/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Text Box 28"/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 </a:t>
              </a:r>
            </a:p>
          </p:txBody>
        </p:sp>
      </p:grpSp>
      <p:sp>
        <p:nvSpPr>
          <p:cNvPr id="64" name="Freeform 89"/>
          <p:cNvSpPr/>
          <p:nvPr/>
        </p:nvSpPr>
        <p:spPr bwMode="auto">
          <a:xfrm>
            <a:off x="9461249" y="4675452"/>
            <a:ext cx="730250" cy="360362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5" name="Line 66"/>
          <p:cNvSpPr>
            <a:spLocks noChangeShapeType="1"/>
          </p:cNvSpPr>
          <p:nvPr/>
        </p:nvSpPr>
        <p:spPr bwMode="auto">
          <a:xfrm rot="1080000" flipH="1">
            <a:off x="9506289" y="4619889"/>
            <a:ext cx="255588" cy="48895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6" name="Line 70"/>
          <p:cNvSpPr>
            <a:spLocks noChangeShapeType="1"/>
          </p:cNvSpPr>
          <p:nvPr/>
        </p:nvSpPr>
        <p:spPr bwMode="auto">
          <a:xfrm>
            <a:off x="9825377" y="4669102"/>
            <a:ext cx="381000" cy="381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7" name="Freeform 88"/>
          <p:cNvSpPr/>
          <p:nvPr/>
        </p:nvSpPr>
        <p:spPr bwMode="auto">
          <a:xfrm>
            <a:off x="9886699" y="3969015"/>
            <a:ext cx="730250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8" name="Line 74"/>
          <p:cNvSpPr>
            <a:spLocks noChangeShapeType="1"/>
          </p:cNvSpPr>
          <p:nvPr/>
        </p:nvSpPr>
        <p:spPr bwMode="auto">
          <a:xfrm rot="1080000" flipH="1">
            <a:off x="9935384" y="3894403"/>
            <a:ext cx="269875" cy="517525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9" name="Line 69"/>
          <p:cNvSpPr>
            <a:spLocks noChangeShapeType="1"/>
          </p:cNvSpPr>
          <p:nvPr/>
        </p:nvSpPr>
        <p:spPr bwMode="auto">
          <a:xfrm rot="1076418" flipH="1">
            <a:off x="9919161" y="3900804"/>
            <a:ext cx="269875" cy="517525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71" name="Line 71"/>
          <p:cNvSpPr>
            <a:spLocks noChangeShapeType="1"/>
          </p:cNvSpPr>
          <p:nvPr/>
        </p:nvSpPr>
        <p:spPr bwMode="auto">
          <a:xfrm>
            <a:off x="10267557" y="3969014"/>
            <a:ext cx="381000" cy="381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72" name="Rectangle 46"/>
          <p:cNvSpPr>
            <a:spLocks noChangeArrowheads="1"/>
          </p:cNvSpPr>
          <p:nvPr/>
        </p:nvSpPr>
        <p:spPr bwMode="auto">
          <a:xfrm>
            <a:off x="9235056" y="3511814"/>
            <a:ext cx="1790481" cy="205317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bject 17"/>
              <p:cNvSpPr txBox="1"/>
              <p:nvPr/>
            </p:nvSpPr>
            <p:spPr bwMode="auto">
              <a:xfrm>
                <a:off x="10096583" y="348759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96583" y="3487595"/>
                <a:ext cx="381000" cy="381000"/>
              </a:xfrm>
              <a:prstGeom prst="rect">
                <a:avLst/>
              </a:prstGeom>
              <a:blipFill rotWithShape="1">
                <a:blip r:embed="rId14"/>
                <a:stretch>
                  <a:fillRect l="-22" t="-46" r="22" b="-239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25"/>
              <p:cNvSpPr txBox="1"/>
              <p:nvPr/>
            </p:nvSpPr>
            <p:spPr bwMode="auto">
              <a:xfrm>
                <a:off x="9680324" y="4182200"/>
                <a:ext cx="1050925" cy="409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4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80324" y="4182200"/>
                <a:ext cx="1050925" cy="409575"/>
              </a:xfrm>
              <a:prstGeom prst="rect">
                <a:avLst/>
              </a:prstGeom>
              <a:blipFill rotWithShape="1">
                <a:blip r:embed="rId15"/>
                <a:stretch>
                  <a:fillRect l="-37" t="-22" r="-2924" b="-97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bject 26"/>
              <p:cNvSpPr txBox="1"/>
              <p:nvPr/>
            </p:nvSpPr>
            <p:spPr bwMode="auto">
              <a:xfrm>
                <a:off x="9321549" y="4850870"/>
                <a:ext cx="1649960" cy="5883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  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5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21549" y="4850870"/>
                <a:ext cx="1649960" cy="588331"/>
              </a:xfrm>
              <a:prstGeom prst="rect">
                <a:avLst/>
              </a:prstGeom>
              <a:blipFill rotWithShape="1">
                <a:blip r:embed="rId16"/>
                <a:stretch>
                  <a:fillRect l="-23" t="-18" r="37" b="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Box 4"/>
              <p:cNvSpPr txBox="1">
                <a:spLocks noChangeArrowheads="1"/>
              </p:cNvSpPr>
              <p:nvPr/>
            </p:nvSpPr>
            <p:spPr bwMode="auto">
              <a:xfrm>
                <a:off x="2288609" y="3212327"/>
                <a:ext cx="543895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两个偏导数都存在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且有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链式法则</a:t>
                </a:r>
              </a:p>
            </p:txBody>
          </p:sp>
        </mc:Choice>
        <mc:Fallback xmlns="">
          <p:sp>
            <p:nvSpPr>
              <p:cNvPr id="7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8609" y="3212327"/>
                <a:ext cx="5438955" cy="523220"/>
              </a:xfrm>
              <a:prstGeom prst="rect">
                <a:avLst/>
              </a:prstGeom>
              <a:blipFill rotWithShape="1">
                <a:blip r:embed="rId17"/>
                <a:stretch>
                  <a:fillRect l="-1" t="-95" r="5" b="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16" grpId="0"/>
      <p:bldP spid="17" grpId="0"/>
      <p:bldP spid="18" grpId="0"/>
      <p:bldP spid="19" grpId="0"/>
      <p:bldP spid="22" grpId="0"/>
      <p:bldP spid="23" grpId="0"/>
      <p:bldP spid="24" grpId="0"/>
      <p:bldP spid="25" grpId="0" animBg="1"/>
      <p:bldP spid="26" grpId="0"/>
      <p:bldP spid="27" grpId="0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1" grpId="0" animBg="1"/>
      <p:bldP spid="72" grpId="0" animBg="1"/>
      <p:bldP spid="73" grpId="0"/>
      <p:bldP spid="74" grpId="0"/>
      <p:bldP spid="75" grpId="0"/>
      <p:bldP spid="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图文框 94"/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96" name="矩形 95"/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1759875" y="800366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特殊地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7"/>
              <p:cNvSpPr txBox="1"/>
              <p:nvPr/>
            </p:nvSpPr>
            <p:spPr bwMode="auto">
              <a:xfrm>
                <a:off x="2893350" y="762587"/>
                <a:ext cx="2295525" cy="404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3350" y="762587"/>
                <a:ext cx="2295525" cy="404812"/>
              </a:xfrm>
              <a:prstGeom prst="rect">
                <a:avLst/>
              </a:prstGeom>
              <a:blipFill rotWithShape="1">
                <a:blip r:embed="rId2"/>
                <a:stretch>
                  <a:fillRect l="-13" t="-145" r="13" b="-165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"/>
              <p:cNvSpPr txBox="1"/>
              <p:nvPr/>
            </p:nvSpPr>
            <p:spPr bwMode="auto">
              <a:xfrm>
                <a:off x="5736555" y="767838"/>
                <a:ext cx="202565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6555" y="767838"/>
                <a:ext cx="2025650" cy="393700"/>
              </a:xfrm>
              <a:prstGeom prst="rect">
                <a:avLst/>
              </a:prstGeom>
              <a:blipFill rotWithShape="1">
                <a:blip r:embed="rId3"/>
                <a:stretch>
                  <a:fillRect l="-30" t="-31" r="30" b="-199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1759875" y="1422666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"/>
              <p:cNvSpPr txBox="1"/>
              <p:nvPr/>
            </p:nvSpPr>
            <p:spPr bwMode="auto">
              <a:xfrm>
                <a:off x="2220184" y="1398696"/>
                <a:ext cx="3316047" cy="392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[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],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0184" y="1398696"/>
                <a:ext cx="3316047" cy="392113"/>
              </a:xfrm>
              <a:prstGeom prst="rect">
                <a:avLst/>
              </a:prstGeom>
              <a:blipFill rotWithShape="1">
                <a:blip r:embed="rId4"/>
                <a:stretch>
                  <a:fillRect l="-7" t="-109" r="9" b="-205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1"/>
              <p:cNvSpPr txBox="1"/>
              <p:nvPr/>
            </p:nvSpPr>
            <p:spPr bwMode="auto">
              <a:xfrm>
                <a:off x="1964869" y="3186038"/>
                <a:ext cx="3366674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4869" y="3186038"/>
                <a:ext cx="3366674" cy="838200"/>
              </a:xfrm>
              <a:prstGeom prst="rect">
                <a:avLst/>
              </a:prstGeom>
              <a:blipFill rotWithShape="1">
                <a:blip r:embed="rId5"/>
                <a:stretch>
                  <a:fillRect l="-5" t="-29" r="2" b="-14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2"/>
              <p:cNvSpPr txBox="1"/>
              <p:nvPr/>
            </p:nvSpPr>
            <p:spPr bwMode="auto">
              <a:xfrm>
                <a:off x="5444815" y="3180004"/>
                <a:ext cx="3173083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4815" y="3180004"/>
                <a:ext cx="3173083" cy="914400"/>
              </a:xfrm>
              <a:prstGeom prst="rect">
                <a:avLst/>
              </a:prstGeom>
              <a:blipFill rotWithShape="1">
                <a:blip r:embed="rId6"/>
                <a:stretch>
                  <a:fillRect l="-10" t="-61" r="10" b="-9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5188875" y="1416315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4"/>
              <p:cNvSpPr txBox="1"/>
              <p:nvPr/>
            </p:nvSpPr>
            <p:spPr bwMode="auto">
              <a:xfrm>
                <a:off x="5643526" y="1399771"/>
                <a:ext cx="1140493" cy="457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43526" y="1399771"/>
                <a:ext cx="1140493" cy="457199"/>
              </a:xfrm>
              <a:prstGeom prst="rect">
                <a:avLst/>
              </a:prstGeom>
              <a:blipFill rotWithShape="1">
                <a:blip r:embed="rId7"/>
                <a:stretch>
                  <a:fillRect l="-25" t="-51" r="28" b="-32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5"/>
              <p:cNvSpPr txBox="1"/>
              <p:nvPr/>
            </p:nvSpPr>
            <p:spPr bwMode="auto">
              <a:xfrm>
                <a:off x="6633932" y="1395599"/>
                <a:ext cx="122061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𝑤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3932" y="1395599"/>
                <a:ext cx="1220611" cy="519113"/>
              </a:xfrm>
              <a:prstGeom prst="rect">
                <a:avLst/>
              </a:prstGeom>
              <a:blipFill rotWithShape="1">
                <a:blip r:embed="rId8"/>
                <a:stretch>
                  <a:fillRect l="-7" t="-97" r="19" b="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4987615" y="800366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7"/>
              <p:cNvSpPr txBox="1"/>
              <p:nvPr/>
            </p:nvSpPr>
            <p:spPr bwMode="auto">
              <a:xfrm>
                <a:off x="2224556" y="1982130"/>
                <a:ext cx="1523999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4556" y="1982130"/>
                <a:ext cx="1523999" cy="889000"/>
              </a:xfrm>
              <a:prstGeom prst="rect">
                <a:avLst/>
              </a:prstGeom>
              <a:blipFill rotWithShape="1">
                <a:blip r:embed="rId9"/>
                <a:stretch>
                  <a:fillRect l="-10" t="-33" r="10" b="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8"/>
              <p:cNvSpPr txBox="1"/>
              <p:nvPr/>
            </p:nvSpPr>
            <p:spPr bwMode="auto">
              <a:xfrm>
                <a:off x="3458892" y="1982130"/>
                <a:ext cx="1648045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8892" y="1982130"/>
                <a:ext cx="1648045" cy="889000"/>
              </a:xfrm>
              <a:prstGeom prst="rect">
                <a:avLst/>
              </a:prstGeom>
              <a:blipFill rotWithShape="1">
                <a:blip r:embed="rId10"/>
                <a:stretch>
                  <a:fillRect l="-3" t="-33" r="16" b="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9"/>
              <p:cNvSpPr txBox="1"/>
              <p:nvPr/>
            </p:nvSpPr>
            <p:spPr bwMode="auto">
              <a:xfrm>
                <a:off x="4804274" y="1980860"/>
                <a:ext cx="154172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4274" y="1980860"/>
                <a:ext cx="1541720" cy="965200"/>
              </a:xfrm>
              <a:prstGeom prst="rect">
                <a:avLst/>
              </a:prstGeom>
              <a:blipFill rotWithShape="1">
                <a:blip r:embed="rId11"/>
                <a:stretch>
                  <a:fillRect l="-32" t="-31" r="28" b="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0"/>
              <p:cNvSpPr txBox="1"/>
              <p:nvPr/>
            </p:nvSpPr>
            <p:spPr bwMode="auto">
              <a:xfrm>
                <a:off x="6034331" y="1982130"/>
                <a:ext cx="154172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4331" y="1982130"/>
                <a:ext cx="1541720" cy="914400"/>
              </a:xfrm>
              <a:prstGeom prst="rect">
                <a:avLst/>
              </a:prstGeom>
              <a:blipFill rotWithShape="1">
                <a:blip r:embed="rId12"/>
                <a:stretch>
                  <a:fillRect l="-36" t="-32" r="32" b="-9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25"/>
          <p:cNvSpPr>
            <a:spLocks noChangeArrowheads="1"/>
          </p:cNvSpPr>
          <p:nvPr/>
        </p:nvSpPr>
        <p:spPr bwMode="auto">
          <a:xfrm>
            <a:off x="1912275" y="3098724"/>
            <a:ext cx="609600" cy="1143000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26"/>
          <p:cNvSpPr>
            <a:spLocks noChangeArrowheads="1"/>
          </p:cNvSpPr>
          <p:nvPr/>
        </p:nvSpPr>
        <p:spPr bwMode="auto">
          <a:xfrm>
            <a:off x="4333799" y="3098724"/>
            <a:ext cx="565150" cy="1143000"/>
          </a:xfrm>
          <a:prstGeom prst="rect">
            <a:avLst/>
          </a:prstGeom>
          <a:noFill/>
          <a:ln w="38100">
            <a:solidFill>
              <a:srgbClr val="4A7BA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27"/>
          <p:cNvSpPr>
            <a:spLocks noChangeShapeType="1"/>
          </p:cNvSpPr>
          <p:nvPr/>
        </p:nvSpPr>
        <p:spPr bwMode="auto">
          <a:xfrm>
            <a:off x="2521875" y="4241724"/>
            <a:ext cx="0" cy="60960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2" name="AutoShape 33"/>
          <p:cNvCxnSpPr>
            <a:cxnSpLocks noChangeShapeType="1"/>
          </p:cNvCxnSpPr>
          <p:nvPr/>
        </p:nvCxnSpPr>
        <p:spPr bwMode="auto">
          <a:xfrm rot="16200000" flipH="1">
            <a:off x="5402394" y="3585293"/>
            <a:ext cx="138112" cy="1479550"/>
          </a:xfrm>
          <a:prstGeom prst="bentConnector2">
            <a:avLst/>
          </a:prstGeom>
          <a:noFill/>
          <a:ln w="38100">
            <a:solidFill>
              <a:srgbClr val="4A7BA8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 Box 34"/>
          <p:cNvSpPr txBox="1">
            <a:spLocks noChangeArrowheads="1"/>
          </p:cNvSpPr>
          <p:nvPr/>
        </p:nvSpPr>
        <p:spPr bwMode="auto">
          <a:xfrm>
            <a:off x="2606406" y="4297075"/>
            <a:ext cx="1981200" cy="519113"/>
          </a:xfrm>
          <a:prstGeom prst="rect">
            <a:avLst/>
          </a:prstGeom>
          <a:solidFill>
            <a:srgbClr val="04926A">
              <a:alpha val="20000"/>
            </a:srgbClr>
          </a:solidFill>
          <a:ln w="19050">
            <a:solidFill>
              <a:srgbClr val="04926A"/>
            </a:solidFill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两者的区别</a:t>
            </a:r>
          </a:p>
        </p:txBody>
      </p:sp>
      <p:grpSp>
        <p:nvGrpSpPr>
          <p:cNvPr id="24" name="Group 37"/>
          <p:cNvGrpSpPr/>
          <p:nvPr/>
        </p:nvGrpSpPr>
        <p:grpSpPr bwMode="auto">
          <a:xfrm>
            <a:off x="5469855" y="3111424"/>
            <a:ext cx="2901952" cy="1143000"/>
            <a:chOff x="3030" y="1872"/>
            <a:chExt cx="1828" cy="720"/>
          </a:xfrm>
        </p:grpSpPr>
        <p:sp>
          <p:nvSpPr>
            <p:cNvPr id="25" name="Rectangle 35"/>
            <p:cNvSpPr>
              <a:spLocks noChangeArrowheads="1"/>
            </p:cNvSpPr>
            <p:nvPr/>
          </p:nvSpPr>
          <p:spPr bwMode="auto">
            <a:xfrm>
              <a:off x="3030" y="1872"/>
              <a:ext cx="336" cy="720"/>
            </a:xfrm>
            <a:prstGeom prst="rect">
              <a:avLst/>
            </a:prstGeom>
            <a:noFill/>
            <a:ln w="38100">
              <a:solidFill>
                <a:srgbClr val="04926A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Rectangle 36"/>
            <p:cNvSpPr>
              <a:spLocks noChangeArrowheads="1"/>
            </p:cNvSpPr>
            <p:nvPr/>
          </p:nvSpPr>
          <p:spPr bwMode="auto">
            <a:xfrm>
              <a:off x="4522" y="1872"/>
              <a:ext cx="336" cy="720"/>
            </a:xfrm>
            <a:prstGeom prst="rect">
              <a:avLst/>
            </a:prstGeom>
            <a:noFill/>
            <a:ln w="38100">
              <a:solidFill>
                <a:srgbClr val="04926A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" name="Text Box 38"/>
          <p:cNvSpPr txBox="1">
            <a:spLocks noChangeArrowheads="1"/>
          </p:cNvSpPr>
          <p:nvPr/>
        </p:nvSpPr>
        <p:spPr bwMode="auto">
          <a:xfrm>
            <a:off x="8384734" y="2819324"/>
            <a:ext cx="615553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区别类似</a:t>
            </a:r>
          </a:p>
        </p:txBody>
      </p:sp>
      <p:sp>
        <p:nvSpPr>
          <p:cNvPr id="29" name="Freeform 89"/>
          <p:cNvSpPr/>
          <p:nvPr/>
        </p:nvSpPr>
        <p:spPr bwMode="auto">
          <a:xfrm>
            <a:off x="9267261" y="2005817"/>
            <a:ext cx="730250" cy="360362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0" name="Line 66"/>
          <p:cNvSpPr>
            <a:spLocks noChangeShapeType="1"/>
          </p:cNvSpPr>
          <p:nvPr/>
        </p:nvSpPr>
        <p:spPr bwMode="auto">
          <a:xfrm rot="1080000" flipH="1">
            <a:off x="9311711" y="1950254"/>
            <a:ext cx="255588" cy="488950"/>
          </a:xfrm>
          <a:prstGeom prst="line">
            <a:avLst/>
          </a:prstGeom>
          <a:noFill/>
          <a:ln w="28575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1" name="Line 70"/>
          <p:cNvSpPr>
            <a:spLocks noChangeShapeType="1"/>
          </p:cNvSpPr>
          <p:nvPr/>
        </p:nvSpPr>
        <p:spPr bwMode="auto">
          <a:xfrm>
            <a:off x="9630799" y="1999467"/>
            <a:ext cx="381000" cy="381000"/>
          </a:xfrm>
          <a:prstGeom prst="line">
            <a:avLst/>
          </a:prstGeom>
          <a:noFill/>
          <a:ln w="28575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2" name="Line 74"/>
          <p:cNvSpPr>
            <a:spLocks noChangeShapeType="1"/>
          </p:cNvSpPr>
          <p:nvPr/>
        </p:nvSpPr>
        <p:spPr bwMode="auto">
          <a:xfrm rot="1080000" flipH="1">
            <a:off x="9752542" y="1270973"/>
            <a:ext cx="351542" cy="483168"/>
          </a:xfrm>
          <a:prstGeom prst="line">
            <a:avLst/>
          </a:prstGeom>
          <a:noFill/>
          <a:ln w="28575">
            <a:solidFill>
              <a:srgbClr val="4A7BA8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3" name="Line 71"/>
          <p:cNvSpPr>
            <a:spLocks noChangeShapeType="1"/>
          </p:cNvSpPr>
          <p:nvPr/>
        </p:nvSpPr>
        <p:spPr bwMode="auto">
          <a:xfrm>
            <a:off x="10174849" y="1351511"/>
            <a:ext cx="486000" cy="345544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4" name="Rectangle 46"/>
          <p:cNvSpPr>
            <a:spLocks noChangeArrowheads="1"/>
          </p:cNvSpPr>
          <p:nvPr/>
        </p:nvSpPr>
        <p:spPr bwMode="auto">
          <a:xfrm>
            <a:off x="9013214" y="932128"/>
            <a:ext cx="2133600" cy="198120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17"/>
              <p:cNvSpPr txBox="1"/>
              <p:nvPr/>
            </p:nvSpPr>
            <p:spPr bwMode="auto">
              <a:xfrm>
                <a:off x="10011799" y="896103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11799" y="896103"/>
                <a:ext cx="381000" cy="381000"/>
              </a:xfrm>
              <a:prstGeom prst="rect">
                <a:avLst/>
              </a:prstGeom>
              <a:blipFill rotWithShape="1">
                <a:blip r:embed="rId13"/>
                <a:stretch>
                  <a:fillRect l="-102" t="-31" r="102" b="-239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25"/>
              <p:cNvSpPr txBox="1"/>
              <p:nvPr/>
            </p:nvSpPr>
            <p:spPr bwMode="auto">
              <a:xfrm>
                <a:off x="9429139" y="1486673"/>
                <a:ext cx="1386617" cy="5257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9139" y="1486673"/>
                <a:ext cx="1386617" cy="525776"/>
              </a:xfrm>
              <a:prstGeom prst="rect">
                <a:avLst/>
              </a:prstGeom>
              <a:blipFill rotWithShape="1">
                <a:blip r:embed="rId14"/>
                <a:stretch>
                  <a:fillRect l="-2" t="-26" r="-564" b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对象 36"/>
              <p:cNvSpPr txBox="1"/>
              <p:nvPr/>
            </p:nvSpPr>
            <p:spPr>
              <a:xfrm>
                <a:off x="9169701" y="2221717"/>
                <a:ext cx="885360" cy="67154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对象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701" y="2221717"/>
                <a:ext cx="885360" cy="671544"/>
              </a:xfrm>
              <a:prstGeom prst="rect">
                <a:avLst/>
              </a:prstGeom>
              <a:blipFill rotWithShape="1">
                <a:blip r:embed="rId15"/>
                <a:stretch>
                  <a:fillRect l="-34" t="-73" r="53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ine 71"/>
          <p:cNvSpPr>
            <a:spLocks noChangeShapeType="1"/>
          </p:cNvSpPr>
          <p:nvPr/>
        </p:nvSpPr>
        <p:spPr bwMode="auto">
          <a:xfrm flipH="1">
            <a:off x="10170136" y="1346127"/>
            <a:ext cx="2380" cy="350928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9688849" y="1339395"/>
            <a:ext cx="972000" cy="360363"/>
            <a:chOff x="9780259" y="246052"/>
            <a:chExt cx="609600" cy="360363"/>
          </a:xfrm>
        </p:grpSpPr>
        <p:sp>
          <p:nvSpPr>
            <p:cNvPr id="40" name="Freeform 88"/>
            <p:cNvSpPr/>
            <p:nvPr/>
          </p:nvSpPr>
          <p:spPr bwMode="auto">
            <a:xfrm>
              <a:off x="9780259" y="246052"/>
              <a:ext cx="609600" cy="360363"/>
            </a:xfrm>
            <a:custGeom>
              <a:avLst/>
              <a:gdLst>
                <a:gd name="T0" fmla="*/ 0 w 1152"/>
                <a:gd name="T1" fmla="*/ 576 h 576"/>
                <a:gd name="T2" fmla="*/ 576 w 1152"/>
                <a:gd name="T3" fmla="*/ 0 h 576"/>
                <a:gd name="T4" fmla="*/ 1152 w 1152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2" h="576">
                  <a:moveTo>
                    <a:pt x="0" y="576"/>
                  </a:moveTo>
                  <a:lnTo>
                    <a:pt x="576" y="0"/>
                  </a:lnTo>
                  <a:lnTo>
                    <a:pt x="1152" y="57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cxnSp>
          <p:nvCxnSpPr>
            <p:cNvPr id="41" name="直接连接符 40"/>
            <p:cNvCxnSpPr>
              <a:stCxn id="40" idx="1"/>
            </p:cNvCxnSpPr>
            <p:nvPr/>
          </p:nvCxnSpPr>
          <p:spPr>
            <a:xfrm>
              <a:off x="10085059" y="246052"/>
              <a:ext cx="0" cy="36036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/>
          <p:cNvGrpSpPr/>
          <p:nvPr/>
        </p:nvGrpSpPr>
        <p:grpSpPr>
          <a:xfrm>
            <a:off x="1033160" y="762587"/>
            <a:ext cx="612775" cy="612775"/>
            <a:chOff x="1601" y="872"/>
            <a:chExt cx="965" cy="965"/>
          </a:xfrm>
        </p:grpSpPr>
        <p:sp>
          <p:nvSpPr>
            <p:cNvPr id="71" name="椭圆 70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72" name="文本框 71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73" name="椭圆 72"/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Box 6"/>
              <p:cNvSpPr txBox="1">
                <a:spLocks noChangeArrowheads="1"/>
              </p:cNvSpPr>
              <p:nvPr/>
            </p:nvSpPr>
            <p:spPr bwMode="auto">
              <a:xfrm>
                <a:off x="1073151" y="4898872"/>
                <a:ext cx="5106324" cy="1150443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  <a:miter lim="800000"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把复合函数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𝑓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[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𝜑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),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]</m:t>
                    </m:r>
                  </m:oMath>
                </a14:m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中的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看作不变而对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的偏导数</a:t>
                </a:r>
              </a:p>
            </p:txBody>
          </p:sp>
        </mc:Choice>
        <mc:Fallback xmlns="">
          <p:sp>
            <p:nvSpPr>
              <p:cNvPr id="7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3151" y="4898872"/>
                <a:ext cx="5106324" cy="1150443"/>
              </a:xfrm>
              <a:prstGeom prst="rect">
                <a:avLst/>
              </a:prstGeom>
              <a:blipFill rotWithShape="1">
                <a:blip r:embed="rId16"/>
                <a:stretch>
                  <a:fillRect l="-373" t="-1698" r="-367" b="-1629"/>
                </a:stretch>
              </a:blipFill>
              <a:ln w="38100">
                <a:solidFill>
                  <a:srgbClr val="00B0F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 Box 6"/>
              <p:cNvSpPr txBox="1">
                <a:spLocks noChangeArrowheads="1"/>
              </p:cNvSpPr>
              <p:nvPr/>
            </p:nvSpPr>
            <p:spPr bwMode="auto">
              <a:xfrm>
                <a:off x="6288480" y="4338719"/>
                <a:ext cx="3071420" cy="1710596"/>
              </a:xfrm>
              <a:prstGeom prst="rect">
                <a:avLst/>
              </a:prstGeom>
              <a:noFill/>
              <a:ln w="38100">
                <a:solidFill>
                  <a:srgbClr val="4A7BA8"/>
                </a:solidFill>
                <a:miter lim="800000"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把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en-US" altLang="zh-CN" sz="2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𝑓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𝑢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中的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𝑢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及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看作不变而对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的偏导数</a:t>
                </a:r>
              </a:p>
            </p:txBody>
          </p:sp>
        </mc:Choice>
        <mc:Fallback xmlns="">
          <p:sp>
            <p:nvSpPr>
              <p:cNvPr id="75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88480" y="4338719"/>
                <a:ext cx="3071420" cy="1710596"/>
              </a:xfrm>
              <a:prstGeom prst="rect">
                <a:avLst/>
              </a:prstGeom>
              <a:blipFill rotWithShape="1">
                <a:blip r:embed="rId17"/>
                <a:stretch>
                  <a:fillRect l="-623" t="-1137" r="-620" b="-1096"/>
                </a:stretch>
              </a:blipFill>
              <a:ln w="38100">
                <a:solidFill>
                  <a:srgbClr val="4A7BA8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3" grpId="0" animBg="1"/>
      <p:bldP spid="27" grpId="0"/>
      <p:bldP spid="35" grpId="0"/>
      <p:bldP spid="36" grpId="0"/>
      <p:bldP spid="37" grpId="0"/>
      <p:bldP spid="74" grpId="0" animBg="1"/>
      <p:bldP spid="7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111250" y="670560"/>
            <a:ext cx="9970770" cy="5509895"/>
            <a:chOff x="1649" y="2344"/>
            <a:chExt cx="16057" cy="7346"/>
          </a:xfrm>
        </p:grpSpPr>
        <p:sp>
          <p:nvSpPr>
            <p:cNvPr id="6" name="矩形 5"/>
            <p:cNvSpPr/>
            <p:nvPr/>
          </p:nvSpPr>
          <p:spPr>
            <a:xfrm>
              <a:off x="1821" y="2483"/>
              <a:ext cx="15885" cy="72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649" y="2344"/>
              <a:ext cx="15885" cy="720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spcBef>
                  <a:spcPct val="50000"/>
                </a:spcBef>
              </a:pP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7550088" y="2197893"/>
            <a:ext cx="1870137" cy="2462213"/>
          </a:xfrm>
          <a:prstGeom prst="rect">
            <a:avLst/>
          </a:prstGeom>
          <a:solidFill>
            <a:srgbClr val="04926A">
              <a:alpha val="20000"/>
            </a:srgbClr>
          </a:solidFill>
          <a:ln>
            <a:solidFill>
              <a:srgbClr val="04926A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分段用乘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,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分叉用加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,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单路全导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,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叉路偏导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sym typeface="+mn-lt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2737891" y="2944344"/>
            <a:ext cx="4533900" cy="965220"/>
          </a:xfrm>
          <a:prstGeom prst="rightArrow">
            <a:avLst/>
          </a:prstGeom>
          <a:solidFill>
            <a:srgbClr val="04926A">
              <a:alpha val="20000"/>
            </a:srgbClr>
          </a:solidFill>
          <a:ln>
            <a:solidFill>
              <a:srgbClr val="0492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多元复合函数求导的口诀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7" name="矩形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2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半闭框 97"/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9" name="半闭框 9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0" name="半闭框 9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01" name="半闭框 100"/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33563" y="1042561"/>
            <a:ext cx="1676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1 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 bwMode="auto">
              <a:xfrm>
                <a:off x="3018174" y="1042561"/>
                <a:ext cx="5595938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8174" y="1042561"/>
                <a:ext cx="5595938" cy="508000"/>
              </a:xfrm>
              <a:prstGeom prst="rect">
                <a:avLst/>
              </a:prstGeom>
              <a:blipFill rotWithShape="1">
                <a:blip r:embed="rId3"/>
                <a:stretch>
                  <a:fillRect t="-104" r="6" b="1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"/>
              <p:cNvSpPr txBox="1"/>
              <p:nvPr/>
            </p:nvSpPr>
            <p:spPr bwMode="auto">
              <a:xfrm>
                <a:off x="8370907" y="823292"/>
                <a:ext cx="1981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求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70907" y="823292"/>
                <a:ext cx="1981200" cy="927100"/>
              </a:xfrm>
              <a:prstGeom prst="rect">
                <a:avLst/>
              </a:prstGeom>
              <a:blipFill rotWithShape="1">
                <a:blip r:embed="rId4"/>
                <a:stretch>
                  <a:fillRect l="-17" t="-36" r="17" b="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833563" y="2088197"/>
            <a:ext cx="914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/>
              <p:cNvSpPr txBox="1"/>
              <p:nvPr/>
            </p:nvSpPr>
            <p:spPr bwMode="auto">
              <a:xfrm>
                <a:off x="2638425" y="1976041"/>
                <a:ext cx="431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8425" y="1976041"/>
                <a:ext cx="431800" cy="927100"/>
              </a:xfrm>
              <a:prstGeom prst="rect">
                <a:avLst/>
              </a:prstGeom>
              <a:blipFill rotWithShape="1">
                <a:blip r:embed="rId5"/>
                <a:stretch>
                  <a:fillRect t="-60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9"/>
              <p:cNvSpPr txBox="1"/>
              <p:nvPr/>
            </p:nvSpPr>
            <p:spPr bwMode="auto">
              <a:xfrm>
                <a:off x="3171825" y="2854722"/>
                <a:ext cx="1349375" cy="439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1825" y="2854722"/>
                <a:ext cx="1349375" cy="439737"/>
              </a:xfrm>
              <a:prstGeom prst="rect">
                <a:avLst/>
              </a:prstGeom>
              <a:blipFill rotWithShape="1">
                <a:blip r:embed="rId6"/>
                <a:stretch>
                  <a:fillRect t="-90" b="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0"/>
              <p:cNvSpPr txBox="1"/>
              <p:nvPr/>
            </p:nvSpPr>
            <p:spPr bwMode="auto">
              <a:xfrm>
                <a:off x="3171825" y="3366722"/>
                <a:ext cx="47879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[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)].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1825" y="3366722"/>
                <a:ext cx="4787900" cy="469900"/>
              </a:xfrm>
              <a:prstGeom prst="rect">
                <a:avLst/>
              </a:prstGeom>
              <a:blipFill rotWithShape="1">
                <a:blip r:embed="rId7"/>
                <a:stretch>
                  <a:fillRect t="-125" b="1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4"/>
              <p:cNvSpPr txBox="1"/>
              <p:nvPr/>
            </p:nvSpPr>
            <p:spPr bwMode="auto">
              <a:xfrm>
                <a:off x="2639676" y="4043999"/>
                <a:ext cx="457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9676" y="4043999"/>
                <a:ext cx="457200" cy="927100"/>
              </a:xfrm>
              <a:prstGeom prst="rect">
                <a:avLst/>
              </a:prstGeom>
              <a:blipFill rotWithShape="1">
                <a:blip r:embed="rId8"/>
                <a:stretch>
                  <a:fillRect l="-135" t="-34" r="135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5"/>
              <p:cNvSpPr txBox="1"/>
              <p:nvPr/>
            </p:nvSpPr>
            <p:spPr bwMode="auto">
              <a:xfrm>
                <a:off x="3179445" y="5496879"/>
                <a:ext cx="452945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[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)].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9445" y="5496879"/>
                <a:ext cx="4529455" cy="469900"/>
              </a:xfrm>
              <a:prstGeom prst="rect">
                <a:avLst/>
              </a:prstGeom>
              <a:blipFill rotWithShape="1">
                <a:blip r:embed="rId9"/>
                <a:stretch>
                  <a:fillRect t="-68" b="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6"/>
              <p:cNvSpPr txBox="1"/>
              <p:nvPr/>
            </p:nvSpPr>
            <p:spPr bwMode="auto">
              <a:xfrm>
                <a:off x="3176251" y="4966336"/>
                <a:ext cx="13716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6251" y="4966336"/>
                <a:ext cx="1371600" cy="444500"/>
              </a:xfrm>
              <a:prstGeom prst="rect">
                <a:avLst/>
              </a:prstGeom>
              <a:blipFill rotWithShape="1">
                <a:blip r:embed="rId10"/>
                <a:stretch>
                  <a:fillRect l="-45" r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8"/>
              <p:cNvSpPr txBox="1"/>
              <p:nvPr/>
            </p:nvSpPr>
            <p:spPr bwMode="auto">
              <a:xfrm>
                <a:off x="3175001" y="1988742"/>
                <a:ext cx="1409699" cy="9239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5001" y="1988742"/>
                <a:ext cx="1409699" cy="923925"/>
              </a:xfrm>
              <a:prstGeom prst="rect">
                <a:avLst/>
              </a:prstGeom>
              <a:blipFill rotWithShape="1">
                <a:blip r:embed="rId11"/>
                <a:stretch>
                  <a:fillRect t="-60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9"/>
              <p:cNvSpPr txBox="1"/>
              <p:nvPr/>
            </p:nvSpPr>
            <p:spPr bwMode="auto">
              <a:xfrm>
                <a:off x="4546600" y="2001441"/>
                <a:ext cx="1786294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6600" y="2001441"/>
                <a:ext cx="1786294" cy="927100"/>
              </a:xfrm>
              <a:prstGeom prst="rect">
                <a:avLst/>
              </a:prstGeom>
              <a:blipFill rotWithShape="1">
                <a:blip r:embed="rId12"/>
                <a:stretch>
                  <a:fillRect t="-60" r="2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0"/>
              <p:cNvSpPr txBox="1"/>
              <p:nvPr/>
            </p:nvSpPr>
            <p:spPr bwMode="auto">
              <a:xfrm>
                <a:off x="4730749" y="2864883"/>
                <a:ext cx="14097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0749" y="2864883"/>
                <a:ext cx="1409700" cy="444500"/>
              </a:xfrm>
              <a:prstGeom prst="rect">
                <a:avLst/>
              </a:prstGeom>
              <a:blipFill rotWithShape="1">
                <a:blip r:embed="rId13"/>
                <a:stretch>
                  <a:fillRect l="-45" t="-90" r="45" b="9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1"/>
              <p:cNvSpPr txBox="1"/>
              <p:nvPr/>
            </p:nvSpPr>
            <p:spPr bwMode="auto">
              <a:xfrm>
                <a:off x="3173076" y="4036061"/>
                <a:ext cx="1320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3076" y="4036061"/>
                <a:ext cx="1320800" cy="927100"/>
              </a:xfrm>
              <a:prstGeom prst="rect">
                <a:avLst/>
              </a:prstGeom>
              <a:blipFill rotWithShape="1">
                <a:blip r:embed="rId14"/>
                <a:stretch>
                  <a:fillRect l="-47" r="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2"/>
              <p:cNvSpPr txBox="1"/>
              <p:nvPr/>
            </p:nvSpPr>
            <p:spPr bwMode="auto">
              <a:xfrm>
                <a:off x="4522451" y="4043999"/>
                <a:ext cx="12954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2451" y="4043999"/>
                <a:ext cx="1295400" cy="927100"/>
              </a:xfrm>
              <a:prstGeom prst="rect">
                <a:avLst/>
              </a:prstGeom>
              <a:blipFill rotWithShape="1">
                <a:blip r:embed="rId15"/>
                <a:stretch>
                  <a:fillRect l="-48" t="-34" r="48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33"/>
              <p:cNvSpPr txBox="1"/>
              <p:nvPr/>
            </p:nvSpPr>
            <p:spPr bwMode="auto">
              <a:xfrm>
                <a:off x="4719301" y="4963161"/>
                <a:ext cx="14097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9301" y="4963161"/>
                <a:ext cx="1409700" cy="444500"/>
              </a:xfrm>
              <a:prstGeom prst="rect">
                <a:avLst/>
              </a:prstGeom>
              <a:blipFill rotWithShape="1">
                <a:blip r:embed="rId13"/>
                <a:stretch>
                  <a:fillRect l="-44" r="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6"/>
              <p:cNvSpPr txBox="1"/>
              <p:nvPr/>
            </p:nvSpPr>
            <p:spPr bwMode="auto">
              <a:xfrm>
                <a:off x="4392255" y="2852500"/>
                <a:ext cx="495300" cy="428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2255" y="2852500"/>
                <a:ext cx="495300" cy="428625"/>
              </a:xfrm>
              <a:prstGeom prst="rect">
                <a:avLst/>
              </a:prstGeom>
              <a:blipFill rotWithShape="1">
                <a:blip r:embed="rId16"/>
                <a:stretch>
                  <a:fillRect l="-120" t="-19" r="120" b="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7"/>
              <p:cNvSpPr txBox="1"/>
              <p:nvPr/>
            </p:nvSpPr>
            <p:spPr bwMode="auto">
              <a:xfrm>
                <a:off x="5918199" y="2858851"/>
                <a:ext cx="381000" cy="4286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⋅1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18199" y="2858851"/>
                <a:ext cx="381000" cy="428624"/>
              </a:xfrm>
              <a:prstGeom prst="rect">
                <a:avLst/>
              </a:prstGeom>
              <a:blipFill rotWithShape="1">
                <a:blip r:embed="rId17"/>
                <a:stretch>
                  <a:fillRect l="-166" t="-19" r="-1667" b="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8"/>
              <p:cNvSpPr txBox="1"/>
              <p:nvPr/>
            </p:nvSpPr>
            <p:spPr bwMode="auto">
              <a:xfrm>
                <a:off x="4381163" y="4954908"/>
                <a:ext cx="461963" cy="3635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163" y="4954908"/>
                <a:ext cx="461963" cy="363538"/>
              </a:xfrm>
              <a:prstGeom prst="rect">
                <a:avLst/>
              </a:prstGeom>
              <a:blipFill rotWithShape="1">
                <a:blip r:embed="rId18"/>
                <a:stretch>
                  <a:fillRect l="-65" t="-1" r="133" b="-480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9"/>
              <p:cNvSpPr txBox="1"/>
              <p:nvPr/>
            </p:nvSpPr>
            <p:spPr bwMode="auto">
              <a:xfrm>
                <a:off x="5936913" y="4954908"/>
                <a:ext cx="363538" cy="428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⋅1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6913" y="4954908"/>
                <a:ext cx="363538" cy="428625"/>
              </a:xfrm>
              <a:prstGeom prst="rect">
                <a:avLst/>
              </a:prstGeom>
              <a:blipFill rotWithShape="1">
                <a:blip r:embed="rId19"/>
                <a:stretch>
                  <a:fillRect l="-82" t="-1" r="-6643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42"/>
          <p:cNvSpPr>
            <a:spLocks noChangeArrowheads="1"/>
          </p:cNvSpPr>
          <p:nvPr/>
        </p:nvSpPr>
        <p:spPr bwMode="auto">
          <a:xfrm>
            <a:off x="8378844" y="2611417"/>
            <a:ext cx="1786294" cy="2075351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003300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3"/>
              <p:cNvSpPr txBox="1"/>
              <p:nvPr/>
            </p:nvSpPr>
            <p:spPr bwMode="auto">
              <a:xfrm>
                <a:off x="9104331" y="2692806"/>
                <a:ext cx="215900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04331" y="2692806"/>
                <a:ext cx="215900" cy="215900"/>
              </a:xfrm>
              <a:prstGeom prst="rect">
                <a:avLst/>
              </a:prstGeom>
              <a:blipFill rotWithShape="1">
                <a:blip r:embed="rId20"/>
                <a:stretch>
                  <a:fillRect l="-156" t="-188" r="-4844" b="-762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44"/>
              <p:cNvSpPr txBox="1"/>
              <p:nvPr/>
            </p:nvSpPr>
            <p:spPr bwMode="auto">
              <a:xfrm>
                <a:off x="8747143" y="3328952"/>
                <a:ext cx="9525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   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47143" y="3328952"/>
                <a:ext cx="952500" cy="317500"/>
              </a:xfrm>
              <a:prstGeom prst="rect">
                <a:avLst/>
              </a:prstGeom>
              <a:blipFill rotWithShape="1">
                <a:blip r:embed="rId21"/>
                <a:stretch>
                  <a:fillRect l="-2" t="-89" r="2" b="-143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45"/>
              <p:cNvSpPr txBox="1"/>
              <p:nvPr/>
            </p:nvSpPr>
            <p:spPr bwMode="auto">
              <a:xfrm>
                <a:off x="8490921" y="4019783"/>
                <a:ext cx="16129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 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90921" y="4019783"/>
                <a:ext cx="1612900" cy="317500"/>
              </a:xfrm>
              <a:prstGeom prst="rect">
                <a:avLst/>
              </a:prstGeom>
              <a:blipFill rotWithShape="1">
                <a:blip r:embed="rId22"/>
                <a:stretch>
                  <a:fillRect l="-21" t="-73" r="21" b="-199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 63"/>
          <p:cNvSpPr/>
          <p:nvPr/>
        </p:nvSpPr>
        <p:spPr bwMode="auto">
          <a:xfrm>
            <a:off x="8885621" y="3100519"/>
            <a:ext cx="730250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7" name="Freeform 64"/>
          <p:cNvSpPr/>
          <p:nvPr/>
        </p:nvSpPr>
        <p:spPr bwMode="auto">
          <a:xfrm>
            <a:off x="8632463" y="3786319"/>
            <a:ext cx="576262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8" name="Freeform 65"/>
          <p:cNvSpPr/>
          <p:nvPr/>
        </p:nvSpPr>
        <p:spPr bwMode="auto">
          <a:xfrm>
            <a:off x="9338535" y="3786319"/>
            <a:ext cx="576262" cy="360363"/>
          </a:xfrm>
          <a:custGeom>
            <a:avLst/>
            <a:gdLst>
              <a:gd name="T0" fmla="*/ 0 w 1152"/>
              <a:gd name="T1" fmla="*/ 576 h 576"/>
              <a:gd name="T2" fmla="*/ 576 w 1152"/>
              <a:gd name="T3" fmla="*/ 0 h 576"/>
              <a:gd name="T4" fmla="*/ 1152 w 1152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576">
                <a:moveTo>
                  <a:pt x="0" y="576"/>
                </a:moveTo>
                <a:lnTo>
                  <a:pt x="576" y="0"/>
                </a:lnTo>
                <a:lnTo>
                  <a:pt x="1152" y="576"/>
                </a:lnTo>
              </a:path>
            </a:pathLst>
          </a:cu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9" name="矩形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2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半闭框 69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半闭框 70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半闭框 71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73" name="半闭框 72"/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8338783" y="2517184"/>
            <a:ext cx="1828800" cy="213360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628225" y="1102405"/>
            <a:ext cx="1219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2515281" y="1027316"/>
                <a:ext cx="6400799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81" y="1027316"/>
                <a:ext cx="6400799" cy="584200"/>
              </a:xfrm>
              <a:prstGeom prst="rect">
                <a:avLst/>
              </a:prstGeom>
              <a:blipFill rotWithShape="1">
                <a:blip r:embed="rId3"/>
                <a:stretch>
                  <a:fillRect l="-1" t="-89" r="1" b="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/>
              <p:cNvSpPr txBox="1"/>
              <p:nvPr/>
            </p:nvSpPr>
            <p:spPr bwMode="auto">
              <a:xfrm>
                <a:off x="8720816" y="876343"/>
                <a:ext cx="1944559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求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20816" y="876343"/>
                <a:ext cx="1944559" cy="914400"/>
              </a:xfrm>
              <a:prstGeom prst="rect">
                <a:avLst/>
              </a:prstGeom>
              <a:blipFill rotWithShape="1">
                <a:blip r:embed="rId4"/>
                <a:stretch>
                  <a:fillRect l="-19" t="-5" r="28" b="-9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628225" y="2005688"/>
            <a:ext cx="800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/>
              <p:cNvSpPr txBox="1"/>
              <p:nvPr/>
            </p:nvSpPr>
            <p:spPr bwMode="auto">
              <a:xfrm>
                <a:off x="2448484" y="1865832"/>
                <a:ext cx="431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8484" y="1865832"/>
                <a:ext cx="431800" cy="927100"/>
              </a:xfrm>
              <a:prstGeom prst="rect">
                <a:avLst/>
              </a:prstGeom>
              <a:blipFill rotWithShape="1">
                <a:blip r:embed="rId5"/>
                <a:stretch>
                  <a:fillRect l="-129" t="-22" r="129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/>
              <p:cNvSpPr txBox="1"/>
              <p:nvPr/>
            </p:nvSpPr>
            <p:spPr bwMode="auto">
              <a:xfrm>
                <a:off x="2862942" y="2785945"/>
                <a:ext cx="2098675" cy="587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2942" y="2785945"/>
                <a:ext cx="2098675" cy="587375"/>
              </a:xfrm>
              <a:prstGeom prst="rect">
                <a:avLst/>
              </a:prstGeom>
              <a:blipFill rotWithShape="1">
                <a:blip r:embed="rId6"/>
                <a:stretch>
                  <a:fillRect l="-17" t="-34" r="17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/>
              <p:cNvSpPr txBox="1"/>
              <p:nvPr/>
            </p:nvSpPr>
            <p:spPr bwMode="auto">
              <a:xfrm>
                <a:off x="2862942" y="3333633"/>
                <a:ext cx="48133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=2​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(1+2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sup>
                          </m:sSup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</m:func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2942" y="3333633"/>
                <a:ext cx="4813300" cy="520700"/>
              </a:xfrm>
              <a:prstGeom prst="rect">
                <a:avLst/>
              </a:prstGeom>
              <a:blipFill rotWithShape="1">
                <a:blip r:embed="rId7"/>
                <a:stretch>
                  <a:fillRect l="-8" t="-99" r="8" b="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1"/>
              <p:cNvSpPr txBox="1"/>
              <p:nvPr/>
            </p:nvSpPr>
            <p:spPr bwMode="auto">
              <a:xfrm>
                <a:off x="8524522" y="3280454"/>
                <a:ext cx="1252537" cy="446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4522" y="3280454"/>
                <a:ext cx="1252537" cy="446088"/>
              </a:xfrm>
              <a:prstGeom prst="rect">
                <a:avLst/>
              </a:prstGeom>
              <a:blipFill rotWithShape="1">
                <a:blip r:embed="rId8"/>
                <a:stretch>
                  <a:fillRect l="-23" t="-10" r="48" b="-70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22"/>
          <p:cNvGrpSpPr/>
          <p:nvPr/>
        </p:nvGrpSpPr>
        <p:grpSpPr bwMode="auto">
          <a:xfrm>
            <a:off x="9329383" y="3777659"/>
            <a:ext cx="609600" cy="381000"/>
            <a:chOff x="4848" y="1344"/>
            <a:chExt cx="384" cy="240"/>
          </a:xfrm>
        </p:grpSpPr>
        <p:sp>
          <p:nvSpPr>
            <p:cNvPr id="12" name="Line 13"/>
            <p:cNvSpPr>
              <a:spLocks noChangeShapeType="1"/>
            </p:cNvSpPr>
            <p:nvPr/>
          </p:nvSpPr>
          <p:spPr bwMode="auto">
            <a:xfrm flipH="1">
              <a:off x="4848" y="1344"/>
              <a:ext cx="144" cy="240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4992" y="1344"/>
              <a:ext cx="240" cy="240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5"/>
              <p:cNvSpPr txBox="1"/>
              <p:nvPr/>
            </p:nvSpPr>
            <p:spPr bwMode="auto">
              <a:xfrm>
                <a:off x="9176983" y="3976097"/>
                <a:ext cx="9906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76983" y="3976097"/>
                <a:ext cx="990600" cy="457200"/>
              </a:xfrm>
              <a:prstGeom prst="rect">
                <a:avLst/>
              </a:prstGeom>
              <a:blipFill rotWithShape="1">
                <a:blip r:embed="rId9"/>
                <a:stretch>
                  <a:fillRect l="-60" t="-79" r="60" b="-32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6"/>
              <p:cNvSpPr txBox="1"/>
              <p:nvPr/>
            </p:nvSpPr>
            <p:spPr bwMode="auto">
              <a:xfrm>
                <a:off x="8911870" y="2459240"/>
                <a:ext cx="341313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11870" y="2459240"/>
                <a:ext cx="341313" cy="381000"/>
              </a:xfrm>
              <a:prstGeom prst="rect">
                <a:avLst/>
              </a:prstGeom>
              <a:blipFill rotWithShape="1">
                <a:blip r:embed="rId10"/>
                <a:stretch>
                  <a:fillRect l="-82" t="-136" r="175" b="-2386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21"/>
          <p:cNvGrpSpPr/>
          <p:nvPr/>
        </p:nvGrpSpPr>
        <p:grpSpPr bwMode="auto">
          <a:xfrm>
            <a:off x="8719783" y="2939459"/>
            <a:ext cx="838200" cy="457200"/>
            <a:chOff x="4464" y="864"/>
            <a:chExt cx="528" cy="288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4464" y="864"/>
              <a:ext cx="240" cy="288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4704" y="864"/>
              <a:ext cx="288" cy="288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9" name="Line 20"/>
            <p:cNvSpPr>
              <a:spLocks noChangeShapeType="1"/>
            </p:cNvSpPr>
            <p:nvPr/>
          </p:nvSpPr>
          <p:spPr bwMode="auto">
            <a:xfrm>
              <a:off x="4704" y="864"/>
              <a:ext cx="0" cy="288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4"/>
              <p:cNvSpPr txBox="1"/>
              <p:nvPr/>
            </p:nvSpPr>
            <p:spPr bwMode="auto">
              <a:xfrm>
                <a:off x="2416299" y="3976865"/>
                <a:ext cx="457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6299" y="3976865"/>
                <a:ext cx="457200" cy="927100"/>
              </a:xfrm>
              <a:prstGeom prst="rect">
                <a:avLst/>
              </a:prstGeom>
              <a:blipFill rotWithShape="1">
                <a:blip r:embed="rId11"/>
                <a:stretch>
                  <a:fillRect l="-27" t="-53" r="27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5"/>
              <p:cNvSpPr txBox="1"/>
              <p:nvPr/>
            </p:nvSpPr>
            <p:spPr bwMode="auto">
              <a:xfrm>
                <a:off x="2859211" y="4856976"/>
                <a:ext cx="2124075" cy="593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9211" y="4856976"/>
                <a:ext cx="2124075" cy="593725"/>
              </a:xfrm>
              <a:prstGeom prst="rect">
                <a:avLst/>
              </a:prstGeom>
              <a:blipFill rotWithShape="1">
                <a:blip r:embed="rId12"/>
                <a:stretch>
                  <a:fillRect l="-21" t="-84" r="21" b="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6"/>
              <p:cNvSpPr txBox="1"/>
              <p:nvPr/>
            </p:nvSpPr>
            <p:spPr bwMode="auto">
              <a:xfrm>
                <a:off x="2859211" y="5364339"/>
                <a:ext cx="5051425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=2​(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sup>
                          </m:sSup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</m:func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9211" y="5364339"/>
                <a:ext cx="5051425" cy="520700"/>
              </a:xfrm>
              <a:prstGeom prst="rect">
                <a:avLst/>
              </a:prstGeom>
              <a:blipFill rotWithShape="1">
                <a:blip r:embed="rId13"/>
                <a:stretch>
                  <a:fillRect l="-9" t="-95" r="9" b="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7"/>
              <p:cNvSpPr txBox="1"/>
              <p:nvPr/>
            </p:nvSpPr>
            <p:spPr bwMode="auto">
              <a:xfrm>
                <a:off x="2866117" y="1865832"/>
                <a:ext cx="7874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6117" y="1865832"/>
                <a:ext cx="787400" cy="927100"/>
              </a:xfrm>
              <a:prstGeom prst="rect">
                <a:avLst/>
              </a:prstGeom>
              <a:blipFill rotWithShape="1">
                <a:blip r:embed="rId14"/>
                <a:stretch>
                  <a:fillRect l="-46" t="-22" r="46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8"/>
              <p:cNvSpPr txBox="1"/>
              <p:nvPr/>
            </p:nvSpPr>
            <p:spPr bwMode="auto">
              <a:xfrm>
                <a:off x="3528183" y="1865832"/>
                <a:ext cx="13589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8183" y="1865832"/>
                <a:ext cx="1358900" cy="927100"/>
              </a:xfrm>
              <a:prstGeom prst="rect">
                <a:avLst/>
              </a:prstGeom>
              <a:blipFill rotWithShape="1">
                <a:blip r:embed="rId15"/>
                <a:stretch>
                  <a:fillRect l="-9" t="-22" r="9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9"/>
              <p:cNvSpPr txBox="1"/>
              <p:nvPr/>
            </p:nvSpPr>
            <p:spPr bwMode="auto">
              <a:xfrm>
                <a:off x="4697614" y="2782770"/>
                <a:ext cx="2163763" cy="638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7614" y="2782770"/>
                <a:ext cx="2163763" cy="638175"/>
              </a:xfrm>
              <a:prstGeom prst="rect">
                <a:avLst/>
              </a:prstGeom>
              <a:blipFill rotWithShape="1">
                <a:blip r:embed="rId16"/>
                <a:stretch>
                  <a:fillRect l="-24" t="-31" r="9" b="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30"/>
              <p:cNvSpPr txBox="1"/>
              <p:nvPr/>
            </p:nvSpPr>
            <p:spPr bwMode="auto">
              <a:xfrm>
                <a:off x="2859211" y="3976865"/>
                <a:ext cx="7874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9211" y="3976865"/>
                <a:ext cx="787400" cy="927100"/>
              </a:xfrm>
              <a:prstGeom prst="rect">
                <a:avLst/>
              </a:prstGeom>
              <a:blipFill rotWithShape="1">
                <a:blip r:embed="rId17"/>
                <a:stretch>
                  <a:fillRect l="-56" t="-53" r="56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31"/>
              <p:cNvSpPr txBox="1"/>
              <p:nvPr/>
            </p:nvSpPr>
            <p:spPr bwMode="auto">
              <a:xfrm>
                <a:off x="3528183" y="3976865"/>
                <a:ext cx="13843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8183" y="3976865"/>
                <a:ext cx="1384300" cy="927100"/>
              </a:xfrm>
              <a:prstGeom prst="rect">
                <a:avLst/>
              </a:prstGeom>
              <a:blipFill rotWithShape="1">
                <a:blip r:embed="rId18"/>
                <a:stretch>
                  <a:fillRect l="-9" t="-53" r="9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32"/>
              <p:cNvSpPr txBox="1"/>
              <p:nvPr/>
            </p:nvSpPr>
            <p:spPr bwMode="auto">
              <a:xfrm>
                <a:off x="4671183" y="4855705"/>
                <a:ext cx="1981200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1183" y="4855705"/>
                <a:ext cx="1981200" cy="584200"/>
              </a:xfrm>
              <a:prstGeom prst="rect">
                <a:avLst/>
              </a:prstGeom>
              <a:blipFill rotWithShape="1">
                <a:blip r:embed="rId19"/>
                <a:stretch>
                  <a:fillRect l="-6" t="-85" r="6" b="8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34"/>
              <p:cNvSpPr txBox="1"/>
              <p:nvPr/>
            </p:nvSpPr>
            <p:spPr bwMode="auto">
              <a:xfrm>
                <a:off x="6429578" y="2837696"/>
                <a:ext cx="13208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⋅2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9578" y="2837696"/>
                <a:ext cx="1320800" cy="406400"/>
              </a:xfrm>
              <a:prstGeom prst="rect">
                <a:avLst/>
              </a:prstGeom>
              <a:blipFill rotWithShape="1">
                <a:blip r:embed="rId20"/>
                <a:stretch>
                  <a:fillRect l="-15" t="-127" r="15" b="1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5"/>
              <p:cNvSpPr txBox="1"/>
              <p:nvPr/>
            </p:nvSpPr>
            <p:spPr bwMode="auto">
              <a:xfrm>
                <a:off x="6407274" y="4903965"/>
                <a:ext cx="13335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7274" y="4903965"/>
                <a:ext cx="1333500" cy="520700"/>
              </a:xfrm>
              <a:prstGeom prst="rect">
                <a:avLst/>
              </a:prstGeom>
              <a:blipFill rotWithShape="1">
                <a:blip r:embed="rId21"/>
                <a:stretch>
                  <a:fillRect l="-9" t="-95" r="9" b="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4" grpId="0"/>
      <p:bldP spid="15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半闭框 70"/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半闭框 71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3" name="半闭框 72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74" name="半闭框 73"/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3074"/>
          <p:cNvSpPr txBox="1">
            <a:spLocks noChangeArrowheads="1"/>
          </p:cNvSpPr>
          <p:nvPr/>
        </p:nvSpPr>
        <p:spPr>
          <a:xfrm>
            <a:off x="1885950" y="937420"/>
            <a:ext cx="21336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3   </a:t>
            </a: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设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076"/>
              <p:cNvSpPr txBox="1"/>
              <p:nvPr/>
            </p:nvSpPr>
            <p:spPr bwMode="auto">
              <a:xfrm>
                <a:off x="3211368" y="890324"/>
                <a:ext cx="2590799" cy="412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𝑡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" name="Object 30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1368" y="890324"/>
                <a:ext cx="2590799" cy="412750"/>
              </a:xfrm>
              <a:prstGeom prst="rect">
                <a:avLst/>
              </a:prstGeom>
              <a:blipFill rotWithShape="1">
                <a:blip r:embed="rId2"/>
                <a:stretch>
                  <a:fillRect l="-7" t="-13" r="7" b="-144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078"/>
              <p:cNvSpPr txBox="1"/>
              <p:nvPr/>
            </p:nvSpPr>
            <p:spPr bwMode="auto">
              <a:xfrm>
                <a:off x="9617076" y="687649"/>
                <a:ext cx="698501" cy="9223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" name="Object 30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17076" y="687649"/>
                <a:ext cx="698501" cy="922337"/>
              </a:xfrm>
              <a:prstGeom prst="rect">
                <a:avLst/>
              </a:prstGeom>
              <a:blipFill rotWithShape="1">
                <a:blip r:embed="rId3"/>
                <a:stretch>
                  <a:fillRect t="-63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081"/>
              <p:cNvSpPr txBox="1"/>
              <p:nvPr/>
            </p:nvSpPr>
            <p:spPr bwMode="auto">
              <a:xfrm>
                <a:off x="8958773" y="1854634"/>
                <a:ext cx="298296" cy="4373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5" name="Object 30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58773" y="1854634"/>
                <a:ext cx="298296" cy="437356"/>
              </a:xfrm>
              <a:prstGeom prst="rect">
                <a:avLst/>
              </a:prstGeom>
              <a:blipFill rotWithShape="1">
                <a:blip r:embed="rId4"/>
                <a:stretch>
                  <a:fillRect l="-65" t="-99" r="13" b="-79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3082"/>
          <p:cNvGrpSpPr/>
          <p:nvPr/>
        </p:nvGrpSpPr>
        <p:grpSpPr bwMode="auto">
          <a:xfrm>
            <a:off x="8668186" y="2334989"/>
            <a:ext cx="914400" cy="297802"/>
            <a:chOff x="4464" y="1200"/>
            <a:chExt cx="576" cy="240"/>
          </a:xfrm>
        </p:grpSpPr>
        <p:grpSp>
          <p:nvGrpSpPr>
            <p:cNvPr id="7" name="Group 3083"/>
            <p:cNvGrpSpPr/>
            <p:nvPr/>
          </p:nvGrpSpPr>
          <p:grpSpPr bwMode="auto">
            <a:xfrm>
              <a:off x="4464" y="1200"/>
              <a:ext cx="288" cy="240"/>
              <a:chOff x="4464" y="1200"/>
              <a:chExt cx="288" cy="240"/>
            </a:xfrm>
          </p:grpSpPr>
          <p:sp>
            <p:nvSpPr>
              <p:cNvPr id="9" name="Line 3084"/>
              <p:cNvSpPr>
                <a:spLocks noChangeShapeType="1"/>
              </p:cNvSpPr>
              <p:nvPr/>
            </p:nvSpPr>
            <p:spPr bwMode="auto">
              <a:xfrm>
                <a:off x="4752" y="1200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Line 3085"/>
              <p:cNvSpPr>
                <a:spLocks noChangeShapeType="1"/>
              </p:cNvSpPr>
              <p:nvPr/>
            </p:nvSpPr>
            <p:spPr bwMode="auto">
              <a:xfrm flipH="1">
                <a:off x="4464" y="1200"/>
                <a:ext cx="288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8" name="Line 3086"/>
            <p:cNvSpPr>
              <a:spLocks noChangeShapeType="1"/>
            </p:cNvSpPr>
            <p:nvPr/>
          </p:nvSpPr>
          <p:spPr bwMode="auto">
            <a:xfrm>
              <a:off x="4752" y="1200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087"/>
              <p:cNvSpPr txBox="1"/>
              <p:nvPr/>
            </p:nvSpPr>
            <p:spPr bwMode="auto">
              <a:xfrm>
                <a:off x="8365906" y="2448098"/>
                <a:ext cx="1206500" cy="355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𝑡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1" name="Object 30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65906" y="2448098"/>
                <a:ext cx="1206500" cy="355600"/>
              </a:xfrm>
              <a:prstGeom prst="rect">
                <a:avLst/>
              </a:prstGeom>
              <a:blipFill rotWithShape="1">
                <a:blip r:embed="rId5"/>
                <a:stretch>
                  <a:fillRect l="-34" t="-49" r="-11071" b="-328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ine 3096"/>
          <p:cNvSpPr>
            <a:spLocks noChangeShapeType="1"/>
          </p:cNvSpPr>
          <p:nvPr/>
        </p:nvSpPr>
        <p:spPr bwMode="auto">
          <a:xfrm>
            <a:off x="8544507" y="2951336"/>
            <a:ext cx="0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3" name="Line 3097"/>
          <p:cNvSpPr>
            <a:spLocks noChangeShapeType="1"/>
          </p:cNvSpPr>
          <p:nvPr/>
        </p:nvSpPr>
        <p:spPr bwMode="auto">
          <a:xfrm>
            <a:off x="9116007" y="2951336"/>
            <a:ext cx="0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098"/>
              <p:cNvSpPr txBox="1"/>
              <p:nvPr/>
            </p:nvSpPr>
            <p:spPr bwMode="auto">
              <a:xfrm>
                <a:off x="8976165" y="3195017"/>
                <a:ext cx="263513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𝑡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4" name="Object 30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6165" y="3195017"/>
                <a:ext cx="263513" cy="444500"/>
              </a:xfrm>
              <a:prstGeom prst="rect">
                <a:avLst/>
              </a:prstGeom>
              <a:blipFill rotWithShape="1">
                <a:blip r:embed="rId6"/>
                <a:stretch>
                  <a:fillRect l="-167" t="-75" r="162" b="-62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099"/>
              <p:cNvSpPr txBox="1"/>
              <p:nvPr/>
            </p:nvSpPr>
            <p:spPr bwMode="auto">
              <a:xfrm>
                <a:off x="8404665" y="3195016"/>
                <a:ext cx="263521" cy="522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𝑡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5" name="Object 30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04665" y="3195016"/>
                <a:ext cx="263521" cy="522287"/>
              </a:xfrm>
              <a:prstGeom prst="rect">
                <a:avLst/>
              </a:prstGeom>
              <a:blipFill rotWithShape="1">
                <a:blip r:embed="rId7"/>
                <a:stretch>
                  <a:fillRect l="-167" t="-63" r="165"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100"/>
              <p:cNvSpPr txBox="1"/>
              <p:nvPr/>
            </p:nvSpPr>
            <p:spPr bwMode="auto">
              <a:xfrm>
                <a:off x="2838449" y="1680133"/>
                <a:ext cx="4191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3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8449" y="1680133"/>
                <a:ext cx="419100" cy="927100"/>
              </a:xfrm>
              <a:prstGeom prst="rect">
                <a:avLst/>
              </a:prstGeom>
              <a:blipFill rotWithShape="1">
                <a:blip r:embed="rId8"/>
                <a:stretch>
                  <a:fillRect l="-151" t="-60" r="151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3101"/>
              <p:cNvSpPr txBox="1"/>
              <p:nvPr/>
            </p:nvSpPr>
            <p:spPr bwMode="auto">
              <a:xfrm>
                <a:off x="3211369" y="2580785"/>
                <a:ext cx="8636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3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1369" y="2580785"/>
                <a:ext cx="863600" cy="520700"/>
              </a:xfrm>
              <a:prstGeom prst="rect">
                <a:avLst/>
              </a:prstGeom>
              <a:blipFill rotWithShape="1">
                <a:blip r:embed="rId9"/>
                <a:stretch>
                  <a:fillRect l="-20" t="-28" r="20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102"/>
              <p:cNvSpPr txBox="1"/>
              <p:nvPr/>
            </p:nvSpPr>
            <p:spPr bwMode="auto">
              <a:xfrm>
                <a:off x="3211369" y="3096739"/>
                <a:ext cx="3300413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3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1369" y="3096739"/>
                <a:ext cx="3300413" cy="469900"/>
              </a:xfrm>
              <a:prstGeom prst="rect">
                <a:avLst/>
              </a:prstGeom>
              <a:blipFill rotWithShape="1">
                <a:blip r:embed="rId10"/>
                <a:stretch>
                  <a:fillRect l="-5" t="-102" r="15" b="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104"/>
              <p:cNvSpPr txBox="1"/>
              <p:nvPr/>
            </p:nvSpPr>
            <p:spPr bwMode="auto">
              <a:xfrm>
                <a:off x="3211368" y="1680133"/>
                <a:ext cx="1442604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3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1368" y="1680133"/>
                <a:ext cx="1442604" cy="927100"/>
              </a:xfrm>
              <a:prstGeom prst="rect">
                <a:avLst/>
              </a:prstGeom>
              <a:blipFill rotWithShape="1">
                <a:blip r:embed="rId11"/>
                <a:stretch>
                  <a:fillRect l="-12" t="-60" r="4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105"/>
              <p:cNvSpPr txBox="1"/>
              <p:nvPr/>
            </p:nvSpPr>
            <p:spPr bwMode="auto">
              <a:xfrm>
                <a:off x="4401879" y="1679816"/>
                <a:ext cx="1400174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3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1879" y="1679816"/>
                <a:ext cx="1400174" cy="927100"/>
              </a:xfrm>
              <a:prstGeom prst="rect">
                <a:avLst/>
              </a:prstGeom>
              <a:blipFill rotWithShape="1">
                <a:blip r:embed="rId12"/>
                <a:stretch>
                  <a:fillRect l="-4" t="-26" r="4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106"/>
              <p:cNvSpPr txBox="1"/>
              <p:nvPr/>
            </p:nvSpPr>
            <p:spPr bwMode="auto">
              <a:xfrm>
                <a:off x="5536623" y="1679815"/>
                <a:ext cx="6985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3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6623" y="1679815"/>
                <a:ext cx="698500" cy="927100"/>
              </a:xfrm>
              <a:prstGeom prst="rect">
                <a:avLst/>
              </a:prstGeom>
              <a:blipFill rotWithShape="1">
                <a:blip r:embed="rId13"/>
                <a:stretch>
                  <a:fillRect l="-8" t="-26" r="8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3107"/>
          <p:cNvSpPr txBox="1">
            <a:spLocks noChangeArrowheads="1"/>
          </p:cNvSpPr>
          <p:nvPr/>
        </p:nvSpPr>
        <p:spPr bwMode="auto">
          <a:xfrm>
            <a:off x="8137527" y="909250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求全导数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3108"/>
              <p:cNvSpPr txBox="1"/>
              <p:nvPr/>
            </p:nvSpPr>
            <p:spPr bwMode="auto">
              <a:xfrm>
                <a:off x="5527271" y="890007"/>
                <a:ext cx="1295400" cy="528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𝑡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3" name="Object 3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7271" y="890007"/>
                <a:ext cx="1295400" cy="528638"/>
              </a:xfrm>
              <a:prstGeom prst="rect">
                <a:avLst/>
              </a:prstGeom>
              <a:blipFill rotWithShape="1">
                <a:blip r:embed="rId14"/>
                <a:stretch>
                  <a:fillRect l="-18" t="-70" r="18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109"/>
              <p:cNvSpPr txBox="1"/>
              <p:nvPr/>
            </p:nvSpPr>
            <p:spPr bwMode="auto">
              <a:xfrm>
                <a:off x="6637771" y="891923"/>
                <a:ext cx="1708150" cy="358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𝑡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4" name="Object 3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7771" y="891923"/>
                <a:ext cx="1708150" cy="358775"/>
              </a:xfrm>
              <a:prstGeom prst="rect">
                <a:avLst/>
              </a:prstGeom>
              <a:blipFill rotWithShape="1">
                <a:blip r:embed="rId15"/>
                <a:stretch>
                  <a:fillRect l="-7" t="-107" r="7" b="-315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3110"/>
          <p:cNvSpPr txBox="1">
            <a:spLocks noChangeArrowheads="1"/>
          </p:cNvSpPr>
          <p:nvPr/>
        </p:nvSpPr>
        <p:spPr bwMode="auto">
          <a:xfrm>
            <a:off x="1885950" y="1804474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3111"/>
              <p:cNvSpPr txBox="1"/>
              <p:nvPr/>
            </p:nvSpPr>
            <p:spPr bwMode="auto">
              <a:xfrm>
                <a:off x="3919970" y="2579693"/>
                <a:ext cx="1130300" cy="330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3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9970" y="2579693"/>
                <a:ext cx="1130300" cy="330200"/>
              </a:xfrm>
              <a:prstGeom prst="rect">
                <a:avLst/>
              </a:prstGeom>
              <a:blipFill rotWithShape="1">
                <a:blip r:embed="rId16"/>
                <a:stretch>
                  <a:fillRect l="-10" t="-98" r="10" b="-152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3112"/>
              <p:cNvSpPr txBox="1"/>
              <p:nvPr/>
            </p:nvSpPr>
            <p:spPr bwMode="auto">
              <a:xfrm>
                <a:off x="4892674" y="2581200"/>
                <a:ext cx="952500" cy="279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3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2674" y="2581200"/>
                <a:ext cx="952500" cy="279400"/>
              </a:xfrm>
              <a:prstGeom prst="rect">
                <a:avLst/>
              </a:prstGeom>
              <a:blipFill rotWithShape="1">
                <a:blip r:embed="rId17"/>
                <a:stretch>
                  <a:fillRect l="-67" t="-200" r="67" b="-361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3114"/>
          <p:cNvSpPr>
            <a:spLocks noChangeArrowheads="1"/>
          </p:cNvSpPr>
          <p:nvPr/>
        </p:nvSpPr>
        <p:spPr bwMode="auto">
          <a:xfrm>
            <a:off x="8345921" y="1813098"/>
            <a:ext cx="1524000" cy="198120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图文框 25"/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3113"/>
          <p:cNvSpPr txBox="1">
            <a:spLocks noChangeArrowheads="1"/>
          </p:cNvSpPr>
          <p:nvPr/>
        </p:nvSpPr>
        <p:spPr bwMode="auto">
          <a:xfrm>
            <a:off x="1750045" y="960727"/>
            <a:ext cx="95205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多元抽象复合函数求导在偏微分方程变形与验证解的问题中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3124"/>
              <p:cNvSpPr txBox="1">
                <a:spLocks noChangeArrowheads="1"/>
              </p:cNvSpPr>
              <p:nvPr/>
            </p:nvSpPr>
            <p:spPr bwMode="auto">
              <a:xfrm>
                <a:off x="1750045" y="1723333"/>
                <a:ext cx="169469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经常遇到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+mn-ea"/>
                      </a:rPr>
                      <m:t>,</m:t>
                    </m:r>
                  </m:oMath>
                </a14:m>
                <a:endParaRPr kumimoji="1" lang="en-US" altLang="zh-CN" sz="2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Text Box 3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0045" y="1723333"/>
                <a:ext cx="1694695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37" t="-110" r="-4092" b="1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3125"/>
          <p:cNvSpPr txBox="1">
            <a:spLocks noChangeArrowheads="1"/>
          </p:cNvSpPr>
          <p:nvPr/>
        </p:nvSpPr>
        <p:spPr bwMode="auto">
          <a:xfrm>
            <a:off x="3402710" y="1727440"/>
            <a:ext cx="77251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下列两个例题有助于掌握这方面问题的求导技巧</a:t>
            </a:r>
          </a:p>
        </p:txBody>
      </p:sp>
      <p:sp>
        <p:nvSpPr>
          <p:cNvPr id="5" name="Text Box 3126"/>
          <p:cNvSpPr txBox="1">
            <a:spLocks noChangeArrowheads="1"/>
          </p:cNvSpPr>
          <p:nvPr/>
        </p:nvSpPr>
        <p:spPr bwMode="auto">
          <a:xfrm>
            <a:off x="1750045" y="2398206"/>
            <a:ext cx="28777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与常用导数符号</a:t>
            </a:r>
            <a:r>
              <a:rPr kumimoji="1"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44"/>
              <p:cNvSpPr txBox="1">
                <a:spLocks noChangeArrowheads="1"/>
              </p:cNvSpPr>
              <p:nvPr/>
            </p:nvSpPr>
            <p:spPr bwMode="auto">
              <a:xfrm>
                <a:off x="4474989" y="2398206"/>
                <a:ext cx="6019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为表达简便起见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+mn-ea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引入以下记号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7" name="Text Box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4989" y="2398206"/>
                <a:ext cx="6019800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2" t="-85" r="2" b="8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53"/>
          <p:cNvSpPr txBox="1">
            <a:spLocks noChangeArrowheads="1"/>
          </p:cNvSpPr>
          <p:nvPr/>
        </p:nvSpPr>
        <p:spPr bwMode="auto">
          <a:xfrm>
            <a:off x="1750045" y="5318650"/>
            <a:ext cx="1479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同理有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>
              <a:xfrm>
                <a:off x="2465691" y="3098929"/>
                <a:ext cx="7002159" cy="66954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 b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sub>
                      </m:sSub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 ,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) , 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𝑢𝑣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), 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  <a:p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691" y="3098929"/>
                <a:ext cx="7002159" cy="669542"/>
              </a:xfrm>
              <a:prstGeom prst="rect">
                <a:avLst/>
              </a:prstGeom>
              <a:blipFill rotWithShape="1">
                <a:blip r:embed="rId4"/>
                <a:stretch>
                  <a:fillRect l="-9" t="-19" b="-354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/>
              <p:cNvSpPr txBox="1"/>
              <p:nvPr/>
            </p:nvSpPr>
            <p:spPr>
              <a:xfrm>
                <a:off x="1750045" y="3973508"/>
                <a:ext cx="7325012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这里下标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1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表示对第一个自变量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求偏导数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045" y="3973508"/>
                <a:ext cx="7325012" cy="406400"/>
              </a:xfrm>
              <a:prstGeom prst="rect">
                <a:avLst/>
              </a:prstGeom>
              <a:blipFill rotWithShape="1">
                <a:blip r:embed="rId5"/>
                <a:stretch>
                  <a:fillRect l="-8" t="-77" r="4" b="-19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>
              <a:xfrm>
                <a:off x="2461140" y="4626549"/>
                <a:ext cx="6879137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下标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2</m:t>
                      </m:r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表示对第二个自变量</m:t>
                      </m:r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 b="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求偏导数．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140" y="4626549"/>
                <a:ext cx="6879137" cy="406400"/>
              </a:xfrm>
              <a:prstGeom prst="rect">
                <a:avLst/>
              </a:prstGeom>
              <a:blipFill rotWithShape="1">
                <a:blip r:embed="rId6"/>
                <a:stretch>
                  <a:fillRect l="-7" t="-141" r="1" b="-1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/>
              <p:cNvSpPr txBox="1"/>
              <p:nvPr/>
            </p:nvSpPr>
            <p:spPr>
              <a:xfrm>
                <a:off x="3353001" y="5318650"/>
                <a:ext cx="2192121" cy="68704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 b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 b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  <m:r>
                            <a:rPr kumimoji="1"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′′</m:t>
                          </m:r>
                        </m:sup>
                      </m:sSubSup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,</m:t>
                          </m:r>
                          <m:r>
                            <a:rPr kumimoji="1" lang="en-US" altLang="zh-CN" sz="2800" b="0" i="0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  <m: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′′</m:t>
                          </m:r>
                        </m:sup>
                      </m:sSubSup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001" y="5318650"/>
                <a:ext cx="2192121" cy="687040"/>
              </a:xfrm>
              <a:prstGeom prst="rect">
                <a:avLst/>
              </a:prstGeom>
              <a:blipFill rotWithShape="1">
                <a:blip r:embed="rId7"/>
                <a:stretch>
                  <a:fillRect l="-9" t="-76" r="14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/>
          <p:cNvGrpSpPr/>
          <p:nvPr/>
        </p:nvGrpSpPr>
        <p:grpSpPr>
          <a:xfrm>
            <a:off x="1137270" y="928510"/>
            <a:ext cx="612775" cy="612775"/>
            <a:chOff x="1601" y="872"/>
            <a:chExt cx="965" cy="965"/>
          </a:xfrm>
        </p:grpSpPr>
        <p:sp>
          <p:nvSpPr>
            <p:cNvPr id="22" name="椭圆 21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3" name="文本框 22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24" name="椭圆 23"/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8" name="矩形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2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半闭框 98"/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0" name="半闭框 99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1" name="半闭框 100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02" name="半闭框 101"/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Line 72"/>
          <p:cNvSpPr>
            <a:spLocks noChangeShapeType="1"/>
          </p:cNvSpPr>
          <p:nvPr/>
        </p:nvSpPr>
        <p:spPr bwMode="auto">
          <a:xfrm>
            <a:off x="2476500" y="5473158"/>
            <a:ext cx="67056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1"/>
              <p:cNvSpPr txBox="1">
                <a:spLocks noChangeArrowheads="1"/>
              </p:cNvSpPr>
              <p:nvPr/>
            </p:nvSpPr>
            <p:spPr bwMode="auto">
              <a:xfrm>
                <a:off x="2590800" y="5705042"/>
                <a:ext cx="2827852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为简便起见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+mn-ea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引入记号</a:t>
                </a:r>
              </a:p>
            </p:txBody>
          </p:sp>
        </mc:Choice>
        <mc:Fallback xmlns="">
          <p:sp>
            <p:nvSpPr>
              <p:cNvPr id="3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800" y="5705042"/>
                <a:ext cx="2827852" cy="430887"/>
              </a:xfrm>
              <a:prstGeom prst="rect">
                <a:avLst/>
              </a:prstGeom>
              <a:blipFill rotWithShape="1">
                <a:blip r:embed="rId3"/>
                <a:stretch>
                  <a:fillRect t="-47" r="7" b="1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2"/>
              <p:cNvSpPr txBox="1"/>
              <p:nvPr/>
            </p:nvSpPr>
            <p:spPr bwMode="auto">
              <a:xfrm>
                <a:off x="5274541" y="5443493"/>
                <a:ext cx="3907559" cy="8710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,  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, ⋯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4541" y="5443493"/>
                <a:ext cx="3907559" cy="871020"/>
              </a:xfrm>
              <a:prstGeom prst="rect">
                <a:avLst/>
              </a:prstGeom>
              <a:blipFill rotWithShape="1">
                <a:blip r:embed="rId4"/>
                <a:stretch>
                  <a:fillRect l="-6" t="-31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5"/>
              <p:cNvSpPr txBox="1"/>
              <p:nvPr/>
            </p:nvSpPr>
            <p:spPr bwMode="auto">
              <a:xfrm>
                <a:off x="3187947" y="4258506"/>
                <a:ext cx="2752878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𝑥𝑦𝑧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7947" y="4258506"/>
                <a:ext cx="2752878" cy="444500"/>
              </a:xfrm>
              <a:prstGeom prst="rect">
                <a:avLst/>
              </a:prstGeom>
              <a:blipFill rotWithShape="1">
                <a:blip r:embed="rId5"/>
                <a:stretch>
                  <a:fillRect l="-9" t="-44" r="15" b="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e 61"/>
          <p:cNvSpPr>
            <a:spLocks noChangeShapeType="1"/>
          </p:cNvSpPr>
          <p:nvPr/>
        </p:nvSpPr>
        <p:spPr bwMode="auto">
          <a:xfrm>
            <a:off x="3573062" y="4776053"/>
            <a:ext cx="2156625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7" name="Line 62"/>
          <p:cNvSpPr>
            <a:spLocks noChangeShapeType="1"/>
          </p:cNvSpPr>
          <p:nvPr/>
        </p:nvSpPr>
        <p:spPr bwMode="auto">
          <a:xfrm>
            <a:off x="4568207" y="4874042"/>
            <a:ext cx="26670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8" name="Rectangle 54"/>
          <p:cNvSpPr>
            <a:spLocks noChangeArrowheads="1"/>
          </p:cNvSpPr>
          <p:nvPr/>
        </p:nvSpPr>
        <p:spPr bwMode="auto">
          <a:xfrm>
            <a:off x="7540461" y="1707036"/>
            <a:ext cx="2590800" cy="2321136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828800" y="850901"/>
            <a:ext cx="19050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4  </a:t>
            </a: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设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3"/>
              <p:cNvSpPr txBox="1">
                <a:spLocks noChangeArrowheads="1"/>
              </p:cNvSpPr>
              <p:nvPr/>
            </p:nvSpPr>
            <p:spPr bwMode="auto">
              <a:xfrm>
                <a:off x="6640188" y="869342"/>
                <a:ext cx="3810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+mn-ea"/>
                      </a:rPr>
                      <m:t>𝑓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具有二阶连续偏导数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,</a:t>
                </a:r>
              </a:p>
            </p:txBody>
          </p:sp>
        </mc:Choice>
        <mc:Fallback xmlns="">
          <p:sp>
            <p:nvSpPr>
              <p:cNvPr id="10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0188" y="869342"/>
                <a:ext cx="3810000" cy="519113"/>
              </a:xfrm>
              <a:prstGeom prst="rect">
                <a:avLst/>
              </a:prstGeom>
              <a:blipFill rotWithShape="1">
                <a:blip r:embed="rId6"/>
                <a:stretch>
                  <a:fillRect l="-16" t="-5" r="16" b="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/>
              <p:cNvSpPr txBox="1"/>
              <p:nvPr/>
            </p:nvSpPr>
            <p:spPr bwMode="auto">
              <a:xfrm>
                <a:off x="3111898" y="844062"/>
                <a:ext cx="3621088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𝑤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𝑥𝑦𝑧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1898" y="844062"/>
                <a:ext cx="3621088" cy="406400"/>
              </a:xfrm>
              <a:prstGeom prst="rect">
                <a:avLst/>
              </a:prstGeom>
              <a:blipFill rotWithShape="1">
                <a:blip r:embed="rId7"/>
                <a:stretch>
                  <a:fillRect l="-11" t="-36" r="2" b="-162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2594139" y="1582034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7"/>
              <p:cNvSpPr txBox="1"/>
              <p:nvPr/>
            </p:nvSpPr>
            <p:spPr bwMode="auto">
              <a:xfrm>
                <a:off x="3127538" y="1353432"/>
                <a:ext cx="1970321" cy="10827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. 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7538" y="1353432"/>
                <a:ext cx="1970321" cy="1082767"/>
              </a:xfrm>
              <a:prstGeom prst="rect">
                <a:avLst/>
              </a:prstGeom>
              <a:blipFill rotWithShape="1">
                <a:blip r:embed="rId8"/>
                <a:stretch>
                  <a:fillRect l="-8" t="-23" r="-1221" b="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828800" y="2507457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0"/>
              <p:cNvSpPr txBox="1"/>
              <p:nvPr/>
            </p:nvSpPr>
            <p:spPr bwMode="auto">
              <a:xfrm>
                <a:off x="2944814" y="2545061"/>
                <a:ext cx="3371849" cy="5300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𝑥𝑦𝑧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5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4814" y="2545061"/>
                <a:ext cx="3371849" cy="530026"/>
              </a:xfrm>
              <a:prstGeom prst="rect">
                <a:avLst/>
              </a:prstGeom>
              <a:blipFill rotWithShape="1">
                <a:blip r:embed="rId9"/>
                <a:stretch>
                  <a:fillRect l="-9" t="-116" r="9" b="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3"/>
              <p:cNvSpPr txBox="1"/>
              <p:nvPr/>
            </p:nvSpPr>
            <p:spPr bwMode="auto">
              <a:xfrm>
                <a:off x="2688037" y="3568700"/>
                <a:ext cx="558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6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8037" y="3568700"/>
                <a:ext cx="558800" cy="927100"/>
              </a:xfrm>
              <a:prstGeom prst="rect">
                <a:avLst/>
              </a:prstGeom>
              <a:blipFill rotWithShape="1">
                <a:blip r:embed="rId10"/>
                <a:stretch>
                  <a:fillRect l="-15" r="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7"/>
              <p:cNvSpPr txBox="1"/>
              <p:nvPr/>
            </p:nvSpPr>
            <p:spPr bwMode="auto">
              <a:xfrm>
                <a:off x="8265226" y="1879393"/>
                <a:ext cx="279400" cy="241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𝑤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5226" y="1879393"/>
                <a:ext cx="279400" cy="241300"/>
              </a:xfrm>
              <a:prstGeom prst="rect">
                <a:avLst/>
              </a:prstGeom>
              <a:blipFill rotWithShape="1">
                <a:blip r:embed="rId11"/>
                <a:stretch>
                  <a:fillRect l="-24" t="-177" r="-26795" b="-956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20"/>
          <p:cNvGrpSpPr/>
          <p:nvPr/>
        </p:nvGrpSpPr>
        <p:grpSpPr bwMode="auto">
          <a:xfrm>
            <a:off x="8249132" y="2336592"/>
            <a:ext cx="1000125" cy="381000"/>
            <a:chOff x="4656" y="2688"/>
            <a:chExt cx="630" cy="240"/>
          </a:xfrm>
        </p:grpSpPr>
        <p:sp>
          <p:nvSpPr>
            <p:cNvPr id="19" name="Line 21"/>
            <p:cNvSpPr>
              <a:spLocks noChangeShapeType="1"/>
            </p:cNvSpPr>
            <p:nvPr/>
          </p:nvSpPr>
          <p:spPr bwMode="auto">
            <a:xfrm flipH="1">
              <a:off x="4656" y="2688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>
              <a:off x="4800" y="2688"/>
              <a:ext cx="486" cy="2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3"/>
              <p:cNvSpPr txBox="1"/>
              <p:nvPr/>
            </p:nvSpPr>
            <p:spPr bwMode="auto">
              <a:xfrm>
                <a:off x="8071948" y="2544582"/>
                <a:ext cx="1241425" cy="409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      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1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1948" y="2544582"/>
                <a:ext cx="1241425" cy="409575"/>
              </a:xfrm>
              <a:prstGeom prst="rect">
                <a:avLst/>
              </a:prstGeom>
              <a:blipFill rotWithShape="1">
                <a:blip r:embed="rId12"/>
                <a:stretch>
                  <a:fillRect l="-37" t="-33" r="-9016" b="-97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31"/>
          <p:cNvGrpSpPr/>
          <p:nvPr/>
        </p:nvGrpSpPr>
        <p:grpSpPr bwMode="auto">
          <a:xfrm>
            <a:off x="7884226" y="3077061"/>
            <a:ext cx="838200" cy="457200"/>
            <a:chOff x="4464" y="864"/>
            <a:chExt cx="528" cy="288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H="1">
              <a:off x="4464" y="864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24" name="Line 33"/>
            <p:cNvSpPr>
              <a:spLocks noChangeShapeType="1"/>
            </p:cNvSpPr>
            <p:nvPr/>
          </p:nvSpPr>
          <p:spPr bwMode="auto">
            <a:xfrm>
              <a:off x="4704" y="864"/>
              <a:ext cx="28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25" name="Line 34"/>
            <p:cNvSpPr>
              <a:spLocks noChangeShapeType="1"/>
            </p:cNvSpPr>
            <p:nvPr/>
          </p:nvSpPr>
          <p:spPr bwMode="auto">
            <a:xfrm>
              <a:off x="4704" y="86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26" name="Group 35"/>
          <p:cNvGrpSpPr/>
          <p:nvPr/>
        </p:nvGrpSpPr>
        <p:grpSpPr bwMode="auto">
          <a:xfrm>
            <a:off x="9027225" y="3030357"/>
            <a:ext cx="838200" cy="457200"/>
            <a:chOff x="4464" y="864"/>
            <a:chExt cx="528" cy="288"/>
          </a:xfrm>
        </p:grpSpPr>
        <p:sp>
          <p:nvSpPr>
            <p:cNvPr id="27" name="Line 36"/>
            <p:cNvSpPr>
              <a:spLocks noChangeShapeType="1"/>
            </p:cNvSpPr>
            <p:nvPr/>
          </p:nvSpPr>
          <p:spPr bwMode="auto">
            <a:xfrm flipH="1">
              <a:off x="4464" y="864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28" name="Line 37"/>
            <p:cNvSpPr>
              <a:spLocks noChangeShapeType="1"/>
            </p:cNvSpPr>
            <p:nvPr/>
          </p:nvSpPr>
          <p:spPr bwMode="auto">
            <a:xfrm>
              <a:off x="4704" y="864"/>
              <a:ext cx="28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29" name="Line 38"/>
            <p:cNvSpPr>
              <a:spLocks noChangeShapeType="1"/>
            </p:cNvSpPr>
            <p:nvPr/>
          </p:nvSpPr>
          <p:spPr bwMode="auto">
            <a:xfrm>
              <a:off x="4704" y="86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9"/>
              <p:cNvSpPr txBox="1"/>
              <p:nvPr/>
            </p:nvSpPr>
            <p:spPr bwMode="auto">
              <a:xfrm>
                <a:off x="7655624" y="3414930"/>
                <a:ext cx="1120775" cy="4143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0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55624" y="3414930"/>
                <a:ext cx="1120775" cy="414338"/>
              </a:xfrm>
              <a:prstGeom prst="rect">
                <a:avLst/>
              </a:prstGeom>
              <a:blipFill rotWithShape="1">
                <a:blip r:embed="rId13"/>
                <a:stretch>
                  <a:fillRect l="-6" t="-129" r="-504" b="-151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40"/>
              <p:cNvSpPr txBox="1"/>
              <p:nvPr/>
            </p:nvSpPr>
            <p:spPr bwMode="auto">
              <a:xfrm>
                <a:off x="8798625" y="3414295"/>
                <a:ext cx="1123950" cy="412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1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98625" y="3414295"/>
                <a:ext cx="1123950" cy="412750"/>
              </a:xfrm>
              <a:prstGeom prst="rect">
                <a:avLst/>
              </a:prstGeom>
              <a:blipFill rotWithShape="1">
                <a:blip r:embed="rId13"/>
                <a:stretch>
                  <a:fillRect l="-6" t="-130" r="-220" b="-155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43"/>
              <p:cNvSpPr txBox="1"/>
              <p:nvPr/>
            </p:nvSpPr>
            <p:spPr bwMode="auto">
              <a:xfrm>
                <a:off x="2897188" y="3041650"/>
                <a:ext cx="224155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𝑤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2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7188" y="3041650"/>
                <a:ext cx="2241550" cy="406400"/>
              </a:xfrm>
              <a:prstGeom prst="rect">
                <a:avLst/>
              </a:prstGeom>
              <a:blipFill rotWithShape="1">
                <a:blip r:embed="rId14"/>
                <a:stretch>
                  <a:fillRect l="-14" r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45"/>
              <p:cNvSpPr txBox="1"/>
              <p:nvPr/>
            </p:nvSpPr>
            <p:spPr bwMode="auto">
              <a:xfrm>
                <a:off x="3187947" y="3706693"/>
                <a:ext cx="1419129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⋅1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3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7947" y="3706693"/>
                <a:ext cx="1419129" cy="444500"/>
              </a:xfrm>
              <a:prstGeom prst="rect">
                <a:avLst/>
              </a:prstGeom>
              <a:blipFill rotWithShape="1">
                <a:blip r:embed="rId15"/>
                <a:stretch>
                  <a:fillRect l="-17" t="-45" r="11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46"/>
              <p:cNvSpPr txBox="1"/>
              <p:nvPr/>
            </p:nvSpPr>
            <p:spPr bwMode="auto">
              <a:xfrm>
                <a:off x="4096397" y="3706694"/>
                <a:ext cx="18732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𝑦𝑧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4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6397" y="3706694"/>
                <a:ext cx="1873250" cy="444500"/>
              </a:xfrm>
              <a:prstGeom prst="rect">
                <a:avLst/>
              </a:prstGeom>
              <a:blipFill rotWithShape="1">
                <a:blip r:embed="rId16"/>
                <a:stretch>
                  <a:fillRect l="-1" t="-45" r="1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47"/>
              <p:cNvSpPr txBox="1"/>
              <p:nvPr/>
            </p:nvSpPr>
            <p:spPr bwMode="auto">
              <a:xfrm>
                <a:off x="5729687" y="4260055"/>
                <a:ext cx="30226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);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5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9687" y="4260055"/>
                <a:ext cx="3022600" cy="431800"/>
              </a:xfrm>
              <a:prstGeom prst="rect">
                <a:avLst/>
              </a:prstGeom>
              <a:blipFill rotWithShape="1">
                <a:blip r:embed="rId17"/>
                <a:stretch>
                  <a:fillRect l="-3" t="-110" r="3" b="1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55"/>
          <p:cNvSpPr txBox="1">
            <a:spLocks noChangeArrowheads="1"/>
          </p:cNvSpPr>
          <p:nvPr/>
        </p:nvSpPr>
        <p:spPr bwMode="auto">
          <a:xfrm>
            <a:off x="5970986" y="2569368"/>
            <a:ext cx="76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</a:t>
            </a:r>
          </a:p>
        </p:txBody>
      </p:sp>
      <p:sp>
        <p:nvSpPr>
          <p:cNvPr id="37" name="Rectangle 57"/>
          <p:cNvSpPr>
            <a:spLocks noChangeArrowheads="1"/>
          </p:cNvSpPr>
          <p:nvPr/>
        </p:nvSpPr>
        <p:spPr bwMode="auto">
          <a:xfrm>
            <a:off x="2345227" y="5405890"/>
            <a:ext cx="6836873" cy="8941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14"/>
              <p:cNvSpPr txBox="1"/>
              <p:nvPr/>
            </p:nvSpPr>
            <p:spPr bwMode="auto">
              <a:xfrm>
                <a:off x="2469932" y="4645442"/>
                <a:ext cx="78740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𝑤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9932" y="4645442"/>
                <a:ext cx="787400" cy="1016000"/>
              </a:xfrm>
              <a:prstGeom prst="rect">
                <a:avLst/>
              </a:prstGeom>
              <a:blipFill rotWithShape="1">
                <a:blip r:embed="rId18"/>
                <a:stretch>
                  <a:fillRect l="-53" t="-41" r="53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48"/>
              <p:cNvSpPr txBox="1"/>
              <p:nvPr/>
            </p:nvSpPr>
            <p:spPr bwMode="auto">
              <a:xfrm>
                <a:off x="3196957" y="4835503"/>
                <a:ext cx="1273443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⋅1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9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6957" y="4835503"/>
                <a:ext cx="1273443" cy="444500"/>
              </a:xfrm>
              <a:prstGeom prst="rect">
                <a:avLst/>
              </a:prstGeom>
              <a:blipFill rotWithShape="1">
                <a:blip r:embed="rId19"/>
                <a:stretch>
                  <a:fillRect l="-29" t="-138" b="1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16"/>
              <p:cNvSpPr txBox="1"/>
              <p:nvPr/>
            </p:nvSpPr>
            <p:spPr bwMode="auto">
              <a:xfrm>
                <a:off x="3196957" y="5399671"/>
                <a:ext cx="6023769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0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6957" y="5399671"/>
                <a:ext cx="6023769" cy="482600"/>
              </a:xfrm>
              <a:prstGeom prst="rect">
                <a:avLst/>
              </a:prstGeom>
              <a:blipFill rotWithShape="1">
                <a:blip r:embed="rId20"/>
                <a:stretch>
                  <a:fillRect l="-6" t="-55" r="9" b="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49"/>
              <p:cNvSpPr txBox="1"/>
              <p:nvPr/>
            </p:nvSpPr>
            <p:spPr bwMode="auto">
              <a:xfrm>
                <a:off x="4251851" y="4835503"/>
                <a:ext cx="1477836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𝑥𝑦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1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1851" y="4835503"/>
                <a:ext cx="1477836" cy="444500"/>
              </a:xfrm>
              <a:prstGeom prst="rect">
                <a:avLst/>
              </a:prstGeom>
              <a:blipFill rotWithShape="1">
                <a:blip r:embed="rId21"/>
                <a:stretch>
                  <a:fillRect l="-36" t="-138" r="6" b="1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50"/>
              <p:cNvSpPr txBox="1"/>
              <p:nvPr/>
            </p:nvSpPr>
            <p:spPr bwMode="auto">
              <a:xfrm>
                <a:off x="5437586" y="4841796"/>
                <a:ext cx="9144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2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7586" y="4841796"/>
                <a:ext cx="914400" cy="444500"/>
              </a:xfrm>
              <a:prstGeom prst="rect">
                <a:avLst/>
              </a:prstGeom>
              <a:blipFill rotWithShape="1">
                <a:blip r:embed="rId22"/>
                <a:stretch>
                  <a:fillRect l="-9" t="-125" r="9" b="1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51"/>
              <p:cNvSpPr txBox="1"/>
              <p:nvPr/>
            </p:nvSpPr>
            <p:spPr bwMode="auto">
              <a:xfrm>
                <a:off x="6140382" y="4866818"/>
                <a:ext cx="3013076" cy="4444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                              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3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0382" y="4866818"/>
                <a:ext cx="3013076" cy="444499"/>
              </a:xfrm>
              <a:prstGeom prst="rect">
                <a:avLst/>
              </a:prstGeom>
              <a:blipFill rotWithShape="1">
                <a:blip r:embed="rId23"/>
                <a:stretch>
                  <a:fillRect l="-19" t="-40" r="19" b="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52"/>
              <p:cNvSpPr txBox="1"/>
              <p:nvPr/>
            </p:nvSpPr>
            <p:spPr bwMode="auto">
              <a:xfrm>
                <a:off x="6805574" y="4889429"/>
                <a:ext cx="1120673" cy="6357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⋅1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4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5574" y="4889429"/>
                <a:ext cx="1120673" cy="635792"/>
              </a:xfrm>
              <a:prstGeom prst="rect">
                <a:avLst/>
              </a:prstGeom>
              <a:blipFill rotWithShape="1">
                <a:blip r:embed="rId24"/>
                <a:stretch>
                  <a:fillRect l="-25" t="-89" r="16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53"/>
              <p:cNvSpPr txBox="1"/>
              <p:nvPr/>
            </p:nvSpPr>
            <p:spPr bwMode="auto">
              <a:xfrm>
                <a:off x="7537721" y="4886675"/>
                <a:ext cx="1571329" cy="560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″</m:t>
                          </m:r>
                        </m:sup>
                      </m:sSub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𝑥𝑦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5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37721" y="4886675"/>
                <a:ext cx="1571329" cy="560387"/>
              </a:xfrm>
              <a:prstGeom prst="rect">
                <a:avLst/>
              </a:prstGeom>
              <a:blipFill rotWithShape="1">
                <a:blip r:embed="rId25"/>
                <a:stretch>
                  <a:fillRect l="-17" t="-62" r="39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60"/>
              <p:cNvSpPr txBox="1"/>
              <p:nvPr/>
            </p:nvSpPr>
            <p:spPr bwMode="auto">
              <a:xfrm>
                <a:off x="8646226" y="1836765"/>
                <a:ext cx="1130300" cy="566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 ,</m:t>
                      </m:r>
                      <m:sSubSup>
                        <m:sSub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6" name="Objec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46226" y="1836765"/>
                <a:ext cx="1130300" cy="566075"/>
              </a:xfrm>
              <a:prstGeom prst="rect">
                <a:avLst/>
              </a:prstGeom>
              <a:blipFill rotWithShape="1">
                <a:blip r:embed="rId26"/>
                <a:stretch>
                  <a:fillRect l="-6" t="-61" r="-53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Line 63"/>
          <p:cNvSpPr>
            <a:spLocks noChangeShapeType="1"/>
          </p:cNvSpPr>
          <p:nvPr/>
        </p:nvSpPr>
        <p:spPr bwMode="auto">
          <a:xfrm>
            <a:off x="6023773" y="4776053"/>
            <a:ext cx="2601514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7" name="Line 62"/>
          <p:cNvSpPr>
            <a:spLocks noChangeShapeType="1"/>
          </p:cNvSpPr>
          <p:nvPr/>
        </p:nvSpPr>
        <p:spPr bwMode="auto">
          <a:xfrm>
            <a:off x="3516045" y="4776053"/>
            <a:ext cx="2247618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1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 animBg="1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7" name="矩形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2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半闭框 8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9" name="半闭框 8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0" name="半闭框 8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91" name="半闭框 90"/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Rectangle 77"/>
          <p:cNvSpPr>
            <a:spLocks noChangeArrowheads="1"/>
          </p:cNvSpPr>
          <p:nvPr/>
        </p:nvSpPr>
        <p:spPr bwMode="auto">
          <a:xfrm>
            <a:off x="3580524" y="4073192"/>
            <a:ext cx="4932326" cy="1300044"/>
          </a:xfrm>
          <a:prstGeom prst="rect">
            <a:avLst/>
          </a:prstGeom>
          <a:solidFill>
            <a:srgbClr val="04926A">
              <a:alpha val="20000"/>
            </a:srgbClr>
          </a:solidFill>
          <a:ln w="19050">
            <a:solidFill>
              <a:srgbClr val="04926A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49399" y="622435"/>
            <a:ext cx="1778493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5  </a:t>
            </a: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设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663603" y="643848"/>
            <a:ext cx="64656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二阶偏导数连续</a:t>
            </a:r>
            <a:r>
              <a:rPr kumimoji="1"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</a:t>
            </a: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求下列表达式在极坐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"/>
              <p:cNvSpPr txBox="1"/>
              <p:nvPr/>
            </p:nvSpPr>
            <p:spPr bwMode="auto">
              <a:xfrm>
                <a:off x="2768601" y="636209"/>
                <a:ext cx="2283624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8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8601" y="636209"/>
                <a:ext cx="2283624" cy="406400"/>
              </a:xfrm>
              <a:prstGeom prst="rect">
                <a:avLst/>
              </a:prstGeom>
              <a:blipFill rotWithShape="1">
                <a:blip r:embed="rId3"/>
                <a:stretch>
                  <a:fillRect t="-141" r="7" b="-161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6"/>
              <p:cNvSpPr txBox="1"/>
              <p:nvPr/>
            </p:nvSpPr>
            <p:spPr bwMode="auto">
              <a:xfrm>
                <a:off x="4533048" y="1075392"/>
                <a:ext cx="6556375" cy="1074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(1)  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,  (2)  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9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3048" y="1075392"/>
                <a:ext cx="6556375" cy="1074737"/>
              </a:xfrm>
              <a:prstGeom prst="rect">
                <a:avLst/>
              </a:prstGeom>
              <a:blipFill rotWithShape="1">
                <a:blip r:embed="rId4"/>
                <a:stretch>
                  <a:fillRect l="-6" t="-31" r="6"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549399" y="2167640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</a:t>
            </a: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已知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9"/>
              <p:cNvSpPr txBox="1"/>
              <p:nvPr/>
            </p:nvSpPr>
            <p:spPr bwMode="auto">
              <a:xfrm>
                <a:off x="2968947" y="2205624"/>
                <a:ext cx="3389313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𝜌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𝜌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8947" y="2205624"/>
                <a:ext cx="3389313" cy="393700"/>
              </a:xfrm>
              <a:prstGeom prst="rect">
                <a:avLst/>
              </a:prstGeom>
              <a:blipFill rotWithShape="1">
                <a:blip r:embed="rId5"/>
                <a:stretch>
                  <a:fillRect l="-10" t="-68" b="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9188280" y="2320592"/>
            <a:ext cx="1447800" cy="1752600"/>
          </a:xfrm>
          <a:prstGeom prst="rect">
            <a:avLst/>
          </a:prstGeom>
          <a:solidFill>
            <a:srgbClr val="04926A">
              <a:alpha val="20000"/>
            </a:srgbClr>
          </a:solidFill>
          <a:ln w="19050">
            <a:solidFill>
              <a:srgbClr val="04926A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13" name="Group 73"/>
          <p:cNvGrpSpPr/>
          <p:nvPr/>
        </p:nvGrpSpPr>
        <p:grpSpPr bwMode="auto">
          <a:xfrm>
            <a:off x="9505780" y="2330015"/>
            <a:ext cx="762000" cy="931863"/>
            <a:chOff x="4608" y="1440"/>
            <a:chExt cx="480" cy="5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18"/>
                <p:cNvSpPr txBox="1"/>
                <p:nvPr/>
              </p:nvSpPr>
              <p:spPr bwMode="auto">
                <a:xfrm>
                  <a:off x="4749" y="1440"/>
                  <a:ext cx="18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𝑢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4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49" y="1440"/>
                  <a:ext cx="180" cy="248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bject 19"/>
                <p:cNvSpPr txBox="1"/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𝜌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   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𝜃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5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22"/>
            <p:cNvSpPr>
              <a:spLocks noChangeShapeType="1"/>
            </p:cNvSpPr>
            <p:nvPr/>
          </p:nvSpPr>
          <p:spPr bwMode="auto">
            <a:xfrm flipH="1">
              <a:off x="4704" y="1679"/>
              <a:ext cx="15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7" name="Line 23"/>
            <p:cNvSpPr>
              <a:spLocks noChangeShapeType="1"/>
            </p:cNvSpPr>
            <p:nvPr/>
          </p:nvSpPr>
          <p:spPr bwMode="auto">
            <a:xfrm>
              <a:off x="4848" y="1679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18" name="Group 75"/>
          <p:cNvGrpSpPr/>
          <p:nvPr/>
        </p:nvGrpSpPr>
        <p:grpSpPr bwMode="auto">
          <a:xfrm>
            <a:off x="9287498" y="3282517"/>
            <a:ext cx="647700" cy="534988"/>
            <a:chOff x="4393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bject 20"/>
                <p:cNvSpPr txBox="1"/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9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Group 24"/>
            <p:cNvGrpSpPr/>
            <p:nvPr/>
          </p:nvGrpSpPr>
          <p:grpSpPr bwMode="auto">
            <a:xfrm>
              <a:off x="4512" y="2112"/>
              <a:ext cx="192" cy="192"/>
              <a:chOff x="4272" y="1488"/>
              <a:chExt cx="192" cy="192"/>
            </a:xfrm>
          </p:grpSpPr>
          <p:sp>
            <p:nvSpPr>
              <p:cNvPr id="21" name="Line 25"/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Line 26"/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3" name="Group 76"/>
          <p:cNvGrpSpPr/>
          <p:nvPr/>
        </p:nvGrpSpPr>
        <p:grpSpPr bwMode="auto">
          <a:xfrm>
            <a:off x="9884795" y="3282517"/>
            <a:ext cx="647700" cy="534988"/>
            <a:chOff x="4932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21"/>
                <p:cNvSpPr txBox="1"/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4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oup 27"/>
            <p:cNvGrpSpPr/>
            <p:nvPr/>
          </p:nvGrpSpPr>
          <p:grpSpPr bwMode="auto">
            <a:xfrm>
              <a:off x="5040" y="2112"/>
              <a:ext cx="192" cy="192"/>
              <a:chOff x="4272" y="1488"/>
              <a:chExt cx="192" cy="192"/>
            </a:xfrm>
          </p:grpSpPr>
          <p:sp>
            <p:nvSpPr>
              <p:cNvPr id="26" name="Line 28"/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27" name="Line 29"/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8" name="Text Box 33"/>
          <p:cNvSpPr txBox="1">
            <a:spLocks noChangeArrowheads="1"/>
          </p:cNvSpPr>
          <p:nvPr/>
        </p:nvSpPr>
        <p:spPr bwMode="auto">
          <a:xfrm>
            <a:off x="2346325" y="1436289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标系下的形式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42"/>
              <p:cNvSpPr txBox="1"/>
              <p:nvPr/>
            </p:nvSpPr>
            <p:spPr bwMode="auto">
              <a:xfrm>
                <a:off x="3214484" y="3221579"/>
                <a:ext cx="13335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9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4484" y="3221579"/>
                <a:ext cx="1333500" cy="914400"/>
              </a:xfrm>
              <a:prstGeom prst="rect">
                <a:avLst/>
              </a:prstGeom>
              <a:blipFill rotWithShape="1">
                <a:blip r:embed="rId9"/>
                <a:stretch>
                  <a:fillRect l="-9" t="-24" r="9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43"/>
              <p:cNvSpPr txBox="1"/>
              <p:nvPr/>
            </p:nvSpPr>
            <p:spPr bwMode="auto">
              <a:xfrm>
                <a:off x="2837293" y="3219357"/>
                <a:ext cx="431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0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7293" y="3219357"/>
                <a:ext cx="431800" cy="927100"/>
              </a:xfrm>
              <a:prstGeom prst="rect">
                <a:avLst/>
              </a:prstGeom>
              <a:blipFill rotWithShape="1">
                <a:blip r:embed="rId10"/>
                <a:stretch>
                  <a:fillRect l="-26" t="-58" r="26" b="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47"/>
              <p:cNvSpPr txBox="1">
                <a:spLocks noChangeArrowheads="1"/>
              </p:cNvSpPr>
              <p:nvPr/>
            </p:nvSpPr>
            <p:spPr bwMode="auto">
              <a:xfrm>
                <a:off x="2252247" y="3380718"/>
                <a:ext cx="80983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(1) </m:t>
                      </m:r>
                    </m:oMath>
                  </m:oMathPara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1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2247" y="3380718"/>
                <a:ext cx="809837" cy="430887"/>
              </a:xfrm>
              <a:prstGeom prst="rect">
                <a:avLst/>
              </a:prstGeom>
              <a:blipFill rotWithShape="1">
                <a:blip r:embed="rId11"/>
                <a:stretch>
                  <a:fillRect l="-66" t="-142" r="14" b="7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55"/>
              <p:cNvSpPr txBox="1">
                <a:spLocks noChangeArrowheads="1"/>
              </p:cNvSpPr>
              <p:nvPr/>
            </p:nvSpPr>
            <p:spPr bwMode="auto">
              <a:xfrm>
                <a:off x="5969001" y="2231852"/>
                <a:ext cx="70104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200" smtClean="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+mn-ea"/>
                      </a:rPr>
                      <m:t>,</m:t>
                    </m:r>
                    <m:r>
                      <a:rPr kumimoji="1" lang="en-US" altLang="zh-CN" sz="2200" b="0" i="0" smtClean="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+mn-ea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则</a:t>
                </a:r>
              </a:p>
            </p:txBody>
          </p:sp>
        </mc:Choice>
        <mc:Fallback xmlns="">
          <p:sp>
            <p:nvSpPr>
              <p:cNvPr id="32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9001" y="2231852"/>
                <a:ext cx="701040" cy="430887"/>
              </a:xfrm>
              <a:prstGeom prst="rect">
                <a:avLst/>
              </a:prstGeom>
              <a:blipFill rotWithShape="1">
                <a:blip r:embed="rId12"/>
                <a:stretch>
                  <a:fillRect t="-107" b="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56"/>
              <p:cNvSpPr txBox="1"/>
              <p:nvPr/>
            </p:nvSpPr>
            <p:spPr bwMode="auto">
              <a:xfrm>
                <a:off x="2961801" y="2602958"/>
                <a:ext cx="3685381" cy="6903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𝜌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arctan</m:t>
                          </m:r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𝑦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3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1801" y="2602958"/>
                <a:ext cx="3685381" cy="690332"/>
              </a:xfrm>
              <a:prstGeom prst="rect">
                <a:avLst/>
              </a:prstGeom>
              <a:blipFill rotWithShape="1">
                <a:blip r:embed="rId13"/>
                <a:stretch>
                  <a:fillRect l="-4" t="-13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9"/>
              <p:cNvSpPr txBox="1"/>
              <p:nvPr/>
            </p:nvSpPr>
            <p:spPr bwMode="auto">
              <a:xfrm>
                <a:off x="3217341" y="5389111"/>
                <a:ext cx="1103312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𝜕𝜌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4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7341" y="5389111"/>
                <a:ext cx="1103312" cy="898525"/>
              </a:xfrm>
              <a:prstGeom prst="rect">
                <a:avLst/>
              </a:prstGeom>
              <a:blipFill rotWithShape="1">
                <a:blip r:embed="rId14"/>
                <a:stretch>
                  <a:fillRect l="-39" t="-56" r="10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0"/>
              <p:cNvSpPr txBox="1"/>
              <p:nvPr/>
            </p:nvSpPr>
            <p:spPr bwMode="auto">
              <a:xfrm>
                <a:off x="3824718" y="4279446"/>
                <a:ext cx="13589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5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4718" y="4279446"/>
                <a:ext cx="1358900" cy="914400"/>
              </a:xfrm>
              <a:prstGeom prst="rect">
                <a:avLst/>
              </a:prstGeom>
              <a:blipFill rotWithShape="1">
                <a:blip r:embed="rId15"/>
                <a:stretch>
                  <a:fillRect l="-8" t="-20" r="8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34"/>
              <p:cNvSpPr txBox="1"/>
              <p:nvPr/>
            </p:nvSpPr>
            <p:spPr bwMode="auto">
              <a:xfrm>
                <a:off x="4913163" y="4279119"/>
                <a:ext cx="2185697" cy="930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𝜕𝜃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  <a:cs typeface="+mn-ea"/>
                            </a:rPr>
                            <m:t>         </m:t>
                          </m:r>
                        </m:num>
                        <m:den>
                          <m:r>
                            <a:rPr kumimoji="1"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6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3163" y="4279119"/>
                <a:ext cx="2185697" cy="930275"/>
              </a:xfrm>
              <a:prstGeom prst="rect">
                <a:avLst/>
              </a:prstGeom>
              <a:blipFill rotWithShape="1">
                <a:blip r:embed="rId16"/>
                <a:stretch>
                  <a:fillRect l="-8" t="-53" r="9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5"/>
              <p:cNvSpPr txBox="1"/>
              <p:nvPr/>
            </p:nvSpPr>
            <p:spPr bwMode="auto">
              <a:xfrm>
                <a:off x="6016880" y="4035781"/>
                <a:ext cx="445291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7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6880" y="4035781"/>
                <a:ext cx="445291" cy="685800"/>
              </a:xfrm>
              <a:prstGeom prst="rect">
                <a:avLst/>
              </a:prstGeom>
              <a:blipFill rotWithShape="1">
                <a:blip r:embed="rId17"/>
                <a:stretch>
                  <a:fillRect l="-57" t="-52" r="-2475" b="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36"/>
              <p:cNvSpPr txBox="1"/>
              <p:nvPr/>
            </p:nvSpPr>
            <p:spPr bwMode="auto">
              <a:xfrm>
                <a:off x="5648946" y="4629548"/>
                <a:ext cx="1689100" cy="6740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1+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8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48946" y="4629548"/>
                <a:ext cx="1689100" cy="674082"/>
              </a:xfrm>
              <a:prstGeom prst="rect">
                <a:avLst/>
              </a:prstGeom>
              <a:blipFill rotWithShape="1">
                <a:blip r:embed="rId18"/>
                <a:stretch>
                  <a:fillRect l="-37" t="-59" r="37" b="-8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37"/>
              <p:cNvSpPr txBox="1"/>
              <p:nvPr/>
            </p:nvSpPr>
            <p:spPr bwMode="auto">
              <a:xfrm>
                <a:off x="6921679" y="4338513"/>
                <a:ext cx="1485900" cy="977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9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21679" y="4338513"/>
                <a:ext cx="1485900" cy="977900"/>
              </a:xfrm>
              <a:prstGeom prst="rect">
                <a:avLst/>
              </a:prstGeom>
              <a:blipFill rotWithShape="1">
                <a:blip r:embed="rId19"/>
                <a:stretch>
                  <a:fillRect l="-12" t="-20" r="12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41"/>
              <p:cNvSpPr txBox="1"/>
              <p:nvPr/>
            </p:nvSpPr>
            <p:spPr bwMode="auto">
              <a:xfrm>
                <a:off x="4315891" y="3219358"/>
                <a:ext cx="1228725" cy="930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𝜕𝜃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𝜕𝜃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0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5891" y="3219358"/>
                <a:ext cx="1228725" cy="930275"/>
              </a:xfrm>
              <a:prstGeom prst="rect">
                <a:avLst/>
              </a:prstGeom>
              <a:blipFill rotWithShape="1">
                <a:blip r:embed="rId20"/>
                <a:stretch>
                  <a:fillRect l="-35" t="-58" r="35" b="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40"/>
              <p:cNvSpPr txBox="1"/>
              <p:nvPr/>
            </p:nvSpPr>
            <p:spPr bwMode="auto">
              <a:xfrm>
                <a:off x="4066898" y="5389111"/>
                <a:ext cx="12065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1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6898" y="5389111"/>
                <a:ext cx="1206500" cy="914400"/>
              </a:xfrm>
              <a:prstGeom prst="rect">
                <a:avLst/>
              </a:prstGeom>
              <a:blipFill rotWithShape="1">
                <a:blip r:embed="rId21"/>
                <a:stretch>
                  <a:fillRect l="-30" t="-55" r="30" b="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54"/>
              <p:cNvSpPr txBox="1"/>
              <p:nvPr/>
            </p:nvSpPr>
            <p:spPr bwMode="auto">
              <a:xfrm>
                <a:off x="5077817" y="5389111"/>
                <a:ext cx="3173413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2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7817" y="5389111"/>
                <a:ext cx="3173413" cy="914400"/>
              </a:xfrm>
              <a:prstGeom prst="rect">
                <a:avLst/>
              </a:prstGeom>
              <a:blipFill rotWithShape="1">
                <a:blip r:embed="rId22"/>
                <a:stretch>
                  <a:fillRect l="-11" t="-55" r="1" b="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Line 72"/>
          <p:cNvSpPr>
            <a:spLocks noChangeShapeType="1"/>
          </p:cNvSpPr>
          <p:nvPr/>
        </p:nvSpPr>
        <p:spPr bwMode="auto">
          <a:xfrm>
            <a:off x="3401173" y="4002766"/>
            <a:ext cx="0" cy="148998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0" name="矩形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2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半闭框 70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半闭框 71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3" name="半闭框 72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74" name="半闭框 73"/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8"/>
              <p:cNvSpPr txBox="1"/>
              <p:nvPr/>
            </p:nvSpPr>
            <p:spPr bwMode="auto">
              <a:xfrm>
                <a:off x="2455863" y="942975"/>
                <a:ext cx="457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5863" y="942975"/>
                <a:ext cx="457200" cy="927100"/>
              </a:xfrm>
              <a:prstGeom prst="rect">
                <a:avLst/>
              </a:prstGeom>
              <a:blipFill rotWithShape="1">
                <a:blip r:embed="rId3"/>
                <a:stretch>
                  <a:fillRect l="-70" r="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9"/>
              <p:cNvSpPr txBox="1"/>
              <p:nvPr/>
            </p:nvSpPr>
            <p:spPr bwMode="auto">
              <a:xfrm>
                <a:off x="2835277" y="944562"/>
                <a:ext cx="1273175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5277" y="944562"/>
                <a:ext cx="1273175" cy="825500"/>
              </a:xfrm>
              <a:prstGeom prst="rect">
                <a:avLst/>
              </a:prstGeom>
              <a:blipFill rotWithShape="1">
                <a:blip r:embed="rId4"/>
                <a:stretch>
                  <a:fillRect t="-38" b="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0"/>
              <p:cNvSpPr txBox="1"/>
              <p:nvPr/>
            </p:nvSpPr>
            <p:spPr bwMode="auto">
              <a:xfrm>
                <a:off x="2835277" y="4098923"/>
                <a:ext cx="2909887" cy="831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5277" y="4098923"/>
                <a:ext cx="2909887" cy="831850"/>
              </a:xfrm>
              <a:prstGeom prst="rect">
                <a:avLst/>
              </a:prstGeom>
              <a:blipFill rotWithShape="1">
                <a:blip r:embed="rId5"/>
                <a:stretch>
                  <a:fillRect t="-76" r="11" b="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1"/>
              <p:cNvSpPr txBox="1"/>
              <p:nvPr/>
            </p:nvSpPr>
            <p:spPr bwMode="auto">
              <a:xfrm>
                <a:off x="3956052" y="942975"/>
                <a:ext cx="11811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𝜕𝜃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5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6052" y="942975"/>
                <a:ext cx="1181100" cy="9271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4"/>
              <p:cNvSpPr txBox="1"/>
              <p:nvPr/>
            </p:nvSpPr>
            <p:spPr bwMode="auto">
              <a:xfrm>
                <a:off x="2448243" y="5013323"/>
                <a:ext cx="5255577" cy="831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∴</m:t>
                      </m:r>
                      <m:r>
                        <a:rPr kumimoji="1" lang="en-US" altLang="zh-CN" sz="22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 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2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6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8243" y="5013323"/>
                <a:ext cx="5255577" cy="831850"/>
              </a:xfrm>
              <a:prstGeom prst="rect">
                <a:avLst/>
              </a:prstGeom>
              <a:blipFill rotWithShape="1">
                <a:blip r:embed="rId7"/>
                <a:stretch>
                  <a:fillRect l="-6" t="-76" b="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ine 66"/>
          <p:cNvSpPr>
            <a:spLocks noChangeShapeType="1"/>
          </p:cNvSpPr>
          <p:nvPr/>
        </p:nvSpPr>
        <p:spPr bwMode="auto">
          <a:xfrm>
            <a:off x="3022600" y="1770062"/>
            <a:ext cx="0" cy="1325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7"/>
              <p:cNvSpPr txBox="1"/>
              <p:nvPr/>
            </p:nvSpPr>
            <p:spPr bwMode="auto">
              <a:xfrm>
                <a:off x="2835277" y="3208336"/>
                <a:ext cx="11430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8" name="Object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5277" y="3208336"/>
                <a:ext cx="1143000" cy="914400"/>
              </a:xfrm>
              <a:prstGeom prst="rect">
                <a:avLst/>
              </a:prstGeom>
              <a:blipFill rotWithShape="1">
                <a:blip r:embed="rId8"/>
                <a:stretch>
                  <a:fillRect t="-35" b="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68"/>
              <p:cNvSpPr txBox="1"/>
              <p:nvPr/>
            </p:nvSpPr>
            <p:spPr bwMode="auto">
              <a:xfrm>
                <a:off x="3806829" y="3208336"/>
                <a:ext cx="12192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9" name="Object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6829" y="3208336"/>
                <a:ext cx="1219200" cy="914400"/>
              </a:xfrm>
              <a:prstGeom prst="rect">
                <a:avLst/>
              </a:prstGeom>
              <a:blipFill rotWithShape="1">
                <a:blip r:embed="rId9"/>
                <a:stretch>
                  <a:fillRect t="-35" b="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26"/>
              <p:cNvSpPr txBox="1"/>
              <p:nvPr/>
            </p:nvSpPr>
            <p:spPr>
              <a:xfrm>
                <a:off x="3022600" y="1816099"/>
                <a:ext cx="5786064" cy="1168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 ,  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1+</m:t>
                              </m:r>
                              <m:d>
                                <m:dPr>
                                  <m:ctrlPr>
                                    <a:rPr kumimoji="1"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+mn-ea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+mn-ea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+mn-ea"/>
                                        </a:rPr>
                                        <m:t>𝑥</m:t>
                                      </m:r>
                                    </m:den>
                                  </m:f>
                                  <m:r>
                                    <a:rPr kumimoji="1" lang="en-US" altLang="zh-CN" sz="2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7" name="对象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600" y="1816099"/>
                <a:ext cx="5786064" cy="1168400"/>
              </a:xfrm>
              <a:prstGeom prst="rect">
                <a:avLst/>
              </a:prstGeom>
              <a:blipFill rotWithShape="1">
                <a:blip r:embed="rId10"/>
                <a:stretch>
                  <a:fillRect t="-54" r="10" b="-8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17"/>
          <p:cNvSpPr>
            <a:spLocks noChangeArrowheads="1"/>
          </p:cNvSpPr>
          <p:nvPr/>
        </p:nvSpPr>
        <p:spPr bwMode="auto">
          <a:xfrm>
            <a:off x="8215733" y="3178173"/>
            <a:ext cx="1447800" cy="1752600"/>
          </a:xfrm>
          <a:prstGeom prst="rect">
            <a:avLst/>
          </a:prstGeom>
          <a:solidFill>
            <a:srgbClr val="04926A">
              <a:alpha val="20000"/>
            </a:srgbClr>
          </a:solidFill>
          <a:ln w="19050">
            <a:solidFill>
              <a:srgbClr val="04926A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53" name="Group 73"/>
          <p:cNvGrpSpPr/>
          <p:nvPr/>
        </p:nvGrpSpPr>
        <p:grpSpPr bwMode="auto">
          <a:xfrm>
            <a:off x="8533233" y="3187596"/>
            <a:ext cx="762000" cy="931863"/>
            <a:chOff x="4608" y="1440"/>
            <a:chExt cx="480" cy="5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bject 18"/>
                <p:cNvSpPr txBox="1"/>
                <p:nvPr/>
              </p:nvSpPr>
              <p:spPr bwMode="auto">
                <a:xfrm>
                  <a:off x="4749" y="1440"/>
                  <a:ext cx="18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𝑢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54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49" y="1440"/>
                  <a:ext cx="180" cy="248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Object 19"/>
                <p:cNvSpPr txBox="1"/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𝜌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   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𝜃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55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Line 22"/>
            <p:cNvSpPr>
              <a:spLocks noChangeShapeType="1"/>
            </p:cNvSpPr>
            <p:nvPr/>
          </p:nvSpPr>
          <p:spPr bwMode="auto">
            <a:xfrm flipH="1">
              <a:off x="4704" y="1679"/>
              <a:ext cx="15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7" name="Line 23"/>
            <p:cNvSpPr>
              <a:spLocks noChangeShapeType="1"/>
            </p:cNvSpPr>
            <p:nvPr/>
          </p:nvSpPr>
          <p:spPr bwMode="auto">
            <a:xfrm>
              <a:off x="4848" y="1679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58" name="Group 75"/>
          <p:cNvGrpSpPr/>
          <p:nvPr/>
        </p:nvGrpSpPr>
        <p:grpSpPr bwMode="auto">
          <a:xfrm>
            <a:off x="8314951" y="4140098"/>
            <a:ext cx="647700" cy="534988"/>
            <a:chOff x="4393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bject 20"/>
                <p:cNvSpPr txBox="1"/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59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0" name="Group 24"/>
            <p:cNvGrpSpPr/>
            <p:nvPr/>
          </p:nvGrpSpPr>
          <p:grpSpPr bwMode="auto">
            <a:xfrm>
              <a:off x="4512" y="2112"/>
              <a:ext cx="192" cy="192"/>
              <a:chOff x="4272" y="1488"/>
              <a:chExt cx="192" cy="192"/>
            </a:xfrm>
          </p:grpSpPr>
          <p:sp>
            <p:nvSpPr>
              <p:cNvPr id="61" name="Line 25"/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62" name="Line 26"/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3" name="Group 76"/>
          <p:cNvGrpSpPr/>
          <p:nvPr/>
        </p:nvGrpSpPr>
        <p:grpSpPr bwMode="auto">
          <a:xfrm>
            <a:off x="8912248" y="4140098"/>
            <a:ext cx="647700" cy="534988"/>
            <a:chOff x="4932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Object 21"/>
                <p:cNvSpPr txBox="1"/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64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5" name="Group 27"/>
            <p:cNvGrpSpPr/>
            <p:nvPr/>
          </p:nvGrpSpPr>
          <p:grpSpPr bwMode="auto">
            <a:xfrm>
              <a:off x="5040" y="2112"/>
              <a:ext cx="192" cy="192"/>
              <a:chOff x="4272" y="1488"/>
              <a:chExt cx="192" cy="192"/>
            </a:xfrm>
          </p:grpSpPr>
          <p:sp>
            <p:nvSpPr>
              <p:cNvPr id="66" name="Line 28"/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67" name="Line 29"/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/>
      <p:bldP spid="9" grpId="0"/>
      <p:bldP spid="27" grpId="0"/>
      <p:bldP spid="5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矩形 129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0" name="矩形 1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2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半闭框 130"/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2" name="半闭框 131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3" name="半闭框 132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34" name="半闭框 133"/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6" name="Rectangle 17"/>
          <p:cNvSpPr>
            <a:spLocks noChangeArrowheads="1"/>
          </p:cNvSpPr>
          <p:nvPr/>
        </p:nvSpPr>
        <p:spPr bwMode="auto">
          <a:xfrm>
            <a:off x="8466843" y="1278072"/>
            <a:ext cx="1447800" cy="2139154"/>
          </a:xfrm>
          <a:prstGeom prst="rect">
            <a:avLst/>
          </a:prstGeom>
          <a:solidFill>
            <a:srgbClr val="04926A">
              <a:alpha val="20000"/>
            </a:srgbClr>
          </a:solidFill>
          <a:ln w="19050">
            <a:solidFill>
              <a:srgbClr val="04926A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2274492" y="657577"/>
            <a:ext cx="4563268" cy="935236"/>
          </a:xfrm>
          <a:prstGeom prst="rect">
            <a:avLst/>
          </a:prstGeom>
          <a:solidFill>
            <a:srgbClr val="04926A">
              <a:alpha val="20000"/>
            </a:srgbClr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已知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2"/>
              <p:cNvSpPr txBox="1"/>
              <p:nvPr/>
            </p:nvSpPr>
            <p:spPr bwMode="auto">
              <a:xfrm>
                <a:off x="3379015" y="3535598"/>
                <a:ext cx="4521467" cy="912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                                   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en-US" altLang="zh-CN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       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9015" y="3535598"/>
                <a:ext cx="4521467" cy="912812"/>
              </a:xfrm>
              <a:prstGeom prst="rect">
                <a:avLst/>
              </a:prstGeom>
              <a:blipFill rotWithShape="1">
                <a:blip r:embed="rId3"/>
                <a:stretch>
                  <a:fillRect l="-4" t="-61" r="10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4"/>
              <p:cNvSpPr txBox="1"/>
              <p:nvPr/>
            </p:nvSpPr>
            <p:spPr bwMode="auto">
              <a:xfrm>
                <a:off x="4278757" y="3597142"/>
                <a:ext cx="255976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8757" y="3597142"/>
                <a:ext cx="2559760" cy="914400"/>
              </a:xfrm>
              <a:prstGeom prst="rect">
                <a:avLst/>
              </a:prstGeom>
              <a:blipFill rotWithShape="1">
                <a:blip r:embed="rId4"/>
                <a:stretch>
                  <a:fillRect l="-5" t="-55" r="8" b="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"/>
              <p:cNvSpPr txBox="1"/>
              <p:nvPr/>
            </p:nvSpPr>
            <p:spPr bwMode="auto">
              <a:xfrm>
                <a:off x="3385056" y="1660182"/>
                <a:ext cx="1464629" cy="8781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5056" y="1660182"/>
                <a:ext cx="1464629" cy="878142"/>
              </a:xfrm>
              <a:prstGeom prst="rect">
                <a:avLst/>
              </a:prstGeom>
              <a:blipFill rotWithShape="1">
                <a:blip r:embed="rId5"/>
                <a:stretch>
                  <a:fillRect l="-35" t="-33" r="13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2"/>
          <p:cNvSpPr>
            <a:spLocks noChangeArrowheads="1"/>
          </p:cNvSpPr>
          <p:nvPr/>
        </p:nvSpPr>
        <p:spPr bwMode="auto">
          <a:xfrm>
            <a:off x="4218839" y="1670122"/>
            <a:ext cx="457200" cy="853925"/>
          </a:xfrm>
          <a:prstGeom prst="ellipse">
            <a:avLst/>
          </a:prstGeom>
          <a:noFill/>
          <a:ln w="19050">
            <a:solidFill>
              <a:srgbClr val="4A7BA8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/>
              <p:cNvSpPr txBox="1"/>
              <p:nvPr/>
            </p:nvSpPr>
            <p:spPr bwMode="auto">
              <a:xfrm>
                <a:off x="2238642" y="1641826"/>
                <a:ext cx="12446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(2)  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7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8642" y="1641826"/>
                <a:ext cx="1244600" cy="965200"/>
              </a:xfrm>
              <a:prstGeom prst="rect">
                <a:avLst/>
              </a:prstGeom>
              <a:blipFill rotWithShape="1">
                <a:blip r:embed="rId6"/>
                <a:stretch>
                  <a:fillRect l="-21" t="-36" r="21" b="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0"/>
              <p:cNvSpPr txBox="1"/>
              <p:nvPr/>
            </p:nvSpPr>
            <p:spPr bwMode="auto">
              <a:xfrm>
                <a:off x="3262710" y="742607"/>
                <a:ext cx="3361798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2710" y="742607"/>
                <a:ext cx="3361798" cy="917575"/>
              </a:xfrm>
              <a:prstGeom prst="rect">
                <a:avLst/>
              </a:prstGeom>
              <a:blipFill rotWithShape="1">
                <a:blip r:embed="rId7"/>
                <a:stretch>
                  <a:fillRect l="-2" t="-32" r="6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3481310" y="1588718"/>
            <a:ext cx="1883031" cy="985134"/>
          </a:xfrm>
          <a:prstGeom prst="rect">
            <a:avLst/>
          </a:prstGeom>
          <a:solidFill>
            <a:schemeClr val="bg1"/>
          </a:solidFill>
          <a:ln w="0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7"/>
              <p:cNvSpPr txBox="1"/>
              <p:nvPr/>
            </p:nvSpPr>
            <p:spPr bwMode="auto">
              <a:xfrm>
                <a:off x="3386061" y="1618644"/>
                <a:ext cx="1650606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 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en-US" altLang="zh-CN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  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.</m:t>
                          </m:r>
                        </m:e>
                        <m:sup>
                          <m:r>
                            <a:rPr kumimoji="1"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4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6061" y="1618644"/>
                <a:ext cx="1650606" cy="914400"/>
              </a:xfrm>
              <a:prstGeom prst="rect">
                <a:avLst/>
              </a:prstGeom>
              <a:blipFill rotWithShape="1">
                <a:blip r:embed="rId8"/>
                <a:stretch>
                  <a:fillRect l="-15" t="-3" r="-2510" b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8"/>
              <p:cNvSpPr txBox="1"/>
              <p:nvPr/>
            </p:nvSpPr>
            <p:spPr bwMode="auto">
              <a:xfrm>
                <a:off x="4300461" y="1684525"/>
                <a:ext cx="4445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5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0461" y="1684525"/>
                <a:ext cx="444500" cy="927100"/>
              </a:xfrm>
              <a:prstGeom prst="rect">
                <a:avLst/>
              </a:prstGeom>
              <a:blipFill rotWithShape="1">
                <a:blip r:embed="rId9"/>
                <a:stretch>
                  <a:fillRect l="-54" t="-54" r="54" b="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9"/>
              <p:cNvSpPr txBox="1"/>
              <p:nvPr/>
            </p:nvSpPr>
            <p:spPr bwMode="auto">
              <a:xfrm>
                <a:off x="5736696" y="1661193"/>
                <a:ext cx="1511300" cy="773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​​</m:t>
                      </m:r>
                      <m:d>
                        <m:dPr>
                          <m:ctrlP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 </m:t>
                              </m:r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𝑢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en-US" altLang="zh-CN" sz="2200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  </m:t>
                              </m:r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6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6696" y="1661193"/>
                <a:ext cx="1511300" cy="773113"/>
              </a:xfrm>
              <a:prstGeom prst="rect">
                <a:avLst/>
              </a:prstGeom>
              <a:blipFill rotWithShape="1">
                <a:blip r:embed="rId10"/>
                <a:stretch>
                  <a:fillRect l="-7" t="-4" r="7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30"/>
              <p:cNvSpPr txBox="1"/>
              <p:nvPr/>
            </p:nvSpPr>
            <p:spPr bwMode="auto">
              <a:xfrm>
                <a:off x="6624508" y="1685006"/>
                <a:ext cx="444500" cy="735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7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4508" y="1685006"/>
                <a:ext cx="444500" cy="735012"/>
              </a:xfrm>
              <a:prstGeom prst="rect">
                <a:avLst/>
              </a:prstGeom>
              <a:blipFill rotWithShape="1">
                <a:blip r:embed="rId11"/>
                <a:stretch>
                  <a:fillRect l="-42" t="-48" r="42" b="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35"/>
              <p:cNvSpPr txBox="1"/>
              <p:nvPr/>
            </p:nvSpPr>
            <p:spPr bwMode="auto">
              <a:xfrm>
                <a:off x="3382237" y="4524805"/>
                <a:ext cx="20066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9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2237" y="4524805"/>
                <a:ext cx="2006600" cy="965200"/>
              </a:xfrm>
              <a:prstGeom prst="rect">
                <a:avLst/>
              </a:prstGeom>
              <a:blipFill rotWithShape="1">
                <a:blip r:embed="rId12"/>
                <a:stretch>
                  <a:fillRect l="-11" t="-45" r="11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6"/>
              <p:cNvSpPr txBox="1"/>
              <p:nvPr/>
            </p:nvSpPr>
            <p:spPr bwMode="auto">
              <a:xfrm>
                <a:off x="3381047" y="5435473"/>
                <a:ext cx="26670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 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0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1047" y="5435473"/>
                <a:ext cx="2667000" cy="914400"/>
              </a:xfrm>
              <a:prstGeom prst="rect">
                <a:avLst/>
              </a:prstGeom>
              <a:blipFill rotWithShape="1">
                <a:blip r:embed="rId13"/>
                <a:stretch>
                  <a:fillRect l="-12" t="-56" r="12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7"/>
              <p:cNvSpPr txBox="1"/>
              <p:nvPr/>
            </p:nvSpPr>
            <p:spPr bwMode="auto">
              <a:xfrm>
                <a:off x="5096142" y="1872331"/>
                <a:ext cx="720724" cy="419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1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96142" y="1872331"/>
                <a:ext cx="720724" cy="419100"/>
              </a:xfrm>
              <a:prstGeom prst="rect">
                <a:avLst/>
              </a:prstGeom>
              <a:blipFill rotWithShape="1">
                <a:blip r:embed="rId14"/>
                <a:stretch>
                  <a:fillRect l="-37" t="-84" r="37" b="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8"/>
              <p:cNvSpPr txBox="1"/>
              <p:nvPr/>
            </p:nvSpPr>
            <p:spPr bwMode="auto">
              <a:xfrm>
                <a:off x="7258317" y="1694531"/>
                <a:ext cx="774700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2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58317" y="1694531"/>
                <a:ext cx="774700" cy="901700"/>
              </a:xfrm>
              <a:prstGeom prst="rect">
                <a:avLst/>
              </a:prstGeom>
              <a:blipFill rotWithShape="1">
                <a:blip r:embed="rId15"/>
                <a:stretch>
                  <a:fillRect l="-34" t="-39" r="34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42"/>
          <p:cNvSpPr>
            <a:spLocks noChangeArrowheads="1"/>
          </p:cNvSpPr>
          <p:nvPr/>
        </p:nvSpPr>
        <p:spPr bwMode="auto">
          <a:xfrm>
            <a:off x="5542360" y="757170"/>
            <a:ext cx="284163" cy="360362"/>
          </a:xfrm>
          <a:prstGeom prst="ellips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8" name="Rectangle 44"/>
          <p:cNvSpPr>
            <a:spLocks noChangeArrowheads="1"/>
          </p:cNvSpPr>
          <p:nvPr/>
        </p:nvSpPr>
        <p:spPr bwMode="auto">
          <a:xfrm>
            <a:off x="4018360" y="699152"/>
            <a:ext cx="2445940" cy="858436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45"/>
              <p:cNvSpPr txBox="1"/>
              <p:nvPr/>
            </p:nvSpPr>
            <p:spPr bwMode="auto">
              <a:xfrm>
                <a:off x="4879199" y="4526710"/>
                <a:ext cx="31115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 − 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9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9199" y="4526710"/>
                <a:ext cx="3111500" cy="965200"/>
              </a:xfrm>
              <a:prstGeom prst="rect">
                <a:avLst/>
              </a:prstGeom>
              <a:blipFill rotWithShape="1">
                <a:blip r:embed="rId16"/>
                <a:stretch>
                  <a:fillRect l="-16" t="-45" r="16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46"/>
              <p:cNvSpPr txBox="1"/>
              <p:nvPr/>
            </p:nvSpPr>
            <p:spPr bwMode="auto">
              <a:xfrm>
                <a:off x="7447139" y="4528615"/>
                <a:ext cx="18669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0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47139" y="4528615"/>
                <a:ext cx="1866900" cy="965200"/>
              </a:xfrm>
              <a:prstGeom prst="rect">
                <a:avLst/>
              </a:prstGeom>
              <a:blipFill rotWithShape="1">
                <a:blip r:embed="rId17"/>
                <a:stretch>
                  <a:fillRect l="-26" t="-45" r="26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47"/>
              <p:cNvSpPr txBox="1"/>
              <p:nvPr/>
            </p:nvSpPr>
            <p:spPr bwMode="auto">
              <a:xfrm>
                <a:off x="5249484" y="4760787"/>
                <a:ext cx="474980" cy="4970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2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1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9484" y="4760787"/>
                <a:ext cx="474980" cy="497045"/>
              </a:xfrm>
              <a:prstGeom prst="rect">
                <a:avLst/>
              </a:prstGeom>
              <a:blipFill rotWithShape="1">
                <a:blip r:embed="rId18"/>
                <a:stretch>
                  <a:fillRect l="-121" t="-39" r="121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48"/>
              <p:cNvSpPr txBox="1"/>
              <p:nvPr/>
            </p:nvSpPr>
            <p:spPr bwMode="auto">
              <a:xfrm>
                <a:off x="5545661" y="5466445"/>
                <a:ext cx="18669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2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45661" y="5466445"/>
                <a:ext cx="1866900" cy="965200"/>
              </a:xfrm>
              <a:prstGeom prst="rect">
                <a:avLst/>
              </a:prstGeom>
              <a:blipFill rotWithShape="1">
                <a:blip r:embed="rId19"/>
                <a:stretch>
                  <a:fillRect l="-11" t="-38" r="11" b="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Line 49"/>
          <p:cNvSpPr>
            <a:spLocks noChangeShapeType="1"/>
          </p:cNvSpPr>
          <p:nvPr/>
        </p:nvSpPr>
        <p:spPr bwMode="auto">
          <a:xfrm>
            <a:off x="3778250" y="3462470"/>
            <a:ext cx="16002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4" name="Line 50"/>
          <p:cNvSpPr>
            <a:spLocks noChangeShapeType="1"/>
          </p:cNvSpPr>
          <p:nvPr/>
        </p:nvSpPr>
        <p:spPr bwMode="auto">
          <a:xfrm>
            <a:off x="4292600" y="3462470"/>
            <a:ext cx="1163904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5" name="Line 51"/>
          <p:cNvSpPr>
            <a:spLocks noChangeShapeType="1"/>
          </p:cNvSpPr>
          <p:nvPr/>
        </p:nvSpPr>
        <p:spPr bwMode="auto">
          <a:xfrm>
            <a:off x="5736696" y="3462470"/>
            <a:ext cx="1007004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6" name="Line 52"/>
          <p:cNvSpPr>
            <a:spLocks noChangeShapeType="1"/>
          </p:cNvSpPr>
          <p:nvPr/>
        </p:nvSpPr>
        <p:spPr bwMode="auto">
          <a:xfrm>
            <a:off x="3778250" y="3462470"/>
            <a:ext cx="3810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7" name="Line 53"/>
          <p:cNvSpPr>
            <a:spLocks noChangeShapeType="1"/>
          </p:cNvSpPr>
          <p:nvPr/>
        </p:nvSpPr>
        <p:spPr bwMode="auto">
          <a:xfrm flipV="1">
            <a:off x="3709476" y="4471270"/>
            <a:ext cx="1591663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54"/>
              <p:cNvSpPr txBox="1"/>
              <p:nvPr/>
            </p:nvSpPr>
            <p:spPr bwMode="auto">
              <a:xfrm>
                <a:off x="4101772" y="5496214"/>
                <a:ext cx="385712" cy="3409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2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8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1772" y="5496214"/>
                <a:ext cx="385712" cy="340913"/>
              </a:xfrm>
              <a:prstGeom prst="rect">
                <a:avLst/>
              </a:prstGeom>
              <a:blipFill rotWithShape="1">
                <a:blip r:embed="rId20"/>
                <a:stretch>
                  <a:fillRect l="-80" t="-85" r="149" b="-116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Line 55"/>
          <p:cNvSpPr>
            <a:spLocks noChangeShapeType="1"/>
          </p:cNvSpPr>
          <p:nvPr/>
        </p:nvSpPr>
        <p:spPr bwMode="auto">
          <a:xfrm>
            <a:off x="4167029" y="4471270"/>
            <a:ext cx="1371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50" name="Line 56"/>
          <p:cNvSpPr>
            <a:spLocks noChangeShapeType="1"/>
          </p:cNvSpPr>
          <p:nvPr/>
        </p:nvSpPr>
        <p:spPr bwMode="auto">
          <a:xfrm flipV="1">
            <a:off x="5776119" y="4471270"/>
            <a:ext cx="1999636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51" name="Text Box 59"/>
          <p:cNvSpPr txBox="1">
            <a:spLocks noChangeArrowheads="1"/>
          </p:cNvSpPr>
          <p:nvPr/>
        </p:nvSpPr>
        <p:spPr bwMode="auto">
          <a:xfrm>
            <a:off x="8405469" y="3462470"/>
            <a:ext cx="157054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注意利用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已有公式</a:t>
            </a:r>
          </a:p>
        </p:txBody>
      </p:sp>
      <p:sp>
        <p:nvSpPr>
          <p:cNvPr id="52" name="Line 62"/>
          <p:cNvSpPr>
            <a:spLocks noChangeShapeType="1"/>
          </p:cNvSpPr>
          <p:nvPr/>
        </p:nvSpPr>
        <p:spPr bwMode="auto">
          <a:xfrm>
            <a:off x="3611909" y="4471905"/>
            <a:ext cx="4231156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11"/>
              <p:cNvSpPr txBox="1"/>
              <p:nvPr/>
            </p:nvSpPr>
            <p:spPr bwMode="auto">
              <a:xfrm>
                <a:off x="3385056" y="2524679"/>
                <a:ext cx="4569088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 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en-US" altLang="zh-CN" sz="24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                               </m:t>
                                  </m:r>
                                  <m:r>
                                    <a:rPr kumimoji="1" lang="en-US" altLang="zh-CN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 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⋅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5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5056" y="2524679"/>
                <a:ext cx="4569088" cy="914400"/>
              </a:xfrm>
              <a:prstGeom prst="rect">
                <a:avLst/>
              </a:prstGeom>
              <a:blipFill rotWithShape="1">
                <a:blip r:embed="rId21"/>
                <a:stretch>
                  <a:fillRect l="-11" t="-61" r="3" b="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" name="Group 73"/>
          <p:cNvGrpSpPr/>
          <p:nvPr/>
        </p:nvGrpSpPr>
        <p:grpSpPr bwMode="auto">
          <a:xfrm>
            <a:off x="8803005" y="1616899"/>
            <a:ext cx="762000" cy="989013"/>
            <a:chOff x="4608" y="1404"/>
            <a:chExt cx="480" cy="6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Object 18"/>
                <p:cNvSpPr txBox="1"/>
                <p:nvPr/>
              </p:nvSpPr>
              <p:spPr bwMode="auto">
                <a:xfrm>
                  <a:off x="4733" y="1404"/>
                  <a:ext cx="299" cy="4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schemeClr val="bg1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𝑢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08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33" y="1404"/>
                  <a:ext cx="299" cy="455"/>
                </a:xfrm>
                <a:prstGeom prst="rect">
                  <a:avLst/>
                </a:prstGeom>
                <a:blipFill rotWithShape="1">
                  <a:blip r:embed="rId2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Object 19"/>
                <p:cNvSpPr txBox="1"/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𝑟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   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𝜃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09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8" y="1779"/>
                  <a:ext cx="480" cy="248"/>
                </a:xfrm>
                <a:prstGeom prst="rect">
                  <a:avLst/>
                </a:prstGeom>
                <a:blipFill rotWithShape="1">
                  <a:blip r:embed="rId2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Line 22"/>
            <p:cNvSpPr>
              <a:spLocks noChangeShapeType="1"/>
            </p:cNvSpPr>
            <p:nvPr/>
          </p:nvSpPr>
          <p:spPr bwMode="auto">
            <a:xfrm flipH="1">
              <a:off x="4704" y="1679"/>
              <a:ext cx="15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11" name="Line 23"/>
            <p:cNvSpPr>
              <a:spLocks noChangeShapeType="1"/>
            </p:cNvSpPr>
            <p:nvPr/>
          </p:nvSpPr>
          <p:spPr bwMode="auto">
            <a:xfrm>
              <a:off x="4848" y="1679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112" name="Group 75"/>
          <p:cNvGrpSpPr/>
          <p:nvPr/>
        </p:nvGrpSpPr>
        <p:grpSpPr bwMode="auto">
          <a:xfrm>
            <a:off x="8584723" y="2626551"/>
            <a:ext cx="647700" cy="534988"/>
            <a:chOff x="4393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Object 20"/>
                <p:cNvSpPr txBox="1"/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13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3" y="2249"/>
                  <a:ext cx="408" cy="200"/>
                </a:xfrm>
                <a:prstGeom prst="rect">
                  <a:avLst/>
                </a:prstGeom>
                <a:blipFill rotWithShape="1">
                  <a:blip r:embed="rId2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4" name="Group 24"/>
            <p:cNvGrpSpPr/>
            <p:nvPr/>
          </p:nvGrpSpPr>
          <p:grpSpPr bwMode="auto">
            <a:xfrm>
              <a:off x="4512" y="2112"/>
              <a:ext cx="192" cy="192"/>
              <a:chOff x="4272" y="1488"/>
              <a:chExt cx="192" cy="192"/>
            </a:xfrm>
          </p:grpSpPr>
          <p:sp>
            <p:nvSpPr>
              <p:cNvPr id="115" name="Line 25"/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116" name="Line 26"/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17" name="Group 76"/>
          <p:cNvGrpSpPr/>
          <p:nvPr/>
        </p:nvGrpSpPr>
        <p:grpSpPr bwMode="auto">
          <a:xfrm>
            <a:off x="9182020" y="2626551"/>
            <a:ext cx="647700" cy="534988"/>
            <a:chOff x="4932" y="2112"/>
            <a:chExt cx="408" cy="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Object 21"/>
                <p:cNvSpPr txBox="1"/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  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18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2" y="2249"/>
                  <a:ext cx="408" cy="200"/>
                </a:xfrm>
                <a:prstGeom prst="rect">
                  <a:avLst/>
                </a:prstGeom>
                <a:blipFill rotWithShape="1">
                  <a:blip r:embed="rId2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9" name="Group 27"/>
            <p:cNvGrpSpPr/>
            <p:nvPr/>
          </p:nvGrpSpPr>
          <p:grpSpPr bwMode="auto">
            <a:xfrm>
              <a:off x="5040" y="2112"/>
              <a:ext cx="192" cy="192"/>
              <a:chOff x="4272" y="1488"/>
              <a:chExt cx="192" cy="192"/>
            </a:xfrm>
          </p:grpSpPr>
          <p:sp>
            <p:nvSpPr>
              <p:cNvPr id="120" name="Line 28"/>
              <p:cNvSpPr>
                <a:spLocks noChangeShapeType="1"/>
              </p:cNvSpPr>
              <p:nvPr/>
            </p:nvSpPr>
            <p:spPr bwMode="auto">
              <a:xfrm flipH="1">
                <a:off x="4272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121" name="Line 29"/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122" name="Oval 42"/>
          <p:cNvSpPr>
            <a:spLocks noChangeArrowheads="1"/>
          </p:cNvSpPr>
          <p:nvPr/>
        </p:nvSpPr>
        <p:spPr bwMode="auto">
          <a:xfrm>
            <a:off x="4135437" y="757170"/>
            <a:ext cx="284163" cy="360362"/>
          </a:xfrm>
          <a:prstGeom prst="ellipse">
            <a:avLst/>
          </a:prstGeom>
          <a:noFill/>
          <a:ln w="19050">
            <a:solidFill>
              <a:srgbClr val="4A7BA8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3" name="Oval 42"/>
          <p:cNvSpPr>
            <a:spLocks noChangeArrowheads="1"/>
          </p:cNvSpPr>
          <p:nvPr/>
        </p:nvSpPr>
        <p:spPr bwMode="auto">
          <a:xfrm>
            <a:off x="3441700" y="757170"/>
            <a:ext cx="284163" cy="360362"/>
          </a:xfrm>
          <a:prstGeom prst="ellips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31"/>
              <p:cNvSpPr txBox="1"/>
              <p:nvPr/>
            </p:nvSpPr>
            <p:spPr bwMode="auto">
              <a:xfrm>
                <a:off x="4275406" y="2584808"/>
                <a:ext cx="2577070" cy="7485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𝜕𝜌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8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5406" y="2584808"/>
                <a:ext cx="2577070" cy="748543"/>
              </a:xfrm>
              <a:prstGeom prst="rect">
                <a:avLst/>
              </a:prstGeom>
              <a:blipFill rotWithShape="1">
                <a:blip r:embed="rId25"/>
                <a:stretch>
                  <a:fillRect l="-23" t="-48" r="7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Rectangle 39"/>
          <p:cNvSpPr>
            <a:spLocks noChangeArrowheads="1"/>
          </p:cNvSpPr>
          <p:nvPr/>
        </p:nvSpPr>
        <p:spPr bwMode="auto">
          <a:xfrm>
            <a:off x="8878422" y="1328494"/>
            <a:ext cx="623340" cy="722313"/>
          </a:xfrm>
          <a:prstGeom prst="rect">
            <a:avLst/>
          </a:prstGeom>
          <a:solidFill>
            <a:srgbClr val="04926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Object 18"/>
              <p:cNvSpPr txBox="1"/>
              <p:nvPr/>
            </p:nvSpPr>
            <p:spPr bwMode="auto">
              <a:xfrm>
                <a:off x="8937942" y="1304945"/>
                <a:ext cx="474663" cy="722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2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37942" y="1304945"/>
                <a:ext cx="474663" cy="722313"/>
              </a:xfrm>
              <a:prstGeom prst="rect">
                <a:avLst/>
              </a:prstGeom>
              <a:blipFill rotWithShape="1">
                <a:blip r:embed="rId26"/>
                <a:stretch>
                  <a:fillRect l="-67" t="-3" b="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2" grpId="0" animBg="1"/>
      <p:bldP spid="3" grpId="0"/>
      <p:bldP spid="4" grpId="0"/>
      <p:bldP spid="6" grpId="0"/>
      <p:bldP spid="5" grpId="0" animBg="1"/>
      <p:bldP spid="7" grpId="0"/>
      <p:bldP spid="8" grpId="0"/>
      <p:bldP spid="23" grpId="0" animBg="1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6" grpId="0" animBg="1"/>
      <p:bldP spid="38" grpId="0" animBg="1"/>
      <p:bldP spid="39" grpId="0"/>
      <p:bldP spid="40" grpId="0"/>
      <p:bldP spid="41" grpId="0"/>
      <p:bldP spid="42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/>
      <p:bldP spid="49" grpId="0" animBg="1"/>
      <p:bldP spid="50" grpId="0" animBg="1"/>
      <p:bldP spid="51" grpId="0"/>
      <p:bldP spid="52" grpId="0" animBg="1"/>
      <p:bldP spid="53" grpId="0"/>
      <p:bldP spid="122" grpId="0" animBg="1"/>
      <p:bldP spid="123" grpId="0" animBg="1"/>
      <p:bldP spid="28" grpId="0"/>
      <p:bldP spid="125" grpId="0" animBg="1"/>
      <p:bldP spid="1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9" name="矩形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2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半闭框 69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半闭框 70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半闭框 71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73" name="半闭框 72"/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/>
              <p:nvPr/>
            </p:nvSpPr>
            <p:spPr bwMode="auto">
              <a:xfrm>
                <a:off x="2905221" y="2703941"/>
                <a:ext cx="603250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5221" y="2703941"/>
                <a:ext cx="603250" cy="917575"/>
              </a:xfrm>
              <a:prstGeom prst="rect">
                <a:avLst/>
              </a:prstGeom>
              <a:blipFill rotWithShape="1">
                <a:blip r:embed="rId3"/>
                <a:stretch>
                  <a:fillRect l="-16" t="-12" r="16" b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 bwMode="auto">
              <a:xfrm>
                <a:off x="2891711" y="4536817"/>
                <a:ext cx="2355850" cy="915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∴  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1711" y="4536817"/>
                <a:ext cx="2355850" cy="915988"/>
              </a:xfrm>
              <a:prstGeom prst="rect">
                <a:avLst/>
              </a:prstGeom>
              <a:blipFill rotWithShape="1">
                <a:blip r:embed="rId4"/>
                <a:stretch>
                  <a:fillRect l="-24" t="-41" r="24" b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/>
              <p:cNvSpPr txBox="1"/>
              <p:nvPr/>
            </p:nvSpPr>
            <p:spPr bwMode="auto">
              <a:xfrm>
                <a:off x="2930525" y="600100"/>
                <a:ext cx="614363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0525" y="600100"/>
                <a:ext cx="614363" cy="917575"/>
              </a:xfrm>
              <a:prstGeom prst="rect">
                <a:avLst/>
              </a:prstGeom>
              <a:blipFill rotWithShape="1">
                <a:blip r:embed="rId5"/>
                <a:stretch>
                  <a:fillRect t="-3" r="52" b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7"/>
              <p:cNvSpPr txBox="1"/>
              <p:nvPr/>
            </p:nvSpPr>
            <p:spPr bwMode="auto">
              <a:xfrm>
                <a:off x="3499581" y="602067"/>
                <a:ext cx="6380163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 −2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6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9581" y="602067"/>
                <a:ext cx="6380163" cy="917575"/>
              </a:xfrm>
              <a:prstGeom prst="rect">
                <a:avLst/>
              </a:prstGeom>
              <a:blipFill rotWithShape="1">
                <a:blip r:embed="rId6"/>
                <a:stretch>
                  <a:fillRect l="-2" t="-9" r="6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/>
              <p:cNvSpPr txBox="1"/>
              <p:nvPr/>
            </p:nvSpPr>
            <p:spPr bwMode="auto">
              <a:xfrm>
                <a:off x="5183029" y="1543375"/>
                <a:ext cx="3921758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​​​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𝜕𝜌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7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3029" y="1543375"/>
                <a:ext cx="3921758" cy="917575"/>
              </a:xfrm>
              <a:prstGeom prst="rect">
                <a:avLst/>
              </a:prstGeom>
              <a:blipFill rotWithShape="1">
                <a:blip r:embed="rId7"/>
                <a:stretch>
                  <a:fillRect l="-4" t="-35" r="4" b="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/>
              <p:cNvSpPr txBox="1"/>
              <p:nvPr/>
            </p:nvSpPr>
            <p:spPr bwMode="auto">
              <a:xfrm>
                <a:off x="5183029" y="3585740"/>
                <a:ext cx="4135437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2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8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3029" y="3585740"/>
                <a:ext cx="4135437" cy="917575"/>
              </a:xfrm>
              <a:prstGeom prst="rect">
                <a:avLst/>
              </a:prstGeom>
              <a:blipFill rotWithShape="1">
                <a:blip r:embed="rId8"/>
                <a:stretch>
                  <a:fillRect l="-4" t="-58" r="12" b="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2901236" y="2269879"/>
            <a:ext cx="13573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同理可得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1"/>
              <p:cNvSpPr txBox="1"/>
              <p:nvPr/>
            </p:nvSpPr>
            <p:spPr bwMode="auto">
              <a:xfrm>
                <a:off x="5024517" y="4538405"/>
                <a:ext cx="652462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0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4517" y="4538405"/>
                <a:ext cx="652462" cy="917575"/>
              </a:xfrm>
              <a:prstGeom prst="rect">
                <a:avLst/>
              </a:prstGeom>
              <a:blipFill rotWithShape="1">
                <a:blip r:embed="rId9"/>
                <a:stretch>
                  <a:fillRect l="-61" t="-7" r="12" b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3"/>
              <p:cNvSpPr txBox="1"/>
              <p:nvPr/>
            </p:nvSpPr>
            <p:spPr bwMode="auto">
              <a:xfrm>
                <a:off x="6392941" y="4541580"/>
                <a:ext cx="1289050" cy="915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2941" y="4541580"/>
                <a:ext cx="1289050" cy="915987"/>
              </a:xfrm>
              <a:prstGeom prst="rect">
                <a:avLst/>
              </a:prstGeom>
              <a:blipFill rotWithShape="1">
                <a:blip r:embed="rId10"/>
                <a:stretch>
                  <a:fillRect l="-31" t="-7" r="31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4"/>
              <p:cNvSpPr txBox="1"/>
              <p:nvPr/>
            </p:nvSpPr>
            <p:spPr bwMode="auto">
              <a:xfrm>
                <a:off x="5470604" y="4582855"/>
                <a:ext cx="1060450" cy="869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2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70604" y="4582855"/>
                <a:ext cx="1060450" cy="869950"/>
              </a:xfrm>
              <a:prstGeom prst="rect">
                <a:avLst/>
              </a:prstGeom>
              <a:blipFill rotWithShape="1">
                <a:blip r:embed="rId11"/>
                <a:stretch>
                  <a:fillRect l="-7" t="-7" r="7" b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4"/>
              <p:cNvSpPr txBox="1"/>
              <p:nvPr/>
            </p:nvSpPr>
            <p:spPr bwMode="auto">
              <a:xfrm>
                <a:off x="3499581" y="2705433"/>
                <a:ext cx="5993575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 +2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9581" y="2705433"/>
                <a:ext cx="5993575" cy="917575"/>
              </a:xfrm>
              <a:prstGeom prst="rect">
                <a:avLst/>
              </a:prstGeom>
              <a:blipFill rotWithShape="1">
                <a:blip r:embed="rId12"/>
                <a:stretch>
                  <a:fillRect l="-2" t="-36" r="9" b="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ine 25"/>
          <p:cNvSpPr>
            <a:spLocks noChangeShapeType="1"/>
          </p:cNvSpPr>
          <p:nvPr/>
        </p:nvSpPr>
        <p:spPr bwMode="auto">
          <a:xfrm>
            <a:off x="3846707" y="1444967"/>
            <a:ext cx="1240755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7" name="Line 27"/>
          <p:cNvSpPr>
            <a:spLocks noChangeShapeType="1"/>
          </p:cNvSpPr>
          <p:nvPr/>
        </p:nvSpPr>
        <p:spPr bwMode="auto">
          <a:xfrm>
            <a:off x="5753100" y="709637"/>
            <a:ext cx="1912620" cy="663575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9" name="Line 29"/>
          <p:cNvSpPr>
            <a:spLocks noChangeShapeType="1"/>
          </p:cNvSpPr>
          <p:nvPr/>
        </p:nvSpPr>
        <p:spPr bwMode="auto">
          <a:xfrm>
            <a:off x="7955280" y="1444967"/>
            <a:ext cx="1203960" cy="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/>
              <p:cNvSpPr txBox="1"/>
              <p:nvPr/>
            </p:nvSpPr>
            <p:spPr>
              <a:xfrm>
                <a:off x="4734042" y="5347456"/>
                <a:ext cx="1366043" cy="967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dPr>
                        <m:e>
                          <m:r>
                            <a:rPr kumimoji="1" lang="zh-CN" altLang="en-US" sz="2200" smtClean="0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𝑢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𝜕𝜌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i="1" dirty="0">
                  <a:solidFill>
                    <a:prstClr val="black"/>
                  </a:solidFill>
                  <a:latin typeface="Cambria Math" panose="02040503050406030204" charset="0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042" y="5347456"/>
                <a:ext cx="1366043" cy="967167"/>
              </a:xfrm>
              <a:prstGeom prst="rect">
                <a:avLst/>
              </a:prstGeom>
              <a:blipFill rotWithShape="1">
                <a:blip r:embed="rId13"/>
                <a:stretch>
                  <a:fillRect l="-9" t="-13" r="20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/>
              <p:cNvSpPr txBox="1"/>
              <p:nvPr/>
            </p:nvSpPr>
            <p:spPr>
              <a:xfrm>
                <a:off x="5500326" y="5388988"/>
                <a:ext cx="2698873" cy="859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𝜌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​​</m:t>
                          </m:r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𝜌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𝜕𝜌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zh-CN" sz="2200" b="0" i="1" dirty="0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​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𝑢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26" y="5388988"/>
                <a:ext cx="2698873" cy="859851"/>
              </a:xfrm>
              <a:prstGeom prst="rect">
                <a:avLst/>
              </a:prstGeom>
              <a:blipFill rotWithShape="1">
                <a:blip r:embed="rId14"/>
                <a:stretch>
                  <a:fillRect l="-22" t="-44" r="3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Line 27"/>
          <p:cNvSpPr>
            <a:spLocks noChangeShapeType="1"/>
          </p:cNvSpPr>
          <p:nvPr/>
        </p:nvSpPr>
        <p:spPr bwMode="auto">
          <a:xfrm>
            <a:off x="5470604" y="1653645"/>
            <a:ext cx="1912620" cy="663575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59" name="Line 27"/>
          <p:cNvSpPr>
            <a:spLocks noChangeShapeType="1"/>
          </p:cNvSpPr>
          <p:nvPr/>
        </p:nvSpPr>
        <p:spPr bwMode="auto">
          <a:xfrm>
            <a:off x="5753100" y="2806114"/>
            <a:ext cx="1912620" cy="663575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0" name="Line 27"/>
          <p:cNvSpPr>
            <a:spLocks noChangeShapeType="1"/>
          </p:cNvSpPr>
          <p:nvPr/>
        </p:nvSpPr>
        <p:spPr bwMode="auto">
          <a:xfrm>
            <a:off x="5470604" y="3723378"/>
            <a:ext cx="1912620" cy="663575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2" name="Line 25"/>
          <p:cNvSpPr>
            <a:spLocks noChangeShapeType="1"/>
          </p:cNvSpPr>
          <p:nvPr/>
        </p:nvSpPr>
        <p:spPr bwMode="auto">
          <a:xfrm>
            <a:off x="3846707" y="3552936"/>
            <a:ext cx="1240755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3" name="Line 29"/>
          <p:cNvSpPr>
            <a:spLocks noChangeShapeType="1"/>
          </p:cNvSpPr>
          <p:nvPr/>
        </p:nvSpPr>
        <p:spPr bwMode="auto">
          <a:xfrm>
            <a:off x="7955280" y="3552936"/>
            <a:ext cx="1203960" cy="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6" name="Line 29"/>
          <p:cNvSpPr>
            <a:spLocks noChangeShapeType="1"/>
          </p:cNvSpPr>
          <p:nvPr/>
        </p:nvSpPr>
        <p:spPr bwMode="auto">
          <a:xfrm>
            <a:off x="7589520" y="2395165"/>
            <a:ext cx="120396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7" name="Line 29"/>
          <p:cNvSpPr>
            <a:spLocks noChangeShapeType="1"/>
          </p:cNvSpPr>
          <p:nvPr/>
        </p:nvSpPr>
        <p:spPr bwMode="auto">
          <a:xfrm>
            <a:off x="7589520" y="4442133"/>
            <a:ext cx="120396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 animBg="1"/>
      <p:bldP spid="17" grpId="0" animBg="1"/>
      <p:bldP spid="19" grpId="0" animBg="1"/>
      <p:bldP spid="52" grpId="0"/>
      <p:bldP spid="53" grpId="0"/>
      <p:bldP spid="58" grpId="0" animBg="1"/>
      <p:bldP spid="59" grpId="0" animBg="1"/>
      <p:bldP spid="60" grpId="0" animBg="1"/>
      <p:bldP spid="62" grpId="0" animBg="1"/>
      <p:bldP spid="63" grpId="0" animBg="1"/>
      <p:bldP spid="66" grpId="0" animBg="1"/>
      <p:bldP spid="6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9" name="Rectangle 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圆角矩形 2"/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228600" y="236182"/>
              <a:ext cx="11771970" cy="6421275"/>
              <a:chOff x="228600" y="236182"/>
              <a:chExt cx="11771970" cy="6421275"/>
            </a:xfrm>
          </p:grpSpPr>
          <p:sp>
            <p:nvSpPr>
              <p:cNvPr id="62" name="Rectangle 1"/>
              <p:cNvSpPr/>
              <p:nvPr/>
            </p:nvSpPr>
            <p:spPr>
              <a:xfrm>
                <a:off x="364173" y="6462830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Rectangle 1"/>
              <p:cNvSpPr/>
              <p:nvPr/>
            </p:nvSpPr>
            <p:spPr>
              <a:xfrm rot="2659048">
                <a:off x="8838055" y="320052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543503" y="6349680"/>
                <a:ext cx="285687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第四节 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多元复合函数的求导法则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9055533" y="236182"/>
                <a:ext cx="294503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第九章   多元函数微分法及其应用</a:t>
                </a:r>
              </a:p>
            </p:txBody>
          </p:sp>
          <p:cxnSp>
            <p:nvCxnSpPr>
              <p:cNvPr id="66" name="直接连接符 65"/>
              <p:cNvCxnSpPr/>
              <p:nvPr/>
            </p:nvCxnSpPr>
            <p:spPr>
              <a:xfrm>
                <a:off x="228600" y="390070"/>
                <a:ext cx="8388000" cy="0"/>
              </a:xfrm>
              <a:prstGeom prst="line">
                <a:avLst/>
              </a:prstGeom>
              <a:ln>
                <a:solidFill>
                  <a:srgbClr val="04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>
                <a:off x="3524250" y="6503568"/>
                <a:ext cx="841764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矩形 55"/>
          <p:cNvSpPr/>
          <p:nvPr/>
        </p:nvSpPr>
        <p:spPr>
          <a:xfrm>
            <a:off x="2740198" y="2150538"/>
            <a:ext cx="2310924" cy="957228"/>
          </a:xfrm>
          <a:prstGeom prst="rect">
            <a:avLst/>
          </a:prstGeom>
          <a:solidFill>
            <a:srgbClr val="04926A">
              <a:alpha val="42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740198" y="5220916"/>
            <a:ext cx="2310924" cy="1057973"/>
          </a:xfrm>
          <a:prstGeom prst="rect">
            <a:avLst/>
          </a:prstGeom>
          <a:solidFill>
            <a:srgbClr val="04926A">
              <a:alpha val="42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27"/>
          <p:cNvSpPr txBox="1">
            <a:spLocks noChangeArrowheads="1"/>
          </p:cNvSpPr>
          <p:nvPr/>
        </p:nvSpPr>
        <p:spPr>
          <a:xfrm>
            <a:off x="1130300" y="593725"/>
            <a:ext cx="4585702" cy="5191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四、全微分形式不变性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932478" y="1115259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设函数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/>
              <p:cNvSpPr txBox="1"/>
              <p:nvPr/>
            </p:nvSpPr>
            <p:spPr bwMode="auto">
              <a:xfrm>
                <a:off x="3051637" y="1094889"/>
                <a:ext cx="6028401" cy="409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1637" y="1094889"/>
                <a:ext cx="6028401" cy="409575"/>
              </a:xfrm>
              <a:prstGeom prst="rect">
                <a:avLst/>
              </a:prstGeom>
              <a:blipFill rotWithShape="1">
                <a:blip r:embed="rId2"/>
                <a:stretch>
                  <a:fillRect l="-8" t="-36" r="3" b="-171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349412" y="1594075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的全微分为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/>
              <p:cNvSpPr txBox="1"/>
              <p:nvPr/>
            </p:nvSpPr>
            <p:spPr bwMode="auto">
              <a:xfrm>
                <a:off x="1920213" y="2124875"/>
                <a:ext cx="3766212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8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0213" y="2124875"/>
                <a:ext cx="3766212" cy="898525"/>
              </a:xfrm>
              <a:prstGeom prst="rect">
                <a:avLst/>
              </a:prstGeom>
              <a:blipFill rotWithShape="1">
                <a:blip r:embed="rId3"/>
                <a:stretch>
                  <a:fillRect l="-16" t="-18" b="-27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/>
              <p:cNvSpPr txBox="1"/>
              <p:nvPr/>
            </p:nvSpPr>
            <p:spPr bwMode="auto">
              <a:xfrm>
                <a:off x="2391226" y="3110941"/>
                <a:ext cx="4269474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𝑣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sz="2800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9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1226" y="3110941"/>
                <a:ext cx="4269474" cy="898525"/>
              </a:xfrm>
              <a:prstGeom prst="rect">
                <a:avLst/>
              </a:prstGeom>
              <a:blipFill rotWithShape="1">
                <a:blip r:embed="rId4"/>
                <a:stretch>
                  <a:fillRect l="-11" t="-8" r="4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1"/>
              <p:cNvSpPr txBox="1"/>
              <p:nvPr/>
            </p:nvSpPr>
            <p:spPr bwMode="auto">
              <a:xfrm>
                <a:off x="6227430" y="3104285"/>
                <a:ext cx="4067836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+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𝑣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0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7430" y="3104285"/>
                <a:ext cx="4067836" cy="898525"/>
              </a:xfrm>
              <a:prstGeom prst="rect">
                <a:avLst/>
              </a:prstGeom>
              <a:blipFill rotWithShape="1">
                <a:blip r:embed="rId5"/>
                <a:stretch>
                  <a:fillRect l="-15" t="-45" b="-27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2"/>
              <p:cNvSpPr txBox="1"/>
              <p:nvPr/>
            </p:nvSpPr>
            <p:spPr bwMode="auto">
              <a:xfrm>
                <a:off x="2391226" y="4133783"/>
                <a:ext cx="701675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1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1226" y="4133783"/>
                <a:ext cx="701675" cy="898525"/>
              </a:xfrm>
              <a:prstGeom prst="rect">
                <a:avLst/>
              </a:prstGeom>
              <a:blipFill rotWithShape="1">
                <a:blip r:embed="rId6"/>
                <a:stretch>
                  <a:fillRect l="-64" t="-63" r="-22108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3"/>
              <p:cNvSpPr txBox="1"/>
              <p:nvPr/>
            </p:nvSpPr>
            <p:spPr bwMode="auto">
              <a:xfrm>
                <a:off x="5847898" y="4140133"/>
                <a:ext cx="907377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2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7898" y="4140133"/>
                <a:ext cx="907377" cy="898525"/>
              </a:xfrm>
              <a:prstGeom prst="rect">
                <a:avLst/>
              </a:prstGeom>
              <a:blipFill rotWithShape="1">
                <a:blip r:embed="rId7"/>
                <a:stretch>
                  <a:fillRect l="-20" t="-63" r="16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4"/>
              <p:cNvSpPr txBox="1"/>
              <p:nvPr/>
            </p:nvSpPr>
            <p:spPr bwMode="auto">
              <a:xfrm>
                <a:off x="2392827" y="5268758"/>
                <a:ext cx="714375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3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2827" y="5268758"/>
                <a:ext cx="714375" cy="898525"/>
              </a:xfrm>
              <a:prstGeom prst="rect">
                <a:avLst/>
              </a:prstGeom>
              <a:blipFill rotWithShape="1">
                <a:blip r:embed="rId6"/>
                <a:stretch>
                  <a:fillRect l="-21" t="-18" r="-19979" b="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6"/>
              <p:cNvSpPr txBox="1"/>
              <p:nvPr/>
            </p:nvSpPr>
            <p:spPr bwMode="auto">
              <a:xfrm>
                <a:off x="3127837" y="4099930"/>
                <a:ext cx="3018499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7837" y="4099930"/>
                <a:ext cx="3018499" cy="898525"/>
              </a:xfrm>
              <a:prstGeom prst="rect">
                <a:avLst/>
              </a:prstGeom>
              <a:blipFill rotWithShape="1">
                <a:blip r:embed="rId8"/>
                <a:stretch>
                  <a:fillRect l="-15" t="-41" r="6" b="-128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7"/>
              <p:cNvSpPr txBox="1"/>
              <p:nvPr/>
            </p:nvSpPr>
            <p:spPr bwMode="auto">
              <a:xfrm>
                <a:off x="6630206" y="4102033"/>
                <a:ext cx="2845130" cy="10495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0206" y="4102033"/>
                <a:ext cx="2845130" cy="1049523"/>
              </a:xfrm>
              <a:prstGeom prst="rect">
                <a:avLst/>
              </a:prstGeom>
              <a:blipFill rotWithShape="1">
                <a:blip r:embed="rId9"/>
                <a:stretch>
                  <a:fillRect l="-6" t="-54" r="18" b="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24"/>
          <p:cNvSpPr txBox="1">
            <a:spLocks noChangeArrowheads="1"/>
          </p:cNvSpPr>
          <p:nvPr/>
        </p:nvSpPr>
        <p:spPr bwMode="auto">
          <a:xfrm>
            <a:off x="1932478" y="1594393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则复合函数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6"/>
              <p:cNvSpPr txBox="1"/>
              <p:nvPr/>
            </p:nvSpPr>
            <p:spPr bwMode="auto">
              <a:xfrm>
                <a:off x="3752249" y="1580374"/>
                <a:ext cx="3766212" cy="403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𝑓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                               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52249" y="1580374"/>
                <a:ext cx="3766212" cy="403225"/>
              </a:xfrm>
              <a:prstGeom prst="rect">
                <a:avLst/>
              </a:prstGeom>
              <a:blipFill rotWithShape="1">
                <a:blip r:embed="rId10"/>
                <a:stretch>
                  <a:fillRect l="-1" t="-123" r="2" b="-170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6"/>
              <p:cNvSpPr txBox="1"/>
              <p:nvPr/>
            </p:nvSpPr>
            <p:spPr bwMode="auto">
              <a:xfrm>
                <a:off x="4795566" y="1572753"/>
                <a:ext cx="2400300" cy="403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8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5566" y="1572753"/>
                <a:ext cx="2400300" cy="403225"/>
              </a:xfrm>
              <a:prstGeom prst="rect">
                <a:avLst/>
              </a:prstGeom>
              <a:blipFill rotWithShape="1">
                <a:blip r:embed="rId11"/>
                <a:stretch>
                  <a:fillRect l="-2" t="-122" r="-2829" b="-189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8"/>
              <p:cNvSpPr txBox="1"/>
              <p:nvPr/>
            </p:nvSpPr>
            <p:spPr bwMode="auto">
              <a:xfrm>
                <a:off x="3245314" y="5484656"/>
                <a:ext cx="661090" cy="4312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9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5314" y="5484656"/>
                <a:ext cx="661090" cy="431244"/>
              </a:xfrm>
              <a:prstGeom prst="rect">
                <a:avLst/>
              </a:prstGeom>
              <a:blipFill rotWithShape="1">
                <a:blip r:embed="rId12"/>
                <a:stretch>
                  <a:fillRect l="-70" t="-37" r="79" b="-95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9"/>
              <p:cNvSpPr txBox="1"/>
              <p:nvPr/>
            </p:nvSpPr>
            <p:spPr bwMode="auto">
              <a:xfrm>
                <a:off x="3695801" y="5271933"/>
                <a:ext cx="842354" cy="898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0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5801" y="5271933"/>
                <a:ext cx="842354" cy="898525"/>
              </a:xfrm>
              <a:prstGeom prst="rect">
                <a:avLst/>
              </a:prstGeom>
              <a:blipFill rotWithShape="1">
                <a:blip r:embed="rId13"/>
                <a:stretch>
                  <a:fillRect l="-12" t="-18" r="53" b="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0"/>
              <p:cNvSpPr txBox="1"/>
              <p:nvPr/>
            </p:nvSpPr>
            <p:spPr bwMode="auto">
              <a:xfrm>
                <a:off x="4500947" y="5489028"/>
                <a:ext cx="669314" cy="419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1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0947" y="5489028"/>
                <a:ext cx="669314" cy="419100"/>
              </a:xfrm>
              <a:prstGeom prst="rect">
                <a:avLst/>
              </a:prstGeom>
              <a:blipFill rotWithShape="1">
                <a:blip r:embed="rId14"/>
                <a:stretch>
                  <a:fillRect l="-10" t="-21" r="14" b="-127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31"/>
              <p:cNvSpPr txBox="1">
                <a:spLocks noChangeArrowheads="1"/>
              </p:cNvSpPr>
              <p:nvPr/>
            </p:nvSpPr>
            <p:spPr bwMode="auto">
              <a:xfrm>
                <a:off x="8847839" y="1126628"/>
                <a:ext cx="14478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都可微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+mn-ea"/>
                      </a:rPr>
                      <m:t>,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  </a:t>
                </a:r>
              </a:p>
            </p:txBody>
          </p:sp>
        </mc:Choice>
        <mc:Fallback xmlns="">
          <p:sp>
            <p:nvSpPr>
              <p:cNvPr id="22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7839" y="1126628"/>
                <a:ext cx="1447800" cy="519113"/>
              </a:xfrm>
              <a:prstGeom prst="rect">
                <a:avLst/>
              </a:prstGeom>
              <a:blipFill rotWithShape="1">
                <a:blip r:embed="rId15"/>
                <a:stretch>
                  <a:fillRect l="-27" t="-27" r="27" b="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5172615" y="5740171"/>
            <a:ext cx="3070071" cy="523220"/>
          </a:xfrm>
          <a:prstGeom prst="rect">
            <a:avLst/>
          </a:prstGeom>
          <a:solidFill>
            <a:srgbClr val="04926A">
              <a:alpha val="42000"/>
            </a:srgbClr>
          </a:solidFill>
          <a:ln w="19050">
            <a:solidFill>
              <a:srgbClr val="04926A"/>
            </a:solidFill>
          </a:ln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全微分形式不变性</a:t>
            </a:r>
            <a:endParaRPr kumimoji="1" lang="zh-CN" altLang="en-US" sz="28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5164803" y="5622757"/>
            <a:ext cx="5820422" cy="11278"/>
          </a:xfrm>
          <a:prstGeom prst="straightConnector1">
            <a:avLst/>
          </a:prstGeom>
          <a:ln w="19050">
            <a:solidFill>
              <a:srgbClr val="0492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对象 24"/>
              <p:cNvSpPr txBox="1"/>
              <p:nvPr/>
            </p:nvSpPr>
            <p:spPr>
              <a:xfrm>
                <a:off x="5053476" y="5122772"/>
                <a:ext cx="5829300" cy="4191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形式与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是自变量还是中间变量无关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25" name="对象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476" y="5122772"/>
                <a:ext cx="5829300" cy="419100"/>
              </a:xfrm>
              <a:prstGeom prst="rect">
                <a:avLst/>
              </a:prstGeom>
              <a:blipFill rotWithShape="1">
                <a:blip r:embed="rId16"/>
                <a:stretch>
                  <a:fillRect l="-3" t="-54" r="-2187" b="-16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2" grpId="0" animBg="1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/>
              <p:cNvSpPr/>
              <p:nvPr/>
            </p:nvSpPr>
            <p:spPr>
              <a:xfrm>
                <a:off x="687324" y="536337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5" name="矩形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24" y="536337"/>
                <a:ext cx="10817352" cy="5799897"/>
              </a:xfrm>
              <a:prstGeom prst="rect">
                <a:avLst/>
              </a:prstGeom>
              <a:blipFill rotWithShape="1">
                <a:blip r:embed="rId2"/>
                <a:stretch>
                  <a:fillRect l="-1499" t="-1934" r="-1493" b="-1912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半闭框 65"/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半闭框 66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半闭框 67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69" name="半闭框 68"/>
          <p:cNvSpPr/>
          <p:nvPr/>
        </p:nvSpPr>
        <p:spPr>
          <a:xfrm flipH="1" flipV="1">
            <a:off x="10822895" y="5639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Rectangle 9"/>
          <p:cNvSpPr txBox="1">
            <a:spLocks noChangeArrowheads="1"/>
          </p:cNvSpPr>
          <p:nvPr/>
        </p:nvSpPr>
        <p:spPr>
          <a:xfrm>
            <a:off x="2014221" y="682031"/>
            <a:ext cx="1143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6 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2971800" y="647701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利用全微分形式不变性再解例</a:t>
            </a:r>
            <a:r>
              <a:rPr kumimoji="1"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1. 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014221" y="1250402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6"/>
              <p:cNvSpPr txBox="1"/>
              <p:nvPr/>
            </p:nvSpPr>
            <p:spPr bwMode="auto">
              <a:xfrm>
                <a:off x="3712210" y="4572522"/>
                <a:ext cx="47879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𝑥𝑦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[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⋅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)]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5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2210" y="4572522"/>
                <a:ext cx="4787900" cy="927100"/>
              </a:xfrm>
              <a:prstGeom prst="rect">
                <a:avLst/>
              </a:prstGeom>
              <a:blipFill rotWithShape="1">
                <a:blip r:embed="rId3"/>
                <a:stretch>
                  <a:fillRect t="-56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7"/>
              <p:cNvSpPr txBox="1"/>
              <p:nvPr/>
            </p:nvSpPr>
            <p:spPr bwMode="auto">
              <a:xfrm>
                <a:off x="3699510" y="5396815"/>
                <a:ext cx="48006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𝑥𝑦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[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⋅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)]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16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9510" y="5396815"/>
                <a:ext cx="4800600" cy="927100"/>
              </a:xfrm>
              <a:prstGeom prst="rect">
                <a:avLst/>
              </a:prstGeom>
              <a:blipFill rotWithShape="1">
                <a:blip r:embed="rId4"/>
                <a:stretch>
                  <a:fillRect t="-63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2941896" y="4741452"/>
            <a:ext cx="76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所以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2971800" y="1298576"/>
            <a:ext cx="4296508" cy="432117"/>
            <a:chOff x="2971800" y="1298576"/>
            <a:chExt cx="2891155" cy="4321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12"/>
                <p:cNvSpPr txBox="1"/>
                <p:nvPr/>
              </p:nvSpPr>
              <p:spPr bwMode="auto">
                <a:xfrm>
                  <a:off x="2971800" y="1298576"/>
                  <a:ext cx="2891155" cy="415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d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𝑧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=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黑体" panose="02010609060101010101" pitchFamily="49" charset="-122"/>
                                <a:ea typeface="黑体" panose="02010609060101010101" pitchFamily="49" charset="-122"/>
                                <a:cs typeface="+mn-ea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kumimoji="1" lang="en-US" altLang="zh-CN" sz="2200">
                                <a:solidFill>
                                  <a:prstClr val="black"/>
                                </a:solidFill>
                                <a:latin typeface="黑体" panose="02010609060101010101" pitchFamily="49" charset="-122"/>
                                <a:ea typeface="黑体" panose="02010609060101010101" pitchFamily="49" charset="-122"/>
                                <a:cs typeface="+mn-ea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kumimoji="1" lang="en-US" altLang="zh-CN" sz="2200" b="0" i="0" smtClean="0">
                                <a:solidFill>
                                  <a:prstClr val="black"/>
                                </a:solidFill>
                                <a:latin typeface="黑体" panose="02010609060101010101" pitchFamily="49" charset="-122"/>
                                <a:ea typeface="黑体" panose="02010609060101010101" pitchFamily="49" charset="-122"/>
                                <a:cs typeface="+mn-ea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黑体" panose="02010609060101010101" pitchFamily="49" charset="-122"/>
                                <a:ea typeface="黑体" panose="02010609060101010101" pitchFamily="49" charset="-122"/>
                                <a:cs typeface="+mn-ea"/>
                              </a:rPr>
                              <m:t> 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)</m:t>
                            </m:r>
                          </m:fName>
                          <m:e>
                            <m:r>
                              <a:rPr kumimoji="1" lang="en-US" altLang="zh-CN" sz="2200" b="0" i="0" smtClean="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 </m:t>
                            </m:r>
                          </m:e>
                        </m:func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1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71800" y="1298576"/>
                  <a:ext cx="2891155" cy="415925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19"/>
                <p:cNvSpPr txBox="1"/>
                <p:nvPr/>
              </p:nvSpPr>
              <p:spPr bwMode="auto">
                <a:xfrm>
                  <a:off x="3833494" y="1314768"/>
                  <a:ext cx="1168400" cy="415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𝑢</m:t>
                            </m:r>
                          </m:sup>
                        </m:sSup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𝑣</m:t>
                            </m:r>
                          </m:e>
                        </m:func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8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33494" y="1314768"/>
                  <a:ext cx="1168400" cy="415925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/>
          <p:cNvGrpSpPr/>
          <p:nvPr/>
        </p:nvGrpSpPr>
        <p:grpSpPr>
          <a:xfrm>
            <a:off x="3340659" y="1719174"/>
            <a:ext cx="4008265" cy="538633"/>
            <a:chOff x="3339948" y="1719174"/>
            <a:chExt cx="3189312" cy="5386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Object 13"/>
                <p:cNvSpPr txBox="1"/>
                <p:nvPr/>
              </p:nvSpPr>
              <p:spPr bwMode="auto">
                <a:xfrm>
                  <a:off x="3339948" y="1719174"/>
                  <a:ext cx="1902874" cy="533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=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𝑢</m:t>
                            </m:r>
                          </m:sup>
                        </m:sSup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𝑢</m:t>
                            </m:r>
                          </m:e>
                        </m:func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>
            <p:sp>
              <p:nvSpPr>
                <p:cNvPr id="12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39948" y="1719174"/>
                  <a:ext cx="1902874" cy="5334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Object 20"/>
                <p:cNvSpPr txBox="1"/>
                <p:nvPr/>
              </p:nvSpPr>
              <p:spPr bwMode="auto">
                <a:xfrm>
                  <a:off x="4713160" y="1724407"/>
                  <a:ext cx="1816100" cy="533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+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𝑢</m:t>
                            </m:r>
                          </m:sup>
                        </m:sSup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𝑣</m:t>
                            </m:r>
                          </m:e>
                        </m:func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>
            <p:sp>
              <p:nvSpPr>
                <p:cNvPr id="19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13160" y="1724407"/>
                  <a:ext cx="1816100" cy="5334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/>
          <p:cNvGrpSpPr/>
          <p:nvPr/>
        </p:nvGrpSpPr>
        <p:grpSpPr>
          <a:xfrm>
            <a:off x="3330834" y="2264499"/>
            <a:ext cx="7290274" cy="538761"/>
            <a:chOff x="3330834" y="2264499"/>
            <a:chExt cx="6732574" cy="53876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Object 21"/>
                <p:cNvSpPr txBox="1"/>
                <p:nvPr/>
              </p:nvSpPr>
              <p:spPr bwMode="auto">
                <a:xfrm>
                  <a:off x="3330834" y="2282560"/>
                  <a:ext cx="6732574" cy="520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=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𝑥𝑦</m:t>
                            </m:r>
                          </m:sup>
                        </m:sSup>
                        <m:d>
                          <m:dPr>
                            <m:begChr m:val="["/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kumimoji="1" lang="zh-CN" altLang="en-US" sz="2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ea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+mn-ea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+mn-ea"/>
                                  </a:rPr>
                                  <m:t>(</m:t>
                                </m:r>
                              </m:e>
                            </m:func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𝑥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+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nor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+mn-ea"/>
                          </a:rPr>
                          <m:t> </m:t>
                        </m:r>
                        <m:r>
                          <a:rPr kumimoji="1" lang="en-US" altLang="zh-CN" sz="2200" b="0" i="1" smtClean="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        </m:t>
                        </m:r>
                        <m:r>
                          <a:rPr kumimoji="1" lang="en-US" altLang="zh-CN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        </m:t>
                        </m:r>
                        <m:r>
                          <a:rPr kumimoji="1" lang="en-US" altLang="zh-CN" sz="2200" b="0" i="1" smtClean="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 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+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)</m:t>
                        </m:r>
                        <m:r>
                          <m:rPr>
                            <m:nor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+mn-ea"/>
                          </a:rPr>
                          <m:t>      </m:t>
                        </m:r>
                        <m:r>
                          <m:rPr>
                            <m:nor/>
                          </m:rPr>
                          <a:rPr kumimoji="1" lang="en-US" altLang="zh-CN" sz="2200">
                            <a:solidFill>
                              <a:prstClr val="black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+mn-ea"/>
                          </a:rPr>
                          <m:t>      </m:t>
                        </m:r>
                        <m:r>
                          <m:rPr>
                            <m:nor/>
                          </m:rPr>
                          <a:rPr kumimoji="1" lang="en-US" altLang="zh-CN" sz="2200" b="0" i="0" smtClean="0">
                            <a:solidFill>
                              <a:prstClr val="black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+mn-ea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+mn-ea"/>
                          </a:rPr>
                          <m:t> 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]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>
            <p:sp>
              <p:nvSpPr>
                <p:cNvPr id="20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30834" y="2282560"/>
                  <a:ext cx="6732574" cy="5207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Object 22"/>
                <p:cNvSpPr txBox="1"/>
                <p:nvPr/>
              </p:nvSpPr>
              <p:spPr bwMode="auto">
                <a:xfrm>
                  <a:off x="5392109" y="2264499"/>
                  <a:ext cx="889000" cy="40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d</m:t>
                        </m:r>
                        <m:d>
                          <m:d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d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𝑥𝑦</m:t>
                            </m:r>
                          </m:e>
                        </m:d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>
            <p:sp>
              <p:nvSpPr>
                <p:cNvPr id="21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92109" y="2264499"/>
                  <a:ext cx="889000" cy="406400"/>
                </a:xfrm>
                <a:prstGeom prst="rect">
                  <a:avLst/>
                </a:prstGeom>
                <a:blipFill>
                  <a:blip r:embed="rId10"/>
                  <a:stretch>
                    <a:fillRect l="-1274" b="-179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Object 23"/>
                <p:cNvSpPr txBox="1"/>
                <p:nvPr/>
              </p:nvSpPr>
              <p:spPr bwMode="auto">
                <a:xfrm>
                  <a:off x="8078502" y="2279883"/>
                  <a:ext cx="1287780" cy="40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d</m:t>
                        </m:r>
                        <m:d>
                          <m:d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d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𝑥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+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>
            <p:sp>
              <p:nvSpPr>
                <p:cNvPr id="22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78502" y="2279883"/>
                  <a:ext cx="1287780" cy="406400"/>
                </a:xfrm>
                <a:prstGeom prst="rect">
                  <a:avLst/>
                </a:prstGeom>
                <a:blipFill>
                  <a:blip r:embed="rId11"/>
                  <a:stretch>
                    <a:fillRect l="-877" b="-179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/>
          <p:cNvGrpSpPr/>
          <p:nvPr/>
        </p:nvGrpSpPr>
        <p:grpSpPr>
          <a:xfrm>
            <a:off x="3330833" y="3456909"/>
            <a:ext cx="4526279" cy="457200"/>
            <a:chOff x="3330833" y="3456909"/>
            <a:chExt cx="4526279" cy="457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15"/>
                <p:cNvSpPr txBox="1"/>
                <p:nvPr/>
              </p:nvSpPr>
              <p:spPr bwMode="auto">
                <a:xfrm>
                  <a:off x="3330833" y="3456909"/>
                  <a:ext cx="4464049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=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𝑥𝑦</m:t>
                            </m:r>
                          </m:sup>
                        </m:sSup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[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)+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)]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3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30833" y="3456909"/>
                  <a:ext cx="4464049" cy="457200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27"/>
                <p:cNvSpPr txBox="1"/>
                <p:nvPr/>
              </p:nvSpPr>
              <p:spPr bwMode="auto">
                <a:xfrm>
                  <a:off x="7387212" y="3459449"/>
                  <a:ext cx="469900" cy="40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d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5" name="Object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87212" y="3459449"/>
                  <a:ext cx="469900" cy="406400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/>
          <p:cNvGrpSpPr/>
          <p:nvPr/>
        </p:nvGrpSpPr>
        <p:grpSpPr>
          <a:xfrm>
            <a:off x="4663440" y="4050030"/>
            <a:ext cx="4730750" cy="457200"/>
            <a:chOff x="4663698" y="4050226"/>
            <a:chExt cx="4375785" cy="457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24"/>
                <p:cNvSpPr txBox="1"/>
                <p:nvPr/>
              </p:nvSpPr>
              <p:spPr bwMode="auto">
                <a:xfrm>
                  <a:off x="4663698" y="4050226"/>
                  <a:ext cx="4167505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+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𝑥𝑦</m:t>
                            </m:r>
                          </m:sup>
                        </m:sSup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[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)+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)]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3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63698" y="4050226"/>
                  <a:ext cx="4167505" cy="457200"/>
                </a:xfrm>
                <a:prstGeom prst="rect">
                  <a:avLst/>
                </a:prstGeom>
                <a:blipFill rotWithShape="1">
                  <a:blip r:embed="rId1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28"/>
                <p:cNvSpPr txBox="1"/>
                <p:nvPr/>
              </p:nvSpPr>
              <p:spPr bwMode="auto">
                <a:xfrm>
                  <a:off x="8607683" y="4053562"/>
                  <a:ext cx="431800" cy="40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d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6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07683" y="4053562"/>
                  <a:ext cx="431800" cy="406400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/>
          <p:cNvGrpSpPr/>
          <p:nvPr/>
        </p:nvGrpSpPr>
        <p:grpSpPr>
          <a:xfrm>
            <a:off x="3322955" y="2881303"/>
            <a:ext cx="8181086" cy="534362"/>
            <a:chOff x="3322896" y="2881363"/>
            <a:chExt cx="6753969" cy="5346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Object 14"/>
                <p:cNvSpPr txBox="1"/>
                <p:nvPr/>
              </p:nvSpPr>
              <p:spPr bwMode="auto">
                <a:xfrm>
                  <a:off x="3322896" y="2887405"/>
                  <a:ext cx="6753969" cy="5286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=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𝑥𝑦</m:t>
                            </m:r>
                          </m:sup>
                        </m:sSup>
                        <m:d>
                          <m:dPr>
                            <m:begChr m:val="["/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kumimoji="1" lang="zh-CN" altLang="en-US" sz="2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ea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+mn-ea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+mn-ea"/>
                                  </a:rPr>
                                  <m:t>(</m:t>
                                </m:r>
                              </m:e>
                            </m:func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𝑥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+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nor/>
                          </m:rPr>
                          <a:rPr kumimoji="1" lang="en-US" altLang="zh-CN" sz="2200" b="0" i="0" smtClean="0">
                            <a:solidFill>
                              <a:prstClr val="black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+mn-ea"/>
                          </a:rPr>
                          <m:t> </m:t>
                        </m:r>
                        <m:r>
                          <a:rPr kumimoji="1" lang="en-US" altLang="zh-CN" sz="2200" b="0" i="1" smtClean="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                            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+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)</m:t>
                        </m:r>
                        <m:r>
                          <m:rPr>
                            <m:nor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+mn-ea"/>
                          </a:rPr>
                          <m:t>        </m:t>
                        </m:r>
                        <m:r>
                          <a:rPr kumimoji="1" lang="en-US" altLang="zh-CN" sz="2200" b="0" i="0" smtClean="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                  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]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22896" y="2887405"/>
                  <a:ext cx="6753969" cy="528637"/>
                </a:xfrm>
                <a:prstGeom prst="rect">
                  <a:avLst/>
                </a:prstGeom>
                <a:blipFill rotWithShape="1">
                  <a:blip r:embed="rId1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26"/>
                <p:cNvSpPr txBox="1"/>
                <p:nvPr/>
              </p:nvSpPr>
              <p:spPr bwMode="auto">
                <a:xfrm>
                  <a:off x="8301908" y="2914095"/>
                  <a:ext cx="1409700" cy="40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d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d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+mn-ea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4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01908" y="2914095"/>
                  <a:ext cx="1409700" cy="406400"/>
                </a:xfrm>
                <a:prstGeom prst="rect">
                  <a:avLst/>
                </a:prstGeom>
                <a:blipFill rotWithShape="1">
                  <a:blip r:embed="rId1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29"/>
                <p:cNvSpPr txBox="1"/>
                <p:nvPr/>
              </p:nvSpPr>
              <p:spPr bwMode="auto">
                <a:xfrm>
                  <a:off x="5144708" y="2881363"/>
                  <a:ext cx="1695450" cy="4032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1" lang="zh-CN" altLang="en-US" sz="2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</m:ctrlPr>
                          </m:d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𝑥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+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n-ea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7" name="Object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44708" y="2881363"/>
                  <a:ext cx="1695450" cy="403225"/>
                </a:xfrm>
                <a:prstGeom prst="rect">
                  <a:avLst/>
                </a:prstGeom>
                <a:blipFill rotWithShape="1">
                  <a:blip r:embed="rId1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5" grpId="0"/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ZkODBiMGY1YmQ1MDgyN2Q2NGE3YzQ0YzI2NDc4MmYifQ=="/>
  <p:tag name="KSO_WPP_MARK_KEY" val="fdc9232b-9af6-4935-ba35-6661cd7202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4648</Words>
  <Application>Microsoft Office PowerPoint</Application>
  <PresentationFormat>宽屏</PresentationFormat>
  <Paragraphs>420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Calisto MT</vt:lpstr>
      <vt:lpstr>MS Mincho</vt:lpstr>
      <vt:lpstr>等线</vt:lpstr>
      <vt:lpstr>方正大标宋简体</vt:lpstr>
      <vt:lpstr>黑体</vt:lpstr>
      <vt:lpstr>华文中宋</vt:lpstr>
      <vt:lpstr>宋体</vt:lpstr>
      <vt:lpstr>微软雅黑</vt:lpstr>
      <vt:lpstr>微软雅黑 Light</vt:lpstr>
      <vt:lpstr>字魂36号-正文宋楷</vt:lpstr>
      <vt:lpstr>Arial</vt:lpstr>
      <vt:lpstr>Calibri</vt:lpstr>
      <vt:lpstr>Calibri Light</vt:lpstr>
      <vt:lpstr>Cambria Math</vt:lpstr>
      <vt:lpstr>Symbol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Administrator</cp:lastModifiedBy>
  <cp:revision>473</cp:revision>
  <cp:lastPrinted>2023-06-06T06:09:00Z</cp:lastPrinted>
  <dcterms:created xsi:type="dcterms:W3CDTF">2022-03-21T05:54:00Z</dcterms:created>
  <dcterms:modified xsi:type="dcterms:W3CDTF">2026-04-14T03:32:39Z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2052-12.1.0.23542</vt:lpwstr>
  </property>
</Properties>
</file>